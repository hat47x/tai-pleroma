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生成AIを知的活動の重要な担い手として活用し、人が目的・判断・権限を保ちながら協働するための製品群。各製品は生成AIを用いた初期開発中で、人的レビューは完了していない。確認済みの範囲は各製品の頁と「現在地」の頁で区別する。AIに制度上の責任や決定権を与える趣旨ではない。
[Sources]
- TAI Pleroma: https://github.com/hat47x/tai-pleroma
- SUI Sensemaking: https://github.com/hat47x/sui-sensemaking
- SEI Cognition: https://github.com/hat47x/sei-cognition
- TEI Platform: https://github.com/hat47x/tei-platform
- EKI Fabric: https://github.com/hat47x/eki-fabric
- Markdown Matrix Injector: https://github.com/hat47x/markdown-matrix-injector
Visual on this slide was generated with Microsoft Copilot.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個人では自分の情報やAIへの委任範囲を自ら決めること、組織では責任分担、社会では複数主体の正当な手続や権利が必要。社会の意思決定をAIへ移す趣旨ではない。TAIの説明でも、個人だけでなく組織や社会での知的活動を対象にしている。
[Sources]
- TAI Pleroma: https://github.com/hat47x/tai-pleroma
- OECD AI原則: https://www.oecd.org/en/topics/ai-principles.html
- ISO/IEC 42001: https://www.iso.org/insights/iso-42001-explained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数字はAI全般やエージェントの定義・標本に依存する回答者調査で、YIの効果推定ではない。六つの断絶は必ず起きるという主張ではなく、設計時に確かめるべき典型的な失敗の型。
[Sources]
- McKinsey, The State of AI in 2025: https://www.mckinsey.com/capabilities/quantumblack/our-insights/the-state-of-ai-2025
- SEI Cognition: https://github.com/hat47x/sei-cognition
- TEI Platform: https://github.com/hat47x/tei-platform
- EKI Fabric: https://github.com/hat47x/eki-fabric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循環は企業の業務に限らず、学習・研究、NPOの事務、複数組織の共同作業にも当てはまる説明の型。実装済みの単一の業務処理エンジンではない。四段階は本資料独自の整理で、公式な成熟度の規格ではない。SUIも、人間主導から協働、委任、監督付き自律までを同じ情報資産で扱うことを長期の射程にしている。
[Sources]
- TAI Pleroma: https://github.com/hat47x/tai-pleroma
- SUI Sensemaking: https://github.com/hat47x/sui-sensemaking
- NIST AI RMF: https://airc.nist.gov/airmf-resources/airmf/5-sec-core/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許可記録はEKI・SEI・TAIで共通採用された形式ではない論理上の例で、権限は各製品の管理者が決める。EKIは、依頼者を認証できてもあらゆる仕事の実行権限にはならない、と明記している。枠組みは主に組織運用を想定しており、個人や社会では原則を規模に合わせて読み替える。法務・プライバシー上の適法性は各環境の担当者が確認する。
[Sources]
- EKI Fabric: https://github.com/hat47x/eki-fabric
- SEI Cognition: https://github.com/hat47x/sei-cognition
- NIST AI RMF: https://airc.nist.gov/airmf-resources/airmf/5-sec-core/
- NIST AI 600-1: https://www.nist.gov/publications/artificial-intelligence-risk-management-framework-generative-artificial-intelligence
- ISO/IEC 42001: https://www.iso.org/insights/iso-42001-explained
- OECD AI原則: https://www.oecd.org/en/topics/ai-principles.html
- 経産省 AI事業者ガイドライン: https://www.meti.go.jp/shingikai/mono_info_service/ai_shakai_jisso/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つの面は機能上の説明の型で、必須のプロセス数や同一プロセスへの配置を示さない。TAIは各基盤の機能を重複して実装したり、独自の中央実行基盤へ集約したりしないと明記している。TEIも独自の実行基盤を前提にせず、対象環境への組み込みを方針としている。
[Sources]
- TAI Pleroma: https://github.com/hat47x/tai-pleroma
- TEI Platform: https://github.com/hat47x/tei-platform
- SEI Cognition: https://github.com/hat47x/sei-cognition
- EKI Fabric: https://github.com/hat47x/eki-fabric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SEIは、観測・解釈と仮説・推奨・決定・権限・実行意図・実行・業務上の結果の八つを区別して保持する。SUIの意味形成とSEIの意味記録を並べた説明で、単一の共通形式がすでにあると主張しない。
[Sources]
- SEI Cognition: https://github.com/hat47x/sei-cognition
- SUI Sensemaking: https://github.com/hat47x/sui-sensemaking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各製品の扱う範囲はTAIのREADMEにある五つの関連基盤の説明に沿う。全製品が実際に結線済みの構成や、統一した実行基盤の採用を示さない。SHOは現行のMMIを含む役割として整理されている。
[Sources]
- TAI Pleroma: https://github.com/hat47x/tai-pleroma
- SUI Sensemaking: https://github.com/hat47x/sui-sensemaking
- SEI Cognition: https://github.com/hat47x/sei-cognition
- TEI Platform: https://github.com/hat47x/tei-platform
- EKI Fabric: https://github.com/hat47x/eki-fabric
- Markdown Matrix Injector: https://github.com/hat47x/markdown-matrix-injector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例の項目は採用済みの共通形式ではない。SEIは、異なるシステムで同じ意味を交換・検証するための約束を五つ定め、意味をどのバイト列で表すかは別の表現形式として管理している。SEIの「新しい資料があるだけで食い違いは解消しない」「候補の一致は意思決定ではない」という区別が、境界の検査に対応する。
[Sources]
- SEI Cognition: https://github.com/hat47x/sei-cognition
- TEI Platform: https://github.com/hat47x/tei-platform
- EKI Fabric: https://github.com/hat47x/eki-fabric
- TAI Pleroma: https://github.com/hat47x/tai-pleroma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既存の仕組みはそれぞれに有用。それだけで採否の意味・当時の根拠・業務成果を一意に再構成できるとは限らない、という主張にとどめる。EKIはSEI・TEI・SUIだけでなく他社製品や将来のソフトウェアからも使えることを目指している。
[Sources]
- SEI Cognition: https://github.com/hat47x/sei-cognition
- TEI Platform: https://github.com/hat47x/tei-platform
- EKI Fabric: https://github.com/hat47x/eki-fabric
- TAI Pleroma: https://github.com/hat47x/tai-pleroma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Iの上位文書では、価値→将来像→原則→要求→設計判断→構成→実装・検証の順で優先し、実装から得た知見で上位文書を見直すときは明示的な変更として扱う。SEIは公開候補の検査で、実行できなかった検査を合格へ読み替えない。TEIは判定段階A・B・Cの合格を、各時点に固定したソースと検証根拠に限っている。EKIの文書は、専門外の参加者が背景から追える構成を目標にしている。
[Sources]
- TEI Platform: https://github.com/hat47x/tei-platform
- SEI 公開版の管理: https://github.com/hat47x/sei-cognition/tree/main/release
- TEIの実装状況: https://github.com/hat47x/tei-platform/blob/main/docs/status.md
- EKI Fabric: https://github.com/hat47x/eki-fabric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MMI（Markdown Matrix Injector）はSHO Composerの全体構想に組み込む前の検証用製品。表をExcel・CSV・XMLで管理し、設計書には必要な行や列だけを表示する。現在の主な使い方はVS Code拡張での読み取り専用の参照。共通処理部、命令行ツール、AIエージェント向けの読み取り専用接続、Word文書の読み取り、文書ごとの出典報告、利用者側での自動検査、原本とMMIを外す手順を備える。
[Sources]
- Markdown Matrix Injector: https://github.com/hat47x/markdown-matrix-injector
- TAI Pleroma: https://github.com/hat47x/tai-pleroma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SUI Sensemakingは、人とAIが未整理の情報から意味を形成し、その過程を保ちながら理解を成熟させる基盤。中核の画面は親和図法・KJ法に着想を得たキャンバス。川喜田二郎氏および川喜田研究所の公認・後援は受けておらず、登録商標「KJ法」の実装・公式版でもない。AIは既定で無効で、有効にしても提案は候補にとどまる。長期的には、人間主導から監督付き自律まで同じ来歴と情報資産を引き継ぐことを目指す。
[Sources]
- SUI Sensemaking: https://github.com/hat47x/sui-sensemaking
- TAI Pleroma: https://github.com/hat47x/tai-pleroma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の区別はREADMEの表に沿って日本語で要約した。価値は単一の点数ではなく八つの観点で評価する。要求は23件、受け入れの場面は19件定義している。公開版0.2.0は、同じソースの版で公開候補の検査9項目がすべて成功したうえで公開された。現在は自動検査の仕組みを止め、同梱の検査を手元で個別に実行している。
[Sources]
- SEI Cognition: https://github.com/hat47x/sei-cognition
- SEI 公開版の管理: https://github.com/hat47x/sei-cognition/tree/main/release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Aの負例はTAIのSCN-001にも含まれ、新しい資料で文言が戻っても過去の判断が自動的に有効にはならないと扱う。五つの約束はいずれも初期の版。研究中の項目は、型付きの判断を返すモデルを教師として軽量モデルへ蒸留できるかを検証するもので、本番の既定ではない。意味の真偽・未解決・推奨・決定・権限の所有は持たない。
[Sources]
- SEI Cognition: https://github.com/hat47x/sei-cognition
- TAI SCN-001: https://github.com/hat47x/tai-pleroma/tree/main/scenarios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Iの価値文書と将来像文書に基づく。中核は知識を識別し関係付け検証する共通の仕組み、プラグインは分野固有の概念や技術別機能を加える。プラグインの仕様と実装を生成AIが体系的に読み取れる形に整え、案件ごとの技術拡張を提供元だけに頼らず用意できることを目指す。
[Sources]
- TEIが大切にする価値: https://github.com/hat47x/tei-platform/blob/main/product/value/TEI_PRODUCT_VALUE.md
- TEIの将来像: https://github.com/hat47x/tei-platform/blob/main/product/vision/TEI_PRODUCT_VISION.md
- TEIの実装状況: https://github.com/hat47x/tei-platform/blob/main/docs/status.md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Iの実装状況（docs/status.md）に基づく。判定段階Bは2026年9月19日に固定した版で実環境のPostgreSQLを確認、判定段階Cは同日に固定したビルドで最初のウェブ実行先を検証した。表示の忠実度はAI評価者一人の判定で、人による承認ではない。TEIは独自の実行基盤を前提にせず、対象環境への組み込みを方針としている。
[Sources]
- TEIの実装状況: https://github.com/hat47x/tei-platform/blob/main/docs/status.md
- TEIの将来像: https://github.com/hat47x/tei-platform/blob/main/product/vision/TEI_PRODUCT_VISION.md
- TEI Platform: https://github.com/hat47x/tei-platform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EKI FabricのREADMEに基づく。初回の到達目標は、悪意のある依頼者も考慮した受理から、2台以上の実行端末への配置、仕事の回収、再試行、結果の検証までを一続きで確認すること。委任の核を四つの外面へ広げる方向はADR-0013で定めた。
[Sources]
- EKI Fabric: https://github.com/hat47x/eki-fabric
- TAI Pleroma: https://github.com/hat47x/tai-pleroma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信頼の等級はEKIのIssue #138とADR-0016に基づく。失敗への応答には、Issue #128で洗い出した基幹機能（実行端末の失効と結果の取り消し、管理情報の復元で失効を復活させない、など）を含めた。資源提供の利用枠は現段階では仮の名称で呼ばれている。学習による配置の予測は、配置を変えない影の評価でのみ検証する計画。
[Sources]
- EKI 信頼の水準 Issue #138: https://github.com/hat47x/eki-fabric/issues/138
- EKI 基幹機能の洗い出し Issue #128: https://github.com/hat47x/eki-fabric/issues/128
- EKI Fabric: https://github.com/hat47x/eki-fabric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TAI PleromaのREADMEに基づく。SCN-001では、新しい資料で文言が以前と同じに戻っても、過去の判断が自動的に有効になるとは扱わない。参照試験はGoとPythonが対象で、外部基盤の開発用チェックアウトが必要な試験は環境によって実行されない。
[Sources]
- TAI Pleroma: https://github.com/hat47x/tai-pleroma
- TAI SCN-001: https://github.com/hat47x/tai-pleroma/tree/main/scenarios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TAIのIssue #74の設計案。シリーズ全体の統合した公開版と、YIの本番サイトは未実装。YI専用の保管庫は作らない。
[Sources]
- TAI 統合配布の構想 Issue #74: https://github.com/hat47x/tai-pleroma/issues/74
- TAI Pleroma: https://github.com/hat47x/tai-pleroma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在企業の規程・法令・成果ではない。この時点で正しい限度額や承認者は推定できない。MMIの参照は原文へ戻る補助で、規程の法的有効性は認定しない。SEIは組織の権限管理や承認の業務処理を代替しない。TEIの項目は説明用で、実際の約束にこれらの項目があるとは主張しない。EKIの現行の接続は仕事の受付までで、実行端末での処理や業務適用は未確認。
[Sources]
- Markdown Matrix Injector: https://github.com/hat47x/markdown-matrix-injector
- SUI Sensemaking: https://github.com/hat47x/sui-sensemaking
- SEI Cognition: https://github.com/hat47x/sei-cognition
- TEI Platform: https://github.com/hat47x/tei-platform
- EKI Fabric: https://github.com/hat47x/eki-fabric
- TAI Pleroma: https://github.com/hat47x/tai-pleroma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いずれも概念上の例で、六製品すべての実連携が動くとは主張しない。AIを替えた後の再開は目標であり、実環境での互換性やプライバシー保護は未実証。防災の例は行政手続の実装や法的適合を示さない。
[Sources]
- SUI Sensemaking: https://github.com/hat47x/sui-sensemaking
- SEI Cognition: https://github.com/hat47x/sei-cognition
- EKI Fabric: https://github.com/hat47x/eki-fabric
- TAI Pleroma: https://github.com/hat47x/tai-pleroma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個人・組織・社会への価値はTEIの価値文書の整理に沿う。計算力の分かち合いはEKIの想定する利用場面（組織間の共同利用、研究・オープンソース・公益目的への資源提供）による。
[Sources]
- TEIが大切にする価値: https://github.com/hat47x/tei-platform/blob/main/product/value/TEI_PRODUCT_VALUE.md
- EKI Fabric: https://github.com/hat47x/eki-fabric
- SEI Cognition: https://github.com/hat47x/sei-cognition
- SUI Sensemaking: https://github.com/hat47x/sui-sensemaking
- TAI Pleroma: https://github.com/hat47x/tai-pleroma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SEIの「提供元からの独立」「実行手段からの独立」、TEIの「技術を選び直せる」に対応する。長期的な可搬性は目標で、すべてのモデル交換・本番移行を実証したわけではない。
[Sources]
- SEI Cognition: https://github.com/hat47x/sei-cognition
- TEIが大切にする価値: https://github.com/hat47x/tei-platform/blob/main/product/value/TEI_PRODUCT_VALUE.md
- EKI Fabric: https://github.com/hat47x/eki-fabric
Visual on this slide was generated with Microsoft Copilot.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各製品のREADMEと状況文書に基づく。技術課題は各基盤の開発課題を集約した観点で、すべてが現在の不具合と確認されたわけではない。
[Sources]
- Markdown Matrix Injector: https://github.com/hat47x/markdown-matrix-injector
- SUI Sensemaking: https://github.com/hat47x/sui-sensemaking
- SEI Cognition: https://github.com/hat47x/sei-cognition
- TEIの実装状況: https://github.com/hat47x/tei-platform/blob/main/docs/status.md
- EKI Fabric: https://github.com/hat47x/eki-fabric
- TAI Pleroma: https://github.com/hat47x/tai-pleroma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段階は本資料の提案で、現在の製品群が段階Dに達したとは主張しない。指標は測定の候補で、実数はまだない。合否の閾値は業務への影響を踏まえて利用者と決める。
[Sources]
- TAI Pleroma: https://github.com/hat47x/tai-pleroma
- SEI Cognition: https://github.com/hat47x/sei-cognition
- EKI Fabric: https://github.com/hat47x/eki-fabric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卦名と番号は通行の64卦一覧と照合した。上卦（行）×下卦（列）の配列。SEIの井の像はSEIのREADME、TAIの泰はTAIのREADMEに由来の説明がある。ほかの象意の読みはブランド上の説明で、各製品の正式な設計の約束ではない。
[Sources]
- 易経64卦の番号・卦名: https://www.tianeon.com/ja/iching/hexagrams
- TAI Pleroma: https://github.com/hat47x/tai-pleroma
- SEI Cognition: https://github.com/hat47x/sei-cognition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 Constellationの価値は構想段階にあり、実業務での成果は今後の検証が必要。ブランドの使命と実装の現状を同一視しない。
[Sources]
Visual on this slide was generated with Microsoft Copilot.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2026年10月時点で読んだ公開資料。参照は製品をまたぐ正式な受け入れや互換性を意味しない。調査数値の時点と対象は原典で確認する。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jpe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github.com/hat47x/tai-pleroma" TargetMode="External"/><Relationship Id="rId2" Type="http://schemas.openxmlformats.org/officeDocument/2006/relationships/hyperlink" Target="https://github.com/hat47x/sui-sensemaking" TargetMode="External"/><Relationship Id="rId3" Type="http://schemas.openxmlformats.org/officeDocument/2006/relationships/hyperlink" Target="https://github.com/hat47x/sei-cognition" TargetMode="External"/><Relationship Id="rId4" Type="http://schemas.openxmlformats.org/officeDocument/2006/relationships/hyperlink" Target="https://github.com/hat47x/tei-platform" TargetMode="External"/><Relationship Id="rId5" Type="http://schemas.openxmlformats.org/officeDocument/2006/relationships/hyperlink" Target="https://github.com/hat47x/eki-fabric" TargetMode="External"/><Relationship Id="rId6" Type="http://schemas.openxmlformats.org/officeDocument/2006/relationships/hyperlink" Target="https://github.com/hat47x/markdown-matrix-injector" TargetMode="External"/><Relationship Id="rId7" Type="http://schemas.openxmlformats.org/officeDocument/2006/relationships/hyperlink" Target="https://github.com/hat47x/tei-platform/blob/main/product/value/TEI_PRODUCT_VALUE.md" TargetMode="External"/><Relationship Id="rId8" Type="http://schemas.openxmlformats.org/officeDocument/2006/relationships/hyperlink" Target="https://github.com/hat47x/tei-platform/blob/main/docs/status.md" TargetMode="External"/><Relationship Id="rId9" Type="http://schemas.openxmlformats.org/officeDocument/2006/relationships/hyperlink" Target="https://www.mckinsey.com/capabilities/quantumblack/our-insights/the-state-of-ai-2025" TargetMode="External"/><Relationship Id="rId10" Type="http://schemas.openxmlformats.org/officeDocument/2006/relationships/hyperlink" Target="https://airc.nist.gov/airmf-resources/airmf/5-sec-core/" TargetMode="External"/><Relationship Id="rId11" Type="http://schemas.openxmlformats.org/officeDocument/2006/relationships/hyperlink" Target="https://www.nist.gov/publications/artificial-intelligence-risk-management-framework-generative-artificial-intelligence" TargetMode="External"/><Relationship Id="rId12" Type="http://schemas.openxmlformats.org/officeDocument/2006/relationships/hyperlink" Target="https://www.iso.org/insights/iso-42001-explained" TargetMode="External"/><Relationship Id="rId13" Type="http://schemas.openxmlformats.org/officeDocument/2006/relationships/hyperlink" Target="https://www.oecd.org/en/topics/ai-principles.html" TargetMode="External"/><Relationship Id="rId14" Type="http://schemas.openxmlformats.org/officeDocument/2006/relationships/hyperlink" Target="https://www.meti.go.jp/shingikai/mono_info_service/ai_shakai_jisso/" TargetMode="External"/><Relationship Id="rId15" Type="http://schemas.openxmlformats.org/officeDocument/2006/relationships/hyperlink" Target="https://www.tianeon.com/ja/iching/hexagrams" TargetMode="External"/><Relationship Id="rId16" Type="http://schemas.openxmlformats.org/officeDocument/2006/relationships/slideLayout" Target="../slideLayouts/slideLayout1.xml"/><Relationship Id="rId17"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434">
              <a:alpha val="65000"/>
            </a:srgbClr>
          </a:solidFill>
          <a:ln/>
        </p:spPr>
      </p:sp>
      <p:sp>
        <p:nvSpPr>
          <p:cNvPr id="3" name="Text 1"/>
          <p:cNvSpPr/>
          <p:nvPr/>
        </p:nvSpPr>
        <p:spPr>
          <a:xfrm>
            <a:off x="731520" y="685800"/>
            <a:ext cx="7315200" cy="274320"/>
          </a:xfrm>
          <a:prstGeom prst="rect">
            <a:avLst/>
          </a:prstGeom>
          <a:noFill/>
          <a:ln/>
        </p:spPr>
        <p:txBody>
          <a:bodyPr wrap="square" lIns="0" tIns="0" rIns="0" bIns="0" rtlCol="0" anchor="t"/>
          <a:lstStyle/>
          <a:p>
            <a:pPr indent="0" marL="0">
              <a:buNone/>
            </a:pPr>
            <a:r>
              <a:rPr lang="en-US" sz="1200" b="1" spc="200" kern="0" dirty="0">
                <a:solidFill>
                  <a:srgbClr val="C4A06D"/>
                </a:solidFill>
                <a:latin typeface="BIZ UDPGothic" pitchFamily="34" charset="0"/>
                <a:ea typeface="BIZ UDPGothic" pitchFamily="34" charset="-122"/>
                <a:cs typeface="BIZ UDPGothic" pitchFamily="34" charset="-120"/>
              </a:rPr>
              <a:t>製品群の構想と設計</a:t>
            </a:r>
            <a:endParaRPr lang="en-US" sz="1200" dirty="0"/>
          </a:p>
        </p:txBody>
      </p:sp>
      <p:sp>
        <p:nvSpPr>
          <p:cNvPr id="4" name="Text 2"/>
          <p:cNvSpPr/>
          <p:nvPr/>
        </p:nvSpPr>
        <p:spPr>
          <a:xfrm>
            <a:off x="731520" y="1097280"/>
            <a:ext cx="8229600" cy="914400"/>
          </a:xfrm>
          <a:prstGeom prst="rect">
            <a:avLst/>
          </a:prstGeom>
          <a:noFill/>
          <a:ln/>
        </p:spPr>
        <p:txBody>
          <a:bodyPr wrap="square" lIns="0" tIns="0" rIns="0" bIns="0" rtlCol="0" anchor="ctr"/>
          <a:lstStyle/>
          <a:p>
            <a:pPr indent="0" marL="0">
              <a:buNone/>
            </a:pPr>
            <a:r>
              <a:rPr lang="en-US" sz="5600" dirty="0">
                <a:solidFill>
                  <a:srgbClr val="F5F1E8"/>
                </a:solidFill>
                <a:latin typeface="Georgia" pitchFamily="34" charset="0"/>
                <a:ea typeface="Georgia" pitchFamily="34" charset="-122"/>
                <a:cs typeface="Georgia" pitchFamily="34" charset="-120"/>
              </a:rPr>
              <a:t>YI Constellation</a:t>
            </a:r>
            <a:endParaRPr lang="en-US" sz="5600" dirty="0"/>
          </a:p>
        </p:txBody>
      </p:sp>
      <p:sp>
        <p:nvSpPr>
          <p:cNvPr id="5" name="Text 3"/>
          <p:cNvSpPr/>
          <p:nvPr/>
        </p:nvSpPr>
        <p:spPr>
          <a:xfrm>
            <a:off x="731520" y="2103120"/>
            <a:ext cx="10058400" cy="548640"/>
          </a:xfrm>
          <a:prstGeom prst="rect">
            <a:avLst/>
          </a:prstGeom>
          <a:noFill/>
          <a:ln/>
        </p:spPr>
        <p:txBody>
          <a:bodyPr wrap="square" lIns="0" tIns="0" rIns="0" bIns="0" rtlCol="0" anchor="ctr"/>
          <a:lstStyle/>
          <a:p>
            <a:pPr indent="0" marL="0">
              <a:buNone/>
            </a:pPr>
            <a:r>
              <a:rPr lang="en-US" sz="2800" b="1" dirty="0">
                <a:solidFill>
                  <a:srgbClr val="F5F1E8"/>
                </a:solidFill>
                <a:latin typeface="BIZ UDPGothic" pitchFamily="34" charset="0"/>
                <a:ea typeface="BIZ UDPGothic" pitchFamily="34" charset="-122"/>
                <a:cs typeface="BIZ UDPGothic" pitchFamily="34" charset="-120"/>
              </a:rPr>
              <a:t>人と生成AIが、知的活動を共に担うための製品群</a:t>
            </a:r>
            <a:endParaRPr lang="en-US" sz="2800" dirty="0"/>
          </a:p>
        </p:txBody>
      </p:sp>
      <p:sp>
        <p:nvSpPr>
          <p:cNvPr id="6" name="Text 4"/>
          <p:cNvSpPr/>
          <p:nvPr/>
        </p:nvSpPr>
        <p:spPr>
          <a:xfrm>
            <a:off x="731520" y="2743200"/>
            <a:ext cx="9144000" cy="731520"/>
          </a:xfrm>
          <a:prstGeom prst="rect">
            <a:avLst/>
          </a:prstGeom>
          <a:noFill/>
          <a:ln/>
        </p:spPr>
        <p:txBody>
          <a:bodyPr wrap="square" lIns="0" tIns="0" rIns="0" bIns="0" rtlCol="0" anchor="t"/>
          <a:lstStyle/>
          <a:p>
            <a:pPr indent="0" marL="0">
              <a:buNone/>
            </a:pPr>
            <a:r>
              <a:rPr lang="en-US" sz="1500" dirty="0">
                <a:solidFill>
                  <a:srgbClr val="C9D3D9"/>
                </a:solidFill>
                <a:latin typeface="BIZ UDPGothic" pitchFamily="34" charset="0"/>
                <a:ea typeface="BIZ UDPGothic" pitchFamily="34" charset="-122"/>
                <a:cs typeface="BIZ UDPGothic" pitchFamily="34" charset="-120"/>
              </a:rPr>
              <a:t>AIを実務の中心的な担い手にしながら、目的・判断・責任の所在は人が保つ。</a:t>
            </a:r>
            <a:endParaRPr lang="en-US" sz="1500" dirty="0"/>
          </a:p>
          <a:p>
            <a:pPr indent="0" marL="0">
              <a:buNone/>
            </a:pPr>
            <a:r>
              <a:rPr lang="en-US" sz="1500" dirty="0">
                <a:solidFill>
                  <a:srgbClr val="C9D3D9"/>
                </a:solidFill>
                <a:latin typeface="BIZ UDPGothic" pitchFamily="34" charset="0"/>
                <a:ea typeface="BIZ UDPGothic" pitchFamily="34" charset="-122"/>
                <a:cs typeface="BIZ UDPGothic" pitchFamily="34" charset="-120"/>
              </a:rPr>
              <a:t>個人・組織・社会のどの規模でも、考えた理由を未来へつなぐ。</a:t>
            </a:r>
            <a:endParaRPr lang="en-US" sz="1500" dirty="0"/>
          </a:p>
        </p:txBody>
      </p:sp>
      <p:sp>
        <p:nvSpPr>
          <p:cNvPr id="7" name="Shape 5"/>
          <p:cNvSpPr/>
          <p:nvPr/>
        </p:nvSpPr>
        <p:spPr>
          <a:xfrm>
            <a:off x="731520" y="4621876"/>
            <a:ext cx="216256" cy="41564"/>
          </a:xfrm>
          <a:prstGeom prst="rect">
            <a:avLst/>
          </a:prstGeom>
          <a:solidFill>
            <a:srgbClr val="C4A06D"/>
          </a:solidFill>
          <a:ln/>
        </p:spPr>
      </p:sp>
      <p:sp>
        <p:nvSpPr>
          <p:cNvPr id="8" name="Shape 6"/>
          <p:cNvSpPr/>
          <p:nvPr/>
        </p:nvSpPr>
        <p:spPr>
          <a:xfrm>
            <a:off x="1018184" y="4621876"/>
            <a:ext cx="216256" cy="41564"/>
          </a:xfrm>
          <a:prstGeom prst="rect">
            <a:avLst/>
          </a:prstGeom>
          <a:solidFill>
            <a:srgbClr val="C4A06D"/>
          </a:solidFill>
          <a:ln/>
        </p:spPr>
      </p:sp>
      <p:sp>
        <p:nvSpPr>
          <p:cNvPr id="9" name="Shape 7"/>
          <p:cNvSpPr/>
          <p:nvPr/>
        </p:nvSpPr>
        <p:spPr>
          <a:xfrm>
            <a:off x="731520" y="4538749"/>
            <a:ext cx="502920" cy="41564"/>
          </a:xfrm>
          <a:prstGeom prst="rect">
            <a:avLst/>
          </a:prstGeom>
          <a:solidFill>
            <a:srgbClr val="C4A06D"/>
          </a:solidFill>
          <a:ln/>
        </p:spPr>
      </p:sp>
      <p:sp>
        <p:nvSpPr>
          <p:cNvPr id="10" name="Shape 8"/>
          <p:cNvSpPr/>
          <p:nvPr/>
        </p:nvSpPr>
        <p:spPr>
          <a:xfrm>
            <a:off x="731520" y="4455622"/>
            <a:ext cx="502920" cy="41564"/>
          </a:xfrm>
          <a:prstGeom prst="rect">
            <a:avLst/>
          </a:prstGeom>
          <a:solidFill>
            <a:srgbClr val="C4A06D"/>
          </a:solidFill>
          <a:ln/>
        </p:spPr>
      </p:sp>
      <p:sp>
        <p:nvSpPr>
          <p:cNvPr id="11" name="Shape 9"/>
          <p:cNvSpPr/>
          <p:nvPr/>
        </p:nvSpPr>
        <p:spPr>
          <a:xfrm>
            <a:off x="731520" y="4372495"/>
            <a:ext cx="216256" cy="41564"/>
          </a:xfrm>
          <a:prstGeom prst="rect">
            <a:avLst/>
          </a:prstGeom>
          <a:solidFill>
            <a:srgbClr val="C4A06D"/>
          </a:solidFill>
          <a:ln/>
        </p:spPr>
      </p:sp>
      <p:sp>
        <p:nvSpPr>
          <p:cNvPr id="12" name="Shape 10"/>
          <p:cNvSpPr/>
          <p:nvPr/>
        </p:nvSpPr>
        <p:spPr>
          <a:xfrm>
            <a:off x="1018184" y="4372495"/>
            <a:ext cx="216256" cy="41564"/>
          </a:xfrm>
          <a:prstGeom prst="rect">
            <a:avLst/>
          </a:prstGeom>
          <a:solidFill>
            <a:srgbClr val="C4A06D"/>
          </a:solidFill>
          <a:ln/>
        </p:spPr>
      </p:sp>
      <p:sp>
        <p:nvSpPr>
          <p:cNvPr id="13" name="Shape 11"/>
          <p:cNvSpPr/>
          <p:nvPr/>
        </p:nvSpPr>
        <p:spPr>
          <a:xfrm>
            <a:off x="731520" y="4289367"/>
            <a:ext cx="216256" cy="41564"/>
          </a:xfrm>
          <a:prstGeom prst="rect">
            <a:avLst/>
          </a:prstGeom>
          <a:solidFill>
            <a:srgbClr val="C4A06D"/>
          </a:solidFill>
          <a:ln/>
        </p:spPr>
      </p:sp>
      <p:sp>
        <p:nvSpPr>
          <p:cNvPr id="14" name="Shape 12"/>
          <p:cNvSpPr/>
          <p:nvPr/>
        </p:nvSpPr>
        <p:spPr>
          <a:xfrm>
            <a:off x="1018184" y="4289367"/>
            <a:ext cx="216256" cy="41564"/>
          </a:xfrm>
          <a:prstGeom prst="rect">
            <a:avLst/>
          </a:prstGeom>
          <a:solidFill>
            <a:srgbClr val="C4A06D"/>
          </a:solidFill>
          <a:ln/>
        </p:spPr>
      </p:sp>
      <p:sp>
        <p:nvSpPr>
          <p:cNvPr id="15" name="Shape 13"/>
          <p:cNvSpPr/>
          <p:nvPr/>
        </p:nvSpPr>
        <p:spPr>
          <a:xfrm>
            <a:off x="731520" y="4206240"/>
            <a:ext cx="216256" cy="41564"/>
          </a:xfrm>
          <a:prstGeom prst="rect">
            <a:avLst/>
          </a:prstGeom>
          <a:solidFill>
            <a:srgbClr val="C4A06D"/>
          </a:solidFill>
          <a:ln/>
        </p:spPr>
      </p:sp>
      <p:sp>
        <p:nvSpPr>
          <p:cNvPr id="16" name="Shape 14"/>
          <p:cNvSpPr/>
          <p:nvPr/>
        </p:nvSpPr>
        <p:spPr>
          <a:xfrm>
            <a:off x="1018184" y="4206240"/>
            <a:ext cx="216256" cy="41564"/>
          </a:xfrm>
          <a:prstGeom prst="rect">
            <a:avLst/>
          </a:prstGeom>
          <a:solidFill>
            <a:srgbClr val="C4A06D"/>
          </a:solidFill>
          <a:ln/>
        </p:spPr>
      </p:sp>
      <p:sp>
        <p:nvSpPr>
          <p:cNvPr id="17" name="Text 15"/>
          <p:cNvSpPr/>
          <p:nvPr/>
        </p:nvSpPr>
        <p:spPr>
          <a:xfrm>
            <a:off x="1371600" y="4169664"/>
            <a:ext cx="1097280" cy="274320"/>
          </a:xfrm>
          <a:prstGeom prst="rect">
            <a:avLst/>
          </a:prstGeom>
          <a:noFill/>
          <a:ln/>
        </p:spPr>
        <p:txBody>
          <a:bodyPr wrap="square" lIns="0" tIns="0" rIns="0" bIns="0" rtlCol="0" anchor="t"/>
          <a:lstStyle/>
          <a:p>
            <a:pPr indent="0" marL="0">
              <a:buNone/>
            </a:pPr>
            <a:r>
              <a:rPr lang="en-US" sz="1300" b="1" dirty="0">
                <a:solidFill>
                  <a:srgbClr val="F5F1E8"/>
                </a:solidFill>
                <a:latin typeface="BIZ UDPGothic" pitchFamily="34" charset="0"/>
                <a:ea typeface="BIZ UDPGothic" pitchFamily="34" charset="-122"/>
                <a:cs typeface="BIZ UDPGothic" pitchFamily="34" charset="-120"/>
              </a:rPr>
              <a:t>SHO  升</a:t>
            </a:r>
            <a:endParaRPr lang="en-US" sz="1300" dirty="0"/>
          </a:p>
        </p:txBody>
      </p:sp>
      <p:sp>
        <p:nvSpPr>
          <p:cNvPr id="18" name="Text 16"/>
          <p:cNvSpPr/>
          <p:nvPr/>
        </p:nvSpPr>
        <p:spPr>
          <a:xfrm>
            <a:off x="1371600" y="4443984"/>
            <a:ext cx="1097280" cy="237744"/>
          </a:xfrm>
          <a:prstGeom prst="rect">
            <a:avLst/>
          </a:prstGeom>
          <a:noFill/>
          <a:ln/>
        </p:spPr>
        <p:txBody>
          <a:bodyPr wrap="square" lIns="0" tIns="0" rIns="0" bIns="0" rtlCol="0" anchor="t"/>
          <a:lstStyle/>
          <a:p>
            <a:pPr indent="0" marL="0">
              <a:buNone/>
            </a:pPr>
            <a:r>
              <a:rPr lang="en-US" sz="1000" dirty="0">
                <a:solidFill>
                  <a:srgbClr val="C9D3D9"/>
                </a:solidFill>
                <a:latin typeface="BIZ UDPGothic" pitchFamily="34" charset="0"/>
                <a:ea typeface="BIZ UDPGothic" pitchFamily="34" charset="-122"/>
                <a:cs typeface="BIZ UDPGothic" pitchFamily="34" charset="-120"/>
              </a:rPr>
              <a:t>文書と出典</a:t>
            </a:r>
            <a:endParaRPr lang="en-US" sz="1000" dirty="0"/>
          </a:p>
        </p:txBody>
      </p:sp>
      <p:sp>
        <p:nvSpPr>
          <p:cNvPr id="19" name="Shape 17"/>
          <p:cNvSpPr/>
          <p:nvPr/>
        </p:nvSpPr>
        <p:spPr>
          <a:xfrm>
            <a:off x="2514600" y="4621876"/>
            <a:ext cx="216256" cy="41564"/>
          </a:xfrm>
          <a:prstGeom prst="rect">
            <a:avLst/>
          </a:prstGeom>
          <a:solidFill>
            <a:srgbClr val="C4A06D"/>
          </a:solidFill>
          <a:ln/>
        </p:spPr>
      </p:sp>
      <p:sp>
        <p:nvSpPr>
          <p:cNvPr id="20" name="Shape 18"/>
          <p:cNvSpPr/>
          <p:nvPr/>
        </p:nvSpPr>
        <p:spPr>
          <a:xfrm>
            <a:off x="2801264" y="4621876"/>
            <a:ext cx="216256" cy="41564"/>
          </a:xfrm>
          <a:prstGeom prst="rect">
            <a:avLst/>
          </a:prstGeom>
          <a:solidFill>
            <a:srgbClr val="C4A06D"/>
          </a:solidFill>
          <a:ln/>
        </p:spPr>
      </p:sp>
      <p:sp>
        <p:nvSpPr>
          <p:cNvPr id="21" name="Shape 19"/>
          <p:cNvSpPr/>
          <p:nvPr/>
        </p:nvSpPr>
        <p:spPr>
          <a:xfrm>
            <a:off x="2514600" y="4538749"/>
            <a:ext cx="216256" cy="41564"/>
          </a:xfrm>
          <a:prstGeom prst="rect">
            <a:avLst/>
          </a:prstGeom>
          <a:solidFill>
            <a:srgbClr val="C4A06D"/>
          </a:solidFill>
          <a:ln/>
        </p:spPr>
      </p:sp>
      <p:sp>
        <p:nvSpPr>
          <p:cNvPr id="22" name="Shape 20"/>
          <p:cNvSpPr/>
          <p:nvPr/>
        </p:nvSpPr>
        <p:spPr>
          <a:xfrm>
            <a:off x="2801264" y="4538749"/>
            <a:ext cx="216256" cy="41564"/>
          </a:xfrm>
          <a:prstGeom prst="rect">
            <a:avLst/>
          </a:prstGeom>
          <a:solidFill>
            <a:srgbClr val="C4A06D"/>
          </a:solidFill>
          <a:ln/>
        </p:spPr>
      </p:sp>
      <p:sp>
        <p:nvSpPr>
          <p:cNvPr id="23" name="Shape 21"/>
          <p:cNvSpPr/>
          <p:nvPr/>
        </p:nvSpPr>
        <p:spPr>
          <a:xfrm>
            <a:off x="2514600" y="4455622"/>
            <a:ext cx="216256" cy="41564"/>
          </a:xfrm>
          <a:prstGeom prst="rect">
            <a:avLst/>
          </a:prstGeom>
          <a:solidFill>
            <a:srgbClr val="C4A06D"/>
          </a:solidFill>
          <a:ln/>
        </p:spPr>
      </p:sp>
      <p:sp>
        <p:nvSpPr>
          <p:cNvPr id="24" name="Shape 22"/>
          <p:cNvSpPr/>
          <p:nvPr/>
        </p:nvSpPr>
        <p:spPr>
          <a:xfrm>
            <a:off x="2801264" y="4455622"/>
            <a:ext cx="216256" cy="41564"/>
          </a:xfrm>
          <a:prstGeom prst="rect">
            <a:avLst/>
          </a:prstGeom>
          <a:solidFill>
            <a:srgbClr val="C4A06D"/>
          </a:solidFill>
          <a:ln/>
        </p:spPr>
      </p:sp>
      <p:sp>
        <p:nvSpPr>
          <p:cNvPr id="25" name="Shape 23"/>
          <p:cNvSpPr/>
          <p:nvPr/>
        </p:nvSpPr>
        <p:spPr>
          <a:xfrm>
            <a:off x="2514600" y="4372495"/>
            <a:ext cx="502920" cy="41564"/>
          </a:xfrm>
          <a:prstGeom prst="rect">
            <a:avLst/>
          </a:prstGeom>
          <a:solidFill>
            <a:srgbClr val="C4A06D"/>
          </a:solidFill>
          <a:ln/>
        </p:spPr>
      </p:sp>
      <p:sp>
        <p:nvSpPr>
          <p:cNvPr id="26" name="Shape 24"/>
          <p:cNvSpPr/>
          <p:nvPr/>
        </p:nvSpPr>
        <p:spPr>
          <a:xfrm>
            <a:off x="2514600" y="4289367"/>
            <a:ext cx="502920" cy="41564"/>
          </a:xfrm>
          <a:prstGeom prst="rect">
            <a:avLst/>
          </a:prstGeom>
          <a:solidFill>
            <a:srgbClr val="C4A06D"/>
          </a:solidFill>
          <a:ln/>
        </p:spPr>
      </p:sp>
      <p:sp>
        <p:nvSpPr>
          <p:cNvPr id="27" name="Shape 25"/>
          <p:cNvSpPr/>
          <p:nvPr/>
        </p:nvSpPr>
        <p:spPr>
          <a:xfrm>
            <a:off x="2514600" y="4206240"/>
            <a:ext cx="216256" cy="41564"/>
          </a:xfrm>
          <a:prstGeom prst="rect">
            <a:avLst/>
          </a:prstGeom>
          <a:solidFill>
            <a:srgbClr val="C4A06D"/>
          </a:solidFill>
          <a:ln/>
        </p:spPr>
      </p:sp>
      <p:sp>
        <p:nvSpPr>
          <p:cNvPr id="28" name="Shape 26"/>
          <p:cNvSpPr/>
          <p:nvPr/>
        </p:nvSpPr>
        <p:spPr>
          <a:xfrm>
            <a:off x="2801264" y="4206240"/>
            <a:ext cx="216256" cy="41564"/>
          </a:xfrm>
          <a:prstGeom prst="rect">
            <a:avLst/>
          </a:prstGeom>
          <a:solidFill>
            <a:srgbClr val="C4A06D"/>
          </a:solidFill>
          <a:ln/>
        </p:spPr>
      </p:sp>
      <p:sp>
        <p:nvSpPr>
          <p:cNvPr id="29" name="Text 27"/>
          <p:cNvSpPr/>
          <p:nvPr/>
        </p:nvSpPr>
        <p:spPr>
          <a:xfrm>
            <a:off x="3154680" y="4169664"/>
            <a:ext cx="1097280" cy="274320"/>
          </a:xfrm>
          <a:prstGeom prst="rect">
            <a:avLst/>
          </a:prstGeom>
          <a:noFill/>
          <a:ln/>
        </p:spPr>
        <p:txBody>
          <a:bodyPr wrap="square" lIns="0" tIns="0" rIns="0" bIns="0" rtlCol="0" anchor="t"/>
          <a:lstStyle/>
          <a:p>
            <a:pPr indent="0" marL="0">
              <a:buNone/>
            </a:pPr>
            <a:r>
              <a:rPr lang="en-US" sz="1300" b="1" dirty="0">
                <a:solidFill>
                  <a:srgbClr val="F5F1E8"/>
                </a:solidFill>
                <a:latin typeface="BIZ UDPGothic" pitchFamily="34" charset="0"/>
                <a:ea typeface="BIZ UDPGothic" pitchFamily="34" charset="-122"/>
                <a:cs typeface="BIZ UDPGothic" pitchFamily="34" charset="-120"/>
              </a:rPr>
              <a:t>SUI  萃</a:t>
            </a:r>
            <a:endParaRPr lang="en-US" sz="1300" dirty="0"/>
          </a:p>
        </p:txBody>
      </p:sp>
      <p:sp>
        <p:nvSpPr>
          <p:cNvPr id="30" name="Text 28"/>
          <p:cNvSpPr/>
          <p:nvPr/>
        </p:nvSpPr>
        <p:spPr>
          <a:xfrm>
            <a:off x="3154680" y="4443984"/>
            <a:ext cx="1097280" cy="237744"/>
          </a:xfrm>
          <a:prstGeom prst="rect">
            <a:avLst/>
          </a:prstGeom>
          <a:noFill/>
          <a:ln/>
        </p:spPr>
        <p:txBody>
          <a:bodyPr wrap="square" lIns="0" tIns="0" rIns="0" bIns="0" rtlCol="0" anchor="t"/>
          <a:lstStyle/>
          <a:p>
            <a:pPr indent="0" marL="0">
              <a:buNone/>
            </a:pPr>
            <a:r>
              <a:rPr lang="en-US" sz="1000" dirty="0">
                <a:solidFill>
                  <a:srgbClr val="C9D3D9"/>
                </a:solidFill>
                <a:latin typeface="BIZ UDPGothic" pitchFamily="34" charset="0"/>
                <a:ea typeface="BIZ UDPGothic" pitchFamily="34" charset="-122"/>
                <a:cs typeface="BIZ UDPGothic" pitchFamily="34" charset="-120"/>
              </a:rPr>
              <a:t>意味の探索</a:t>
            </a:r>
            <a:endParaRPr lang="en-US" sz="1000" dirty="0"/>
          </a:p>
        </p:txBody>
      </p:sp>
      <p:sp>
        <p:nvSpPr>
          <p:cNvPr id="31" name="Shape 29"/>
          <p:cNvSpPr/>
          <p:nvPr/>
        </p:nvSpPr>
        <p:spPr>
          <a:xfrm>
            <a:off x="4297680" y="4621876"/>
            <a:ext cx="216256" cy="41564"/>
          </a:xfrm>
          <a:prstGeom prst="rect">
            <a:avLst/>
          </a:prstGeom>
          <a:solidFill>
            <a:srgbClr val="C4A06D"/>
          </a:solidFill>
          <a:ln/>
        </p:spPr>
      </p:sp>
      <p:sp>
        <p:nvSpPr>
          <p:cNvPr id="32" name="Shape 30"/>
          <p:cNvSpPr/>
          <p:nvPr/>
        </p:nvSpPr>
        <p:spPr>
          <a:xfrm>
            <a:off x="4584344" y="4621876"/>
            <a:ext cx="216256" cy="41564"/>
          </a:xfrm>
          <a:prstGeom prst="rect">
            <a:avLst/>
          </a:prstGeom>
          <a:solidFill>
            <a:srgbClr val="C4A06D"/>
          </a:solidFill>
          <a:ln/>
        </p:spPr>
      </p:sp>
      <p:sp>
        <p:nvSpPr>
          <p:cNvPr id="33" name="Shape 31"/>
          <p:cNvSpPr/>
          <p:nvPr/>
        </p:nvSpPr>
        <p:spPr>
          <a:xfrm>
            <a:off x="4297680" y="4538749"/>
            <a:ext cx="502920" cy="41564"/>
          </a:xfrm>
          <a:prstGeom prst="rect">
            <a:avLst/>
          </a:prstGeom>
          <a:solidFill>
            <a:srgbClr val="C4A06D"/>
          </a:solidFill>
          <a:ln/>
        </p:spPr>
      </p:sp>
      <p:sp>
        <p:nvSpPr>
          <p:cNvPr id="34" name="Shape 32"/>
          <p:cNvSpPr/>
          <p:nvPr/>
        </p:nvSpPr>
        <p:spPr>
          <a:xfrm>
            <a:off x="4297680" y="4455622"/>
            <a:ext cx="502920" cy="41564"/>
          </a:xfrm>
          <a:prstGeom prst="rect">
            <a:avLst/>
          </a:prstGeom>
          <a:solidFill>
            <a:srgbClr val="C4A06D"/>
          </a:solidFill>
          <a:ln/>
        </p:spPr>
      </p:sp>
      <p:sp>
        <p:nvSpPr>
          <p:cNvPr id="35" name="Shape 33"/>
          <p:cNvSpPr/>
          <p:nvPr/>
        </p:nvSpPr>
        <p:spPr>
          <a:xfrm>
            <a:off x="4297680" y="4372495"/>
            <a:ext cx="216256" cy="41564"/>
          </a:xfrm>
          <a:prstGeom prst="rect">
            <a:avLst/>
          </a:prstGeom>
          <a:solidFill>
            <a:srgbClr val="C4A06D"/>
          </a:solidFill>
          <a:ln/>
        </p:spPr>
      </p:sp>
      <p:sp>
        <p:nvSpPr>
          <p:cNvPr id="36" name="Shape 34"/>
          <p:cNvSpPr/>
          <p:nvPr/>
        </p:nvSpPr>
        <p:spPr>
          <a:xfrm>
            <a:off x="4584344" y="4372495"/>
            <a:ext cx="216256" cy="41564"/>
          </a:xfrm>
          <a:prstGeom prst="rect">
            <a:avLst/>
          </a:prstGeom>
          <a:solidFill>
            <a:srgbClr val="C4A06D"/>
          </a:solidFill>
          <a:ln/>
        </p:spPr>
      </p:sp>
      <p:sp>
        <p:nvSpPr>
          <p:cNvPr id="37" name="Shape 35"/>
          <p:cNvSpPr/>
          <p:nvPr/>
        </p:nvSpPr>
        <p:spPr>
          <a:xfrm>
            <a:off x="4297680" y="4289367"/>
            <a:ext cx="502920" cy="41564"/>
          </a:xfrm>
          <a:prstGeom prst="rect">
            <a:avLst/>
          </a:prstGeom>
          <a:solidFill>
            <a:srgbClr val="C4A06D"/>
          </a:solidFill>
          <a:ln/>
        </p:spPr>
      </p:sp>
      <p:sp>
        <p:nvSpPr>
          <p:cNvPr id="38" name="Shape 36"/>
          <p:cNvSpPr/>
          <p:nvPr/>
        </p:nvSpPr>
        <p:spPr>
          <a:xfrm>
            <a:off x="4297680" y="4206240"/>
            <a:ext cx="216256" cy="41564"/>
          </a:xfrm>
          <a:prstGeom prst="rect">
            <a:avLst/>
          </a:prstGeom>
          <a:solidFill>
            <a:srgbClr val="C4A06D"/>
          </a:solidFill>
          <a:ln/>
        </p:spPr>
      </p:sp>
      <p:sp>
        <p:nvSpPr>
          <p:cNvPr id="39" name="Shape 37"/>
          <p:cNvSpPr/>
          <p:nvPr/>
        </p:nvSpPr>
        <p:spPr>
          <a:xfrm>
            <a:off x="4584344" y="4206240"/>
            <a:ext cx="216256" cy="41564"/>
          </a:xfrm>
          <a:prstGeom prst="rect">
            <a:avLst/>
          </a:prstGeom>
          <a:solidFill>
            <a:srgbClr val="C4A06D"/>
          </a:solidFill>
          <a:ln/>
        </p:spPr>
      </p:sp>
      <p:sp>
        <p:nvSpPr>
          <p:cNvPr id="40" name="Text 38"/>
          <p:cNvSpPr/>
          <p:nvPr/>
        </p:nvSpPr>
        <p:spPr>
          <a:xfrm>
            <a:off x="4937760" y="4169664"/>
            <a:ext cx="1097280" cy="274320"/>
          </a:xfrm>
          <a:prstGeom prst="rect">
            <a:avLst/>
          </a:prstGeom>
          <a:noFill/>
          <a:ln/>
        </p:spPr>
        <p:txBody>
          <a:bodyPr wrap="square" lIns="0" tIns="0" rIns="0" bIns="0" rtlCol="0" anchor="t"/>
          <a:lstStyle/>
          <a:p>
            <a:pPr indent="0" marL="0">
              <a:buNone/>
            </a:pPr>
            <a:r>
              <a:rPr lang="en-US" sz="1300" b="1" dirty="0">
                <a:solidFill>
                  <a:srgbClr val="F5F1E8"/>
                </a:solidFill>
                <a:latin typeface="BIZ UDPGothic" pitchFamily="34" charset="0"/>
                <a:ea typeface="BIZ UDPGothic" pitchFamily="34" charset="-122"/>
                <a:cs typeface="BIZ UDPGothic" pitchFamily="34" charset="-120"/>
              </a:rPr>
              <a:t>SEI  井</a:t>
            </a:r>
            <a:endParaRPr lang="en-US" sz="1300" dirty="0"/>
          </a:p>
        </p:txBody>
      </p:sp>
      <p:sp>
        <p:nvSpPr>
          <p:cNvPr id="41" name="Text 39"/>
          <p:cNvSpPr/>
          <p:nvPr/>
        </p:nvSpPr>
        <p:spPr>
          <a:xfrm>
            <a:off x="4937760" y="4443984"/>
            <a:ext cx="1097280" cy="237744"/>
          </a:xfrm>
          <a:prstGeom prst="rect">
            <a:avLst/>
          </a:prstGeom>
          <a:noFill/>
          <a:ln/>
        </p:spPr>
        <p:txBody>
          <a:bodyPr wrap="square" lIns="0" tIns="0" rIns="0" bIns="0" rtlCol="0" anchor="t"/>
          <a:lstStyle/>
          <a:p>
            <a:pPr indent="0" marL="0">
              <a:buNone/>
            </a:pPr>
            <a:r>
              <a:rPr lang="en-US" sz="1000" dirty="0">
                <a:solidFill>
                  <a:srgbClr val="C9D3D9"/>
                </a:solidFill>
                <a:latin typeface="BIZ UDPGothic" pitchFamily="34" charset="0"/>
                <a:ea typeface="BIZ UDPGothic" pitchFamily="34" charset="-122"/>
                <a:cs typeface="BIZ UDPGothic" pitchFamily="34" charset="-120"/>
              </a:rPr>
              <a:t>判断と来歴</a:t>
            </a:r>
            <a:endParaRPr lang="en-US" sz="1000" dirty="0"/>
          </a:p>
        </p:txBody>
      </p:sp>
      <p:sp>
        <p:nvSpPr>
          <p:cNvPr id="42" name="Shape 40"/>
          <p:cNvSpPr/>
          <p:nvPr/>
        </p:nvSpPr>
        <p:spPr>
          <a:xfrm>
            <a:off x="6080760" y="4621876"/>
            <a:ext cx="216256" cy="41564"/>
          </a:xfrm>
          <a:prstGeom prst="rect">
            <a:avLst/>
          </a:prstGeom>
          <a:solidFill>
            <a:srgbClr val="C4A06D"/>
          </a:solidFill>
          <a:ln/>
        </p:spPr>
      </p:sp>
      <p:sp>
        <p:nvSpPr>
          <p:cNvPr id="43" name="Shape 41"/>
          <p:cNvSpPr/>
          <p:nvPr/>
        </p:nvSpPr>
        <p:spPr>
          <a:xfrm>
            <a:off x="6367424" y="4621876"/>
            <a:ext cx="216256" cy="41564"/>
          </a:xfrm>
          <a:prstGeom prst="rect">
            <a:avLst/>
          </a:prstGeom>
          <a:solidFill>
            <a:srgbClr val="C4A06D"/>
          </a:solidFill>
          <a:ln/>
        </p:spPr>
      </p:sp>
      <p:sp>
        <p:nvSpPr>
          <p:cNvPr id="44" name="Shape 42"/>
          <p:cNvSpPr/>
          <p:nvPr/>
        </p:nvSpPr>
        <p:spPr>
          <a:xfrm>
            <a:off x="6080760" y="4538749"/>
            <a:ext cx="502920" cy="41564"/>
          </a:xfrm>
          <a:prstGeom prst="rect">
            <a:avLst/>
          </a:prstGeom>
          <a:solidFill>
            <a:srgbClr val="C4A06D"/>
          </a:solidFill>
          <a:ln/>
        </p:spPr>
      </p:sp>
      <p:sp>
        <p:nvSpPr>
          <p:cNvPr id="45" name="Shape 43"/>
          <p:cNvSpPr/>
          <p:nvPr/>
        </p:nvSpPr>
        <p:spPr>
          <a:xfrm>
            <a:off x="6080760" y="4455622"/>
            <a:ext cx="502920" cy="41564"/>
          </a:xfrm>
          <a:prstGeom prst="rect">
            <a:avLst/>
          </a:prstGeom>
          <a:solidFill>
            <a:srgbClr val="C4A06D"/>
          </a:solidFill>
          <a:ln/>
        </p:spPr>
      </p:sp>
      <p:sp>
        <p:nvSpPr>
          <p:cNvPr id="46" name="Shape 44"/>
          <p:cNvSpPr/>
          <p:nvPr/>
        </p:nvSpPr>
        <p:spPr>
          <a:xfrm>
            <a:off x="6080760" y="4372495"/>
            <a:ext cx="502920" cy="41564"/>
          </a:xfrm>
          <a:prstGeom prst="rect">
            <a:avLst/>
          </a:prstGeom>
          <a:solidFill>
            <a:srgbClr val="C4A06D"/>
          </a:solidFill>
          <a:ln/>
        </p:spPr>
      </p:sp>
      <p:sp>
        <p:nvSpPr>
          <p:cNvPr id="47" name="Shape 45"/>
          <p:cNvSpPr/>
          <p:nvPr/>
        </p:nvSpPr>
        <p:spPr>
          <a:xfrm>
            <a:off x="6080760" y="4289367"/>
            <a:ext cx="216256" cy="41564"/>
          </a:xfrm>
          <a:prstGeom prst="rect">
            <a:avLst/>
          </a:prstGeom>
          <a:solidFill>
            <a:srgbClr val="C4A06D"/>
          </a:solidFill>
          <a:ln/>
        </p:spPr>
      </p:sp>
      <p:sp>
        <p:nvSpPr>
          <p:cNvPr id="48" name="Shape 46"/>
          <p:cNvSpPr/>
          <p:nvPr/>
        </p:nvSpPr>
        <p:spPr>
          <a:xfrm>
            <a:off x="6367424" y="4289367"/>
            <a:ext cx="216256" cy="41564"/>
          </a:xfrm>
          <a:prstGeom prst="rect">
            <a:avLst/>
          </a:prstGeom>
          <a:solidFill>
            <a:srgbClr val="C4A06D"/>
          </a:solidFill>
          <a:ln/>
        </p:spPr>
      </p:sp>
      <p:sp>
        <p:nvSpPr>
          <p:cNvPr id="49" name="Shape 47"/>
          <p:cNvSpPr/>
          <p:nvPr/>
        </p:nvSpPr>
        <p:spPr>
          <a:xfrm>
            <a:off x="6080760" y="4206240"/>
            <a:ext cx="502920" cy="41564"/>
          </a:xfrm>
          <a:prstGeom prst="rect">
            <a:avLst/>
          </a:prstGeom>
          <a:solidFill>
            <a:srgbClr val="C4A06D"/>
          </a:solidFill>
          <a:ln/>
        </p:spPr>
      </p:sp>
      <p:sp>
        <p:nvSpPr>
          <p:cNvPr id="50" name="Text 48"/>
          <p:cNvSpPr/>
          <p:nvPr/>
        </p:nvSpPr>
        <p:spPr>
          <a:xfrm>
            <a:off x="6720840" y="4169664"/>
            <a:ext cx="1097280" cy="274320"/>
          </a:xfrm>
          <a:prstGeom prst="rect">
            <a:avLst/>
          </a:prstGeom>
          <a:noFill/>
          <a:ln/>
        </p:spPr>
        <p:txBody>
          <a:bodyPr wrap="square" lIns="0" tIns="0" rIns="0" bIns="0" rtlCol="0" anchor="t"/>
          <a:lstStyle/>
          <a:p>
            <a:pPr indent="0" marL="0">
              <a:buNone/>
            </a:pPr>
            <a:r>
              <a:rPr lang="en-US" sz="1300" b="1" dirty="0">
                <a:solidFill>
                  <a:srgbClr val="F5F1E8"/>
                </a:solidFill>
                <a:latin typeface="BIZ UDPGothic" pitchFamily="34" charset="0"/>
                <a:ea typeface="BIZ UDPGothic" pitchFamily="34" charset="-122"/>
                <a:cs typeface="BIZ UDPGothic" pitchFamily="34" charset="-120"/>
              </a:rPr>
              <a:t>TEI  鼎</a:t>
            </a:r>
            <a:endParaRPr lang="en-US" sz="1300" dirty="0"/>
          </a:p>
        </p:txBody>
      </p:sp>
      <p:sp>
        <p:nvSpPr>
          <p:cNvPr id="51" name="Text 49"/>
          <p:cNvSpPr/>
          <p:nvPr/>
        </p:nvSpPr>
        <p:spPr>
          <a:xfrm>
            <a:off x="6720840" y="4443984"/>
            <a:ext cx="1097280" cy="237744"/>
          </a:xfrm>
          <a:prstGeom prst="rect">
            <a:avLst/>
          </a:prstGeom>
          <a:noFill/>
          <a:ln/>
        </p:spPr>
        <p:txBody>
          <a:bodyPr wrap="square" lIns="0" tIns="0" rIns="0" bIns="0" rtlCol="0" anchor="t"/>
          <a:lstStyle/>
          <a:p>
            <a:pPr indent="0" marL="0">
              <a:buNone/>
            </a:pPr>
            <a:r>
              <a:rPr lang="en-US" sz="1000" dirty="0">
                <a:solidFill>
                  <a:srgbClr val="C9D3D9"/>
                </a:solidFill>
                <a:latin typeface="BIZ UDPGothic" pitchFamily="34" charset="0"/>
                <a:ea typeface="BIZ UDPGothic" pitchFamily="34" charset="-122"/>
                <a:cs typeface="BIZ UDPGothic" pitchFamily="34" charset="-120"/>
              </a:rPr>
              <a:t>知識の実現</a:t>
            </a:r>
            <a:endParaRPr lang="en-US" sz="1000" dirty="0"/>
          </a:p>
        </p:txBody>
      </p:sp>
      <p:sp>
        <p:nvSpPr>
          <p:cNvPr id="52" name="Shape 50"/>
          <p:cNvSpPr/>
          <p:nvPr/>
        </p:nvSpPr>
        <p:spPr>
          <a:xfrm>
            <a:off x="7863840" y="4621876"/>
            <a:ext cx="502920" cy="41564"/>
          </a:xfrm>
          <a:prstGeom prst="rect">
            <a:avLst/>
          </a:prstGeom>
          <a:solidFill>
            <a:srgbClr val="C4A06D"/>
          </a:solidFill>
          <a:ln/>
        </p:spPr>
      </p:sp>
      <p:sp>
        <p:nvSpPr>
          <p:cNvPr id="53" name="Shape 51"/>
          <p:cNvSpPr/>
          <p:nvPr/>
        </p:nvSpPr>
        <p:spPr>
          <a:xfrm>
            <a:off x="7863840" y="4538749"/>
            <a:ext cx="216256" cy="41564"/>
          </a:xfrm>
          <a:prstGeom prst="rect">
            <a:avLst/>
          </a:prstGeom>
          <a:solidFill>
            <a:srgbClr val="C4A06D"/>
          </a:solidFill>
          <a:ln/>
        </p:spPr>
      </p:sp>
      <p:sp>
        <p:nvSpPr>
          <p:cNvPr id="54" name="Shape 52"/>
          <p:cNvSpPr/>
          <p:nvPr/>
        </p:nvSpPr>
        <p:spPr>
          <a:xfrm>
            <a:off x="8150504" y="4538749"/>
            <a:ext cx="216256" cy="41564"/>
          </a:xfrm>
          <a:prstGeom prst="rect">
            <a:avLst/>
          </a:prstGeom>
          <a:solidFill>
            <a:srgbClr val="C4A06D"/>
          </a:solidFill>
          <a:ln/>
        </p:spPr>
      </p:sp>
      <p:sp>
        <p:nvSpPr>
          <p:cNvPr id="55" name="Shape 53"/>
          <p:cNvSpPr/>
          <p:nvPr/>
        </p:nvSpPr>
        <p:spPr>
          <a:xfrm>
            <a:off x="7863840" y="4455622"/>
            <a:ext cx="216256" cy="41564"/>
          </a:xfrm>
          <a:prstGeom prst="rect">
            <a:avLst/>
          </a:prstGeom>
          <a:solidFill>
            <a:srgbClr val="C4A06D"/>
          </a:solidFill>
          <a:ln/>
        </p:spPr>
      </p:sp>
      <p:sp>
        <p:nvSpPr>
          <p:cNvPr id="56" name="Shape 54"/>
          <p:cNvSpPr/>
          <p:nvPr/>
        </p:nvSpPr>
        <p:spPr>
          <a:xfrm>
            <a:off x="8150504" y="4455622"/>
            <a:ext cx="216256" cy="41564"/>
          </a:xfrm>
          <a:prstGeom prst="rect">
            <a:avLst/>
          </a:prstGeom>
          <a:solidFill>
            <a:srgbClr val="C4A06D"/>
          </a:solidFill>
          <a:ln/>
        </p:spPr>
      </p:sp>
      <p:sp>
        <p:nvSpPr>
          <p:cNvPr id="57" name="Shape 55"/>
          <p:cNvSpPr/>
          <p:nvPr/>
        </p:nvSpPr>
        <p:spPr>
          <a:xfrm>
            <a:off x="7863840" y="4372495"/>
            <a:ext cx="216256" cy="41564"/>
          </a:xfrm>
          <a:prstGeom prst="rect">
            <a:avLst/>
          </a:prstGeom>
          <a:solidFill>
            <a:srgbClr val="C4A06D"/>
          </a:solidFill>
          <a:ln/>
        </p:spPr>
      </p:sp>
      <p:sp>
        <p:nvSpPr>
          <p:cNvPr id="58" name="Shape 56"/>
          <p:cNvSpPr/>
          <p:nvPr/>
        </p:nvSpPr>
        <p:spPr>
          <a:xfrm>
            <a:off x="8150504" y="4372495"/>
            <a:ext cx="216256" cy="41564"/>
          </a:xfrm>
          <a:prstGeom prst="rect">
            <a:avLst/>
          </a:prstGeom>
          <a:solidFill>
            <a:srgbClr val="C4A06D"/>
          </a:solidFill>
          <a:ln/>
        </p:spPr>
      </p:sp>
      <p:sp>
        <p:nvSpPr>
          <p:cNvPr id="59" name="Shape 57"/>
          <p:cNvSpPr/>
          <p:nvPr/>
        </p:nvSpPr>
        <p:spPr>
          <a:xfrm>
            <a:off x="7863840" y="4289367"/>
            <a:ext cx="502920" cy="41564"/>
          </a:xfrm>
          <a:prstGeom prst="rect">
            <a:avLst/>
          </a:prstGeom>
          <a:solidFill>
            <a:srgbClr val="C4A06D"/>
          </a:solidFill>
          <a:ln/>
        </p:spPr>
      </p:sp>
      <p:sp>
        <p:nvSpPr>
          <p:cNvPr id="60" name="Shape 58"/>
          <p:cNvSpPr/>
          <p:nvPr/>
        </p:nvSpPr>
        <p:spPr>
          <a:xfrm>
            <a:off x="7863840" y="4206240"/>
            <a:ext cx="502920" cy="41564"/>
          </a:xfrm>
          <a:prstGeom prst="rect">
            <a:avLst/>
          </a:prstGeom>
          <a:solidFill>
            <a:srgbClr val="C4A06D"/>
          </a:solidFill>
          <a:ln/>
        </p:spPr>
      </p:sp>
      <p:sp>
        <p:nvSpPr>
          <p:cNvPr id="61" name="Text 59"/>
          <p:cNvSpPr/>
          <p:nvPr/>
        </p:nvSpPr>
        <p:spPr>
          <a:xfrm>
            <a:off x="8503920" y="4169664"/>
            <a:ext cx="1097280" cy="274320"/>
          </a:xfrm>
          <a:prstGeom prst="rect">
            <a:avLst/>
          </a:prstGeom>
          <a:noFill/>
          <a:ln/>
        </p:spPr>
        <p:txBody>
          <a:bodyPr wrap="square" lIns="0" tIns="0" rIns="0" bIns="0" rtlCol="0" anchor="t"/>
          <a:lstStyle/>
          <a:p>
            <a:pPr indent="0" marL="0">
              <a:buNone/>
            </a:pPr>
            <a:r>
              <a:rPr lang="en-US" sz="1300" b="1" dirty="0">
                <a:solidFill>
                  <a:srgbClr val="F5F1E8"/>
                </a:solidFill>
                <a:latin typeface="BIZ UDPGothic" pitchFamily="34" charset="0"/>
                <a:ea typeface="BIZ UDPGothic" pitchFamily="34" charset="-122"/>
                <a:cs typeface="BIZ UDPGothic" pitchFamily="34" charset="-120"/>
              </a:rPr>
              <a:t>EKI  益</a:t>
            </a:r>
            <a:endParaRPr lang="en-US" sz="1300" dirty="0"/>
          </a:p>
        </p:txBody>
      </p:sp>
      <p:sp>
        <p:nvSpPr>
          <p:cNvPr id="62" name="Text 60"/>
          <p:cNvSpPr/>
          <p:nvPr/>
        </p:nvSpPr>
        <p:spPr>
          <a:xfrm>
            <a:off x="8503920" y="4443984"/>
            <a:ext cx="1097280" cy="237744"/>
          </a:xfrm>
          <a:prstGeom prst="rect">
            <a:avLst/>
          </a:prstGeom>
          <a:noFill/>
          <a:ln/>
        </p:spPr>
        <p:txBody>
          <a:bodyPr wrap="square" lIns="0" tIns="0" rIns="0" bIns="0" rtlCol="0" anchor="t"/>
          <a:lstStyle/>
          <a:p>
            <a:pPr indent="0" marL="0">
              <a:buNone/>
            </a:pPr>
            <a:r>
              <a:rPr lang="en-US" sz="1000" dirty="0">
                <a:solidFill>
                  <a:srgbClr val="C9D3D9"/>
                </a:solidFill>
                <a:latin typeface="BIZ UDPGothic" pitchFamily="34" charset="0"/>
                <a:ea typeface="BIZ UDPGothic" pitchFamily="34" charset="-122"/>
                <a:cs typeface="BIZ UDPGothic" pitchFamily="34" charset="-120"/>
              </a:rPr>
              <a:t>委任と実行</a:t>
            </a:r>
            <a:endParaRPr lang="en-US" sz="1000" dirty="0"/>
          </a:p>
        </p:txBody>
      </p:sp>
      <p:sp>
        <p:nvSpPr>
          <p:cNvPr id="63" name="Shape 61"/>
          <p:cNvSpPr/>
          <p:nvPr/>
        </p:nvSpPr>
        <p:spPr>
          <a:xfrm>
            <a:off x="9646920" y="4621876"/>
            <a:ext cx="502920" cy="41564"/>
          </a:xfrm>
          <a:prstGeom prst="rect">
            <a:avLst/>
          </a:prstGeom>
          <a:solidFill>
            <a:srgbClr val="C4A06D"/>
          </a:solidFill>
          <a:ln/>
        </p:spPr>
      </p:sp>
      <p:sp>
        <p:nvSpPr>
          <p:cNvPr id="64" name="Shape 62"/>
          <p:cNvSpPr/>
          <p:nvPr/>
        </p:nvSpPr>
        <p:spPr>
          <a:xfrm>
            <a:off x="9646920" y="4538749"/>
            <a:ext cx="502920" cy="41564"/>
          </a:xfrm>
          <a:prstGeom prst="rect">
            <a:avLst/>
          </a:prstGeom>
          <a:solidFill>
            <a:srgbClr val="C4A06D"/>
          </a:solidFill>
          <a:ln/>
        </p:spPr>
      </p:sp>
      <p:sp>
        <p:nvSpPr>
          <p:cNvPr id="65" name="Shape 63"/>
          <p:cNvSpPr/>
          <p:nvPr/>
        </p:nvSpPr>
        <p:spPr>
          <a:xfrm>
            <a:off x="9646920" y="4455622"/>
            <a:ext cx="502920" cy="41564"/>
          </a:xfrm>
          <a:prstGeom prst="rect">
            <a:avLst/>
          </a:prstGeom>
          <a:solidFill>
            <a:srgbClr val="C4A06D"/>
          </a:solidFill>
          <a:ln/>
        </p:spPr>
      </p:sp>
      <p:sp>
        <p:nvSpPr>
          <p:cNvPr id="66" name="Shape 64"/>
          <p:cNvSpPr/>
          <p:nvPr/>
        </p:nvSpPr>
        <p:spPr>
          <a:xfrm>
            <a:off x="9646920" y="4372495"/>
            <a:ext cx="216256" cy="41564"/>
          </a:xfrm>
          <a:prstGeom prst="rect">
            <a:avLst/>
          </a:prstGeom>
          <a:solidFill>
            <a:srgbClr val="C4A06D"/>
          </a:solidFill>
          <a:ln/>
        </p:spPr>
      </p:sp>
      <p:sp>
        <p:nvSpPr>
          <p:cNvPr id="67" name="Shape 65"/>
          <p:cNvSpPr/>
          <p:nvPr/>
        </p:nvSpPr>
        <p:spPr>
          <a:xfrm>
            <a:off x="9933584" y="4372495"/>
            <a:ext cx="216256" cy="41564"/>
          </a:xfrm>
          <a:prstGeom prst="rect">
            <a:avLst/>
          </a:prstGeom>
          <a:solidFill>
            <a:srgbClr val="C4A06D"/>
          </a:solidFill>
          <a:ln/>
        </p:spPr>
      </p:sp>
      <p:sp>
        <p:nvSpPr>
          <p:cNvPr id="68" name="Shape 66"/>
          <p:cNvSpPr/>
          <p:nvPr/>
        </p:nvSpPr>
        <p:spPr>
          <a:xfrm>
            <a:off x="9646920" y="4289367"/>
            <a:ext cx="216256" cy="41564"/>
          </a:xfrm>
          <a:prstGeom prst="rect">
            <a:avLst/>
          </a:prstGeom>
          <a:solidFill>
            <a:srgbClr val="C4A06D"/>
          </a:solidFill>
          <a:ln/>
        </p:spPr>
      </p:sp>
      <p:sp>
        <p:nvSpPr>
          <p:cNvPr id="69" name="Shape 67"/>
          <p:cNvSpPr/>
          <p:nvPr/>
        </p:nvSpPr>
        <p:spPr>
          <a:xfrm>
            <a:off x="9933584" y="4289367"/>
            <a:ext cx="216256" cy="41564"/>
          </a:xfrm>
          <a:prstGeom prst="rect">
            <a:avLst/>
          </a:prstGeom>
          <a:solidFill>
            <a:srgbClr val="C4A06D"/>
          </a:solidFill>
          <a:ln/>
        </p:spPr>
      </p:sp>
      <p:sp>
        <p:nvSpPr>
          <p:cNvPr id="70" name="Shape 68"/>
          <p:cNvSpPr/>
          <p:nvPr/>
        </p:nvSpPr>
        <p:spPr>
          <a:xfrm>
            <a:off x="9646920" y="4206240"/>
            <a:ext cx="216256" cy="41564"/>
          </a:xfrm>
          <a:prstGeom prst="rect">
            <a:avLst/>
          </a:prstGeom>
          <a:solidFill>
            <a:srgbClr val="C4A06D"/>
          </a:solidFill>
          <a:ln/>
        </p:spPr>
      </p:sp>
      <p:sp>
        <p:nvSpPr>
          <p:cNvPr id="71" name="Shape 69"/>
          <p:cNvSpPr/>
          <p:nvPr/>
        </p:nvSpPr>
        <p:spPr>
          <a:xfrm>
            <a:off x="9933584" y="4206240"/>
            <a:ext cx="216256" cy="41564"/>
          </a:xfrm>
          <a:prstGeom prst="rect">
            <a:avLst/>
          </a:prstGeom>
          <a:solidFill>
            <a:srgbClr val="C4A06D"/>
          </a:solidFill>
          <a:ln/>
        </p:spPr>
      </p:sp>
      <p:sp>
        <p:nvSpPr>
          <p:cNvPr id="72" name="Text 70"/>
          <p:cNvSpPr/>
          <p:nvPr/>
        </p:nvSpPr>
        <p:spPr>
          <a:xfrm>
            <a:off x="10287000" y="4169664"/>
            <a:ext cx="1097280" cy="274320"/>
          </a:xfrm>
          <a:prstGeom prst="rect">
            <a:avLst/>
          </a:prstGeom>
          <a:noFill/>
          <a:ln/>
        </p:spPr>
        <p:txBody>
          <a:bodyPr wrap="square" lIns="0" tIns="0" rIns="0" bIns="0" rtlCol="0" anchor="t"/>
          <a:lstStyle/>
          <a:p>
            <a:pPr indent="0" marL="0">
              <a:buNone/>
            </a:pPr>
            <a:r>
              <a:rPr lang="en-US" sz="1300" b="1" dirty="0">
                <a:solidFill>
                  <a:srgbClr val="F5F1E8"/>
                </a:solidFill>
                <a:latin typeface="BIZ UDPGothic" pitchFamily="34" charset="0"/>
                <a:ea typeface="BIZ UDPGothic" pitchFamily="34" charset="-122"/>
                <a:cs typeface="BIZ UDPGothic" pitchFamily="34" charset="-120"/>
              </a:rPr>
              <a:t>TAI  泰</a:t>
            </a:r>
            <a:endParaRPr lang="en-US" sz="1300" dirty="0"/>
          </a:p>
        </p:txBody>
      </p:sp>
      <p:sp>
        <p:nvSpPr>
          <p:cNvPr id="73" name="Text 71"/>
          <p:cNvSpPr/>
          <p:nvPr/>
        </p:nvSpPr>
        <p:spPr>
          <a:xfrm>
            <a:off x="10287000" y="4443984"/>
            <a:ext cx="1097280" cy="237744"/>
          </a:xfrm>
          <a:prstGeom prst="rect">
            <a:avLst/>
          </a:prstGeom>
          <a:noFill/>
          <a:ln/>
        </p:spPr>
        <p:txBody>
          <a:bodyPr wrap="square" lIns="0" tIns="0" rIns="0" bIns="0" rtlCol="0" anchor="t"/>
          <a:lstStyle/>
          <a:p>
            <a:pPr indent="0" marL="0">
              <a:buNone/>
            </a:pPr>
            <a:r>
              <a:rPr lang="en-US" sz="1000" dirty="0">
                <a:solidFill>
                  <a:srgbClr val="C9D3D9"/>
                </a:solidFill>
                <a:latin typeface="BIZ UDPGothic" pitchFamily="34" charset="0"/>
                <a:ea typeface="BIZ UDPGothic" pitchFamily="34" charset="-122"/>
                <a:cs typeface="BIZ UDPGothic" pitchFamily="34" charset="-120"/>
              </a:rPr>
              <a:t>課題の横断</a:t>
            </a:r>
            <a:endParaRPr lang="en-US" sz="1000" dirty="0"/>
          </a:p>
        </p:txBody>
      </p:sp>
      <p:sp>
        <p:nvSpPr>
          <p:cNvPr id="74" name="Text 72"/>
          <p:cNvSpPr/>
          <p:nvPr/>
        </p:nvSpPr>
        <p:spPr>
          <a:xfrm>
            <a:off x="731520" y="5943600"/>
            <a:ext cx="7315200" cy="365760"/>
          </a:xfrm>
          <a:prstGeom prst="rect">
            <a:avLst/>
          </a:prstGeom>
          <a:noFill/>
          <a:ln/>
        </p:spPr>
        <p:txBody>
          <a:bodyPr wrap="square" lIns="0" tIns="0" rIns="0" bIns="0" rtlCol="0" anchor="t"/>
          <a:lstStyle/>
          <a:p>
            <a:pPr indent="0" marL="0">
              <a:buNone/>
            </a:pPr>
            <a:r>
              <a:rPr lang="en-US" sz="1500" dirty="0">
                <a:solidFill>
                  <a:srgbClr val="A7B7A7"/>
                </a:solidFill>
                <a:latin typeface="BIZ UDPGothic" pitchFamily="34" charset="0"/>
                <a:ea typeface="BIZ UDPGothic" pitchFamily="34" charset="-122"/>
                <a:cs typeface="BIZ UDPGothic" pitchFamily="34" charset="-120"/>
              </a:rPr>
              <a:t>考えた理由を、未来へつなぐ。</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274320"/>
            <a:ext cx="1118585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00  構想の核</a:t>
            </a:r>
            <a:endParaRPr lang="en-US" sz="950" dirty="0"/>
          </a:p>
        </p:txBody>
      </p:sp>
      <p:sp>
        <p:nvSpPr>
          <p:cNvPr id="3" name="Text 1"/>
          <p:cNvSpPr/>
          <p:nvPr/>
        </p:nvSpPr>
        <p:spPr>
          <a:xfrm>
            <a:off x="502920" y="530352"/>
            <a:ext cx="1118585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AIに任せる仕事を広げ、統治は人が保つ</a:t>
            </a:r>
            <a:endParaRPr lang="en-US" sz="2500" dirty="0"/>
          </a:p>
        </p:txBody>
      </p:sp>
      <p:sp>
        <p:nvSpPr>
          <p:cNvPr id="4" name="Text 2"/>
          <p:cNvSpPr/>
          <p:nvPr/>
        </p:nvSpPr>
        <p:spPr>
          <a:xfrm>
            <a:off x="502920" y="1097280"/>
            <a:ext cx="1118585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中核に置くのはAIの判断権ではない。誰の目的を扱い、誰に影響し、誰が決めるかで設計が変わる。</a:t>
            </a:r>
            <a:endParaRPr lang="en-US" sz="1300" dirty="0"/>
          </a:p>
        </p:txBody>
      </p:sp>
      <p:sp>
        <p:nvSpPr>
          <p:cNvPr id="5" name="Text 3"/>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02</a:t>
            </a:r>
            <a:endParaRPr lang="en-US" sz="1000" dirty="0"/>
          </a:p>
        </p:txBody>
      </p:sp>
      <p:sp>
        <p:nvSpPr>
          <p:cNvPr id="6" name="Shape 4"/>
          <p:cNvSpPr/>
          <p:nvPr/>
        </p:nvSpPr>
        <p:spPr>
          <a:xfrm>
            <a:off x="502920" y="1645920"/>
            <a:ext cx="3401568" cy="457200"/>
          </a:xfrm>
          <a:prstGeom prst="rect">
            <a:avLst/>
          </a:prstGeom>
          <a:solidFill>
            <a:srgbClr val="2E4C66"/>
          </a:solidFill>
          <a:ln/>
        </p:spPr>
      </p:sp>
      <p:sp>
        <p:nvSpPr>
          <p:cNvPr id="7" name="Text 5"/>
          <p:cNvSpPr/>
          <p:nvPr/>
        </p:nvSpPr>
        <p:spPr>
          <a:xfrm>
            <a:off x="685800" y="1645920"/>
            <a:ext cx="3127248" cy="457200"/>
          </a:xfrm>
          <a:prstGeom prst="rect">
            <a:avLst/>
          </a:prstGeom>
          <a:noFill/>
          <a:ln/>
        </p:spPr>
        <p:txBody>
          <a:bodyPr wrap="square" lIns="0" tIns="0" rIns="0" bIns="0" rtlCol="0" anchor="ctr"/>
          <a:lstStyle/>
          <a:p>
            <a:pPr indent="0" marL="0">
              <a:buNone/>
            </a:pPr>
            <a:r>
              <a:rPr lang="en-US" sz="1400" b="1" dirty="0">
                <a:solidFill>
                  <a:srgbClr val="F5F1E8"/>
                </a:solidFill>
                <a:latin typeface="BIZ UDPGothic" pitchFamily="34" charset="0"/>
                <a:ea typeface="BIZ UDPGothic" pitchFamily="34" charset="-122"/>
                <a:cs typeface="BIZ UDPGothic" pitchFamily="34" charset="-120"/>
              </a:rPr>
              <a:t>AIが担い得る実務</a:t>
            </a:r>
            <a:endParaRPr lang="en-US" sz="1400" dirty="0"/>
          </a:p>
        </p:txBody>
      </p:sp>
      <p:sp>
        <p:nvSpPr>
          <p:cNvPr id="8" name="Shape 6"/>
          <p:cNvSpPr/>
          <p:nvPr/>
        </p:nvSpPr>
        <p:spPr>
          <a:xfrm>
            <a:off x="502920" y="2212848"/>
            <a:ext cx="3401568" cy="621792"/>
          </a:xfrm>
          <a:prstGeom prst="rect">
            <a:avLst/>
          </a:prstGeom>
          <a:solidFill>
            <a:srgbClr val="FFFFFF"/>
          </a:solidFill>
          <a:ln w="9525">
            <a:solidFill>
              <a:srgbClr val="DCD5C6"/>
            </a:solidFill>
            <a:prstDash val="solid"/>
          </a:ln>
        </p:spPr>
      </p:sp>
      <p:sp>
        <p:nvSpPr>
          <p:cNvPr id="9" name="Shape 7"/>
          <p:cNvSpPr/>
          <p:nvPr/>
        </p:nvSpPr>
        <p:spPr>
          <a:xfrm>
            <a:off x="502920" y="2212848"/>
            <a:ext cx="54864" cy="621792"/>
          </a:xfrm>
          <a:prstGeom prst="rect">
            <a:avLst/>
          </a:prstGeom>
          <a:solidFill>
            <a:srgbClr val="789FB6"/>
          </a:solidFill>
          <a:ln/>
        </p:spPr>
      </p:sp>
      <p:sp>
        <p:nvSpPr>
          <p:cNvPr id="10" name="Text 8"/>
          <p:cNvSpPr/>
          <p:nvPr/>
        </p:nvSpPr>
        <p:spPr>
          <a:xfrm>
            <a:off x="704088" y="2212848"/>
            <a:ext cx="3108960" cy="621792"/>
          </a:xfrm>
          <a:prstGeom prst="rect">
            <a:avLst/>
          </a:prstGeom>
          <a:noFill/>
          <a:ln/>
        </p:spPr>
        <p:txBody>
          <a:bodyPr wrap="square" lIns="0" tIns="0" rIns="0" bIns="0" rtlCol="0" anchor="ctr"/>
          <a:lstStyle/>
          <a:p>
            <a:pPr indent="0" marL="0">
              <a:buNone/>
            </a:pPr>
            <a:r>
              <a:rPr lang="en-US" sz="1250" dirty="0">
                <a:solidFill>
                  <a:srgbClr val="243D54"/>
                </a:solidFill>
                <a:latin typeface="BIZ UDPGothic" pitchFamily="34" charset="0"/>
                <a:ea typeface="BIZ UDPGothic" pitchFamily="34" charset="-122"/>
                <a:cs typeface="BIZ UDPGothic" pitchFamily="34" charset="-120"/>
              </a:rPr>
              <a:t>資料を探して比較し、別の解釈を示す</a:t>
            </a:r>
            <a:endParaRPr lang="en-US" sz="1250" dirty="0"/>
          </a:p>
        </p:txBody>
      </p:sp>
      <p:sp>
        <p:nvSpPr>
          <p:cNvPr id="11" name="Shape 9"/>
          <p:cNvSpPr/>
          <p:nvPr/>
        </p:nvSpPr>
        <p:spPr>
          <a:xfrm>
            <a:off x="502920" y="2926080"/>
            <a:ext cx="3401568" cy="621792"/>
          </a:xfrm>
          <a:prstGeom prst="rect">
            <a:avLst/>
          </a:prstGeom>
          <a:solidFill>
            <a:srgbClr val="FFFFFF"/>
          </a:solidFill>
          <a:ln w="9525">
            <a:solidFill>
              <a:srgbClr val="DCD5C6"/>
            </a:solidFill>
            <a:prstDash val="solid"/>
          </a:ln>
        </p:spPr>
      </p:sp>
      <p:sp>
        <p:nvSpPr>
          <p:cNvPr id="12" name="Shape 10"/>
          <p:cNvSpPr/>
          <p:nvPr/>
        </p:nvSpPr>
        <p:spPr>
          <a:xfrm>
            <a:off x="502920" y="2926080"/>
            <a:ext cx="54864" cy="621792"/>
          </a:xfrm>
          <a:prstGeom prst="rect">
            <a:avLst/>
          </a:prstGeom>
          <a:solidFill>
            <a:srgbClr val="789FB6"/>
          </a:solidFill>
          <a:ln/>
        </p:spPr>
      </p:sp>
      <p:sp>
        <p:nvSpPr>
          <p:cNvPr id="13" name="Text 11"/>
          <p:cNvSpPr/>
          <p:nvPr/>
        </p:nvSpPr>
        <p:spPr>
          <a:xfrm>
            <a:off x="704088" y="2926080"/>
            <a:ext cx="3108960" cy="621792"/>
          </a:xfrm>
          <a:prstGeom prst="rect">
            <a:avLst/>
          </a:prstGeom>
          <a:noFill/>
          <a:ln/>
        </p:spPr>
        <p:txBody>
          <a:bodyPr wrap="square" lIns="0" tIns="0" rIns="0" bIns="0" rtlCol="0" anchor="ctr"/>
          <a:lstStyle/>
          <a:p>
            <a:pPr indent="0" marL="0">
              <a:buNone/>
            </a:pPr>
            <a:r>
              <a:rPr lang="en-US" sz="1250" dirty="0">
                <a:solidFill>
                  <a:srgbClr val="243D54"/>
                </a:solidFill>
                <a:latin typeface="BIZ UDPGothic" pitchFamily="34" charset="0"/>
                <a:ea typeface="BIZ UDPGothic" pitchFamily="34" charset="-122"/>
                <a:cs typeface="BIZ UDPGothic" pitchFamily="34" charset="-120"/>
              </a:rPr>
              <a:t>判断の候補や実装案を検証する</a:t>
            </a:r>
            <a:endParaRPr lang="en-US" sz="1250" dirty="0"/>
          </a:p>
        </p:txBody>
      </p:sp>
      <p:sp>
        <p:nvSpPr>
          <p:cNvPr id="14" name="Shape 12"/>
          <p:cNvSpPr/>
          <p:nvPr/>
        </p:nvSpPr>
        <p:spPr>
          <a:xfrm>
            <a:off x="502920" y="3639312"/>
            <a:ext cx="3401568" cy="621792"/>
          </a:xfrm>
          <a:prstGeom prst="rect">
            <a:avLst/>
          </a:prstGeom>
          <a:solidFill>
            <a:srgbClr val="FFFFFF"/>
          </a:solidFill>
          <a:ln w="9525">
            <a:solidFill>
              <a:srgbClr val="DCD5C6"/>
            </a:solidFill>
            <a:prstDash val="solid"/>
          </a:ln>
        </p:spPr>
      </p:sp>
      <p:sp>
        <p:nvSpPr>
          <p:cNvPr id="15" name="Shape 13"/>
          <p:cNvSpPr/>
          <p:nvPr/>
        </p:nvSpPr>
        <p:spPr>
          <a:xfrm>
            <a:off x="502920" y="3639312"/>
            <a:ext cx="54864" cy="621792"/>
          </a:xfrm>
          <a:prstGeom prst="rect">
            <a:avLst/>
          </a:prstGeom>
          <a:solidFill>
            <a:srgbClr val="789FB6"/>
          </a:solidFill>
          <a:ln/>
        </p:spPr>
      </p:sp>
      <p:sp>
        <p:nvSpPr>
          <p:cNvPr id="16" name="Text 14"/>
          <p:cNvSpPr/>
          <p:nvPr/>
        </p:nvSpPr>
        <p:spPr>
          <a:xfrm>
            <a:off x="704088" y="3639312"/>
            <a:ext cx="3108960" cy="621792"/>
          </a:xfrm>
          <a:prstGeom prst="rect">
            <a:avLst/>
          </a:prstGeom>
          <a:noFill/>
          <a:ln/>
        </p:spPr>
        <p:txBody>
          <a:bodyPr wrap="square" lIns="0" tIns="0" rIns="0" bIns="0" rtlCol="0" anchor="ctr"/>
          <a:lstStyle/>
          <a:p>
            <a:pPr indent="0" marL="0">
              <a:buNone/>
            </a:pPr>
            <a:r>
              <a:rPr lang="en-US" sz="1250" dirty="0">
                <a:solidFill>
                  <a:srgbClr val="243D54"/>
                </a:solidFill>
                <a:latin typeface="BIZ UDPGothic" pitchFamily="34" charset="0"/>
                <a:ea typeface="BIZ UDPGothic" pitchFamily="34" charset="-122"/>
                <a:cs typeface="BIZ UDPGothic" pitchFamily="34" charset="-120"/>
              </a:rPr>
              <a:t>許可された処理を条件内で実行する</a:t>
            </a:r>
            <a:endParaRPr lang="en-US" sz="1250" dirty="0"/>
          </a:p>
        </p:txBody>
      </p:sp>
      <p:sp>
        <p:nvSpPr>
          <p:cNvPr id="17" name="Shape 15"/>
          <p:cNvSpPr/>
          <p:nvPr/>
        </p:nvSpPr>
        <p:spPr>
          <a:xfrm>
            <a:off x="502920" y="4352544"/>
            <a:ext cx="3401568" cy="621792"/>
          </a:xfrm>
          <a:prstGeom prst="rect">
            <a:avLst/>
          </a:prstGeom>
          <a:solidFill>
            <a:srgbClr val="FFFFFF"/>
          </a:solidFill>
          <a:ln w="9525">
            <a:solidFill>
              <a:srgbClr val="DCD5C6"/>
            </a:solidFill>
            <a:prstDash val="solid"/>
          </a:ln>
        </p:spPr>
      </p:sp>
      <p:sp>
        <p:nvSpPr>
          <p:cNvPr id="18" name="Shape 16"/>
          <p:cNvSpPr/>
          <p:nvPr/>
        </p:nvSpPr>
        <p:spPr>
          <a:xfrm>
            <a:off x="502920" y="4352544"/>
            <a:ext cx="54864" cy="621792"/>
          </a:xfrm>
          <a:prstGeom prst="rect">
            <a:avLst/>
          </a:prstGeom>
          <a:solidFill>
            <a:srgbClr val="789FB6"/>
          </a:solidFill>
          <a:ln/>
        </p:spPr>
      </p:sp>
      <p:sp>
        <p:nvSpPr>
          <p:cNvPr id="19" name="Text 17"/>
          <p:cNvSpPr/>
          <p:nvPr/>
        </p:nvSpPr>
        <p:spPr>
          <a:xfrm>
            <a:off x="704088" y="4352544"/>
            <a:ext cx="3108960" cy="621792"/>
          </a:xfrm>
          <a:prstGeom prst="rect">
            <a:avLst/>
          </a:prstGeom>
          <a:noFill/>
          <a:ln/>
        </p:spPr>
        <p:txBody>
          <a:bodyPr wrap="square" lIns="0" tIns="0" rIns="0" bIns="0" rtlCol="0" anchor="ctr"/>
          <a:lstStyle/>
          <a:p>
            <a:pPr indent="0" marL="0">
              <a:buNone/>
            </a:pPr>
            <a:r>
              <a:rPr lang="en-US" sz="1250" dirty="0">
                <a:solidFill>
                  <a:srgbClr val="243D54"/>
                </a:solidFill>
                <a:latin typeface="BIZ UDPGothic" pitchFamily="34" charset="0"/>
                <a:ea typeface="BIZ UDPGothic" pitchFamily="34" charset="-122"/>
                <a:cs typeface="BIZ UDPGothic" pitchFamily="34" charset="-120"/>
              </a:rPr>
              <a:t>結果を観測し、改善候補を提示する</a:t>
            </a:r>
            <a:endParaRPr lang="en-US" sz="1250" dirty="0"/>
          </a:p>
        </p:txBody>
      </p:sp>
      <p:sp>
        <p:nvSpPr>
          <p:cNvPr id="20" name="Shape 18"/>
          <p:cNvSpPr/>
          <p:nvPr/>
        </p:nvSpPr>
        <p:spPr>
          <a:xfrm>
            <a:off x="4069080" y="1645920"/>
            <a:ext cx="3401568" cy="457200"/>
          </a:xfrm>
          <a:prstGeom prst="rect">
            <a:avLst/>
          </a:prstGeom>
          <a:solidFill>
            <a:srgbClr val="243D54"/>
          </a:solidFill>
          <a:ln/>
        </p:spPr>
      </p:sp>
      <p:sp>
        <p:nvSpPr>
          <p:cNvPr id="21" name="Text 19"/>
          <p:cNvSpPr/>
          <p:nvPr/>
        </p:nvSpPr>
        <p:spPr>
          <a:xfrm>
            <a:off x="4251960" y="1645920"/>
            <a:ext cx="3127248" cy="457200"/>
          </a:xfrm>
          <a:prstGeom prst="rect">
            <a:avLst/>
          </a:prstGeom>
          <a:noFill/>
          <a:ln/>
        </p:spPr>
        <p:txBody>
          <a:bodyPr wrap="square" lIns="0" tIns="0" rIns="0" bIns="0" rtlCol="0" anchor="ctr"/>
          <a:lstStyle/>
          <a:p>
            <a:pPr indent="0" marL="0">
              <a:buNone/>
            </a:pPr>
            <a:r>
              <a:rPr lang="en-US" sz="1400" b="1" dirty="0">
                <a:solidFill>
                  <a:srgbClr val="F5F1E8"/>
                </a:solidFill>
                <a:latin typeface="BIZ UDPGothic" pitchFamily="34" charset="0"/>
                <a:ea typeface="BIZ UDPGothic" pitchFamily="34" charset="-122"/>
                <a:cs typeface="BIZ UDPGothic" pitchFamily="34" charset="-120"/>
              </a:rPr>
              <a:t>人が担う統治</a:t>
            </a:r>
            <a:endParaRPr lang="en-US" sz="1400" dirty="0"/>
          </a:p>
        </p:txBody>
      </p:sp>
      <p:sp>
        <p:nvSpPr>
          <p:cNvPr id="22" name="Shape 20"/>
          <p:cNvSpPr/>
          <p:nvPr/>
        </p:nvSpPr>
        <p:spPr>
          <a:xfrm>
            <a:off x="4069080" y="2212848"/>
            <a:ext cx="3401568" cy="621792"/>
          </a:xfrm>
          <a:prstGeom prst="rect">
            <a:avLst/>
          </a:prstGeom>
          <a:solidFill>
            <a:srgbClr val="FFFFFF"/>
          </a:solidFill>
          <a:ln w="9525">
            <a:solidFill>
              <a:srgbClr val="DCD5C6"/>
            </a:solidFill>
            <a:prstDash val="solid"/>
          </a:ln>
        </p:spPr>
      </p:sp>
      <p:sp>
        <p:nvSpPr>
          <p:cNvPr id="23" name="Shape 21"/>
          <p:cNvSpPr/>
          <p:nvPr/>
        </p:nvSpPr>
        <p:spPr>
          <a:xfrm>
            <a:off x="4069080" y="2212848"/>
            <a:ext cx="54864" cy="621792"/>
          </a:xfrm>
          <a:prstGeom prst="rect">
            <a:avLst/>
          </a:prstGeom>
          <a:solidFill>
            <a:srgbClr val="C4A06D"/>
          </a:solidFill>
          <a:ln/>
        </p:spPr>
      </p:sp>
      <p:sp>
        <p:nvSpPr>
          <p:cNvPr id="24" name="Text 22"/>
          <p:cNvSpPr/>
          <p:nvPr/>
        </p:nvSpPr>
        <p:spPr>
          <a:xfrm>
            <a:off x="4270248" y="2212848"/>
            <a:ext cx="3108960" cy="621792"/>
          </a:xfrm>
          <a:prstGeom prst="rect">
            <a:avLst/>
          </a:prstGeom>
          <a:noFill/>
          <a:ln/>
        </p:spPr>
        <p:txBody>
          <a:bodyPr wrap="square" lIns="0" tIns="0" rIns="0" bIns="0" rtlCol="0" anchor="ctr"/>
          <a:lstStyle/>
          <a:p>
            <a:pPr indent="0" marL="0">
              <a:buNone/>
            </a:pPr>
            <a:r>
              <a:rPr lang="en-US" sz="1250" dirty="0">
                <a:solidFill>
                  <a:srgbClr val="243D54"/>
                </a:solidFill>
                <a:latin typeface="BIZ UDPGothic" pitchFamily="34" charset="0"/>
                <a:ea typeface="BIZ UDPGothic" pitchFamily="34" charset="-122"/>
                <a:cs typeface="BIZ UDPGothic" pitchFamily="34" charset="-120"/>
              </a:rPr>
              <a:t>本人・関係者が目的と許容範囲を定める</a:t>
            </a:r>
            <a:endParaRPr lang="en-US" sz="1250" dirty="0"/>
          </a:p>
        </p:txBody>
      </p:sp>
      <p:sp>
        <p:nvSpPr>
          <p:cNvPr id="25" name="Shape 23"/>
          <p:cNvSpPr/>
          <p:nvPr/>
        </p:nvSpPr>
        <p:spPr>
          <a:xfrm>
            <a:off x="4069080" y="2926080"/>
            <a:ext cx="3401568" cy="621792"/>
          </a:xfrm>
          <a:prstGeom prst="rect">
            <a:avLst/>
          </a:prstGeom>
          <a:solidFill>
            <a:srgbClr val="FFFFFF"/>
          </a:solidFill>
          <a:ln w="9525">
            <a:solidFill>
              <a:srgbClr val="DCD5C6"/>
            </a:solidFill>
            <a:prstDash val="solid"/>
          </a:ln>
        </p:spPr>
      </p:sp>
      <p:sp>
        <p:nvSpPr>
          <p:cNvPr id="26" name="Shape 24"/>
          <p:cNvSpPr/>
          <p:nvPr/>
        </p:nvSpPr>
        <p:spPr>
          <a:xfrm>
            <a:off x="4069080" y="2926080"/>
            <a:ext cx="54864" cy="621792"/>
          </a:xfrm>
          <a:prstGeom prst="rect">
            <a:avLst/>
          </a:prstGeom>
          <a:solidFill>
            <a:srgbClr val="C4A06D"/>
          </a:solidFill>
          <a:ln/>
        </p:spPr>
      </p:sp>
      <p:sp>
        <p:nvSpPr>
          <p:cNvPr id="27" name="Text 25"/>
          <p:cNvSpPr/>
          <p:nvPr/>
        </p:nvSpPr>
        <p:spPr>
          <a:xfrm>
            <a:off x="4270248" y="2926080"/>
            <a:ext cx="3108960" cy="621792"/>
          </a:xfrm>
          <a:prstGeom prst="rect">
            <a:avLst/>
          </a:prstGeom>
          <a:noFill/>
          <a:ln/>
        </p:spPr>
        <p:txBody>
          <a:bodyPr wrap="square" lIns="0" tIns="0" rIns="0" bIns="0" rtlCol="0" anchor="ctr"/>
          <a:lstStyle/>
          <a:p>
            <a:pPr indent="0" marL="0">
              <a:buNone/>
            </a:pPr>
            <a:r>
              <a:rPr lang="en-US" sz="1250" dirty="0">
                <a:solidFill>
                  <a:srgbClr val="243D54"/>
                </a:solidFill>
                <a:latin typeface="BIZ UDPGothic" pitchFamily="34" charset="0"/>
                <a:ea typeface="BIZ UDPGothic" pitchFamily="34" charset="-122"/>
                <a:cs typeface="BIZ UDPGothic" pitchFamily="34" charset="-120"/>
              </a:rPr>
              <a:t>責務と承認者を決める</a:t>
            </a:r>
            <a:endParaRPr lang="en-US" sz="1250" dirty="0"/>
          </a:p>
        </p:txBody>
      </p:sp>
      <p:sp>
        <p:nvSpPr>
          <p:cNvPr id="28" name="Shape 26"/>
          <p:cNvSpPr/>
          <p:nvPr/>
        </p:nvSpPr>
        <p:spPr>
          <a:xfrm>
            <a:off x="4069080" y="3639312"/>
            <a:ext cx="3401568" cy="621792"/>
          </a:xfrm>
          <a:prstGeom prst="rect">
            <a:avLst/>
          </a:prstGeom>
          <a:solidFill>
            <a:srgbClr val="FFFFFF"/>
          </a:solidFill>
          <a:ln w="9525">
            <a:solidFill>
              <a:srgbClr val="DCD5C6"/>
            </a:solidFill>
            <a:prstDash val="solid"/>
          </a:ln>
        </p:spPr>
      </p:sp>
      <p:sp>
        <p:nvSpPr>
          <p:cNvPr id="29" name="Shape 27"/>
          <p:cNvSpPr/>
          <p:nvPr/>
        </p:nvSpPr>
        <p:spPr>
          <a:xfrm>
            <a:off x="4069080" y="3639312"/>
            <a:ext cx="54864" cy="621792"/>
          </a:xfrm>
          <a:prstGeom prst="rect">
            <a:avLst/>
          </a:prstGeom>
          <a:solidFill>
            <a:srgbClr val="C4A06D"/>
          </a:solidFill>
          <a:ln/>
        </p:spPr>
      </p:sp>
      <p:sp>
        <p:nvSpPr>
          <p:cNvPr id="30" name="Text 28"/>
          <p:cNvSpPr/>
          <p:nvPr/>
        </p:nvSpPr>
        <p:spPr>
          <a:xfrm>
            <a:off x="4270248" y="3639312"/>
            <a:ext cx="3108960" cy="621792"/>
          </a:xfrm>
          <a:prstGeom prst="rect">
            <a:avLst/>
          </a:prstGeom>
          <a:noFill/>
          <a:ln/>
        </p:spPr>
        <p:txBody>
          <a:bodyPr wrap="square" lIns="0" tIns="0" rIns="0" bIns="0" rtlCol="0" anchor="ctr"/>
          <a:lstStyle/>
          <a:p>
            <a:pPr indent="0" marL="0">
              <a:buNone/>
            </a:pPr>
            <a:r>
              <a:rPr lang="en-US" sz="1250" dirty="0">
                <a:solidFill>
                  <a:srgbClr val="243D54"/>
                </a:solidFill>
                <a:latin typeface="BIZ UDPGothic" pitchFamily="34" charset="0"/>
                <a:ea typeface="BIZ UDPGothic" pitchFamily="34" charset="-122"/>
                <a:cs typeface="BIZ UDPGothic" pitchFamily="34" charset="-120"/>
              </a:rPr>
              <a:t>影響が大きい判断と停止の手段を残す</a:t>
            </a:r>
            <a:endParaRPr lang="en-US" sz="1250" dirty="0"/>
          </a:p>
        </p:txBody>
      </p:sp>
      <p:sp>
        <p:nvSpPr>
          <p:cNvPr id="31" name="Shape 29"/>
          <p:cNvSpPr/>
          <p:nvPr/>
        </p:nvSpPr>
        <p:spPr>
          <a:xfrm>
            <a:off x="4069080" y="4352544"/>
            <a:ext cx="3401568" cy="621792"/>
          </a:xfrm>
          <a:prstGeom prst="rect">
            <a:avLst/>
          </a:prstGeom>
          <a:solidFill>
            <a:srgbClr val="FFFFFF"/>
          </a:solidFill>
          <a:ln w="9525">
            <a:solidFill>
              <a:srgbClr val="DCD5C6"/>
            </a:solidFill>
            <a:prstDash val="solid"/>
          </a:ln>
        </p:spPr>
      </p:sp>
      <p:sp>
        <p:nvSpPr>
          <p:cNvPr id="32" name="Shape 30"/>
          <p:cNvSpPr/>
          <p:nvPr/>
        </p:nvSpPr>
        <p:spPr>
          <a:xfrm>
            <a:off x="4069080" y="4352544"/>
            <a:ext cx="54864" cy="621792"/>
          </a:xfrm>
          <a:prstGeom prst="rect">
            <a:avLst/>
          </a:prstGeom>
          <a:solidFill>
            <a:srgbClr val="C4A06D"/>
          </a:solidFill>
          <a:ln/>
        </p:spPr>
      </p:sp>
      <p:sp>
        <p:nvSpPr>
          <p:cNvPr id="33" name="Text 31"/>
          <p:cNvSpPr/>
          <p:nvPr/>
        </p:nvSpPr>
        <p:spPr>
          <a:xfrm>
            <a:off x="4270248" y="4352544"/>
            <a:ext cx="3108960" cy="621792"/>
          </a:xfrm>
          <a:prstGeom prst="rect">
            <a:avLst/>
          </a:prstGeom>
          <a:noFill/>
          <a:ln/>
        </p:spPr>
        <p:txBody>
          <a:bodyPr wrap="square" lIns="0" tIns="0" rIns="0" bIns="0" rtlCol="0" anchor="ctr"/>
          <a:lstStyle/>
          <a:p>
            <a:pPr indent="0" marL="0">
              <a:buNone/>
            </a:pPr>
            <a:r>
              <a:rPr lang="en-US" sz="1250" dirty="0">
                <a:solidFill>
                  <a:srgbClr val="243D54"/>
                </a:solidFill>
                <a:latin typeface="BIZ UDPGothic" pitchFamily="34" charset="0"/>
                <a:ea typeface="BIZ UDPGothic" pitchFamily="34" charset="-122"/>
                <a:cs typeface="BIZ UDPGothic" pitchFamily="34" charset="-120"/>
              </a:rPr>
              <a:t>結果と第三者への影響を評価する</a:t>
            </a:r>
            <a:endParaRPr lang="en-US" sz="1250" dirty="0"/>
          </a:p>
        </p:txBody>
      </p:sp>
      <p:sp>
        <p:nvSpPr>
          <p:cNvPr id="34" name="Text 32"/>
          <p:cNvSpPr/>
          <p:nvPr/>
        </p:nvSpPr>
        <p:spPr>
          <a:xfrm>
            <a:off x="7818120" y="1645920"/>
            <a:ext cx="3870655" cy="365760"/>
          </a:xfrm>
          <a:prstGeom prst="rect">
            <a:avLst/>
          </a:prstGeom>
          <a:noFill/>
          <a:ln/>
        </p:spPr>
        <p:txBody>
          <a:bodyPr wrap="square" lIns="0" tIns="0" rIns="0" bIns="0" rtlCol="0" anchor="ctr"/>
          <a:lstStyle/>
          <a:p>
            <a:pPr indent="0" marL="0">
              <a:buNone/>
            </a:pPr>
            <a:r>
              <a:rPr lang="en-US" sz="1300" b="1" dirty="0">
                <a:solidFill>
                  <a:srgbClr val="56636E"/>
                </a:solidFill>
                <a:latin typeface="BIZ UDPGothic" pitchFamily="34" charset="0"/>
                <a:ea typeface="BIZ UDPGothic" pitchFamily="34" charset="-122"/>
                <a:cs typeface="BIZ UDPGothic" pitchFamily="34" charset="-120"/>
              </a:rPr>
              <a:t>三つの規模で、統治の意味が変わる</a:t>
            </a:r>
            <a:endParaRPr lang="en-US" sz="1300" dirty="0"/>
          </a:p>
        </p:txBody>
      </p:sp>
      <p:sp>
        <p:nvSpPr>
          <p:cNvPr id="35" name="Shape 33"/>
          <p:cNvSpPr/>
          <p:nvPr/>
        </p:nvSpPr>
        <p:spPr>
          <a:xfrm>
            <a:off x="7818120" y="2103120"/>
            <a:ext cx="3870655" cy="868680"/>
          </a:xfrm>
          <a:prstGeom prst="rect">
            <a:avLst/>
          </a:prstGeom>
          <a:solidFill>
            <a:srgbClr val="FFFFFF"/>
          </a:solidFill>
          <a:ln w="9525">
            <a:solidFill>
              <a:srgbClr val="DCD5C6"/>
            </a:solidFill>
            <a:prstDash val="solid"/>
          </a:ln>
        </p:spPr>
      </p:sp>
      <p:sp>
        <p:nvSpPr>
          <p:cNvPr id="36" name="Text 34"/>
          <p:cNvSpPr/>
          <p:nvPr/>
        </p:nvSpPr>
        <p:spPr>
          <a:xfrm>
            <a:off x="7955280" y="2103120"/>
            <a:ext cx="685800" cy="868680"/>
          </a:xfrm>
          <a:prstGeom prst="rect">
            <a:avLst/>
          </a:prstGeom>
          <a:noFill/>
          <a:ln/>
        </p:spPr>
        <p:txBody>
          <a:bodyPr wrap="square" lIns="0" tIns="0" rIns="0" bIns="0" rtlCol="0" anchor="ctr"/>
          <a:lstStyle/>
          <a:p>
            <a:pPr indent="0" marL="0">
              <a:buNone/>
            </a:pPr>
            <a:r>
              <a:rPr lang="en-US" sz="1700" b="1" dirty="0">
                <a:solidFill>
                  <a:srgbClr val="789FB6"/>
                </a:solidFill>
                <a:latin typeface="BIZ UDPGothic" pitchFamily="34" charset="0"/>
                <a:ea typeface="BIZ UDPGothic" pitchFamily="34" charset="-122"/>
                <a:cs typeface="BIZ UDPGothic" pitchFamily="34" charset="-120"/>
              </a:rPr>
              <a:t>個人</a:t>
            </a:r>
            <a:endParaRPr lang="en-US" sz="1700" dirty="0"/>
          </a:p>
        </p:txBody>
      </p:sp>
      <p:sp>
        <p:nvSpPr>
          <p:cNvPr id="37" name="Text 35"/>
          <p:cNvSpPr/>
          <p:nvPr/>
        </p:nvSpPr>
        <p:spPr>
          <a:xfrm>
            <a:off x="8686800" y="2194560"/>
            <a:ext cx="2910535" cy="256032"/>
          </a:xfrm>
          <a:prstGeom prst="rect">
            <a:avLst/>
          </a:prstGeom>
          <a:noFill/>
          <a:ln/>
        </p:spPr>
        <p:txBody>
          <a:bodyPr wrap="square" lIns="0" tIns="0" rIns="0" bIns="0" rtlCol="0" anchor="t"/>
          <a:lstStyle/>
          <a:p>
            <a:pPr indent="0" marL="0">
              <a:buNone/>
            </a:pPr>
            <a:r>
              <a:rPr lang="en-US" sz="1200" b="1" dirty="0">
                <a:solidFill>
                  <a:srgbClr val="243D54"/>
                </a:solidFill>
                <a:latin typeface="BIZ UDPGothic" pitchFamily="34" charset="0"/>
                <a:ea typeface="BIZ UDPGothic" pitchFamily="34" charset="-122"/>
                <a:cs typeface="BIZ UDPGothic" pitchFamily="34" charset="-120"/>
              </a:rPr>
              <a:t>自分の判断を支える</a:t>
            </a:r>
            <a:endParaRPr lang="en-US" sz="1200" dirty="0"/>
          </a:p>
        </p:txBody>
      </p:sp>
      <p:sp>
        <p:nvSpPr>
          <p:cNvPr id="38" name="Text 36"/>
          <p:cNvSpPr/>
          <p:nvPr/>
        </p:nvSpPr>
        <p:spPr>
          <a:xfrm>
            <a:off x="8686800" y="2468880"/>
            <a:ext cx="2910535" cy="457200"/>
          </a:xfrm>
          <a:prstGeom prst="rect">
            <a:avLst/>
          </a:prstGeom>
          <a:noFill/>
          <a:ln/>
        </p:spPr>
        <p:txBody>
          <a:bodyPr wrap="square" lIns="0" tIns="0" rIns="0" bIns="0" rtlCol="0" anchor="t"/>
          <a:lstStyle/>
          <a:p>
            <a:pPr indent="0" marL="0">
              <a:buNone/>
            </a:pPr>
            <a:r>
              <a:rPr lang="en-US" sz="1050" dirty="0">
                <a:solidFill>
                  <a:srgbClr val="56636E"/>
                </a:solidFill>
                <a:latin typeface="BIZ UDPGothic" pitchFamily="34" charset="0"/>
                <a:ea typeface="BIZ UDPGothic" pitchFamily="34" charset="-122"/>
                <a:cs typeface="BIZ UDPGothic" pitchFamily="34" charset="-120"/>
              </a:rPr>
              <a:t>学習・調査・創作をAIと進め、資料・履歴・費用・公開を本人が選ぶ</a:t>
            </a:r>
            <a:endParaRPr lang="en-US" sz="1050" dirty="0"/>
          </a:p>
        </p:txBody>
      </p:sp>
      <p:sp>
        <p:nvSpPr>
          <p:cNvPr id="39" name="Shape 37"/>
          <p:cNvSpPr/>
          <p:nvPr/>
        </p:nvSpPr>
        <p:spPr>
          <a:xfrm>
            <a:off x="7818120" y="3063240"/>
            <a:ext cx="3870655" cy="868680"/>
          </a:xfrm>
          <a:prstGeom prst="rect">
            <a:avLst/>
          </a:prstGeom>
          <a:solidFill>
            <a:srgbClr val="FFFFFF"/>
          </a:solidFill>
          <a:ln w="9525">
            <a:solidFill>
              <a:srgbClr val="DCD5C6"/>
            </a:solidFill>
            <a:prstDash val="solid"/>
          </a:ln>
        </p:spPr>
      </p:sp>
      <p:sp>
        <p:nvSpPr>
          <p:cNvPr id="40" name="Text 38"/>
          <p:cNvSpPr/>
          <p:nvPr/>
        </p:nvSpPr>
        <p:spPr>
          <a:xfrm>
            <a:off x="7955280" y="3063240"/>
            <a:ext cx="685800" cy="868680"/>
          </a:xfrm>
          <a:prstGeom prst="rect">
            <a:avLst/>
          </a:prstGeom>
          <a:noFill/>
          <a:ln/>
        </p:spPr>
        <p:txBody>
          <a:bodyPr wrap="square" lIns="0" tIns="0" rIns="0" bIns="0" rtlCol="0" anchor="ctr"/>
          <a:lstStyle/>
          <a:p>
            <a:pPr indent="0" marL="0">
              <a:buNone/>
            </a:pPr>
            <a:r>
              <a:rPr lang="en-US" sz="1700" b="1" dirty="0">
                <a:solidFill>
                  <a:srgbClr val="6E8670"/>
                </a:solidFill>
                <a:latin typeface="BIZ UDPGothic" pitchFamily="34" charset="0"/>
                <a:ea typeface="BIZ UDPGothic" pitchFamily="34" charset="-122"/>
                <a:cs typeface="BIZ UDPGothic" pitchFamily="34" charset="-120"/>
              </a:rPr>
              <a:t>組織</a:t>
            </a:r>
            <a:endParaRPr lang="en-US" sz="1700" dirty="0"/>
          </a:p>
        </p:txBody>
      </p:sp>
      <p:sp>
        <p:nvSpPr>
          <p:cNvPr id="41" name="Text 39"/>
          <p:cNvSpPr/>
          <p:nvPr/>
        </p:nvSpPr>
        <p:spPr>
          <a:xfrm>
            <a:off x="8686800" y="3154680"/>
            <a:ext cx="2910535" cy="256032"/>
          </a:xfrm>
          <a:prstGeom prst="rect">
            <a:avLst/>
          </a:prstGeom>
          <a:noFill/>
          <a:ln/>
        </p:spPr>
        <p:txBody>
          <a:bodyPr wrap="square" lIns="0" tIns="0" rIns="0" bIns="0" rtlCol="0" anchor="t"/>
          <a:lstStyle/>
          <a:p>
            <a:pPr indent="0" marL="0">
              <a:buNone/>
            </a:pPr>
            <a:r>
              <a:rPr lang="en-US" sz="1200" b="1" dirty="0">
                <a:solidFill>
                  <a:srgbClr val="243D54"/>
                </a:solidFill>
                <a:latin typeface="BIZ UDPGothic" pitchFamily="34" charset="0"/>
                <a:ea typeface="BIZ UDPGothic" pitchFamily="34" charset="-122"/>
                <a:cs typeface="BIZ UDPGothic" pitchFamily="34" charset="-120"/>
              </a:rPr>
              <a:t>複数の役割を調整する</a:t>
            </a:r>
            <a:endParaRPr lang="en-US" sz="1200" dirty="0"/>
          </a:p>
        </p:txBody>
      </p:sp>
      <p:sp>
        <p:nvSpPr>
          <p:cNvPr id="42" name="Text 40"/>
          <p:cNvSpPr/>
          <p:nvPr/>
        </p:nvSpPr>
        <p:spPr>
          <a:xfrm>
            <a:off x="8686800" y="3429000"/>
            <a:ext cx="2910535" cy="457200"/>
          </a:xfrm>
          <a:prstGeom prst="rect">
            <a:avLst/>
          </a:prstGeom>
          <a:noFill/>
          <a:ln/>
        </p:spPr>
        <p:txBody>
          <a:bodyPr wrap="square" lIns="0" tIns="0" rIns="0" bIns="0" rtlCol="0" anchor="t"/>
          <a:lstStyle/>
          <a:p>
            <a:pPr indent="0" marL="0">
              <a:buNone/>
            </a:pPr>
            <a:r>
              <a:rPr lang="en-US" sz="1050" dirty="0">
                <a:solidFill>
                  <a:srgbClr val="56636E"/>
                </a:solidFill>
                <a:latin typeface="BIZ UDPGothic" pitchFamily="34" charset="0"/>
                <a:ea typeface="BIZ UDPGothic" pitchFamily="34" charset="-122"/>
                <a:cs typeface="BIZ UDPGothic" pitchFamily="34" charset="-120"/>
              </a:rPr>
              <a:t>企業・学校・研究室・NPOで、権限・承認・業務上の責任を分ける</a:t>
            </a:r>
            <a:endParaRPr lang="en-US" sz="1050" dirty="0"/>
          </a:p>
        </p:txBody>
      </p:sp>
      <p:sp>
        <p:nvSpPr>
          <p:cNvPr id="43" name="Shape 41"/>
          <p:cNvSpPr/>
          <p:nvPr/>
        </p:nvSpPr>
        <p:spPr>
          <a:xfrm>
            <a:off x="7818120" y="4023360"/>
            <a:ext cx="3870655" cy="868680"/>
          </a:xfrm>
          <a:prstGeom prst="rect">
            <a:avLst/>
          </a:prstGeom>
          <a:solidFill>
            <a:srgbClr val="FFFFFF"/>
          </a:solidFill>
          <a:ln w="9525">
            <a:solidFill>
              <a:srgbClr val="DCD5C6"/>
            </a:solidFill>
            <a:prstDash val="solid"/>
          </a:ln>
        </p:spPr>
      </p:sp>
      <p:sp>
        <p:nvSpPr>
          <p:cNvPr id="44" name="Text 42"/>
          <p:cNvSpPr/>
          <p:nvPr/>
        </p:nvSpPr>
        <p:spPr>
          <a:xfrm>
            <a:off x="7955280" y="4023360"/>
            <a:ext cx="685800" cy="868680"/>
          </a:xfrm>
          <a:prstGeom prst="rect">
            <a:avLst/>
          </a:prstGeom>
          <a:noFill/>
          <a:ln/>
        </p:spPr>
        <p:txBody>
          <a:bodyPr wrap="square" lIns="0" tIns="0" rIns="0" bIns="0" rtlCol="0" anchor="ctr"/>
          <a:lstStyle/>
          <a:p>
            <a:pPr indent="0" marL="0">
              <a:buNone/>
            </a:pPr>
            <a:r>
              <a:rPr lang="en-US" sz="1700" b="1" dirty="0">
                <a:solidFill>
                  <a:srgbClr val="C4A06D"/>
                </a:solidFill>
                <a:latin typeface="BIZ UDPGothic" pitchFamily="34" charset="0"/>
                <a:ea typeface="BIZ UDPGothic" pitchFamily="34" charset="-122"/>
                <a:cs typeface="BIZ UDPGothic" pitchFamily="34" charset="-120"/>
              </a:rPr>
              <a:t>社会</a:t>
            </a:r>
            <a:endParaRPr lang="en-US" sz="1700" dirty="0"/>
          </a:p>
        </p:txBody>
      </p:sp>
      <p:sp>
        <p:nvSpPr>
          <p:cNvPr id="45" name="Text 43"/>
          <p:cNvSpPr/>
          <p:nvPr/>
        </p:nvSpPr>
        <p:spPr>
          <a:xfrm>
            <a:off x="8686800" y="4114800"/>
            <a:ext cx="2910535" cy="256032"/>
          </a:xfrm>
          <a:prstGeom prst="rect">
            <a:avLst/>
          </a:prstGeom>
          <a:noFill/>
          <a:ln/>
        </p:spPr>
        <p:txBody>
          <a:bodyPr wrap="square" lIns="0" tIns="0" rIns="0" bIns="0" rtlCol="0" anchor="t"/>
          <a:lstStyle/>
          <a:p>
            <a:pPr indent="0" marL="0">
              <a:buNone/>
            </a:pPr>
            <a:r>
              <a:rPr lang="en-US" sz="1200" b="1" dirty="0">
                <a:solidFill>
                  <a:srgbClr val="243D54"/>
                </a:solidFill>
                <a:latin typeface="BIZ UDPGothic" pitchFamily="34" charset="0"/>
                <a:ea typeface="BIZ UDPGothic" pitchFamily="34" charset="-122"/>
                <a:cs typeface="BIZ UDPGothic" pitchFamily="34" charset="-120"/>
              </a:rPr>
              <a:t>異なる主体が協力する</a:t>
            </a:r>
            <a:endParaRPr lang="en-US" sz="1200" dirty="0"/>
          </a:p>
        </p:txBody>
      </p:sp>
      <p:sp>
        <p:nvSpPr>
          <p:cNvPr id="46" name="Text 44"/>
          <p:cNvSpPr/>
          <p:nvPr/>
        </p:nvSpPr>
        <p:spPr>
          <a:xfrm>
            <a:off x="8686800" y="4389120"/>
            <a:ext cx="2910535" cy="457200"/>
          </a:xfrm>
          <a:prstGeom prst="rect">
            <a:avLst/>
          </a:prstGeom>
          <a:noFill/>
          <a:ln/>
        </p:spPr>
        <p:txBody>
          <a:bodyPr wrap="square" lIns="0" tIns="0" rIns="0" bIns="0" rtlCol="0" anchor="t"/>
          <a:lstStyle/>
          <a:p>
            <a:pPr indent="0" marL="0">
              <a:buNone/>
            </a:pPr>
            <a:r>
              <a:rPr lang="en-US" sz="1050" dirty="0">
                <a:solidFill>
                  <a:srgbClr val="56636E"/>
                </a:solidFill>
                <a:latin typeface="BIZ UDPGothic" pitchFamily="34" charset="0"/>
                <a:ea typeface="BIZ UDPGothic" pitchFamily="34" charset="-122"/>
                <a:cs typeface="BIZ UDPGothic" pitchFamily="34" charset="-120"/>
              </a:rPr>
              <a:t>自治体・研究機関・市民が、公開範囲・合意・異議・参加条件を明らかにする</a:t>
            </a:r>
            <a:endParaRPr lang="en-US" sz="1050" dirty="0"/>
          </a:p>
        </p:txBody>
      </p:sp>
      <p:sp>
        <p:nvSpPr>
          <p:cNvPr id="47" name="Shape 45"/>
          <p:cNvSpPr/>
          <p:nvPr/>
        </p:nvSpPr>
        <p:spPr>
          <a:xfrm>
            <a:off x="502920" y="5120640"/>
            <a:ext cx="11185855" cy="548640"/>
          </a:xfrm>
          <a:prstGeom prst="rect">
            <a:avLst/>
          </a:prstGeom>
          <a:solidFill>
            <a:srgbClr val="243D54"/>
          </a:solidFill>
          <a:ln/>
        </p:spPr>
      </p:sp>
      <p:sp>
        <p:nvSpPr>
          <p:cNvPr id="48" name="Shape 46"/>
          <p:cNvSpPr/>
          <p:nvPr/>
        </p:nvSpPr>
        <p:spPr>
          <a:xfrm>
            <a:off x="502920" y="5120640"/>
            <a:ext cx="64008" cy="548640"/>
          </a:xfrm>
          <a:prstGeom prst="rect">
            <a:avLst/>
          </a:prstGeom>
          <a:solidFill>
            <a:srgbClr val="C4A06D"/>
          </a:solidFill>
          <a:ln/>
        </p:spPr>
      </p:sp>
      <p:sp>
        <p:nvSpPr>
          <p:cNvPr id="49" name="Text 47"/>
          <p:cNvSpPr/>
          <p:nvPr/>
        </p:nvSpPr>
        <p:spPr>
          <a:xfrm>
            <a:off x="731520" y="5120640"/>
            <a:ext cx="10865815" cy="548640"/>
          </a:xfrm>
          <a:prstGeom prst="rect">
            <a:avLst/>
          </a:prstGeom>
          <a:noFill/>
          <a:ln/>
        </p:spPr>
        <p:txBody>
          <a:bodyPr wrap="square" lIns="0" tIns="0" rIns="0" bIns="0" rtlCol="0" anchor="ctr"/>
          <a:lstStyle/>
          <a:p>
            <a:pPr indent="0" marL="0">
              <a:buNone/>
            </a:pPr>
            <a:r>
              <a:rPr lang="en-US" sz="1450" b="1" dirty="0">
                <a:solidFill>
                  <a:srgbClr val="F5F1E8"/>
                </a:solidFill>
                <a:latin typeface="BIZ UDPGothic" pitchFamily="34" charset="0"/>
                <a:ea typeface="BIZ UDPGothic" pitchFamily="34" charset="-122"/>
                <a:cs typeface="BIZ UDPGothic" pitchFamily="34" charset="-120"/>
              </a:rPr>
              <a:t>AIの判断権を拡大する構想ではない。モデルが替わっても、目的・根拠・責任が残る基盤をつくる。</a:t>
            </a:r>
            <a:endParaRPr lang="en-US" sz="1450" dirty="0"/>
          </a:p>
        </p:txBody>
      </p:sp>
      <p:sp>
        <p:nvSpPr>
          <p:cNvPr id="50" name="Text 48"/>
          <p:cNvSpPr/>
          <p:nvPr/>
        </p:nvSpPr>
        <p:spPr>
          <a:xfrm>
            <a:off x="502920" y="5852160"/>
            <a:ext cx="11185855" cy="274320"/>
          </a:xfrm>
          <a:prstGeom prst="rect">
            <a:avLst/>
          </a:prstGeom>
          <a:noFill/>
          <a:ln/>
        </p:spPr>
        <p:txBody>
          <a:bodyPr wrap="square" lIns="0" tIns="0" rIns="0" bIns="0" rtlCol="0" anchor="t"/>
          <a:lstStyle/>
          <a:p>
            <a:pPr indent="0" marL="0">
              <a:buNone/>
            </a:pPr>
            <a:r>
              <a:rPr lang="en-US" sz="1050" dirty="0">
                <a:solidFill>
                  <a:srgbClr val="56636E"/>
                </a:solidFill>
                <a:latin typeface="BIZ UDPGothic" pitchFamily="34" charset="0"/>
                <a:ea typeface="BIZ UDPGothic" pitchFamily="34" charset="-122"/>
                <a:cs typeface="BIZ UDPGothic" pitchFamily="34" charset="-120"/>
              </a:rPr>
              <a:t>個人・組織・社会は排他的な区分ではない。市民団体は組織として活動し、社会的な効果も持ち得る。</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274320"/>
            <a:ext cx="1118585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01  背景</a:t>
            </a:r>
            <a:endParaRPr lang="en-US" sz="950" dirty="0"/>
          </a:p>
        </p:txBody>
      </p:sp>
      <p:sp>
        <p:nvSpPr>
          <p:cNvPr id="3" name="Text 1"/>
          <p:cNvSpPr/>
          <p:nvPr/>
        </p:nvSpPr>
        <p:spPr>
          <a:xfrm>
            <a:off x="502920" y="530352"/>
            <a:ext cx="1118585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試せることと、効果を出し続けることの間に溝がある</a:t>
            </a:r>
            <a:endParaRPr lang="en-US" sz="2500" dirty="0"/>
          </a:p>
        </p:txBody>
      </p:sp>
      <p:sp>
        <p:nvSpPr>
          <p:cNvPr id="4" name="Text 2"/>
          <p:cNvSpPr/>
          <p:nvPr/>
        </p:nvSpPr>
        <p:spPr>
          <a:xfrm>
            <a:off x="502920" y="1097280"/>
            <a:ext cx="1118585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例：AIが規程の修正案を作れても、それだけでは運用に移せない。どこで仕事が途切れるかを先に見る。</a:t>
            </a:r>
            <a:endParaRPr lang="en-US" sz="1300" dirty="0"/>
          </a:p>
        </p:txBody>
      </p:sp>
      <p:sp>
        <p:nvSpPr>
          <p:cNvPr id="5" name="Text 3"/>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03</a:t>
            </a:r>
            <a:endParaRPr lang="en-US" sz="1000" dirty="0"/>
          </a:p>
        </p:txBody>
      </p:sp>
      <p:sp>
        <p:nvSpPr>
          <p:cNvPr id="6" name="Shape 4"/>
          <p:cNvSpPr/>
          <p:nvPr/>
        </p:nvSpPr>
        <p:spPr>
          <a:xfrm>
            <a:off x="502920" y="1645920"/>
            <a:ext cx="3246120" cy="4526280"/>
          </a:xfrm>
          <a:prstGeom prst="rect">
            <a:avLst/>
          </a:prstGeom>
          <a:solidFill>
            <a:srgbClr val="243D54"/>
          </a:solidFill>
          <a:ln/>
        </p:spPr>
      </p:sp>
      <p:sp>
        <p:nvSpPr>
          <p:cNvPr id="7" name="Text 5"/>
          <p:cNvSpPr/>
          <p:nvPr/>
        </p:nvSpPr>
        <p:spPr>
          <a:xfrm>
            <a:off x="777240" y="1810512"/>
            <a:ext cx="2743200" cy="685800"/>
          </a:xfrm>
          <a:prstGeom prst="rect">
            <a:avLst/>
          </a:prstGeom>
          <a:noFill/>
          <a:ln/>
        </p:spPr>
        <p:txBody>
          <a:bodyPr wrap="square" lIns="0" tIns="0" rIns="0" bIns="0" rtlCol="0" anchor="ctr"/>
          <a:lstStyle/>
          <a:p>
            <a:pPr indent="0" marL="0">
              <a:buNone/>
            </a:pPr>
            <a:r>
              <a:rPr lang="en-US" sz="3800" b="1" dirty="0">
                <a:solidFill>
                  <a:srgbClr val="C4A06D"/>
                </a:solidFill>
                <a:latin typeface="Georgia" pitchFamily="34" charset="0"/>
                <a:ea typeface="Georgia" pitchFamily="34" charset="-122"/>
                <a:cs typeface="Georgia" pitchFamily="34" charset="-120"/>
              </a:rPr>
              <a:t>62%</a:t>
            </a:r>
            <a:endParaRPr lang="en-US" sz="3800" dirty="0"/>
          </a:p>
        </p:txBody>
      </p:sp>
      <p:sp>
        <p:nvSpPr>
          <p:cNvPr id="8" name="Text 6"/>
          <p:cNvSpPr/>
          <p:nvPr/>
        </p:nvSpPr>
        <p:spPr>
          <a:xfrm>
            <a:off x="777240" y="2523744"/>
            <a:ext cx="2743200" cy="365760"/>
          </a:xfrm>
          <a:prstGeom prst="rect">
            <a:avLst/>
          </a:prstGeom>
          <a:noFill/>
          <a:ln/>
        </p:spPr>
        <p:txBody>
          <a:bodyPr wrap="square" lIns="0" tIns="0" rIns="0" bIns="0" rtlCol="0" anchor="t"/>
          <a:lstStyle/>
          <a:p>
            <a:pPr indent="0" marL="0">
              <a:buNone/>
            </a:pPr>
            <a:r>
              <a:rPr lang="en-US" sz="1200" dirty="0">
                <a:solidFill>
                  <a:srgbClr val="F5F1E8"/>
                </a:solidFill>
                <a:latin typeface="BIZ UDPGothic" pitchFamily="34" charset="0"/>
                <a:ea typeface="BIZ UDPGothic" pitchFamily="34" charset="-122"/>
                <a:cs typeface="BIZ UDPGothic" pitchFamily="34" charset="-120"/>
              </a:rPr>
              <a:t>回答企業がAIエージェントを試行以上</a:t>
            </a:r>
            <a:endParaRPr lang="en-US" sz="1200" dirty="0"/>
          </a:p>
        </p:txBody>
      </p:sp>
      <p:sp>
        <p:nvSpPr>
          <p:cNvPr id="9" name="Shape 7"/>
          <p:cNvSpPr/>
          <p:nvPr/>
        </p:nvSpPr>
        <p:spPr>
          <a:xfrm>
            <a:off x="777240" y="3017520"/>
            <a:ext cx="2697480" cy="0"/>
          </a:xfrm>
          <a:prstGeom prst="line">
            <a:avLst/>
          </a:prstGeom>
          <a:noFill/>
          <a:ln w="12700">
            <a:solidFill>
              <a:srgbClr val="2E4C66"/>
            </a:solidFill>
            <a:prstDash val="solid"/>
          </a:ln>
        </p:spPr>
      </p:sp>
      <p:sp>
        <p:nvSpPr>
          <p:cNvPr id="10" name="Text 8"/>
          <p:cNvSpPr/>
          <p:nvPr/>
        </p:nvSpPr>
        <p:spPr>
          <a:xfrm>
            <a:off x="777240" y="3182112"/>
            <a:ext cx="2743200" cy="685800"/>
          </a:xfrm>
          <a:prstGeom prst="rect">
            <a:avLst/>
          </a:prstGeom>
          <a:noFill/>
          <a:ln/>
        </p:spPr>
        <p:txBody>
          <a:bodyPr wrap="square" lIns="0" tIns="0" rIns="0" bIns="0" rtlCol="0" anchor="ctr"/>
          <a:lstStyle/>
          <a:p>
            <a:pPr indent="0" marL="0">
              <a:buNone/>
            </a:pPr>
            <a:r>
              <a:rPr lang="en-US" sz="3800" b="1" dirty="0">
                <a:solidFill>
                  <a:srgbClr val="C4A06D"/>
                </a:solidFill>
                <a:latin typeface="Georgia" pitchFamily="34" charset="0"/>
                <a:ea typeface="Georgia" pitchFamily="34" charset="-122"/>
                <a:cs typeface="Georgia" pitchFamily="34" charset="-120"/>
              </a:rPr>
              <a:t>39%</a:t>
            </a:r>
            <a:endParaRPr lang="en-US" sz="3800" dirty="0"/>
          </a:p>
        </p:txBody>
      </p:sp>
      <p:sp>
        <p:nvSpPr>
          <p:cNvPr id="11" name="Text 9"/>
          <p:cNvSpPr/>
          <p:nvPr/>
        </p:nvSpPr>
        <p:spPr>
          <a:xfrm>
            <a:off x="777240" y="3895344"/>
            <a:ext cx="2743200" cy="365760"/>
          </a:xfrm>
          <a:prstGeom prst="rect">
            <a:avLst/>
          </a:prstGeom>
          <a:noFill/>
          <a:ln/>
        </p:spPr>
        <p:txBody>
          <a:bodyPr wrap="square" lIns="0" tIns="0" rIns="0" bIns="0" rtlCol="0" anchor="t"/>
          <a:lstStyle/>
          <a:p>
            <a:pPr indent="0" marL="0">
              <a:buNone/>
            </a:pPr>
            <a:r>
              <a:rPr lang="en-US" sz="1200" dirty="0">
                <a:solidFill>
                  <a:srgbClr val="F5F1E8"/>
                </a:solidFill>
                <a:latin typeface="BIZ UDPGothic" pitchFamily="34" charset="0"/>
                <a:ea typeface="BIZ UDPGothic" pitchFamily="34" charset="-122"/>
                <a:cs typeface="BIZ UDPGothic" pitchFamily="34" charset="-120"/>
              </a:rPr>
              <a:t>回答企業が全社の利益への影響を報告</a:t>
            </a:r>
            <a:endParaRPr lang="en-US" sz="1200" dirty="0"/>
          </a:p>
        </p:txBody>
      </p:sp>
      <p:sp>
        <p:nvSpPr>
          <p:cNvPr id="12" name="Shape 10"/>
          <p:cNvSpPr/>
          <p:nvPr/>
        </p:nvSpPr>
        <p:spPr>
          <a:xfrm>
            <a:off x="777240" y="4389120"/>
            <a:ext cx="2697480" cy="0"/>
          </a:xfrm>
          <a:prstGeom prst="line">
            <a:avLst/>
          </a:prstGeom>
          <a:noFill/>
          <a:ln w="12700">
            <a:solidFill>
              <a:srgbClr val="2E4C66"/>
            </a:solidFill>
            <a:prstDash val="solid"/>
          </a:ln>
        </p:spPr>
      </p:sp>
      <p:sp>
        <p:nvSpPr>
          <p:cNvPr id="13" name="Text 11"/>
          <p:cNvSpPr/>
          <p:nvPr/>
        </p:nvSpPr>
        <p:spPr>
          <a:xfrm>
            <a:off x="777240" y="4553712"/>
            <a:ext cx="2743200" cy="685800"/>
          </a:xfrm>
          <a:prstGeom prst="rect">
            <a:avLst/>
          </a:prstGeom>
          <a:noFill/>
          <a:ln/>
        </p:spPr>
        <p:txBody>
          <a:bodyPr wrap="square" lIns="0" tIns="0" rIns="0" bIns="0" rtlCol="0" anchor="ctr"/>
          <a:lstStyle/>
          <a:p>
            <a:pPr indent="0" marL="0">
              <a:buNone/>
            </a:pPr>
            <a:r>
              <a:rPr lang="en-US" sz="3800" b="1" dirty="0">
                <a:solidFill>
                  <a:srgbClr val="C4A06D"/>
                </a:solidFill>
                <a:latin typeface="Georgia" pitchFamily="34" charset="0"/>
                <a:ea typeface="Georgia" pitchFamily="34" charset="-122"/>
                <a:cs typeface="Georgia" pitchFamily="34" charset="-120"/>
              </a:rPr>
              <a:t>約2/3</a:t>
            </a:r>
            <a:endParaRPr lang="en-US" sz="3800" dirty="0"/>
          </a:p>
        </p:txBody>
      </p:sp>
      <p:sp>
        <p:nvSpPr>
          <p:cNvPr id="14" name="Text 12"/>
          <p:cNvSpPr/>
          <p:nvPr/>
        </p:nvSpPr>
        <p:spPr>
          <a:xfrm>
            <a:off x="777240" y="5266944"/>
            <a:ext cx="2743200" cy="365760"/>
          </a:xfrm>
          <a:prstGeom prst="rect">
            <a:avLst/>
          </a:prstGeom>
          <a:noFill/>
          <a:ln/>
        </p:spPr>
        <p:txBody>
          <a:bodyPr wrap="square" lIns="0" tIns="0" rIns="0" bIns="0" rtlCol="0" anchor="t"/>
          <a:lstStyle/>
          <a:p>
            <a:pPr indent="0" marL="0">
              <a:buNone/>
            </a:pPr>
            <a:r>
              <a:rPr lang="en-US" sz="1200" dirty="0">
                <a:solidFill>
                  <a:srgbClr val="F5F1E8"/>
                </a:solidFill>
                <a:latin typeface="BIZ UDPGothic" pitchFamily="34" charset="0"/>
                <a:ea typeface="BIZ UDPGothic" pitchFamily="34" charset="-122"/>
                <a:cs typeface="BIZ UDPGothic" pitchFamily="34" charset="-120"/>
              </a:rPr>
              <a:t>回答企業がまだ全社的なAI拡大の前</a:t>
            </a:r>
            <a:endParaRPr lang="en-US" sz="1200" dirty="0"/>
          </a:p>
        </p:txBody>
      </p:sp>
      <p:sp>
        <p:nvSpPr>
          <p:cNvPr id="15" name="Text 13"/>
          <p:cNvSpPr/>
          <p:nvPr/>
        </p:nvSpPr>
        <p:spPr>
          <a:xfrm>
            <a:off x="777240" y="5833872"/>
            <a:ext cx="2743200" cy="228600"/>
          </a:xfrm>
          <a:prstGeom prst="rect">
            <a:avLst/>
          </a:prstGeom>
          <a:noFill/>
          <a:ln/>
        </p:spPr>
        <p:txBody>
          <a:bodyPr wrap="square" lIns="0" tIns="0" rIns="0" bIns="0" rtlCol="0" anchor="t"/>
          <a:lstStyle/>
          <a:p>
            <a:pPr indent="0" marL="0">
              <a:buNone/>
            </a:pPr>
            <a:r>
              <a:rPr lang="en-US" sz="900" dirty="0">
                <a:solidFill>
                  <a:srgbClr val="C9D3D9"/>
                </a:solidFill>
                <a:latin typeface="BIZ UDPGothic" pitchFamily="34" charset="0"/>
                <a:ea typeface="BIZ UDPGothic" pitchFamily="34" charset="-122"/>
                <a:cs typeface="BIZ UDPGothic" pitchFamily="34" charset="-120"/>
              </a:rPr>
              <a:t>出典：マッキンゼー社 2025年のAI動向調査</a:t>
            </a:r>
            <a:endParaRPr lang="en-US" sz="900" dirty="0"/>
          </a:p>
        </p:txBody>
      </p:sp>
      <p:sp>
        <p:nvSpPr>
          <p:cNvPr id="16" name="Shape 14"/>
          <p:cNvSpPr/>
          <p:nvPr/>
        </p:nvSpPr>
        <p:spPr>
          <a:xfrm>
            <a:off x="4023360" y="1645920"/>
            <a:ext cx="2433218" cy="2148840"/>
          </a:xfrm>
          <a:prstGeom prst="rect">
            <a:avLst/>
          </a:prstGeom>
          <a:solidFill>
            <a:srgbClr val="FFFFFF"/>
          </a:solidFill>
          <a:ln w="9525">
            <a:solidFill>
              <a:srgbClr val="DCD5C6"/>
            </a:solidFill>
            <a:prstDash val="solid"/>
          </a:ln>
        </p:spPr>
      </p:sp>
      <p:sp>
        <p:nvSpPr>
          <p:cNvPr id="17" name="Text 15"/>
          <p:cNvSpPr/>
          <p:nvPr/>
        </p:nvSpPr>
        <p:spPr>
          <a:xfrm>
            <a:off x="4224528" y="1828800"/>
            <a:ext cx="548640" cy="320040"/>
          </a:xfrm>
          <a:prstGeom prst="rect">
            <a:avLst/>
          </a:prstGeom>
          <a:noFill/>
          <a:ln/>
        </p:spPr>
        <p:txBody>
          <a:bodyPr wrap="square" lIns="0" tIns="0" rIns="0" bIns="0" rtlCol="0" anchor="t"/>
          <a:lstStyle/>
          <a:p>
            <a:pPr indent="0" marL="0">
              <a:buNone/>
            </a:pPr>
            <a:r>
              <a:rPr lang="en-US" sz="1300" b="1" dirty="0">
                <a:solidFill>
                  <a:srgbClr val="C4A06D"/>
                </a:solidFill>
                <a:latin typeface="Georgia" pitchFamily="34" charset="0"/>
                <a:ea typeface="Georgia" pitchFamily="34" charset="-122"/>
                <a:cs typeface="Georgia" pitchFamily="34" charset="-120"/>
              </a:rPr>
              <a:t>01</a:t>
            </a:r>
            <a:endParaRPr lang="en-US" sz="1300" dirty="0"/>
          </a:p>
        </p:txBody>
      </p:sp>
      <p:sp>
        <p:nvSpPr>
          <p:cNvPr id="18" name="Text 16"/>
          <p:cNvSpPr/>
          <p:nvPr/>
        </p:nvSpPr>
        <p:spPr>
          <a:xfrm>
            <a:off x="4224528" y="2194560"/>
            <a:ext cx="2067458" cy="457200"/>
          </a:xfrm>
          <a:prstGeom prst="rect">
            <a:avLst/>
          </a:prstGeom>
          <a:noFill/>
          <a:ln/>
        </p:spPr>
        <p:txBody>
          <a:bodyPr wrap="square" lIns="0" tIns="0" rIns="0" bIns="0" rtlCol="0" anchor="t"/>
          <a:lstStyle/>
          <a:p>
            <a:pPr indent="0" marL="0">
              <a:buNone/>
            </a:pPr>
            <a:r>
              <a:rPr lang="en-US" sz="1900" b="1" dirty="0">
                <a:solidFill>
                  <a:srgbClr val="243D54"/>
                </a:solidFill>
                <a:latin typeface="BIZ UDPGothic" pitchFamily="34" charset="0"/>
                <a:ea typeface="BIZ UDPGothic" pitchFamily="34" charset="-122"/>
                <a:cs typeface="BIZ UDPGothic" pitchFamily="34" charset="-120"/>
              </a:rPr>
              <a:t>資料の断絶</a:t>
            </a:r>
            <a:endParaRPr lang="en-US" sz="1900" dirty="0"/>
          </a:p>
        </p:txBody>
      </p:sp>
      <p:sp>
        <p:nvSpPr>
          <p:cNvPr id="19" name="Text 17"/>
          <p:cNvSpPr/>
          <p:nvPr/>
        </p:nvSpPr>
        <p:spPr>
          <a:xfrm>
            <a:off x="4224528" y="2743200"/>
            <a:ext cx="2067458" cy="822960"/>
          </a:xfrm>
          <a:prstGeom prst="rect">
            <a:avLst/>
          </a:prstGeom>
          <a:noFill/>
          <a:ln/>
        </p:spPr>
        <p:txBody>
          <a:bodyPr wrap="square" lIns="0" tIns="0" rIns="0" bIns="0" rtlCol="0" anchor="t"/>
          <a:lstStyle/>
          <a:p>
            <a:pPr indent="0" marL="0">
              <a:buNone/>
            </a:pPr>
            <a:r>
              <a:rPr lang="en-US" sz="1250" dirty="0">
                <a:solidFill>
                  <a:srgbClr val="56636E"/>
                </a:solidFill>
                <a:latin typeface="BIZ UDPGothic" pitchFamily="34" charset="0"/>
                <a:ea typeface="BIZ UDPGothic" pitchFamily="34" charset="-122"/>
                <a:cs typeface="BIZ UDPGothic" pitchFamily="34" charset="-120"/>
              </a:rPr>
              <a:t>どの版・適用条件の規程を読んだかが消える</a:t>
            </a:r>
            <a:endParaRPr lang="en-US" sz="1250" dirty="0"/>
          </a:p>
        </p:txBody>
      </p:sp>
      <p:sp>
        <p:nvSpPr>
          <p:cNvPr id="20" name="Shape 18"/>
          <p:cNvSpPr/>
          <p:nvPr/>
        </p:nvSpPr>
        <p:spPr>
          <a:xfrm>
            <a:off x="6639458" y="1645920"/>
            <a:ext cx="2433218" cy="2148840"/>
          </a:xfrm>
          <a:prstGeom prst="rect">
            <a:avLst/>
          </a:prstGeom>
          <a:solidFill>
            <a:srgbClr val="FFFFFF"/>
          </a:solidFill>
          <a:ln w="9525">
            <a:solidFill>
              <a:srgbClr val="DCD5C6"/>
            </a:solidFill>
            <a:prstDash val="solid"/>
          </a:ln>
        </p:spPr>
      </p:sp>
      <p:sp>
        <p:nvSpPr>
          <p:cNvPr id="21" name="Text 19"/>
          <p:cNvSpPr/>
          <p:nvPr/>
        </p:nvSpPr>
        <p:spPr>
          <a:xfrm>
            <a:off x="6840626" y="1828800"/>
            <a:ext cx="548640" cy="320040"/>
          </a:xfrm>
          <a:prstGeom prst="rect">
            <a:avLst/>
          </a:prstGeom>
          <a:noFill/>
          <a:ln/>
        </p:spPr>
        <p:txBody>
          <a:bodyPr wrap="square" lIns="0" tIns="0" rIns="0" bIns="0" rtlCol="0" anchor="t"/>
          <a:lstStyle/>
          <a:p>
            <a:pPr indent="0" marL="0">
              <a:buNone/>
            </a:pPr>
            <a:r>
              <a:rPr lang="en-US" sz="1300" b="1" dirty="0">
                <a:solidFill>
                  <a:srgbClr val="C4A06D"/>
                </a:solidFill>
                <a:latin typeface="Georgia" pitchFamily="34" charset="0"/>
                <a:ea typeface="Georgia" pitchFamily="34" charset="-122"/>
                <a:cs typeface="Georgia" pitchFamily="34" charset="-120"/>
              </a:rPr>
              <a:t>02</a:t>
            </a:r>
            <a:endParaRPr lang="en-US" sz="1300" dirty="0"/>
          </a:p>
        </p:txBody>
      </p:sp>
      <p:sp>
        <p:nvSpPr>
          <p:cNvPr id="22" name="Text 20"/>
          <p:cNvSpPr/>
          <p:nvPr/>
        </p:nvSpPr>
        <p:spPr>
          <a:xfrm>
            <a:off x="6840626" y="2194560"/>
            <a:ext cx="2067458" cy="457200"/>
          </a:xfrm>
          <a:prstGeom prst="rect">
            <a:avLst/>
          </a:prstGeom>
          <a:noFill/>
          <a:ln/>
        </p:spPr>
        <p:txBody>
          <a:bodyPr wrap="square" lIns="0" tIns="0" rIns="0" bIns="0" rtlCol="0" anchor="t"/>
          <a:lstStyle/>
          <a:p>
            <a:pPr indent="0" marL="0">
              <a:buNone/>
            </a:pPr>
            <a:r>
              <a:rPr lang="en-US" sz="1900" b="1" dirty="0">
                <a:solidFill>
                  <a:srgbClr val="243D54"/>
                </a:solidFill>
                <a:latin typeface="BIZ UDPGothic" pitchFamily="34" charset="0"/>
                <a:ea typeface="BIZ UDPGothic" pitchFamily="34" charset="-122"/>
                <a:cs typeface="BIZ UDPGothic" pitchFamily="34" charset="-120"/>
              </a:rPr>
              <a:t>認知の断絶</a:t>
            </a:r>
            <a:endParaRPr lang="en-US" sz="1900" dirty="0"/>
          </a:p>
        </p:txBody>
      </p:sp>
      <p:sp>
        <p:nvSpPr>
          <p:cNvPr id="23" name="Text 21"/>
          <p:cNvSpPr/>
          <p:nvPr/>
        </p:nvSpPr>
        <p:spPr>
          <a:xfrm>
            <a:off x="6840626" y="2743200"/>
            <a:ext cx="2067458" cy="822960"/>
          </a:xfrm>
          <a:prstGeom prst="rect">
            <a:avLst/>
          </a:prstGeom>
          <a:noFill/>
          <a:ln/>
        </p:spPr>
        <p:txBody>
          <a:bodyPr wrap="square" lIns="0" tIns="0" rIns="0" bIns="0" rtlCol="0" anchor="t"/>
          <a:lstStyle/>
          <a:p>
            <a:pPr indent="0" marL="0">
              <a:buNone/>
            </a:pPr>
            <a:r>
              <a:rPr lang="en-US" sz="1250" dirty="0">
                <a:solidFill>
                  <a:srgbClr val="56636E"/>
                </a:solidFill>
                <a:latin typeface="BIZ UDPGothic" pitchFamily="34" charset="0"/>
                <a:ea typeface="BIZ UDPGothic" pitchFamily="34" charset="-122"/>
                <a:cs typeface="BIZ UDPGothic" pitchFamily="34" charset="-120"/>
              </a:rPr>
              <a:t>候補や反証が最終案にまとめられて消える</a:t>
            </a:r>
            <a:endParaRPr lang="en-US" sz="1250" dirty="0"/>
          </a:p>
        </p:txBody>
      </p:sp>
      <p:sp>
        <p:nvSpPr>
          <p:cNvPr id="24" name="Shape 22"/>
          <p:cNvSpPr/>
          <p:nvPr/>
        </p:nvSpPr>
        <p:spPr>
          <a:xfrm>
            <a:off x="9255557" y="1645920"/>
            <a:ext cx="2433218" cy="2148840"/>
          </a:xfrm>
          <a:prstGeom prst="rect">
            <a:avLst/>
          </a:prstGeom>
          <a:solidFill>
            <a:srgbClr val="FFFFFF"/>
          </a:solidFill>
          <a:ln w="9525">
            <a:solidFill>
              <a:srgbClr val="DCD5C6"/>
            </a:solidFill>
            <a:prstDash val="solid"/>
          </a:ln>
        </p:spPr>
      </p:sp>
      <p:sp>
        <p:nvSpPr>
          <p:cNvPr id="25" name="Text 23"/>
          <p:cNvSpPr/>
          <p:nvPr/>
        </p:nvSpPr>
        <p:spPr>
          <a:xfrm>
            <a:off x="9456725" y="1828800"/>
            <a:ext cx="548640" cy="320040"/>
          </a:xfrm>
          <a:prstGeom prst="rect">
            <a:avLst/>
          </a:prstGeom>
          <a:noFill/>
          <a:ln/>
        </p:spPr>
        <p:txBody>
          <a:bodyPr wrap="square" lIns="0" tIns="0" rIns="0" bIns="0" rtlCol="0" anchor="t"/>
          <a:lstStyle/>
          <a:p>
            <a:pPr indent="0" marL="0">
              <a:buNone/>
            </a:pPr>
            <a:r>
              <a:rPr lang="en-US" sz="1300" b="1" dirty="0">
                <a:solidFill>
                  <a:srgbClr val="C4A06D"/>
                </a:solidFill>
                <a:latin typeface="Georgia" pitchFamily="34" charset="0"/>
                <a:ea typeface="Georgia" pitchFamily="34" charset="-122"/>
                <a:cs typeface="Georgia" pitchFamily="34" charset="-120"/>
              </a:rPr>
              <a:t>03</a:t>
            </a:r>
            <a:endParaRPr lang="en-US" sz="1300" dirty="0"/>
          </a:p>
        </p:txBody>
      </p:sp>
      <p:sp>
        <p:nvSpPr>
          <p:cNvPr id="26" name="Text 24"/>
          <p:cNvSpPr/>
          <p:nvPr/>
        </p:nvSpPr>
        <p:spPr>
          <a:xfrm>
            <a:off x="9456725" y="2194560"/>
            <a:ext cx="2067458" cy="457200"/>
          </a:xfrm>
          <a:prstGeom prst="rect">
            <a:avLst/>
          </a:prstGeom>
          <a:noFill/>
          <a:ln/>
        </p:spPr>
        <p:txBody>
          <a:bodyPr wrap="square" lIns="0" tIns="0" rIns="0" bIns="0" rtlCol="0" anchor="t"/>
          <a:lstStyle/>
          <a:p>
            <a:pPr indent="0" marL="0">
              <a:buNone/>
            </a:pPr>
            <a:r>
              <a:rPr lang="en-US" sz="1900" b="1" dirty="0">
                <a:solidFill>
                  <a:srgbClr val="243D54"/>
                </a:solidFill>
                <a:latin typeface="BIZ UDPGothic" pitchFamily="34" charset="0"/>
                <a:ea typeface="BIZ UDPGothic" pitchFamily="34" charset="-122"/>
                <a:cs typeface="BIZ UDPGothic" pitchFamily="34" charset="-120"/>
              </a:rPr>
              <a:t>判断の断絶</a:t>
            </a:r>
            <a:endParaRPr lang="en-US" sz="1900" dirty="0"/>
          </a:p>
        </p:txBody>
      </p:sp>
      <p:sp>
        <p:nvSpPr>
          <p:cNvPr id="27" name="Text 25"/>
          <p:cNvSpPr/>
          <p:nvPr/>
        </p:nvSpPr>
        <p:spPr>
          <a:xfrm>
            <a:off x="9456725" y="2743200"/>
            <a:ext cx="2067458" cy="822960"/>
          </a:xfrm>
          <a:prstGeom prst="rect">
            <a:avLst/>
          </a:prstGeom>
          <a:noFill/>
          <a:ln/>
        </p:spPr>
        <p:txBody>
          <a:bodyPr wrap="square" lIns="0" tIns="0" rIns="0" bIns="0" rtlCol="0" anchor="t"/>
          <a:lstStyle/>
          <a:p>
            <a:pPr indent="0" marL="0">
              <a:buNone/>
            </a:pPr>
            <a:r>
              <a:rPr lang="en-US" sz="1250" dirty="0">
                <a:solidFill>
                  <a:srgbClr val="56636E"/>
                </a:solidFill>
                <a:latin typeface="BIZ UDPGothic" pitchFamily="34" charset="0"/>
                <a:ea typeface="BIZ UDPGothic" pitchFamily="34" charset="-122"/>
                <a:cs typeface="BIZ UDPGothic" pitchFamily="34" charset="-120"/>
              </a:rPr>
              <a:t>提案・採否・承認者が会話履歴に埋もれる</a:t>
            </a:r>
            <a:endParaRPr lang="en-US" sz="1250" dirty="0"/>
          </a:p>
        </p:txBody>
      </p:sp>
      <p:sp>
        <p:nvSpPr>
          <p:cNvPr id="28" name="Shape 26"/>
          <p:cNvSpPr/>
          <p:nvPr/>
        </p:nvSpPr>
        <p:spPr>
          <a:xfrm>
            <a:off x="4023360" y="4023360"/>
            <a:ext cx="2433218" cy="2148840"/>
          </a:xfrm>
          <a:prstGeom prst="rect">
            <a:avLst/>
          </a:prstGeom>
          <a:solidFill>
            <a:srgbClr val="FFFFFF"/>
          </a:solidFill>
          <a:ln w="9525">
            <a:solidFill>
              <a:srgbClr val="DCD5C6"/>
            </a:solidFill>
            <a:prstDash val="solid"/>
          </a:ln>
        </p:spPr>
      </p:sp>
      <p:sp>
        <p:nvSpPr>
          <p:cNvPr id="29" name="Text 27"/>
          <p:cNvSpPr/>
          <p:nvPr/>
        </p:nvSpPr>
        <p:spPr>
          <a:xfrm>
            <a:off x="4224528" y="4206240"/>
            <a:ext cx="548640" cy="320040"/>
          </a:xfrm>
          <a:prstGeom prst="rect">
            <a:avLst/>
          </a:prstGeom>
          <a:noFill/>
          <a:ln/>
        </p:spPr>
        <p:txBody>
          <a:bodyPr wrap="square" lIns="0" tIns="0" rIns="0" bIns="0" rtlCol="0" anchor="t"/>
          <a:lstStyle/>
          <a:p>
            <a:pPr indent="0" marL="0">
              <a:buNone/>
            </a:pPr>
            <a:r>
              <a:rPr lang="en-US" sz="1300" b="1" dirty="0">
                <a:solidFill>
                  <a:srgbClr val="C4A06D"/>
                </a:solidFill>
                <a:latin typeface="Georgia" pitchFamily="34" charset="0"/>
                <a:ea typeface="Georgia" pitchFamily="34" charset="-122"/>
                <a:cs typeface="Georgia" pitchFamily="34" charset="-120"/>
              </a:rPr>
              <a:t>04</a:t>
            </a:r>
            <a:endParaRPr lang="en-US" sz="1300" dirty="0"/>
          </a:p>
        </p:txBody>
      </p:sp>
      <p:sp>
        <p:nvSpPr>
          <p:cNvPr id="30" name="Text 28"/>
          <p:cNvSpPr/>
          <p:nvPr/>
        </p:nvSpPr>
        <p:spPr>
          <a:xfrm>
            <a:off x="4224528" y="4572000"/>
            <a:ext cx="2067458" cy="457200"/>
          </a:xfrm>
          <a:prstGeom prst="rect">
            <a:avLst/>
          </a:prstGeom>
          <a:noFill/>
          <a:ln/>
        </p:spPr>
        <p:txBody>
          <a:bodyPr wrap="square" lIns="0" tIns="0" rIns="0" bIns="0" rtlCol="0" anchor="t"/>
          <a:lstStyle/>
          <a:p>
            <a:pPr indent="0" marL="0">
              <a:buNone/>
            </a:pPr>
            <a:r>
              <a:rPr lang="en-US" sz="1900" b="1" dirty="0">
                <a:solidFill>
                  <a:srgbClr val="243D54"/>
                </a:solidFill>
                <a:latin typeface="BIZ UDPGothic" pitchFamily="34" charset="0"/>
                <a:ea typeface="BIZ UDPGothic" pitchFamily="34" charset="-122"/>
                <a:cs typeface="BIZ UDPGothic" pitchFamily="34" charset="-120"/>
              </a:rPr>
              <a:t>実行の断絶</a:t>
            </a:r>
            <a:endParaRPr lang="en-US" sz="1900" dirty="0"/>
          </a:p>
        </p:txBody>
      </p:sp>
      <p:sp>
        <p:nvSpPr>
          <p:cNvPr id="31" name="Text 29"/>
          <p:cNvSpPr/>
          <p:nvPr/>
        </p:nvSpPr>
        <p:spPr>
          <a:xfrm>
            <a:off x="4224528" y="5120640"/>
            <a:ext cx="2067458" cy="822960"/>
          </a:xfrm>
          <a:prstGeom prst="rect">
            <a:avLst/>
          </a:prstGeom>
          <a:noFill/>
          <a:ln/>
        </p:spPr>
        <p:txBody>
          <a:bodyPr wrap="square" lIns="0" tIns="0" rIns="0" bIns="0" rtlCol="0" anchor="t"/>
          <a:lstStyle/>
          <a:p>
            <a:pPr indent="0" marL="0">
              <a:buNone/>
            </a:pPr>
            <a:r>
              <a:rPr lang="en-US" sz="1250" dirty="0">
                <a:solidFill>
                  <a:srgbClr val="56636E"/>
                </a:solidFill>
                <a:latin typeface="BIZ UDPGothic" pitchFamily="34" charset="0"/>
                <a:ea typeface="BIZ UDPGothic" pitchFamily="34" charset="-122"/>
                <a:cs typeface="BIZ UDPGothic" pitchFamily="34" charset="-120"/>
              </a:rPr>
              <a:t>誰の権限でどの操作をしたか追えない</a:t>
            </a:r>
            <a:endParaRPr lang="en-US" sz="1250" dirty="0"/>
          </a:p>
        </p:txBody>
      </p:sp>
      <p:sp>
        <p:nvSpPr>
          <p:cNvPr id="32" name="Shape 30"/>
          <p:cNvSpPr/>
          <p:nvPr/>
        </p:nvSpPr>
        <p:spPr>
          <a:xfrm>
            <a:off x="6639458" y="4023360"/>
            <a:ext cx="2433218" cy="2148840"/>
          </a:xfrm>
          <a:prstGeom prst="rect">
            <a:avLst/>
          </a:prstGeom>
          <a:solidFill>
            <a:srgbClr val="FFFFFF"/>
          </a:solidFill>
          <a:ln w="9525">
            <a:solidFill>
              <a:srgbClr val="DCD5C6"/>
            </a:solidFill>
            <a:prstDash val="solid"/>
          </a:ln>
        </p:spPr>
      </p:sp>
      <p:sp>
        <p:nvSpPr>
          <p:cNvPr id="33" name="Text 31"/>
          <p:cNvSpPr/>
          <p:nvPr/>
        </p:nvSpPr>
        <p:spPr>
          <a:xfrm>
            <a:off x="6840626" y="4206240"/>
            <a:ext cx="548640" cy="320040"/>
          </a:xfrm>
          <a:prstGeom prst="rect">
            <a:avLst/>
          </a:prstGeom>
          <a:noFill/>
          <a:ln/>
        </p:spPr>
        <p:txBody>
          <a:bodyPr wrap="square" lIns="0" tIns="0" rIns="0" bIns="0" rtlCol="0" anchor="t"/>
          <a:lstStyle/>
          <a:p>
            <a:pPr indent="0" marL="0">
              <a:buNone/>
            </a:pPr>
            <a:r>
              <a:rPr lang="en-US" sz="1300" b="1" dirty="0">
                <a:solidFill>
                  <a:srgbClr val="C4A06D"/>
                </a:solidFill>
                <a:latin typeface="Georgia" pitchFamily="34" charset="0"/>
                <a:ea typeface="Georgia" pitchFamily="34" charset="-122"/>
                <a:cs typeface="Georgia" pitchFamily="34" charset="-120"/>
              </a:rPr>
              <a:t>05</a:t>
            </a:r>
            <a:endParaRPr lang="en-US" sz="1300" dirty="0"/>
          </a:p>
        </p:txBody>
      </p:sp>
      <p:sp>
        <p:nvSpPr>
          <p:cNvPr id="34" name="Text 32"/>
          <p:cNvSpPr/>
          <p:nvPr/>
        </p:nvSpPr>
        <p:spPr>
          <a:xfrm>
            <a:off x="6840626" y="4572000"/>
            <a:ext cx="2067458" cy="457200"/>
          </a:xfrm>
          <a:prstGeom prst="rect">
            <a:avLst/>
          </a:prstGeom>
          <a:noFill/>
          <a:ln/>
        </p:spPr>
        <p:txBody>
          <a:bodyPr wrap="square" lIns="0" tIns="0" rIns="0" bIns="0" rtlCol="0" anchor="t"/>
          <a:lstStyle/>
          <a:p>
            <a:pPr indent="0" marL="0">
              <a:buNone/>
            </a:pPr>
            <a:r>
              <a:rPr lang="en-US" sz="1900" b="1" dirty="0">
                <a:solidFill>
                  <a:srgbClr val="243D54"/>
                </a:solidFill>
                <a:latin typeface="BIZ UDPGothic" pitchFamily="34" charset="0"/>
                <a:ea typeface="BIZ UDPGothic" pitchFamily="34" charset="-122"/>
                <a:cs typeface="BIZ UDPGothic" pitchFamily="34" charset="-120"/>
              </a:rPr>
              <a:t>検証の断絶</a:t>
            </a:r>
            <a:endParaRPr lang="en-US" sz="1900" dirty="0"/>
          </a:p>
        </p:txBody>
      </p:sp>
      <p:sp>
        <p:nvSpPr>
          <p:cNvPr id="35" name="Text 33"/>
          <p:cNvSpPr/>
          <p:nvPr/>
        </p:nvSpPr>
        <p:spPr>
          <a:xfrm>
            <a:off x="6840626" y="5120640"/>
            <a:ext cx="2067458" cy="822960"/>
          </a:xfrm>
          <a:prstGeom prst="rect">
            <a:avLst/>
          </a:prstGeom>
          <a:noFill/>
          <a:ln/>
        </p:spPr>
        <p:txBody>
          <a:bodyPr wrap="square" lIns="0" tIns="0" rIns="0" bIns="0" rtlCol="0" anchor="t"/>
          <a:lstStyle/>
          <a:p>
            <a:pPr indent="0" marL="0">
              <a:buNone/>
            </a:pPr>
            <a:r>
              <a:rPr lang="en-US" sz="1250" dirty="0">
                <a:solidFill>
                  <a:srgbClr val="56636E"/>
                </a:solidFill>
                <a:latin typeface="BIZ UDPGothic" pitchFamily="34" charset="0"/>
                <a:ea typeface="BIZ UDPGothic" pitchFamily="34" charset="-122"/>
                <a:cs typeface="BIZ UDPGothic" pitchFamily="34" charset="-120"/>
              </a:rPr>
              <a:t>処理の成功と業務上の改善を取り違える</a:t>
            </a:r>
            <a:endParaRPr lang="en-US" sz="1250" dirty="0"/>
          </a:p>
        </p:txBody>
      </p:sp>
      <p:sp>
        <p:nvSpPr>
          <p:cNvPr id="36" name="Shape 34"/>
          <p:cNvSpPr/>
          <p:nvPr/>
        </p:nvSpPr>
        <p:spPr>
          <a:xfrm>
            <a:off x="9255557" y="4023360"/>
            <a:ext cx="2433218" cy="2148840"/>
          </a:xfrm>
          <a:prstGeom prst="rect">
            <a:avLst/>
          </a:prstGeom>
          <a:solidFill>
            <a:srgbClr val="FFFFFF"/>
          </a:solidFill>
          <a:ln w="9525">
            <a:solidFill>
              <a:srgbClr val="DCD5C6"/>
            </a:solidFill>
            <a:prstDash val="solid"/>
          </a:ln>
        </p:spPr>
      </p:sp>
      <p:sp>
        <p:nvSpPr>
          <p:cNvPr id="37" name="Text 35"/>
          <p:cNvSpPr/>
          <p:nvPr/>
        </p:nvSpPr>
        <p:spPr>
          <a:xfrm>
            <a:off x="9456725" y="4206240"/>
            <a:ext cx="548640" cy="320040"/>
          </a:xfrm>
          <a:prstGeom prst="rect">
            <a:avLst/>
          </a:prstGeom>
          <a:noFill/>
          <a:ln/>
        </p:spPr>
        <p:txBody>
          <a:bodyPr wrap="square" lIns="0" tIns="0" rIns="0" bIns="0" rtlCol="0" anchor="t"/>
          <a:lstStyle/>
          <a:p>
            <a:pPr indent="0" marL="0">
              <a:buNone/>
            </a:pPr>
            <a:r>
              <a:rPr lang="en-US" sz="1300" b="1" dirty="0">
                <a:solidFill>
                  <a:srgbClr val="C4A06D"/>
                </a:solidFill>
                <a:latin typeface="Georgia" pitchFamily="34" charset="0"/>
                <a:ea typeface="Georgia" pitchFamily="34" charset="-122"/>
                <a:cs typeface="Georgia" pitchFamily="34" charset="-120"/>
              </a:rPr>
              <a:t>06</a:t>
            </a:r>
            <a:endParaRPr lang="en-US" sz="1300" dirty="0"/>
          </a:p>
        </p:txBody>
      </p:sp>
      <p:sp>
        <p:nvSpPr>
          <p:cNvPr id="38" name="Text 36"/>
          <p:cNvSpPr/>
          <p:nvPr/>
        </p:nvSpPr>
        <p:spPr>
          <a:xfrm>
            <a:off x="9456725" y="4572000"/>
            <a:ext cx="2067458" cy="457200"/>
          </a:xfrm>
          <a:prstGeom prst="rect">
            <a:avLst/>
          </a:prstGeom>
          <a:noFill/>
          <a:ln/>
        </p:spPr>
        <p:txBody>
          <a:bodyPr wrap="square" lIns="0" tIns="0" rIns="0" bIns="0" rtlCol="0" anchor="t"/>
          <a:lstStyle/>
          <a:p>
            <a:pPr indent="0" marL="0">
              <a:buNone/>
            </a:pPr>
            <a:r>
              <a:rPr lang="en-US" sz="1900" b="1" dirty="0">
                <a:solidFill>
                  <a:srgbClr val="243D54"/>
                </a:solidFill>
                <a:latin typeface="BIZ UDPGothic" pitchFamily="34" charset="0"/>
                <a:ea typeface="BIZ UDPGothic" pitchFamily="34" charset="-122"/>
                <a:cs typeface="BIZ UDPGothic" pitchFamily="34" charset="-120"/>
              </a:rPr>
              <a:t>継続の断絶</a:t>
            </a:r>
            <a:endParaRPr lang="en-US" sz="1900" dirty="0"/>
          </a:p>
        </p:txBody>
      </p:sp>
      <p:sp>
        <p:nvSpPr>
          <p:cNvPr id="39" name="Text 37"/>
          <p:cNvSpPr/>
          <p:nvPr/>
        </p:nvSpPr>
        <p:spPr>
          <a:xfrm>
            <a:off x="9456725" y="5120640"/>
            <a:ext cx="2067458" cy="822960"/>
          </a:xfrm>
          <a:prstGeom prst="rect">
            <a:avLst/>
          </a:prstGeom>
          <a:noFill/>
          <a:ln/>
        </p:spPr>
        <p:txBody>
          <a:bodyPr wrap="square" lIns="0" tIns="0" rIns="0" bIns="0" rtlCol="0" anchor="t"/>
          <a:lstStyle/>
          <a:p>
            <a:pPr indent="0" marL="0">
              <a:buNone/>
            </a:pPr>
            <a:r>
              <a:rPr lang="en-US" sz="1250" dirty="0">
                <a:solidFill>
                  <a:srgbClr val="56636E"/>
                </a:solidFill>
                <a:latin typeface="BIZ UDPGothic" pitchFamily="34" charset="0"/>
                <a:ea typeface="BIZ UDPGothic" pitchFamily="34" charset="-122"/>
                <a:cs typeface="BIZ UDPGothic" pitchFamily="34" charset="-120"/>
              </a:rPr>
              <a:t>AI・担当者・実装が替わると説明を作り直す</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274320"/>
            <a:ext cx="1118585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01  目指す姿</a:t>
            </a:r>
            <a:endParaRPr lang="en-US" sz="950" dirty="0"/>
          </a:p>
        </p:txBody>
      </p:sp>
      <p:sp>
        <p:nvSpPr>
          <p:cNvPr id="3" name="Text 1"/>
          <p:cNvSpPr/>
          <p:nvPr/>
        </p:nvSpPr>
        <p:spPr>
          <a:xfrm>
            <a:off x="502920" y="530352"/>
            <a:ext cx="1118585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根拠から評価までの循環を、委任の段階を選んで回す</a:t>
            </a:r>
            <a:endParaRPr lang="en-US" sz="2500" dirty="0"/>
          </a:p>
        </p:txBody>
      </p:sp>
      <p:sp>
        <p:nvSpPr>
          <p:cNvPr id="4" name="Text 2"/>
          <p:cNvSpPr/>
          <p:nvPr/>
        </p:nvSpPr>
        <p:spPr>
          <a:xfrm>
            <a:off x="502920" y="1097280"/>
            <a:ext cx="1118585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人が全部操作するか、AIに全部任せるかの二択にしない。仕事の影響に応じて委任の幅を変える。</a:t>
            </a:r>
            <a:endParaRPr lang="en-US" sz="1300" dirty="0"/>
          </a:p>
        </p:txBody>
      </p:sp>
      <p:sp>
        <p:nvSpPr>
          <p:cNvPr id="5" name="Text 3"/>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04</a:t>
            </a:r>
            <a:endParaRPr lang="en-US" sz="1000" dirty="0"/>
          </a:p>
        </p:txBody>
      </p:sp>
      <p:sp>
        <p:nvSpPr>
          <p:cNvPr id="6" name="Shape 4"/>
          <p:cNvSpPr/>
          <p:nvPr/>
        </p:nvSpPr>
        <p:spPr>
          <a:xfrm>
            <a:off x="502920" y="1645920"/>
            <a:ext cx="1635709" cy="868680"/>
          </a:xfrm>
          <a:prstGeom prst="rect">
            <a:avLst/>
          </a:prstGeom>
          <a:solidFill>
            <a:srgbClr val="243D54"/>
          </a:solidFill>
          <a:ln/>
        </p:spPr>
      </p:sp>
      <p:sp>
        <p:nvSpPr>
          <p:cNvPr id="7" name="Shape 5"/>
          <p:cNvSpPr/>
          <p:nvPr/>
        </p:nvSpPr>
        <p:spPr>
          <a:xfrm>
            <a:off x="502920" y="1645920"/>
            <a:ext cx="1635709" cy="45720"/>
          </a:xfrm>
          <a:prstGeom prst="rect">
            <a:avLst/>
          </a:prstGeom>
          <a:solidFill>
            <a:srgbClr val="C4A06D"/>
          </a:solidFill>
          <a:ln/>
        </p:spPr>
      </p:sp>
      <p:sp>
        <p:nvSpPr>
          <p:cNvPr id="8" name="Text 6"/>
          <p:cNvSpPr/>
          <p:nvPr/>
        </p:nvSpPr>
        <p:spPr>
          <a:xfrm>
            <a:off x="557784" y="1719072"/>
            <a:ext cx="1525981" cy="390906"/>
          </a:xfrm>
          <a:prstGeom prst="rect">
            <a:avLst/>
          </a:prstGeom>
          <a:noFill/>
          <a:ln/>
        </p:spPr>
        <p:txBody>
          <a:bodyPr wrap="square" lIns="0" tIns="0" rIns="0" bIns="0" rtlCol="0" anchor="ctr"/>
          <a:lstStyle/>
          <a:p>
            <a:pPr algn="ctr" indent="0" marL="0">
              <a:buNone/>
            </a:pPr>
            <a:r>
              <a:rPr lang="en-US" sz="1500" b="1" dirty="0">
                <a:solidFill>
                  <a:srgbClr val="F5F1E8"/>
                </a:solidFill>
                <a:latin typeface="BIZ UDPGothic" pitchFamily="34" charset="0"/>
                <a:ea typeface="BIZ UDPGothic" pitchFamily="34" charset="-122"/>
                <a:cs typeface="BIZ UDPGothic" pitchFamily="34" charset="-120"/>
              </a:rPr>
              <a:t>目的</a:t>
            </a:r>
            <a:endParaRPr lang="en-US" sz="1500" dirty="0"/>
          </a:p>
        </p:txBody>
      </p:sp>
      <p:sp>
        <p:nvSpPr>
          <p:cNvPr id="9" name="Text 7"/>
          <p:cNvSpPr/>
          <p:nvPr/>
        </p:nvSpPr>
        <p:spPr>
          <a:xfrm>
            <a:off x="557784" y="2080260"/>
            <a:ext cx="1525981" cy="399593"/>
          </a:xfrm>
          <a:prstGeom prst="rect">
            <a:avLst/>
          </a:prstGeom>
          <a:noFill/>
          <a:ln/>
        </p:spPr>
        <p:txBody>
          <a:bodyPr wrap="square" lIns="0" tIns="0" rIns="0" bIns="0" rtlCol="0" anchor="t"/>
          <a:lstStyle/>
          <a:p>
            <a:pPr algn="ctr" indent="0" marL="0">
              <a:buNone/>
            </a:pPr>
            <a:r>
              <a:rPr lang="en-US" sz="1100" dirty="0">
                <a:solidFill>
                  <a:srgbClr val="C9D3D9"/>
                </a:solidFill>
                <a:latin typeface="BIZ UDPGothic" pitchFamily="34" charset="0"/>
                <a:ea typeface="BIZ UDPGothic" pitchFamily="34" charset="-122"/>
                <a:cs typeface="BIZ UDPGothic" pitchFamily="34" charset="-120"/>
              </a:rPr>
              <a:t>方針・責任</a:t>
            </a:r>
            <a:endParaRPr lang="en-US" sz="1100" dirty="0"/>
          </a:p>
        </p:txBody>
      </p:sp>
      <p:sp>
        <p:nvSpPr>
          <p:cNvPr id="10" name="Shape 8"/>
          <p:cNvSpPr/>
          <p:nvPr/>
        </p:nvSpPr>
        <p:spPr>
          <a:xfrm>
            <a:off x="2166061" y="2080260"/>
            <a:ext cx="219456" cy="0"/>
          </a:xfrm>
          <a:prstGeom prst="line">
            <a:avLst/>
          </a:prstGeom>
          <a:noFill/>
          <a:ln w="19050">
            <a:solidFill>
              <a:srgbClr val="C4A06D"/>
            </a:solidFill>
            <a:prstDash val="solid"/>
            <a:tailEnd type="triangle"/>
          </a:ln>
        </p:spPr>
      </p:sp>
      <p:sp>
        <p:nvSpPr>
          <p:cNvPr id="11" name="Shape 9"/>
          <p:cNvSpPr/>
          <p:nvPr/>
        </p:nvSpPr>
        <p:spPr>
          <a:xfrm>
            <a:off x="2412949" y="1645920"/>
            <a:ext cx="1635709" cy="868680"/>
          </a:xfrm>
          <a:prstGeom prst="rect">
            <a:avLst/>
          </a:prstGeom>
          <a:solidFill>
            <a:srgbClr val="FFFFFF"/>
          </a:solidFill>
          <a:ln w="9525">
            <a:solidFill>
              <a:srgbClr val="DCD5C6"/>
            </a:solidFill>
            <a:prstDash val="solid"/>
          </a:ln>
        </p:spPr>
      </p:sp>
      <p:sp>
        <p:nvSpPr>
          <p:cNvPr id="12" name="Shape 10"/>
          <p:cNvSpPr/>
          <p:nvPr/>
        </p:nvSpPr>
        <p:spPr>
          <a:xfrm>
            <a:off x="2412949" y="1645920"/>
            <a:ext cx="1635709" cy="45720"/>
          </a:xfrm>
          <a:prstGeom prst="rect">
            <a:avLst/>
          </a:prstGeom>
          <a:solidFill>
            <a:srgbClr val="C4A06D"/>
          </a:solidFill>
          <a:ln/>
        </p:spPr>
      </p:sp>
      <p:sp>
        <p:nvSpPr>
          <p:cNvPr id="13" name="Text 11"/>
          <p:cNvSpPr/>
          <p:nvPr/>
        </p:nvSpPr>
        <p:spPr>
          <a:xfrm>
            <a:off x="2467813" y="1719072"/>
            <a:ext cx="1525981" cy="390906"/>
          </a:xfrm>
          <a:prstGeom prst="rect">
            <a:avLst/>
          </a:prstGeom>
          <a:noFill/>
          <a:ln/>
        </p:spPr>
        <p:txBody>
          <a:bodyPr wrap="square" lIns="0" tIns="0" rIns="0" bIns="0" rtlCol="0" anchor="ctr"/>
          <a:lstStyle/>
          <a:p>
            <a:pPr algn="ctr" indent="0" marL="0">
              <a:buNone/>
            </a:pPr>
            <a:r>
              <a:rPr lang="en-US" sz="1500" b="1" dirty="0">
                <a:solidFill>
                  <a:srgbClr val="243D54"/>
                </a:solidFill>
                <a:latin typeface="BIZ UDPGothic" pitchFamily="34" charset="0"/>
                <a:ea typeface="BIZ UDPGothic" pitchFamily="34" charset="-122"/>
                <a:cs typeface="BIZ UDPGothic" pitchFamily="34" charset="-120"/>
              </a:rPr>
              <a:t>根拠</a:t>
            </a:r>
            <a:endParaRPr lang="en-US" sz="1500" dirty="0"/>
          </a:p>
        </p:txBody>
      </p:sp>
      <p:sp>
        <p:nvSpPr>
          <p:cNvPr id="14" name="Text 12"/>
          <p:cNvSpPr/>
          <p:nvPr/>
        </p:nvSpPr>
        <p:spPr>
          <a:xfrm>
            <a:off x="2467813" y="2080260"/>
            <a:ext cx="1525981" cy="399593"/>
          </a:xfrm>
          <a:prstGeom prst="rect">
            <a:avLst/>
          </a:prstGeom>
          <a:noFill/>
          <a:ln/>
        </p:spPr>
        <p:txBody>
          <a:bodyPr wrap="square" lIns="0" tIns="0" rIns="0" bIns="0" rtlCol="0" anchor="t"/>
          <a:lstStyle/>
          <a:p>
            <a:pPr algn="ctr" indent="0" marL="0">
              <a:buNone/>
            </a:pPr>
            <a:r>
              <a:rPr lang="en-US" sz="1100" dirty="0">
                <a:solidFill>
                  <a:srgbClr val="56636E"/>
                </a:solidFill>
                <a:latin typeface="BIZ UDPGothic" pitchFamily="34" charset="0"/>
                <a:ea typeface="BIZ UDPGothic" pitchFamily="34" charset="-122"/>
                <a:cs typeface="BIZ UDPGothic" pitchFamily="34" charset="-120"/>
              </a:rPr>
              <a:t>資料・観測</a:t>
            </a:r>
            <a:endParaRPr lang="en-US" sz="1100" dirty="0"/>
          </a:p>
        </p:txBody>
      </p:sp>
      <p:sp>
        <p:nvSpPr>
          <p:cNvPr id="15" name="Shape 13"/>
          <p:cNvSpPr/>
          <p:nvPr/>
        </p:nvSpPr>
        <p:spPr>
          <a:xfrm>
            <a:off x="4076090" y="2080260"/>
            <a:ext cx="219456" cy="0"/>
          </a:xfrm>
          <a:prstGeom prst="line">
            <a:avLst/>
          </a:prstGeom>
          <a:noFill/>
          <a:ln w="19050">
            <a:solidFill>
              <a:srgbClr val="C4A06D"/>
            </a:solidFill>
            <a:prstDash val="solid"/>
            <a:tailEnd type="triangle"/>
          </a:ln>
        </p:spPr>
      </p:sp>
      <p:sp>
        <p:nvSpPr>
          <p:cNvPr id="16" name="Shape 14"/>
          <p:cNvSpPr/>
          <p:nvPr/>
        </p:nvSpPr>
        <p:spPr>
          <a:xfrm>
            <a:off x="4322978" y="1645920"/>
            <a:ext cx="1635709" cy="868680"/>
          </a:xfrm>
          <a:prstGeom prst="rect">
            <a:avLst/>
          </a:prstGeom>
          <a:solidFill>
            <a:srgbClr val="FFFFFF"/>
          </a:solidFill>
          <a:ln w="9525">
            <a:solidFill>
              <a:srgbClr val="DCD5C6"/>
            </a:solidFill>
            <a:prstDash val="solid"/>
          </a:ln>
        </p:spPr>
      </p:sp>
      <p:sp>
        <p:nvSpPr>
          <p:cNvPr id="17" name="Shape 15"/>
          <p:cNvSpPr/>
          <p:nvPr/>
        </p:nvSpPr>
        <p:spPr>
          <a:xfrm>
            <a:off x="4322978" y="1645920"/>
            <a:ext cx="1635709" cy="45720"/>
          </a:xfrm>
          <a:prstGeom prst="rect">
            <a:avLst/>
          </a:prstGeom>
          <a:solidFill>
            <a:srgbClr val="C4A06D"/>
          </a:solidFill>
          <a:ln/>
        </p:spPr>
      </p:sp>
      <p:sp>
        <p:nvSpPr>
          <p:cNvPr id="18" name="Text 16"/>
          <p:cNvSpPr/>
          <p:nvPr/>
        </p:nvSpPr>
        <p:spPr>
          <a:xfrm>
            <a:off x="4377842" y="1719072"/>
            <a:ext cx="1525981" cy="390906"/>
          </a:xfrm>
          <a:prstGeom prst="rect">
            <a:avLst/>
          </a:prstGeom>
          <a:noFill/>
          <a:ln/>
        </p:spPr>
        <p:txBody>
          <a:bodyPr wrap="square" lIns="0" tIns="0" rIns="0" bIns="0" rtlCol="0" anchor="ctr"/>
          <a:lstStyle/>
          <a:p>
            <a:pPr algn="ctr" indent="0" marL="0">
              <a:buNone/>
            </a:pPr>
            <a:r>
              <a:rPr lang="en-US" sz="1500" b="1" dirty="0">
                <a:solidFill>
                  <a:srgbClr val="243D54"/>
                </a:solidFill>
                <a:latin typeface="BIZ UDPGothic" pitchFamily="34" charset="0"/>
                <a:ea typeface="BIZ UDPGothic" pitchFamily="34" charset="-122"/>
                <a:cs typeface="BIZ UDPGothic" pitchFamily="34" charset="-120"/>
              </a:rPr>
              <a:t>解釈</a:t>
            </a:r>
            <a:endParaRPr lang="en-US" sz="1500" dirty="0"/>
          </a:p>
        </p:txBody>
      </p:sp>
      <p:sp>
        <p:nvSpPr>
          <p:cNvPr id="19" name="Text 17"/>
          <p:cNvSpPr/>
          <p:nvPr/>
        </p:nvSpPr>
        <p:spPr>
          <a:xfrm>
            <a:off x="4377842" y="2080260"/>
            <a:ext cx="1525981" cy="399593"/>
          </a:xfrm>
          <a:prstGeom prst="rect">
            <a:avLst/>
          </a:prstGeom>
          <a:noFill/>
          <a:ln/>
        </p:spPr>
        <p:txBody>
          <a:bodyPr wrap="square" lIns="0" tIns="0" rIns="0" bIns="0" rtlCol="0" anchor="t"/>
          <a:lstStyle/>
          <a:p>
            <a:pPr algn="ctr" indent="0" marL="0">
              <a:buNone/>
            </a:pPr>
            <a:r>
              <a:rPr lang="en-US" sz="1100" dirty="0">
                <a:solidFill>
                  <a:srgbClr val="56636E"/>
                </a:solidFill>
                <a:latin typeface="BIZ UDPGothic" pitchFamily="34" charset="0"/>
                <a:ea typeface="BIZ UDPGothic" pitchFamily="34" charset="-122"/>
                <a:cs typeface="BIZ UDPGothic" pitchFamily="34" charset="-120"/>
              </a:rPr>
              <a:t>仮説・反証</a:t>
            </a:r>
            <a:endParaRPr lang="en-US" sz="1100" dirty="0"/>
          </a:p>
        </p:txBody>
      </p:sp>
      <p:sp>
        <p:nvSpPr>
          <p:cNvPr id="20" name="Shape 18"/>
          <p:cNvSpPr/>
          <p:nvPr/>
        </p:nvSpPr>
        <p:spPr>
          <a:xfrm>
            <a:off x="5986120" y="2080260"/>
            <a:ext cx="219456" cy="0"/>
          </a:xfrm>
          <a:prstGeom prst="line">
            <a:avLst/>
          </a:prstGeom>
          <a:noFill/>
          <a:ln w="19050">
            <a:solidFill>
              <a:srgbClr val="C4A06D"/>
            </a:solidFill>
            <a:prstDash val="solid"/>
            <a:tailEnd type="triangle"/>
          </a:ln>
        </p:spPr>
      </p:sp>
      <p:sp>
        <p:nvSpPr>
          <p:cNvPr id="21" name="Shape 19"/>
          <p:cNvSpPr/>
          <p:nvPr/>
        </p:nvSpPr>
        <p:spPr>
          <a:xfrm>
            <a:off x="6233008" y="1645920"/>
            <a:ext cx="1635709" cy="868680"/>
          </a:xfrm>
          <a:prstGeom prst="rect">
            <a:avLst/>
          </a:prstGeom>
          <a:solidFill>
            <a:srgbClr val="FFFFFF"/>
          </a:solidFill>
          <a:ln w="9525">
            <a:solidFill>
              <a:srgbClr val="DCD5C6"/>
            </a:solidFill>
            <a:prstDash val="solid"/>
          </a:ln>
        </p:spPr>
      </p:sp>
      <p:sp>
        <p:nvSpPr>
          <p:cNvPr id="22" name="Shape 20"/>
          <p:cNvSpPr/>
          <p:nvPr/>
        </p:nvSpPr>
        <p:spPr>
          <a:xfrm>
            <a:off x="6233008" y="1645920"/>
            <a:ext cx="1635709" cy="45720"/>
          </a:xfrm>
          <a:prstGeom prst="rect">
            <a:avLst/>
          </a:prstGeom>
          <a:solidFill>
            <a:srgbClr val="C4A06D"/>
          </a:solidFill>
          <a:ln/>
        </p:spPr>
      </p:sp>
      <p:sp>
        <p:nvSpPr>
          <p:cNvPr id="23" name="Text 21"/>
          <p:cNvSpPr/>
          <p:nvPr/>
        </p:nvSpPr>
        <p:spPr>
          <a:xfrm>
            <a:off x="6287872" y="1719072"/>
            <a:ext cx="1525981" cy="390906"/>
          </a:xfrm>
          <a:prstGeom prst="rect">
            <a:avLst/>
          </a:prstGeom>
          <a:noFill/>
          <a:ln/>
        </p:spPr>
        <p:txBody>
          <a:bodyPr wrap="square" lIns="0" tIns="0" rIns="0" bIns="0" rtlCol="0" anchor="ctr"/>
          <a:lstStyle/>
          <a:p>
            <a:pPr algn="ctr" indent="0" marL="0">
              <a:buNone/>
            </a:pPr>
            <a:r>
              <a:rPr lang="en-US" sz="1500" b="1" dirty="0">
                <a:solidFill>
                  <a:srgbClr val="243D54"/>
                </a:solidFill>
                <a:latin typeface="BIZ UDPGothic" pitchFamily="34" charset="0"/>
                <a:ea typeface="BIZ UDPGothic" pitchFamily="34" charset="-122"/>
                <a:cs typeface="BIZ UDPGothic" pitchFamily="34" charset="-120"/>
              </a:rPr>
              <a:t>判断</a:t>
            </a:r>
            <a:endParaRPr lang="en-US" sz="1500" dirty="0"/>
          </a:p>
        </p:txBody>
      </p:sp>
      <p:sp>
        <p:nvSpPr>
          <p:cNvPr id="24" name="Text 22"/>
          <p:cNvSpPr/>
          <p:nvPr/>
        </p:nvSpPr>
        <p:spPr>
          <a:xfrm>
            <a:off x="6287872" y="2080260"/>
            <a:ext cx="1525981" cy="399593"/>
          </a:xfrm>
          <a:prstGeom prst="rect">
            <a:avLst/>
          </a:prstGeom>
          <a:noFill/>
          <a:ln/>
        </p:spPr>
        <p:txBody>
          <a:bodyPr wrap="square" lIns="0" tIns="0" rIns="0" bIns="0" rtlCol="0" anchor="t"/>
          <a:lstStyle/>
          <a:p>
            <a:pPr algn="ctr" indent="0" marL="0">
              <a:buNone/>
            </a:pPr>
            <a:r>
              <a:rPr lang="en-US" sz="1100" dirty="0">
                <a:solidFill>
                  <a:srgbClr val="56636E"/>
                </a:solidFill>
                <a:latin typeface="BIZ UDPGothic" pitchFamily="34" charset="0"/>
                <a:ea typeface="BIZ UDPGothic" pitchFamily="34" charset="-122"/>
                <a:cs typeface="BIZ UDPGothic" pitchFamily="34" charset="-120"/>
              </a:rPr>
              <a:t>採否・権限</a:t>
            </a:r>
            <a:endParaRPr lang="en-US" sz="1100" dirty="0"/>
          </a:p>
        </p:txBody>
      </p:sp>
      <p:sp>
        <p:nvSpPr>
          <p:cNvPr id="25" name="Shape 23"/>
          <p:cNvSpPr/>
          <p:nvPr/>
        </p:nvSpPr>
        <p:spPr>
          <a:xfrm>
            <a:off x="7896149" y="2080260"/>
            <a:ext cx="219456" cy="0"/>
          </a:xfrm>
          <a:prstGeom prst="line">
            <a:avLst/>
          </a:prstGeom>
          <a:noFill/>
          <a:ln w="19050">
            <a:solidFill>
              <a:srgbClr val="C4A06D"/>
            </a:solidFill>
            <a:prstDash val="solid"/>
            <a:tailEnd type="triangle"/>
          </a:ln>
        </p:spPr>
      </p:sp>
      <p:sp>
        <p:nvSpPr>
          <p:cNvPr id="26" name="Shape 24"/>
          <p:cNvSpPr/>
          <p:nvPr/>
        </p:nvSpPr>
        <p:spPr>
          <a:xfrm>
            <a:off x="8143037" y="1645920"/>
            <a:ext cx="1635709" cy="868680"/>
          </a:xfrm>
          <a:prstGeom prst="rect">
            <a:avLst/>
          </a:prstGeom>
          <a:solidFill>
            <a:srgbClr val="FFFFFF"/>
          </a:solidFill>
          <a:ln w="9525">
            <a:solidFill>
              <a:srgbClr val="DCD5C6"/>
            </a:solidFill>
            <a:prstDash val="solid"/>
          </a:ln>
        </p:spPr>
      </p:sp>
      <p:sp>
        <p:nvSpPr>
          <p:cNvPr id="27" name="Shape 25"/>
          <p:cNvSpPr/>
          <p:nvPr/>
        </p:nvSpPr>
        <p:spPr>
          <a:xfrm>
            <a:off x="8143037" y="1645920"/>
            <a:ext cx="1635709" cy="45720"/>
          </a:xfrm>
          <a:prstGeom prst="rect">
            <a:avLst/>
          </a:prstGeom>
          <a:solidFill>
            <a:srgbClr val="C4A06D"/>
          </a:solidFill>
          <a:ln/>
        </p:spPr>
      </p:sp>
      <p:sp>
        <p:nvSpPr>
          <p:cNvPr id="28" name="Text 26"/>
          <p:cNvSpPr/>
          <p:nvPr/>
        </p:nvSpPr>
        <p:spPr>
          <a:xfrm>
            <a:off x="8197901" y="1719072"/>
            <a:ext cx="1525981" cy="390906"/>
          </a:xfrm>
          <a:prstGeom prst="rect">
            <a:avLst/>
          </a:prstGeom>
          <a:noFill/>
          <a:ln/>
        </p:spPr>
        <p:txBody>
          <a:bodyPr wrap="square" lIns="0" tIns="0" rIns="0" bIns="0" rtlCol="0" anchor="ctr"/>
          <a:lstStyle/>
          <a:p>
            <a:pPr algn="ctr" indent="0" marL="0">
              <a:buNone/>
            </a:pPr>
            <a:r>
              <a:rPr lang="en-US" sz="1500" b="1" dirty="0">
                <a:solidFill>
                  <a:srgbClr val="243D54"/>
                </a:solidFill>
                <a:latin typeface="BIZ UDPGothic" pitchFamily="34" charset="0"/>
                <a:ea typeface="BIZ UDPGothic" pitchFamily="34" charset="-122"/>
                <a:cs typeface="BIZ UDPGothic" pitchFamily="34" charset="-120"/>
              </a:rPr>
              <a:t>実行</a:t>
            </a:r>
            <a:endParaRPr lang="en-US" sz="1500" dirty="0"/>
          </a:p>
        </p:txBody>
      </p:sp>
      <p:sp>
        <p:nvSpPr>
          <p:cNvPr id="29" name="Text 27"/>
          <p:cNvSpPr/>
          <p:nvPr/>
        </p:nvSpPr>
        <p:spPr>
          <a:xfrm>
            <a:off x="8197901" y="2080260"/>
            <a:ext cx="1525981" cy="399593"/>
          </a:xfrm>
          <a:prstGeom prst="rect">
            <a:avLst/>
          </a:prstGeom>
          <a:noFill/>
          <a:ln/>
        </p:spPr>
        <p:txBody>
          <a:bodyPr wrap="square" lIns="0" tIns="0" rIns="0" bIns="0" rtlCol="0" anchor="t"/>
          <a:lstStyle/>
          <a:p>
            <a:pPr algn="ctr" indent="0" marL="0">
              <a:buNone/>
            </a:pPr>
            <a:r>
              <a:rPr lang="en-US" sz="1100" dirty="0">
                <a:solidFill>
                  <a:srgbClr val="56636E"/>
                </a:solidFill>
                <a:latin typeface="BIZ UDPGothic" pitchFamily="34" charset="0"/>
                <a:ea typeface="BIZ UDPGothic" pitchFamily="34" charset="-122"/>
                <a:cs typeface="BIZ UDPGothic" pitchFamily="34" charset="-120"/>
              </a:rPr>
              <a:t>処理・成果</a:t>
            </a:r>
            <a:endParaRPr lang="en-US" sz="1100" dirty="0"/>
          </a:p>
        </p:txBody>
      </p:sp>
      <p:sp>
        <p:nvSpPr>
          <p:cNvPr id="30" name="Shape 28"/>
          <p:cNvSpPr/>
          <p:nvPr/>
        </p:nvSpPr>
        <p:spPr>
          <a:xfrm>
            <a:off x="9806178" y="2080260"/>
            <a:ext cx="219456" cy="0"/>
          </a:xfrm>
          <a:prstGeom prst="line">
            <a:avLst/>
          </a:prstGeom>
          <a:noFill/>
          <a:ln w="19050">
            <a:solidFill>
              <a:srgbClr val="C4A06D"/>
            </a:solidFill>
            <a:prstDash val="solid"/>
            <a:tailEnd type="triangle"/>
          </a:ln>
        </p:spPr>
      </p:sp>
      <p:sp>
        <p:nvSpPr>
          <p:cNvPr id="31" name="Shape 29"/>
          <p:cNvSpPr/>
          <p:nvPr/>
        </p:nvSpPr>
        <p:spPr>
          <a:xfrm>
            <a:off x="10053066" y="1645920"/>
            <a:ext cx="1635709" cy="868680"/>
          </a:xfrm>
          <a:prstGeom prst="rect">
            <a:avLst/>
          </a:prstGeom>
          <a:solidFill>
            <a:srgbClr val="FFFFFF"/>
          </a:solidFill>
          <a:ln w="9525">
            <a:solidFill>
              <a:srgbClr val="DCD5C6"/>
            </a:solidFill>
            <a:prstDash val="solid"/>
          </a:ln>
        </p:spPr>
      </p:sp>
      <p:sp>
        <p:nvSpPr>
          <p:cNvPr id="32" name="Shape 30"/>
          <p:cNvSpPr/>
          <p:nvPr/>
        </p:nvSpPr>
        <p:spPr>
          <a:xfrm>
            <a:off x="10053066" y="1645920"/>
            <a:ext cx="1635709" cy="45720"/>
          </a:xfrm>
          <a:prstGeom prst="rect">
            <a:avLst/>
          </a:prstGeom>
          <a:solidFill>
            <a:srgbClr val="C4A06D"/>
          </a:solidFill>
          <a:ln/>
        </p:spPr>
      </p:sp>
      <p:sp>
        <p:nvSpPr>
          <p:cNvPr id="33" name="Text 31"/>
          <p:cNvSpPr/>
          <p:nvPr/>
        </p:nvSpPr>
        <p:spPr>
          <a:xfrm>
            <a:off x="10107930" y="1719072"/>
            <a:ext cx="1525981" cy="390906"/>
          </a:xfrm>
          <a:prstGeom prst="rect">
            <a:avLst/>
          </a:prstGeom>
          <a:noFill/>
          <a:ln/>
        </p:spPr>
        <p:txBody>
          <a:bodyPr wrap="square" lIns="0" tIns="0" rIns="0" bIns="0" rtlCol="0" anchor="ctr"/>
          <a:lstStyle/>
          <a:p>
            <a:pPr algn="ctr" indent="0" marL="0">
              <a:buNone/>
            </a:pPr>
            <a:r>
              <a:rPr lang="en-US" sz="1500" b="1" dirty="0">
                <a:solidFill>
                  <a:srgbClr val="243D54"/>
                </a:solidFill>
                <a:latin typeface="BIZ UDPGothic" pitchFamily="34" charset="0"/>
                <a:ea typeface="BIZ UDPGothic" pitchFamily="34" charset="-122"/>
                <a:cs typeface="BIZ UDPGothic" pitchFamily="34" charset="-120"/>
              </a:rPr>
              <a:t>評価</a:t>
            </a:r>
            <a:endParaRPr lang="en-US" sz="1500" dirty="0"/>
          </a:p>
        </p:txBody>
      </p:sp>
      <p:sp>
        <p:nvSpPr>
          <p:cNvPr id="34" name="Text 32"/>
          <p:cNvSpPr/>
          <p:nvPr/>
        </p:nvSpPr>
        <p:spPr>
          <a:xfrm>
            <a:off x="10107930" y="2080260"/>
            <a:ext cx="1525981" cy="399593"/>
          </a:xfrm>
          <a:prstGeom prst="rect">
            <a:avLst/>
          </a:prstGeom>
          <a:noFill/>
          <a:ln/>
        </p:spPr>
        <p:txBody>
          <a:bodyPr wrap="square" lIns="0" tIns="0" rIns="0" bIns="0" rtlCol="0" anchor="t"/>
          <a:lstStyle/>
          <a:p>
            <a:pPr algn="ctr" indent="0" marL="0">
              <a:buNone/>
            </a:pPr>
            <a:r>
              <a:rPr lang="en-US" sz="1100" dirty="0">
                <a:solidFill>
                  <a:srgbClr val="56636E"/>
                </a:solidFill>
                <a:latin typeface="BIZ UDPGothic" pitchFamily="34" charset="0"/>
                <a:ea typeface="BIZ UDPGothic" pitchFamily="34" charset="-122"/>
                <a:cs typeface="BIZ UDPGothic" pitchFamily="34" charset="-120"/>
              </a:rPr>
              <a:t>結果・改善</a:t>
            </a:r>
            <a:endParaRPr lang="en-US" sz="1100" dirty="0"/>
          </a:p>
        </p:txBody>
      </p:sp>
      <p:sp>
        <p:nvSpPr>
          <p:cNvPr id="35" name="Shape 33"/>
          <p:cNvSpPr/>
          <p:nvPr/>
        </p:nvSpPr>
        <p:spPr>
          <a:xfrm>
            <a:off x="10870921" y="2514600"/>
            <a:ext cx="0" cy="274320"/>
          </a:xfrm>
          <a:prstGeom prst="line">
            <a:avLst/>
          </a:prstGeom>
          <a:noFill/>
          <a:ln w="15875">
            <a:solidFill>
              <a:srgbClr val="789FB6"/>
            </a:solidFill>
            <a:prstDash val="dash"/>
          </a:ln>
        </p:spPr>
      </p:sp>
      <p:sp>
        <p:nvSpPr>
          <p:cNvPr id="36" name="Shape 34"/>
          <p:cNvSpPr/>
          <p:nvPr/>
        </p:nvSpPr>
        <p:spPr>
          <a:xfrm flipH="1">
            <a:off x="1320775" y="2788920"/>
            <a:ext cx="9550146" cy="0"/>
          </a:xfrm>
          <a:prstGeom prst="line">
            <a:avLst/>
          </a:prstGeom>
          <a:noFill/>
          <a:ln w="15875">
            <a:solidFill>
              <a:srgbClr val="789FB6"/>
            </a:solidFill>
            <a:prstDash val="dash"/>
          </a:ln>
        </p:spPr>
      </p:sp>
      <p:sp>
        <p:nvSpPr>
          <p:cNvPr id="37" name="Shape 35"/>
          <p:cNvSpPr/>
          <p:nvPr/>
        </p:nvSpPr>
        <p:spPr>
          <a:xfrm flipV="1">
            <a:off x="1320775" y="2542032"/>
            <a:ext cx="0" cy="246888"/>
          </a:xfrm>
          <a:prstGeom prst="line">
            <a:avLst/>
          </a:prstGeom>
          <a:noFill/>
          <a:ln w="15875">
            <a:solidFill>
              <a:srgbClr val="789FB6"/>
            </a:solidFill>
            <a:prstDash val="dash"/>
            <a:tailEnd type="triangle"/>
          </a:ln>
        </p:spPr>
      </p:sp>
      <p:sp>
        <p:nvSpPr>
          <p:cNvPr id="38" name="Text 36"/>
          <p:cNvSpPr/>
          <p:nvPr/>
        </p:nvSpPr>
        <p:spPr>
          <a:xfrm>
            <a:off x="3809848" y="2825496"/>
            <a:ext cx="4572000" cy="237744"/>
          </a:xfrm>
          <a:prstGeom prst="rect">
            <a:avLst/>
          </a:prstGeom>
          <a:noFill/>
          <a:ln/>
        </p:spPr>
        <p:txBody>
          <a:bodyPr wrap="square" lIns="0" tIns="0" rIns="0" bIns="0" rtlCol="0" anchor="t"/>
          <a:lstStyle/>
          <a:p>
            <a:pPr algn="ctr" indent="0" marL="0">
              <a:buNone/>
            </a:pPr>
            <a:r>
              <a:rPr lang="en-US" sz="1050" dirty="0">
                <a:solidFill>
                  <a:srgbClr val="56636E"/>
                </a:solidFill>
                <a:latin typeface="BIZ UDPGothic" pitchFamily="34" charset="0"/>
                <a:ea typeface="BIZ UDPGothic" pitchFamily="34" charset="-122"/>
                <a:cs typeface="BIZ UDPGothic" pitchFamily="34" charset="-120"/>
              </a:rPr>
              <a:t>中断・差し戻し・再調査はどの段階からも起こる</a:t>
            </a:r>
            <a:endParaRPr lang="en-US" sz="1050" dirty="0"/>
          </a:p>
        </p:txBody>
      </p:sp>
      <p:sp>
        <p:nvSpPr>
          <p:cNvPr id="39" name="Text 37"/>
          <p:cNvSpPr/>
          <p:nvPr/>
        </p:nvSpPr>
        <p:spPr>
          <a:xfrm>
            <a:off x="502920" y="3246120"/>
            <a:ext cx="3657600" cy="320040"/>
          </a:xfrm>
          <a:prstGeom prst="rect">
            <a:avLst/>
          </a:prstGeom>
          <a:noFill/>
          <a:ln/>
        </p:spPr>
        <p:txBody>
          <a:bodyPr wrap="square" lIns="0" tIns="0" rIns="0" bIns="0" rtlCol="0" anchor="t"/>
          <a:lstStyle/>
          <a:p>
            <a:pPr indent="0" marL="0">
              <a:buNone/>
            </a:pPr>
            <a:r>
              <a:rPr lang="en-US" sz="1300" b="1" dirty="0">
                <a:solidFill>
                  <a:srgbClr val="56636E"/>
                </a:solidFill>
                <a:latin typeface="BIZ UDPGothic" pitchFamily="34" charset="0"/>
                <a:ea typeface="BIZ UDPGothic" pitchFamily="34" charset="-122"/>
                <a:cs typeface="BIZ UDPGothic" pitchFamily="34" charset="-120"/>
              </a:rPr>
              <a:t>委任の四段階</a:t>
            </a:r>
            <a:endParaRPr lang="en-US" sz="1300" dirty="0"/>
          </a:p>
        </p:txBody>
      </p:sp>
      <p:sp>
        <p:nvSpPr>
          <p:cNvPr id="40" name="Shape 38"/>
          <p:cNvSpPr/>
          <p:nvPr/>
        </p:nvSpPr>
        <p:spPr>
          <a:xfrm>
            <a:off x="502920" y="4572000"/>
            <a:ext cx="2659304" cy="1691640"/>
          </a:xfrm>
          <a:prstGeom prst="rect">
            <a:avLst/>
          </a:prstGeom>
          <a:solidFill>
            <a:srgbClr val="FFFFFF"/>
          </a:solidFill>
          <a:ln w="9525">
            <a:solidFill>
              <a:srgbClr val="DCD5C6"/>
            </a:solidFill>
            <a:prstDash val="solid"/>
          </a:ln>
        </p:spPr>
      </p:sp>
      <p:sp>
        <p:nvSpPr>
          <p:cNvPr id="41" name="Shape 39"/>
          <p:cNvSpPr/>
          <p:nvPr/>
        </p:nvSpPr>
        <p:spPr>
          <a:xfrm>
            <a:off x="502920" y="4572000"/>
            <a:ext cx="2659304" cy="54864"/>
          </a:xfrm>
          <a:prstGeom prst="rect">
            <a:avLst/>
          </a:prstGeom>
          <a:solidFill>
            <a:srgbClr val="A7B7A7"/>
          </a:solidFill>
          <a:ln/>
        </p:spPr>
      </p:sp>
      <p:sp>
        <p:nvSpPr>
          <p:cNvPr id="42" name="Text 40"/>
          <p:cNvSpPr/>
          <p:nvPr/>
        </p:nvSpPr>
        <p:spPr>
          <a:xfrm>
            <a:off x="685800" y="4736592"/>
            <a:ext cx="1097280" cy="237744"/>
          </a:xfrm>
          <a:prstGeom prst="rect">
            <a:avLst/>
          </a:prstGeom>
          <a:noFill/>
          <a:ln/>
        </p:spPr>
        <p:txBody>
          <a:bodyPr wrap="square" lIns="0" tIns="0" rIns="0" bIns="0" rtlCol="0" anchor="t"/>
          <a:lstStyle/>
          <a:p>
            <a:pPr indent="0" marL="0">
              <a:buNone/>
            </a:pPr>
            <a:r>
              <a:rPr lang="en-US" sz="1050" b="1" dirty="0">
                <a:solidFill>
                  <a:srgbClr val="56636E"/>
                </a:solidFill>
                <a:latin typeface="BIZ UDPGothic" pitchFamily="34" charset="0"/>
                <a:ea typeface="BIZ UDPGothic" pitchFamily="34" charset="-122"/>
                <a:cs typeface="BIZ UDPGothic" pitchFamily="34" charset="-120"/>
              </a:rPr>
              <a:t>段階1</a:t>
            </a:r>
            <a:endParaRPr lang="en-US" sz="1050" dirty="0"/>
          </a:p>
        </p:txBody>
      </p:sp>
      <p:sp>
        <p:nvSpPr>
          <p:cNvPr id="43" name="Text 41"/>
          <p:cNvSpPr/>
          <p:nvPr/>
        </p:nvSpPr>
        <p:spPr>
          <a:xfrm>
            <a:off x="685800" y="4974336"/>
            <a:ext cx="2339264" cy="365760"/>
          </a:xfrm>
          <a:prstGeom prst="rect">
            <a:avLst/>
          </a:prstGeom>
          <a:noFill/>
          <a:ln/>
        </p:spPr>
        <p:txBody>
          <a:bodyPr wrap="square" lIns="0" tIns="0" rIns="0" bIns="0" rtlCol="0" anchor="t"/>
          <a:lstStyle/>
          <a:p>
            <a:pPr indent="0" marL="0">
              <a:buNone/>
            </a:pPr>
            <a:r>
              <a:rPr lang="en-US" sz="1600" b="1" dirty="0">
                <a:solidFill>
                  <a:srgbClr val="243D54"/>
                </a:solidFill>
                <a:latin typeface="BIZ UDPGothic" pitchFamily="34" charset="0"/>
                <a:ea typeface="BIZ UDPGothic" pitchFamily="34" charset="-122"/>
                <a:cs typeface="BIZ UDPGothic" pitchFamily="34" charset="-120"/>
              </a:rPr>
              <a:t>提案の補助</a:t>
            </a:r>
            <a:endParaRPr lang="en-US" sz="1600" dirty="0"/>
          </a:p>
        </p:txBody>
      </p:sp>
      <p:sp>
        <p:nvSpPr>
          <p:cNvPr id="44" name="Text 42"/>
          <p:cNvSpPr/>
          <p:nvPr/>
        </p:nvSpPr>
        <p:spPr>
          <a:xfrm>
            <a:off x="685800" y="5413248"/>
            <a:ext cx="2339264" cy="731520"/>
          </a:xfrm>
          <a:prstGeom prst="rect">
            <a:avLst/>
          </a:prstGeom>
          <a:noFill/>
          <a:ln/>
        </p:spPr>
        <p:txBody>
          <a:bodyPr wrap="square" lIns="0" tIns="0" rIns="0" bIns="0" rtlCol="0" anchor="t"/>
          <a:lstStyle/>
          <a:p>
            <a:pPr indent="0" marL="0">
              <a:buNone/>
            </a:pPr>
            <a:r>
              <a:rPr lang="en-US" sz="1150" dirty="0">
                <a:solidFill>
                  <a:srgbClr val="56636E"/>
                </a:solidFill>
                <a:latin typeface="BIZ UDPGothic" pitchFamily="34" charset="0"/>
                <a:ea typeface="BIZ UDPGothic" pitchFamily="34" charset="-122"/>
                <a:cs typeface="BIZ UDPGothic" pitchFamily="34" charset="-120"/>
              </a:rPr>
              <a:t>AIは要約・比較・代案を作る。採否は人が決める。</a:t>
            </a:r>
            <a:endParaRPr lang="en-US" sz="1150" dirty="0"/>
          </a:p>
        </p:txBody>
      </p:sp>
      <p:sp>
        <p:nvSpPr>
          <p:cNvPr id="45" name="Shape 43"/>
          <p:cNvSpPr/>
          <p:nvPr/>
        </p:nvSpPr>
        <p:spPr>
          <a:xfrm>
            <a:off x="3345104" y="4251960"/>
            <a:ext cx="2659304" cy="2011680"/>
          </a:xfrm>
          <a:prstGeom prst="rect">
            <a:avLst/>
          </a:prstGeom>
          <a:solidFill>
            <a:srgbClr val="FFFFFF"/>
          </a:solidFill>
          <a:ln w="9525">
            <a:solidFill>
              <a:srgbClr val="DCD5C6"/>
            </a:solidFill>
            <a:prstDash val="solid"/>
          </a:ln>
        </p:spPr>
      </p:sp>
      <p:sp>
        <p:nvSpPr>
          <p:cNvPr id="46" name="Shape 44"/>
          <p:cNvSpPr/>
          <p:nvPr/>
        </p:nvSpPr>
        <p:spPr>
          <a:xfrm>
            <a:off x="3345104" y="4251960"/>
            <a:ext cx="2659304" cy="54864"/>
          </a:xfrm>
          <a:prstGeom prst="rect">
            <a:avLst/>
          </a:prstGeom>
          <a:solidFill>
            <a:srgbClr val="789FB6"/>
          </a:solidFill>
          <a:ln/>
        </p:spPr>
      </p:sp>
      <p:sp>
        <p:nvSpPr>
          <p:cNvPr id="47" name="Text 45"/>
          <p:cNvSpPr/>
          <p:nvPr/>
        </p:nvSpPr>
        <p:spPr>
          <a:xfrm>
            <a:off x="3527984" y="4416552"/>
            <a:ext cx="1097280" cy="237744"/>
          </a:xfrm>
          <a:prstGeom prst="rect">
            <a:avLst/>
          </a:prstGeom>
          <a:noFill/>
          <a:ln/>
        </p:spPr>
        <p:txBody>
          <a:bodyPr wrap="square" lIns="0" tIns="0" rIns="0" bIns="0" rtlCol="0" anchor="t"/>
          <a:lstStyle/>
          <a:p>
            <a:pPr indent="0" marL="0">
              <a:buNone/>
            </a:pPr>
            <a:r>
              <a:rPr lang="en-US" sz="1050" b="1" dirty="0">
                <a:solidFill>
                  <a:srgbClr val="56636E"/>
                </a:solidFill>
                <a:latin typeface="BIZ UDPGothic" pitchFamily="34" charset="0"/>
                <a:ea typeface="BIZ UDPGothic" pitchFamily="34" charset="-122"/>
                <a:cs typeface="BIZ UDPGothic" pitchFamily="34" charset="-120"/>
              </a:rPr>
              <a:t>段階2</a:t>
            </a:r>
            <a:endParaRPr lang="en-US" sz="1050" dirty="0"/>
          </a:p>
        </p:txBody>
      </p:sp>
      <p:sp>
        <p:nvSpPr>
          <p:cNvPr id="48" name="Text 46"/>
          <p:cNvSpPr/>
          <p:nvPr/>
        </p:nvSpPr>
        <p:spPr>
          <a:xfrm>
            <a:off x="3527984" y="4654296"/>
            <a:ext cx="2339264" cy="365760"/>
          </a:xfrm>
          <a:prstGeom prst="rect">
            <a:avLst/>
          </a:prstGeom>
          <a:noFill/>
          <a:ln/>
        </p:spPr>
        <p:txBody>
          <a:bodyPr wrap="square" lIns="0" tIns="0" rIns="0" bIns="0" rtlCol="0" anchor="t"/>
          <a:lstStyle/>
          <a:p>
            <a:pPr indent="0" marL="0">
              <a:buNone/>
            </a:pPr>
            <a:r>
              <a:rPr lang="en-US" sz="1600" b="1" dirty="0">
                <a:solidFill>
                  <a:srgbClr val="243D54"/>
                </a:solidFill>
                <a:latin typeface="BIZ UDPGothic" pitchFamily="34" charset="0"/>
                <a:ea typeface="BIZ UDPGothic" pitchFamily="34" charset="-122"/>
                <a:cs typeface="BIZ UDPGothic" pitchFamily="34" charset="-120"/>
              </a:rPr>
              <a:t>監督付きの実行</a:t>
            </a:r>
            <a:endParaRPr lang="en-US" sz="1600" dirty="0"/>
          </a:p>
        </p:txBody>
      </p:sp>
      <p:sp>
        <p:nvSpPr>
          <p:cNvPr id="49" name="Text 47"/>
          <p:cNvSpPr/>
          <p:nvPr/>
        </p:nvSpPr>
        <p:spPr>
          <a:xfrm>
            <a:off x="3527984" y="5093208"/>
            <a:ext cx="2339264" cy="731520"/>
          </a:xfrm>
          <a:prstGeom prst="rect">
            <a:avLst/>
          </a:prstGeom>
          <a:noFill/>
          <a:ln/>
        </p:spPr>
        <p:txBody>
          <a:bodyPr wrap="square" lIns="0" tIns="0" rIns="0" bIns="0" rtlCol="0" anchor="t"/>
          <a:lstStyle/>
          <a:p>
            <a:pPr indent="0" marL="0">
              <a:buNone/>
            </a:pPr>
            <a:r>
              <a:rPr lang="en-US" sz="1150" dirty="0">
                <a:solidFill>
                  <a:srgbClr val="56636E"/>
                </a:solidFill>
                <a:latin typeface="BIZ UDPGothic" pitchFamily="34" charset="0"/>
                <a:ea typeface="BIZ UDPGothic" pitchFamily="34" charset="-122"/>
                <a:cs typeface="BIZ UDPGothic" pitchFamily="34" charset="-120"/>
              </a:rPr>
              <a:t>承認済みの範囲で動き、重要な分岐で確認を求める。</a:t>
            </a:r>
            <a:endParaRPr lang="en-US" sz="1150" dirty="0"/>
          </a:p>
        </p:txBody>
      </p:sp>
      <p:sp>
        <p:nvSpPr>
          <p:cNvPr id="50" name="Shape 48"/>
          <p:cNvSpPr/>
          <p:nvPr/>
        </p:nvSpPr>
        <p:spPr>
          <a:xfrm>
            <a:off x="6187288" y="3931920"/>
            <a:ext cx="2659304" cy="2331720"/>
          </a:xfrm>
          <a:prstGeom prst="rect">
            <a:avLst/>
          </a:prstGeom>
          <a:solidFill>
            <a:srgbClr val="FFFFFF"/>
          </a:solidFill>
          <a:ln w="9525">
            <a:solidFill>
              <a:srgbClr val="DCD5C6"/>
            </a:solidFill>
            <a:prstDash val="solid"/>
          </a:ln>
        </p:spPr>
      </p:sp>
      <p:sp>
        <p:nvSpPr>
          <p:cNvPr id="51" name="Shape 49"/>
          <p:cNvSpPr/>
          <p:nvPr/>
        </p:nvSpPr>
        <p:spPr>
          <a:xfrm>
            <a:off x="6187288" y="3931920"/>
            <a:ext cx="2659304" cy="54864"/>
          </a:xfrm>
          <a:prstGeom prst="rect">
            <a:avLst/>
          </a:prstGeom>
          <a:solidFill>
            <a:srgbClr val="C4A06D"/>
          </a:solidFill>
          <a:ln/>
        </p:spPr>
      </p:sp>
      <p:sp>
        <p:nvSpPr>
          <p:cNvPr id="52" name="Text 50"/>
          <p:cNvSpPr/>
          <p:nvPr/>
        </p:nvSpPr>
        <p:spPr>
          <a:xfrm>
            <a:off x="6370168" y="4096512"/>
            <a:ext cx="1097280" cy="237744"/>
          </a:xfrm>
          <a:prstGeom prst="rect">
            <a:avLst/>
          </a:prstGeom>
          <a:noFill/>
          <a:ln/>
        </p:spPr>
        <p:txBody>
          <a:bodyPr wrap="square" lIns="0" tIns="0" rIns="0" bIns="0" rtlCol="0" anchor="t"/>
          <a:lstStyle/>
          <a:p>
            <a:pPr indent="0" marL="0">
              <a:buNone/>
            </a:pPr>
            <a:r>
              <a:rPr lang="en-US" sz="1050" b="1" dirty="0">
                <a:solidFill>
                  <a:srgbClr val="56636E"/>
                </a:solidFill>
                <a:latin typeface="BIZ UDPGothic" pitchFamily="34" charset="0"/>
                <a:ea typeface="BIZ UDPGothic" pitchFamily="34" charset="-122"/>
                <a:cs typeface="BIZ UDPGothic" pitchFamily="34" charset="-120"/>
              </a:rPr>
              <a:t>段階3</a:t>
            </a:r>
            <a:endParaRPr lang="en-US" sz="1050" dirty="0"/>
          </a:p>
        </p:txBody>
      </p:sp>
      <p:sp>
        <p:nvSpPr>
          <p:cNvPr id="53" name="Text 51"/>
          <p:cNvSpPr/>
          <p:nvPr/>
        </p:nvSpPr>
        <p:spPr>
          <a:xfrm>
            <a:off x="6370168" y="4334256"/>
            <a:ext cx="2339264" cy="365760"/>
          </a:xfrm>
          <a:prstGeom prst="rect">
            <a:avLst/>
          </a:prstGeom>
          <a:noFill/>
          <a:ln/>
        </p:spPr>
        <p:txBody>
          <a:bodyPr wrap="square" lIns="0" tIns="0" rIns="0" bIns="0" rtlCol="0" anchor="t"/>
          <a:lstStyle/>
          <a:p>
            <a:pPr indent="0" marL="0">
              <a:buNone/>
            </a:pPr>
            <a:r>
              <a:rPr lang="en-US" sz="1600" b="1" dirty="0">
                <a:solidFill>
                  <a:srgbClr val="243D54"/>
                </a:solidFill>
                <a:latin typeface="BIZ UDPGothic" pitchFamily="34" charset="0"/>
                <a:ea typeface="BIZ UDPGothic" pitchFamily="34" charset="-122"/>
                <a:cs typeface="BIZ UDPGothic" pitchFamily="34" charset="-120"/>
              </a:rPr>
              <a:t>条件付きの自律</a:t>
            </a:r>
            <a:endParaRPr lang="en-US" sz="1600" dirty="0"/>
          </a:p>
        </p:txBody>
      </p:sp>
      <p:sp>
        <p:nvSpPr>
          <p:cNvPr id="54" name="Text 52"/>
          <p:cNvSpPr/>
          <p:nvPr/>
        </p:nvSpPr>
        <p:spPr>
          <a:xfrm>
            <a:off x="6370168" y="4773168"/>
            <a:ext cx="2339264" cy="731520"/>
          </a:xfrm>
          <a:prstGeom prst="rect">
            <a:avLst/>
          </a:prstGeom>
          <a:noFill/>
          <a:ln/>
        </p:spPr>
        <p:txBody>
          <a:bodyPr wrap="square" lIns="0" tIns="0" rIns="0" bIns="0" rtlCol="0" anchor="t"/>
          <a:lstStyle/>
          <a:p>
            <a:pPr indent="0" marL="0">
              <a:buNone/>
            </a:pPr>
            <a:r>
              <a:rPr lang="en-US" sz="1150" dirty="0">
                <a:solidFill>
                  <a:srgbClr val="56636E"/>
                </a:solidFill>
                <a:latin typeface="BIZ UDPGothic" pitchFamily="34" charset="0"/>
                <a:ea typeface="BIZ UDPGothic" pitchFamily="34" charset="-122"/>
                <a:cs typeface="BIZ UDPGothic" pitchFamily="34" charset="-120"/>
              </a:rPr>
              <a:t>影響が小さく検証できる処理を、予算・期限・停止条件つきで任せる。</a:t>
            </a:r>
            <a:endParaRPr lang="en-US" sz="1150" dirty="0"/>
          </a:p>
        </p:txBody>
      </p:sp>
      <p:sp>
        <p:nvSpPr>
          <p:cNvPr id="55" name="Shape 53"/>
          <p:cNvSpPr/>
          <p:nvPr/>
        </p:nvSpPr>
        <p:spPr>
          <a:xfrm>
            <a:off x="9029471" y="3611880"/>
            <a:ext cx="2659304" cy="2651760"/>
          </a:xfrm>
          <a:prstGeom prst="rect">
            <a:avLst/>
          </a:prstGeom>
          <a:solidFill>
            <a:srgbClr val="243D54"/>
          </a:solidFill>
          <a:ln/>
        </p:spPr>
      </p:sp>
      <p:sp>
        <p:nvSpPr>
          <p:cNvPr id="56" name="Shape 54"/>
          <p:cNvSpPr/>
          <p:nvPr/>
        </p:nvSpPr>
        <p:spPr>
          <a:xfrm>
            <a:off x="9029471" y="3611880"/>
            <a:ext cx="2659304" cy="54864"/>
          </a:xfrm>
          <a:prstGeom prst="rect">
            <a:avLst/>
          </a:prstGeom>
          <a:solidFill>
            <a:srgbClr val="C4A06D"/>
          </a:solidFill>
          <a:ln/>
        </p:spPr>
      </p:sp>
      <p:sp>
        <p:nvSpPr>
          <p:cNvPr id="57" name="Text 55"/>
          <p:cNvSpPr/>
          <p:nvPr/>
        </p:nvSpPr>
        <p:spPr>
          <a:xfrm>
            <a:off x="9212351" y="3776472"/>
            <a:ext cx="1097280" cy="237744"/>
          </a:xfrm>
          <a:prstGeom prst="rect">
            <a:avLst/>
          </a:prstGeom>
          <a:noFill/>
          <a:ln/>
        </p:spPr>
        <p:txBody>
          <a:bodyPr wrap="square" lIns="0" tIns="0" rIns="0" bIns="0" rtlCol="0" anchor="t"/>
          <a:lstStyle/>
          <a:p>
            <a:pPr indent="0" marL="0">
              <a:buNone/>
            </a:pPr>
            <a:r>
              <a:rPr lang="en-US" sz="1050" b="1" dirty="0">
                <a:solidFill>
                  <a:srgbClr val="C4A06D"/>
                </a:solidFill>
                <a:latin typeface="BIZ UDPGothic" pitchFamily="34" charset="0"/>
                <a:ea typeface="BIZ UDPGothic" pitchFamily="34" charset="-122"/>
                <a:cs typeface="BIZ UDPGothic" pitchFamily="34" charset="-120"/>
              </a:rPr>
              <a:t>段階4</a:t>
            </a:r>
            <a:endParaRPr lang="en-US" sz="1050" dirty="0"/>
          </a:p>
        </p:txBody>
      </p:sp>
      <p:sp>
        <p:nvSpPr>
          <p:cNvPr id="58" name="Text 56"/>
          <p:cNvSpPr/>
          <p:nvPr/>
        </p:nvSpPr>
        <p:spPr>
          <a:xfrm>
            <a:off x="9212351" y="4014216"/>
            <a:ext cx="2339264" cy="365760"/>
          </a:xfrm>
          <a:prstGeom prst="rect">
            <a:avLst/>
          </a:prstGeom>
          <a:noFill/>
          <a:ln/>
        </p:spPr>
        <p:txBody>
          <a:bodyPr wrap="square" lIns="0" tIns="0" rIns="0" bIns="0" rtlCol="0" anchor="t"/>
          <a:lstStyle/>
          <a:p>
            <a:pPr indent="0" marL="0">
              <a:buNone/>
            </a:pPr>
            <a:r>
              <a:rPr lang="en-US" sz="1600" b="1" dirty="0">
                <a:solidFill>
                  <a:srgbClr val="F5F1E8"/>
                </a:solidFill>
                <a:latin typeface="BIZ UDPGothic" pitchFamily="34" charset="0"/>
                <a:ea typeface="BIZ UDPGothic" pitchFamily="34" charset="-122"/>
                <a:cs typeface="BIZ UDPGothic" pitchFamily="34" charset="-120"/>
              </a:rPr>
              <a:t>継続的な改善</a:t>
            </a:r>
            <a:endParaRPr lang="en-US" sz="1600" dirty="0"/>
          </a:p>
        </p:txBody>
      </p:sp>
      <p:sp>
        <p:nvSpPr>
          <p:cNvPr id="59" name="Text 57"/>
          <p:cNvSpPr/>
          <p:nvPr/>
        </p:nvSpPr>
        <p:spPr>
          <a:xfrm>
            <a:off x="9212351" y="4453128"/>
            <a:ext cx="2339264" cy="731520"/>
          </a:xfrm>
          <a:prstGeom prst="rect">
            <a:avLst/>
          </a:prstGeom>
          <a:noFill/>
          <a:ln/>
        </p:spPr>
        <p:txBody>
          <a:bodyPr wrap="square" lIns="0" tIns="0" rIns="0" bIns="0" rtlCol="0" anchor="t"/>
          <a:lstStyle/>
          <a:p>
            <a:pPr indent="0" marL="0">
              <a:buNone/>
            </a:pPr>
            <a:r>
              <a:rPr lang="en-US" sz="1150" dirty="0">
                <a:solidFill>
                  <a:srgbClr val="C9D3D9"/>
                </a:solidFill>
                <a:latin typeface="BIZ UDPGothic" pitchFamily="34" charset="0"/>
                <a:ea typeface="BIZ UDPGothic" pitchFamily="34" charset="-122"/>
                <a:cs typeface="BIZ UDPGothic" pitchFamily="34" charset="-120"/>
              </a:rPr>
              <a:t>記録・異常・成果を再評価し、委任の規則そのものを見直す。</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274320"/>
            <a:ext cx="1118585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02  必要な機能</a:t>
            </a:r>
            <a:endParaRPr lang="en-US" sz="950" dirty="0"/>
          </a:p>
        </p:txBody>
      </p:sp>
      <p:sp>
        <p:nvSpPr>
          <p:cNvPr id="3" name="Text 1"/>
          <p:cNvSpPr/>
          <p:nvPr/>
        </p:nvSpPr>
        <p:spPr>
          <a:xfrm>
            <a:off x="502920" y="530352"/>
            <a:ext cx="1118585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「許したこと」を、機械が検査できる条件にする</a:t>
            </a:r>
            <a:endParaRPr lang="en-US" sz="2500" dirty="0"/>
          </a:p>
        </p:txBody>
      </p:sp>
      <p:sp>
        <p:nvSpPr>
          <p:cNvPr id="4" name="Text 2"/>
          <p:cNvSpPr/>
          <p:nvPr/>
        </p:nvSpPr>
        <p:spPr>
          <a:xfrm>
            <a:off x="502920" y="1097280"/>
            <a:ext cx="1118585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誰の依頼かだけでなく、何を・どこで・いつまで・いくらまで許すか。AIが読めることと外へ出してよいことも分ける。</a:t>
            </a:r>
            <a:endParaRPr lang="en-US" sz="1300" dirty="0"/>
          </a:p>
        </p:txBody>
      </p:sp>
      <p:sp>
        <p:nvSpPr>
          <p:cNvPr id="5" name="Text 3"/>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05</a:t>
            </a:r>
            <a:endParaRPr lang="en-US" sz="1000" dirty="0"/>
          </a:p>
        </p:txBody>
      </p:sp>
      <p:sp>
        <p:nvSpPr>
          <p:cNvPr id="6" name="Text 4"/>
          <p:cNvSpPr/>
          <p:nvPr/>
        </p:nvSpPr>
        <p:spPr>
          <a:xfrm>
            <a:off x="502920" y="1600200"/>
            <a:ext cx="6400800" cy="274320"/>
          </a:xfrm>
          <a:prstGeom prst="rect">
            <a:avLst/>
          </a:prstGeom>
          <a:noFill/>
          <a:ln/>
        </p:spPr>
        <p:txBody>
          <a:bodyPr wrap="square" lIns="0" tIns="0" rIns="0" bIns="0" rtlCol="0" anchor="t"/>
          <a:lstStyle/>
          <a:p>
            <a:pPr indent="0" marL="0">
              <a:buNone/>
            </a:pPr>
            <a:r>
              <a:rPr lang="en-US" sz="1200" b="1" dirty="0">
                <a:solidFill>
                  <a:srgbClr val="56636E"/>
                </a:solidFill>
                <a:latin typeface="BIZ UDPGothic" pitchFamily="34" charset="0"/>
                <a:ea typeface="BIZ UDPGothic" pitchFamily="34" charset="-122"/>
                <a:cs typeface="BIZ UDPGothic" pitchFamily="34" charset="-120"/>
              </a:rPr>
              <a:t>委任の許可記録（論理上の例）</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901952"/>
          <a:ext cx="6766560" cy="914400"/>
        </p:xfrm>
        <a:graphic>
          <a:graphicData uri="http://schemas.openxmlformats.org/drawingml/2006/table">
            <a:tbl>
              <a:tblPr/>
              <a:tblGrid>
                <a:gridCol w="1005840"/>
                <a:gridCol w="3566160"/>
                <a:gridCol w="2194560"/>
              </a:tblGrid>
              <a:tr h="429768">
                <a:tc>
                  <a:txBody>
                    <a:bodyPr/>
                    <a:lstStyle/>
                    <a:p>
                      <a:pPr indent="0" marL="0">
                        <a:buNone/>
                      </a:pPr>
                      <a:r>
                        <a:rPr lang="en-US" sz="1100" b="1" dirty="0">
                          <a:solidFill>
                            <a:srgbClr val="F5F1E8"/>
                          </a:solidFill>
                          <a:latin typeface="BIZ UDPGothic" pitchFamily="34" charset="0"/>
                          <a:ea typeface="BIZ UDPGothic" pitchFamily="34" charset="-122"/>
                          <a:cs typeface="BIZ UDPGothic" pitchFamily="34" charset="-120"/>
                        </a:rPr>
                        <a:t>条件</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243D54"/>
                    </a:solidFill>
                  </a:tcPr>
                </a:tc>
                <a:tc>
                  <a:txBody>
                    <a:bodyPr/>
                    <a:lstStyle/>
                    <a:p>
                      <a:pPr indent="0" marL="0">
                        <a:buNone/>
                      </a:pPr>
                      <a:r>
                        <a:rPr lang="en-US" sz="1100" b="1" dirty="0">
                          <a:solidFill>
                            <a:srgbClr val="F5F1E8"/>
                          </a:solidFill>
                          <a:latin typeface="BIZ UDPGothic" pitchFamily="34" charset="0"/>
                          <a:ea typeface="BIZ UDPGothic" pitchFamily="34" charset="-122"/>
                          <a:cs typeface="BIZ UDPGothic" pitchFamily="34" charset="-120"/>
                        </a:rPr>
                        <a:t>記録する情報の例</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243D54"/>
                    </a:solidFill>
                  </a:tcPr>
                </a:tc>
                <a:tc>
                  <a:txBody>
                    <a:bodyPr/>
                    <a:lstStyle/>
                    <a:p>
                      <a:pPr indent="0" marL="0">
                        <a:buNone/>
                      </a:pPr>
                      <a:r>
                        <a:rPr lang="en-US" sz="1100" b="1" dirty="0">
                          <a:solidFill>
                            <a:srgbClr val="F5F1E8"/>
                          </a:solidFill>
                          <a:latin typeface="BIZ UDPGothic" pitchFamily="34" charset="0"/>
                          <a:ea typeface="BIZ UDPGothic" pitchFamily="34" charset="-122"/>
                          <a:cs typeface="BIZ UDPGothic" pitchFamily="34" charset="-120"/>
                        </a:rPr>
                        <a:t>満たさないとき</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243D54"/>
                    </a:solidFill>
                  </a:tcPr>
                </a:tc>
              </a:tr>
              <a:tr h="429768">
                <a:tc>
                  <a:txBody>
                    <a:bodyPr/>
                    <a:lstStyle/>
                    <a:p>
                      <a:pPr indent="0" marL="0">
                        <a:buNone/>
                      </a:pPr>
                      <a:r>
                        <a:rPr lang="en-US" sz="1200" b="1" dirty="0">
                          <a:solidFill>
                            <a:srgbClr val="243D54"/>
                          </a:solidFill>
                          <a:latin typeface="BIZ UDPGothic" pitchFamily="34" charset="0"/>
                          <a:ea typeface="BIZ UDPGothic" pitchFamily="34" charset="-122"/>
                          <a:cs typeface="BIZ UDPGothic" pitchFamily="34" charset="-120"/>
                        </a:rPr>
                        <a:t>主体</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200" dirty="0">
                          <a:solidFill>
                            <a:srgbClr val="243D54"/>
                          </a:solidFill>
                          <a:latin typeface="BIZ UDPGothic" pitchFamily="34" charset="0"/>
                          <a:ea typeface="BIZ UDPGothic" pitchFamily="34" charset="-122"/>
                          <a:cs typeface="BIZ UDPGothic" pitchFamily="34" charset="-120"/>
                        </a:rPr>
                        <a:t>依頼者・委任先・認証された主体</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200" dirty="0">
                          <a:solidFill>
                            <a:srgbClr val="8C5A44"/>
                          </a:solidFill>
                          <a:latin typeface="BIZ UDPGothic" pitchFamily="34" charset="0"/>
                          <a:ea typeface="BIZ UDPGothic" pitchFamily="34" charset="-122"/>
                          <a:cs typeface="BIZ UDPGothic" pitchFamily="34" charset="-120"/>
                        </a:rPr>
                        <a:t>主体不明なら拒否</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243D54"/>
                          </a:solidFill>
                          <a:latin typeface="BIZ UDPGothic" pitchFamily="34" charset="0"/>
                          <a:ea typeface="BIZ UDPGothic" pitchFamily="34" charset="-122"/>
                          <a:cs typeface="BIZ UDPGothic" pitchFamily="34" charset="-120"/>
                        </a:rPr>
                        <a:t>対象</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200" dirty="0">
                          <a:solidFill>
                            <a:srgbClr val="243D54"/>
                          </a:solidFill>
                          <a:latin typeface="BIZ UDPGothic" pitchFamily="34" charset="0"/>
                          <a:ea typeface="BIZ UDPGothic" pitchFamily="34" charset="-122"/>
                          <a:cs typeface="BIZ UDPGothic" pitchFamily="34" charset="-120"/>
                        </a:rPr>
                        <a:t>文書・契約・システム・データの区分</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200" dirty="0">
                          <a:solidFill>
                            <a:srgbClr val="8C5A44"/>
                          </a:solidFill>
                          <a:latin typeface="BIZ UDPGothic" pitchFamily="34" charset="0"/>
                          <a:ea typeface="BIZ UDPGothic" pitchFamily="34" charset="-122"/>
                          <a:cs typeface="BIZ UDPGothic" pitchFamily="34" charset="-120"/>
                        </a:rPr>
                        <a:t>対象外を拒否</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r h="429768">
                <a:tc>
                  <a:txBody>
                    <a:bodyPr/>
                    <a:lstStyle/>
                    <a:p>
                      <a:pPr indent="0" marL="0">
                        <a:buNone/>
                      </a:pPr>
                      <a:r>
                        <a:rPr lang="en-US" sz="1200" b="1" dirty="0">
                          <a:solidFill>
                            <a:srgbClr val="243D54"/>
                          </a:solidFill>
                          <a:latin typeface="BIZ UDPGothic" pitchFamily="34" charset="0"/>
                          <a:ea typeface="BIZ UDPGothic" pitchFamily="34" charset="-122"/>
                          <a:cs typeface="BIZ UDPGothic" pitchFamily="34" charset="-120"/>
                        </a:rPr>
                        <a:t>操作</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200" dirty="0">
                          <a:solidFill>
                            <a:srgbClr val="243D54"/>
                          </a:solidFill>
                          <a:latin typeface="BIZ UDPGothic" pitchFamily="34" charset="0"/>
                          <a:ea typeface="BIZ UDPGothic" pitchFamily="34" charset="-122"/>
                          <a:cs typeface="BIZ UDPGothic" pitchFamily="34" charset="-120"/>
                        </a:rPr>
                        <a:t>読み取り・試験・更新・公開</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200" dirty="0">
                          <a:solidFill>
                            <a:srgbClr val="8C5A44"/>
                          </a:solidFill>
                          <a:latin typeface="BIZ UDPGothic" pitchFamily="34" charset="0"/>
                          <a:ea typeface="BIZ UDPGothic" pitchFamily="34" charset="-122"/>
                          <a:cs typeface="BIZ UDPGothic" pitchFamily="34" charset="-120"/>
                        </a:rPr>
                        <a:t>許可外の操作を拒否</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243D54"/>
                          </a:solidFill>
                          <a:latin typeface="BIZ UDPGothic" pitchFamily="34" charset="0"/>
                          <a:ea typeface="BIZ UDPGothic" pitchFamily="34" charset="-122"/>
                          <a:cs typeface="BIZ UDPGothic" pitchFamily="34" charset="-120"/>
                        </a:rPr>
                        <a:t>限度</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200" dirty="0">
                          <a:solidFill>
                            <a:srgbClr val="243D54"/>
                          </a:solidFill>
                          <a:latin typeface="BIZ UDPGothic" pitchFamily="34" charset="0"/>
                          <a:ea typeface="BIZ UDPGothic" pitchFamily="34" charset="-122"/>
                          <a:cs typeface="BIZ UDPGothic" pitchFamily="34" charset="-120"/>
                        </a:rPr>
                        <a:t>回数・金額・計算資源・期限</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200" dirty="0">
                          <a:solidFill>
                            <a:srgbClr val="8C5A44"/>
                          </a:solidFill>
                          <a:latin typeface="BIZ UDPGothic" pitchFamily="34" charset="0"/>
                          <a:ea typeface="BIZ UDPGothic" pitchFamily="34" charset="-122"/>
                          <a:cs typeface="BIZ UDPGothic" pitchFamily="34" charset="-120"/>
                        </a:rPr>
                        <a:t>超える前に止める</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r h="429768">
                <a:tc>
                  <a:txBody>
                    <a:bodyPr/>
                    <a:lstStyle/>
                    <a:p>
                      <a:pPr indent="0" marL="0">
                        <a:buNone/>
                      </a:pPr>
                      <a:r>
                        <a:rPr lang="en-US" sz="1200" b="1" dirty="0">
                          <a:solidFill>
                            <a:srgbClr val="243D54"/>
                          </a:solidFill>
                          <a:latin typeface="BIZ UDPGothic" pitchFamily="34" charset="0"/>
                          <a:ea typeface="BIZ UDPGothic" pitchFamily="34" charset="-122"/>
                          <a:cs typeface="BIZ UDPGothic" pitchFamily="34" charset="-120"/>
                        </a:rPr>
                        <a:t>例外</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200" dirty="0">
                          <a:solidFill>
                            <a:srgbClr val="243D54"/>
                          </a:solidFill>
                          <a:latin typeface="BIZ UDPGothic" pitchFamily="34" charset="0"/>
                          <a:ea typeface="BIZ UDPGothic" pitchFamily="34" charset="-122"/>
                          <a:cs typeface="BIZ UDPGothic" pitchFamily="34" charset="-120"/>
                        </a:rPr>
                        <a:t>影響の大きい操作・承認者・取消条件</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200" dirty="0">
                          <a:solidFill>
                            <a:srgbClr val="8C5A44"/>
                          </a:solidFill>
                          <a:latin typeface="BIZ UDPGothic" pitchFamily="34" charset="0"/>
                          <a:ea typeface="BIZ UDPGothic" pitchFamily="34" charset="-122"/>
                          <a:cs typeface="BIZ UDPGothic" pitchFamily="34" charset="-120"/>
                        </a:rPr>
                        <a:t>人へ差し戻す</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243D54"/>
                          </a:solidFill>
                          <a:latin typeface="BIZ UDPGothic" pitchFamily="34" charset="0"/>
                          <a:ea typeface="BIZ UDPGothic" pitchFamily="34" charset="-122"/>
                          <a:cs typeface="BIZ UDPGothic" pitchFamily="34" charset="-120"/>
                        </a:rPr>
                        <a:t>監査</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200" dirty="0">
                          <a:solidFill>
                            <a:srgbClr val="243D54"/>
                          </a:solidFill>
                          <a:latin typeface="BIZ UDPGothic" pitchFamily="34" charset="0"/>
                          <a:ea typeface="BIZ UDPGothic" pitchFamily="34" charset="-122"/>
                          <a:cs typeface="BIZ UDPGothic" pitchFamily="34" charset="-120"/>
                        </a:rPr>
                        <a:t>依頼の識別番号・判断・根拠・実行記録</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200" dirty="0">
                          <a:solidFill>
                            <a:srgbClr val="8C5A44"/>
                          </a:solidFill>
                          <a:latin typeface="BIZ UDPGothic" pitchFamily="34" charset="0"/>
                          <a:ea typeface="BIZ UDPGothic" pitchFamily="34" charset="-122"/>
                          <a:cs typeface="BIZ UDPGothic" pitchFamily="34" charset="-120"/>
                        </a:rPr>
                        <a:t>検査できなければ保留</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bl>
          </a:graphicData>
        </a:graphic>
      </p:graphicFrame>
      <p:sp>
        <p:nvSpPr>
          <p:cNvPr id="8" name="Text 5"/>
          <p:cNvSpPr/>
          <p:nvPr/>
        </p:nvSpPr>
        <p:spPr>
          <a:xfrm>
            <a:off x="7589520" y="1600200"/>
            <a:ext cx="4099255" cy="274320"/>
          </a:xfrm>
          <a:prstGeom prst="rect">
            <a:avLst/>
          </a:prstGeom>
          <a:noFill/>
          <a:ln/>
        </p:spPr>
        <p:txBody>
          <a:bodyPr wrap="square" lIns="0" tIns="0" rIns="0" bIns="0" rtlCol="0" anchor="t"/>
          <a:lstStyle/>
          <a:p>
            <a:pPr indent="0" marL="0">
              <a:buNone/>
            </a:pPr>
            <a:r>
              <a:rPr lang="en-US" sz="1200" b="1" dirty="0">
                <a:solidFill>
                  <a:srgbClr val="56636E"/>
                </a:solidFill>
                <a:latin typeface="BIZ UDPGothic" pitchFamily="34" charset="0"/>
                <a:ea typeface="BIZ UDPGothic" pitchFamily="34" charset="-122"/>
                <a:cs typeface="BIZ UDPGothic" pitchFamily="34" charset="-120"/>
              </a:rPr>
              <a:t>情報が通る六つの関門</a:t>
            </a:r>
            <a:endParaRPr lang="en-US" sz="1200" dirty="0"/>
          </a:p>
        </p:txBody>
      </p:sp>
      <p:sp>
        <p:nvSpPr>
          <p:cNvPr id="9" name="Shape 6"/>
          <p:cNvSpPr/>
          <p:nvPr/>
        </p:nvSpPr>
        <p:spPr>
          <a:xfrm>
            <a:off x="7589520" y="1901952"/>
            <a:ext cx="868680" cy="429768"/>
          </a:xfrm>
          <a:prstGeom prst="rect">
            <a:avLst/>
          </a:prstGeom>
          <a:solidFill>
            <a:srgbClr val="243D54"/>
          </a:solidFill>
          <a:ln/>
        </p:spPr>
      </p:sp>
      <p:sp>
        <p:nvSpPr>
          <p:cNvPr id="10" name="Text 7"/>
          <p:cNvSpPr/>
          <p:nvPr/>
        </p:nvSpPr>
        <p:spPr>
          <a:xfrm>
            <a:off x="7589520" y="1901952"/>
            <a:ext cx="868680" cy="429768"/>
          </a:xfrm>
          <a:prstGeom prst="rect">
            <a:avLst/>
          </a:prstGeom>
          <a:noFill/>
          <a:ln/>
        </p:spPr>
        <p:txBody>
          <a:bodyPr wrap="square" lIns="0" tIns="0" rIns="0" bIns="0" rtlCol="0" anchor="ctr"/>
          <a:lstStyle/>
          <a:p>
            <a:pPr algn="ctr" indent="0" marL="0">
              <a:buNone/>
            </a:pPr>
            <a:r>
              <a:rPr lang="en-US" sz="1250" b="1" dirty="0">
                <a:solidFill>
                  <a:srgbClr val="F5F1E8"/>
                </a:solidFill>
                <a:latin typeface="BIZ UDPGothic" pitchFamily="34" charset="0"/>
                <a:ea typeface="BIZ UDPGothic" pitchFamily="34" charset="-122"/>
                <a:cs typeface="BIZ UDPGothic" pitchFamily="34" charset="-120"/>
              </a:rPr>
              <a:t>取得</a:t>
            </a:r>
            <a:endParaRPr lang="en-US" sz="1250" dirty="0"/>
          </a:p>
        </p:txBody>
      </p:sp>
      <p:sp>
        <p:nvSpPr>
          <p:cNvPr id="11" name="Shape 8"/>
          <p:cNvSpPr/>
          <p:nvPr/>
        </p:nvSpPr>
        <p:spPr>
          <a:xfrm>
            <a:off x="8458200" y="1901952"/>
            <a:ext cx="3230575" cy="429768"/>
          </a:xfrm>
          <a:prstGeom prst="rect">
            <a:avLst/>
          </a:prstGeom>
          <a:solidFill>
            <a:srgbClr val="FFFFFF"/>
          </a:solidFill>
          <a:ln w="9525">
            <a:solidFill>
              <a:srgbClr val="DCD5C6"/>
            </a:solidFill>
            <a:prstDash val="solid"/>
          </a:ln>
        </p:spPr>
      </p:sp>
      <p:sp>
        <p:nvSpPr>
          <p:cNvPr id="12" name="Text 9"/>
          <p:cNvSpPr/>
          <p:nvPr/>
        </p:nvSpPr>
        <p:spPr>
          <a:xfrm>
            <a:off x="8595360" y="1901952"/>
            <a:ext cx="3001975" cy="429768"/>
          </a:xfrm>
          <a:prstGeom prst="rect">
            <a:avLst/>
          </a:prstGeom>
          <a:noFill/>
          <a:ln/>
        </p:spPr>
        <p:txBody>
          <a:bodyPr wrap="square" lIns="0" tIns="0" rIns="0" bIns="0" rtlCol="0" anchor="ct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データの区分・目的・閲覧範囲</a:t>
            </a:r>
            <a:endParaRPr lang="en-US" sz="1150" dirty="0"/>
          </a:p>
        </p:txBody>
      </p:sp>
      <p:sp>
        <p:nvSpPr>
          <p:cNvPr id="13" name="Shape 10"/>
          <p:cNvSpPr/>
          <p:nvPr/>
        </p:nvSpPr>
        <p:spPr>
          <a:xfrm>
            <a:off x="7589520" y="2409444"/>
            <a:ext cx="868680" cy="429768"/>
          </a:xfrm>
          <a:prstGeom prst="rect">
            <a:avLst/>
          </a:prstGeom>
          <a:solidFill>
            <a:srgbClr val="243D54"/>
          </a:solidFill>
          <a:ln/>
        </p:spPr>
      </p:sp>
      <p:sp>
        <p:nvSpPr>
          <p:cNvPr id="14" name="Text 11"/>
          <p:cNvSpPr/>
          <p:nvPr/>
        </p:nvSpPr>
        <p:spPr>
          <a:xfrm>
            <a:off x="7589520" y="2409444"/>
            <a:ext cx="868680" cy="429768"/>
          </a:xfrm>
          <a:prstGeom prst="rect">
            <a:avLst/>
          </a:prstGeom>
          <a:noFill/>
          <a:ln/>
        </p:spPr>
        <p:txBody>
          <a:bodyPr wrap="square" lIns="0" tIns="0" rIns="0" bIns="0" rtlCol="0" anchor="ctr"/>
          <a:lstStyle/>
          <a:p>
            <a:pPr algn="ctr" indent="0" marL="0">
              <a:buNone/>
            </a:pPr>
            <a:r>
              <a:rPr lang="en-US" sz="1250" b="1" dirty="0">
                <a:solidFill>
                  <a:srgbClr val="F5F1E8"/>
                </a:solidFill>
                <a:latin typeface="BIZ UDPGothic" pitchFamily="34" charset="0"/>
                <a:ea typeface="BIZ UDPGothic" pitchFamily="34" charset="-122"/>
                <a:cs typeface="BIZ UDPGothic" pitchFamily="34" charset="-120"/>
              </a:rPr>
              <a:t>利用</a:t>
            </a:r>
            <a:endParaRPr lang="en-US" sz="1250" dirty="0"/>
          </a:p>
        </p:txBody>
      </p:sp>
      <p:sp>
        <p:nvSpPr>
          <p:cNvPr id="15" name="Shape 12"/>
          <p:cNvSpPr/>
          <p:nvPr/>
        </p:nvSpPr>
        <p:spPr>
          <a:xfrm>
            <a:off x="8458200" y="2409444"/>
            <a:ext cx="3230575" cy="429768"/>
          </a:xfrm>
          <a:prstGeom prst="rect">
            <a:avLst/>
          </a:prstGeom>
          <a:solidFill>
            <a:srgbClr val="FFFFFF"/>
          </a:solidFill>
          <a:ln w="9525">
            <a:solidFill>
              <a:srgbClr val="DCD5C6"/>
            </a:solidFill>
            <a:prstDash val="solid"/>
          </a:ln>
        </p:spPr>
      </p:sp>
      <p:sp>
        <p:nvSpPr>
          <p:cNvPr id="16" name="Text 13"/>
          <p:cNvSpPr/>
          <p:nvPr/>
        </p:nvSpPr>
        <p:spPr>
          <a:xfrm>
            <a:off x="8595360" y="2409444"/>
            <a:ext cx="3001975" cy="429768"/>
          </a:xfrm>
          <a:prstGeom prst="rect">
            <a:avLst/>
          </a:prstGeom>
          <a:noFill/>
          <a:ln/>
        </p:spPr>
        <p:txBody>
          <a:bodyPr wrap="square" lIns="0" tIns="0" rIns="0" bIns="0" rtlCol="0" anchor="ct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利用者・エージェント・サービスの権限</a:t>
            </a:r>
            <a:endParaRPr lang="en-US" sz="1150" dirty="0"/>
          </a:p>
        </p:txBody>
      </p:sp>
      <p:sp>
        <p:nvSpPr>
          <p:cNvPr id="17" name="Shape 14"/>
          <p:cNvSpPr/>
          <p:nvPr/>
        </p:nvSpPr>
        <p:spPr>
          <a:xfrm>
            <a:off x="7589520" y="2916936"/>
            <a:ext cx="868680" cy="429768"/>
          </a:xfrm>
          <a:prstGeom prst="rect">
            <a:avLst/>
          </a:prstGeom>
          <a:solidFill>
            <a:srgbClr val="243D54"/>
          </a:solidFill>
          <a:ln/>
        </p:spPr>
      </p:sp>
      <p:sp>
        <p:nvSpPr>
          <p:cNvPr id="18" name="Text 15"/>
          <p:cNvSpPr/>
          <p:nvPr/>
        </p:nvSpPr>
        <p:spPr>
          <a:xfrm>
            <a:off x="7589520" y="2916936"/>
            <a:ext cx="868680" cy="429768"/>
          </a:xfrm>
          <a:prstGeom prst="rect">
            <a:avLst/>
          </a:prstGeom>
          <a:noFill/>
          <a:ln/>
        </p:spPr>
        <p:txBody>
          <a:bodyPr wrap="square" lIns="0" tIns="0" rIns="0" bIns="0" rtlCol="0" anchor="ctr"/>
          <a:lstStyle/>
          <a:p>
            <a:pPr algn="ctr" indent="0" marL="0">
              <a:buNone/>
            </a:pPr>
            <a:r>
              <a:rPr lang="en-US" sz="1250" b="1" dirty="0">
                <a:solidFill>
                  <a:srgbClr val="F5F1E8"/>
                </a:solidFill>
                <a:latin typeface="BIZ UDPGothic" pitchFamily="34" charset="0"/>
                <a:ea typeface="BIZ UDPGothic" pitchFamily="34" charset="-122"/>
                <a:cs typeface="BIZ UDPGothic" pitchFamily="34" charset="-120"/>
              </a:rPr>
              <a:t>推論</a:t>
            </a:r>
            <a:endParaRPr lang="en-US" sz="1250" dirty="0"/>
          </a:p>
        </p:txBody>
      </p:sp>
      <p:sp>
        <p:nvSpPr>
          <p:cNvPr id="19" name="Shape 16"/>
          <p:cNvSpPr/>
          <p:nvPr/>
        </p:nvSpPr>
        <p:spPr>
          <a:xfrm>
            <a:off x="8458200" y="2916936"/>
            <a:ext cx="3230575" cy="429768"/>
          </a:xfrm>
          <a:prstGeom prst="rect">
            <a:avLst/>
          </a:prstGeom>
          <a:solidFill>
            <a:srgbClr val="FFFFFF"/>
          </a:solidFill>
          <a:ln w="9525">
            <a:solidFill>
              <a:srgbClr val="DCD5C6"/>
            </a:solidFill>
            <a:prstDash val="solid"/>
          </a:ln>
        </p:spPr>
      </p:sp>
      <p:sp>
        <p:nvSpPr>
          <p:cNvPr id="20" name="Text 17"/>
          <p:cNvSpPr/>
          <p:nvPr/>
        </p:nvSpPr>
        <p:spPr>
          <a:xfrm>
            <a:off x="8595360" y="2916936"/>
            <a:ext cx="3001975" cy="429768"/>
          </a:xfrm>
          <a:prstGeom prst="rect">
            <a:avLst/>
          </a:prstGeom>
          <a:noFill/>
          <a:ln/>
        </p:spPr>
        <p:txBody>
          <a:bodyPr wrap="square" lIns="0" tIns="0" rIns="0" bIns="0" rtlCol="0" anchor="ct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外部モデルへ送ってよいか、保存条件</a:t>
            </a:r>
            <a:endParaRPr lang="en-US" sz="1150" dirty="0"/>
          </a:p>
        </p:txBody>
      </p:sp>
      <p:sp>
        <p:nvSpPr>
          <p:cNvPr id="21" name="Shape 18"/>
          <p:cNvSpPr/>
          <p:nvPr/>
        </p:nvSpPr>
        <p:spPr>
          <a:xfrm>
            <a:off x="7589520" y="3424428"/>
            <a:ext cx="868680" cy="429768"/>
          </a:xfrm>
          <a:prstGeom prst="rect">
            <a:avLst/>
          </a:prstGeom>
          <a:solidFill>
            <a:srgbClr val="243D54"/>
          </a:solidFill>
          <a:ln/>
        </p:spPr>
      </p:sp>
      <p:sp>
        <p:nvSpPr>
          <p:cNvPr id="22" name="Text 19"/>
          <p:cNvSpPr/>
          <p:nvPr/>
        </p:nvSpPr>
        <p:spPr>
          <a:xfrm>
            <a:off x="7589520" y="3424428"/>
            <a:ext cx="868680" cy="429768"/>
          </a:xfrm>
          <a:prstGeom prst="rect">
            <a:avLst/>
          </a:prstGeom>
          <a:noFill/>
          <a:ln/>
        </p:spPr>
        <p:txBody>
          <a:bodyPr wrap="square" lIns="0" tIns="0" rIns="0" bIns="0" rtlCol="0" anchor="ctr"/>
          <a:lstStyle/>
          <a:p>
            <a:pPr algn="ctr" indent="0" marL="0">
              <a:buNone/>
            </a:pPr>
            <a:r>
              <a:rPr lang="en-US" sz="1250" b="1" dirty="0">
                <a:solidFill>
                  <a:srgbClr val="F5F1E8"/>
                </a:solidFill>
                <a:latin typeface="BIZ UDPGothic" pitchFamily="34" charset="0"/>
                <a:ea typeface="BIZ UDPGothic" pitchFamily="34" charset="-122"/>
                <a:cs typeface="BIZ UDPGothic" pitchFamily="34" charset="-120"/>
              </a:rPr>
              <a:t>出力</a:t>
            </a:r>
            <a:endParaRPr lang="en-US" sz="1250" dirty="0"/>
          </a:p>
        </p:txBody>
      </p:sp>
      <p:sp>
        <p:nvSpPr>
          <p:cNvPr id="23" name="Shape 20"/>
          <p:cNvSpPr/>
          <p:nvPr/>
        </p:nvSpPr>
        <p:spPr>
          <a:xfrm>
            <a:off x="8458200" y="3424428"/>
            <a:ext cx="3230575" cy="429768"/>
          </a:xfrm>
          <a:prstGeom prst="rect">
            <a:avLst/>
          </a:prstGeom>
          <a:solidFill>
            <a:srgbClr val="FFFFFF"/>
          </a:solidFill>
          <a:ln w="9525">
            <a:solidFill>
              <a:srgbClr val="DCD5C6"/>
            </a:solidFill>
            <a:prstDash val="solid"/>
          </a:ln>
        </p:spPr>
      </p:sp>
      <p:sp>
        <p:nvSpPr>
          <p:cNvPr id="24" name="Text 21"/>
          <p:cNvSpPr/>
          <p:nvPr/>
        </p:nvSpPr>
        <p:spPr>
          <a:xfrm>
            <a:off x="8595360" y="3424428"/>
            <a:ext cx="3001975" cy="429768"/>
          </a:xfrm>
          <a:prstGeom prst="rect">
            <a:avLst/>
          </a:prstGeom>
          <a:noFill/>
          <a:ln/>
        </p:spPr>
        <p:txBody>
          <a:bodyPr wrap="square" lIns="0" tIns="0" rIns="0" bIns="0" rtlCol="0" anchor="ct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引用・秘密・個人情報の混入</a:t>
            </a:r>
            <a:endParaRPr lang="en-US" sz="1150" dirty="0"/>
          </a:p>
        </p:txBody>
      </p:sp>
      <p:sp>
        <p:nvSpPr>
          <p:cNvPr id="25" name="Shape 22"/>
          <p:cNvSpPr/>
          <p:nvPr/>
        </p:nvSpPr>
        <p:spPr>
          <a:xfrm>
            <a:off x="7589520" y="3931920"/>
            <a:ext cx="868680" cy="429768"/>
          </a:xfrm>
          <a:prstGeom prst="rect">
            <a:avLst/>
          </a:prstGeom>
          <a:solidFill>
            <a:srgbClr val="243D54"/>
          </a:solidFill>
          <a:ln/>
        </p:spPr>
      </p:sp>
      <p:sp>
        <p:nvSpPr>
          <p:cNvPr id="26" name="Text 23"/>
          <p:cNvSpPr/>
          <p:nvPr/>
        </p:nvSpPr>
        <p:spPr>
          <a:xfrm>
            <a:off x="7589520" y="3931920"/>
            <a:ext cx="868680" cy="429768"/>
          </a:xfrm>
          <a:prstGeom prst="rect">
            <a:avLst/>
          </a:prstGeom>
          <a:noFill/>
          <a:ln/>
        </p:spPr>
        <p:txBody>
          <a:bodyPr wrap="square" lIns="0" tIns="0" rIns="0" bIns="0" rtlCol="0" anchor="ctr"/>
          <a:lstStyle/>
          <a:p>
            <a:pPr algn="ctr" indent="0" marL="0">
              <a:buNone/>
            </a:pPr>
            <a:r>
              <a:rPr lang="en-US" sz="1250" b="1" dirty="0">
                <a:solidFill>
                  <a:srgbClr val="F5F1E8"/>
                </a:solidFill>
                <a:latin typeface="BIZ UDPGothic" pitchFamily="34" charset="0"/>
                <a:ea typeface="BIZ UDPGothic" pitchFamily="34" charset="-122"/>
                <a:cs typeface="BIZ UDPGothic" pitchFamily="34" charset="-120"/>
              </a:rPr>
              <a:t>公開</a:t>
            </a:r>
            <a:endParaRPr lang="en-US" sz="1250" dirty="0"/>
          </a:p>
        </p:txBody>
      </p:sp>
      <p:sp>
        <p:nvSpPr>
          <p:cNvPr id="27" name="Shape 24"/>
          <p:cNvSpPr/>
          <p:nvPr/>
        </p:nvSpPr>
        <p:spPr>
          <a:xfrm>
            <a:off x="8458200" y="3931920"/>
            <a:ext cx="3230575" cy="429768"/>
          </a:xfrm>
          <a:prstGeom prst="rect">
            <a:avLst/>
          </a:prstGeom>
          <a:solidFill>
            <a:srgbClr val="FFFFFF"/>
          </a:solidFill>
          <a:ln w="9525">
            <a:solidFill>
              <a:srgbClr val="DCD5C6"/>
            </a:solidFill>
            <a:prstDash val="solid"/>
          </a:ln>
        </p:spPr>
      </p:sp>
      <p:sp>
        <p:nvSpPr>
          <p:cNvPr id="28" name="Text 25"/>
          <p:cNvSpPr/>
          <p:nvPr/>
        </p:nvSpPr>
        <p:spPr>
          <a:xfrm>
            <a:off x="8595360" y="3931920"/>
            <a:ext cx="3001975" cy="429768"/>
          </a:xfrm>
          <a:prstGeom prst="rect">
            <a:avLst/>
          </a:prstGeom>
          <a:noFill/>
          <a:ln/>
        </p:spPr>
        <p:txBody>
          <a:bodyPr wrap="square" lIns="0" tIns="0" rIns="0" bIns="0" rtlCol="0" anchor="ct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人による意味の確認と公開の承認</a:t>
            </a:r>
            <a:endParaRPr lang="en-US" sz="1150" dirty="0"/>
          </a:p>
        </p:txBody>
      </p:sp>
      <p:sp>
        <p:nvSpPr>
          <p:cNvPr id="29" name="Shape 26"/>
          <p:cNvSpPr/>
          <p:nvPr/>
        </p:nvSpPr>
        <p:spPr>
          <a:xfrm>
            <a:off x="7589520" y="4439412"/>
            <a:ext cx="868680" cy="429768"/>
          </a:xfrm>
          <a:prstGeom prst="rect">
            <a:avLst/>
          </a:prstGeom>
          <a:solidFill>
            <a:srgbClr val="243D54"/>
          </a:solidFill>
          <a:ln/>
        </p:spPr>
      </p:sp>
      <p:sp>
        <p:nvSpPr>
          <p:cNvPr id="30" name="Text 27"/>
          <p:cNvSpPr/>
          <p:nvPr/>
        </p:nvSpPr>
        <p:spPr>
          <a:xfrm>
            <a:off x="7589520" y="4439412"/>
            <a:ext cx="868680" cy="429768"/>
          </a:xfrm>
          <a:prstGeom prst="rect">
            <a:avLst/>
          </a:prstGeom>
          <a:noFill/>
          <a:ln/>
        </p:spPr>
        <p:txBody>
          <a:bodyPr wrap="square" lIns="0" tIns="0" rIns="0" bIns="0" rtlCol="0" anchor="ctr"/>
          <a:lstStyle/>
          <a:p>
            <a:pPr algn="ctr" indent="0" marL="0">
              <a:buNone/>
            </a:pPr>
            <a:r>
              <a:rPr lang="en-US" sz="1250" b="1" dirty="0">
                <a:solidFill>
                  <a:srgbClr val="F5F1E8"/>
                </a:solidFill>
                <a:latin typeface="BIZ UDPGothic" pitchFamily="34" charset="0"/>
                <a:ea typeface="BIZ UDPGothic" pitchFamily="34" charset="-122"/>
                <a:cs typeface="BIZ UDPGothic" pitchFamily="34" charset="-120"/>
              </a:rPr>
              <a:t>保存</a:t>
            </a:r>
            <a:endParaRPr lang="en-US" sz="1250" dirty="0"/>
          </a:p>
        </p:txBody>
      </p:sp>
      <p:sp>
        <p:nvSpPr>
          <p:cNvPr id="31" name="Shape 28"/>
          <p:cNvSpPr/>
          <p:nvPr/>
        </p:nvSpPr>
        <p:spPr>
          <a:xfrm>
            <a:off x="8458200" y="4439412"/>
            <a:ext cx="3230575" cy="429768"/>
          </a:xfrm>
          <a:prstGeom prst="rect">
            <a:avLst/>
          </a:prstGeom>
          <a:solidFill>
            <a:srgbClr val="FFFFFF"/>
          </a:solidFill>
          <a:ln w="9525">
            <a:solidFill>
              <a:srgbClr val="DCD5C6"/>
            </a:solidFill>
            <a:prstDash val="solid"/>
          </a:ln>
        </p:spPr>
      </p:sp>
      <p:sp>
        <p:nvSpPr>
          <p:cNvPr id="32" name="Text 29"/>
          <p:cNvSpPr/>
          <p:nvPr/>
        </p:nvSpPr>
        <p:spPr>
          <a:xfrm>
            <a:off x="8595360" y="4439412"/>
            <a:ext cx="3001975" cy="429768"/>
          </a:xfrm>
          <a:prstGeom prst="rect">
            <a:avLst/>
          </a:prstGeom>
          <a:noFill/>
          <a:ln/>
        </p:spPr>
        <p:txBody>
          <a:bodyPr wrap="square" lIns="0" tIns="0" rIns="0" bIns="0" rtlCol="0" anchor="ct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削除・保持・監査・引継ぎの条件</a:t>
            </a:r>
            <a:endParaRPr lang="en-US" sz="1150" dirty="0"/>
          </a:p>
        </p:txBody>
      </p:sp>
      <p:sp>
        <p:nvSpPr>
          <p:cNvPr id="33" name="Shape 30"/>
          <p:cNvSpPr/>
          <p:nvPr/>
        </p:nvSpPr>
        <p:spPr>
          <a:xfrm>
            <a:off x="502920" y="5120640"/>
            <a:ext cx="11185855" cy="1097280"/>
          </a:xfrm>
          <a:prstGeom prst="rect">
            <a:avLst/>
          </a:prstGeom>
          <a:solidFill>
            <a:srgbClr val="ECE6D9"/>
          </a:solidFill>
          <a:ln/>
        </p:spPr>
      </p:sp>
      <p:sp>
        <p:nvSpPr>
          <p:cNvPr id="34" name="Text 31"/>
          <p:cNvSpPr/>
          <p:nvPr/>
        </p:nvSpPr>
        <p:spPr>
          <a:xfrm>
            <a:off x="731520" y="5212080"/>
            <a:ext cx="2743200" cy="256032"/>
          </a:xfrm>
          <a:prstGeom prst="rect">
            <a:avLst/>
          </a:prstGeom>
          <a:noFill/>
          <a:ln/>
        </p:spPr>
        <p:txBody>
          <a:bodyPr wrap="square" lIns="0" tIns="0" rIns="0" bIns="0" rtlCol="0" anchor="t"/>
          <a:lstStyle/>
          <a:p>
            <a:pPr indent="0" marL="0">
              <a:buNone/>
            </a:pPr>
            <a:r>
              <a:rPr lang="en-US" sz="1100" b="1" dirty="0">
                <a:solidFill>
                  <a:srgbClr val="56636E"/>
                </a:solidFill>
                <a:latin typeface="BIZ UDPGothic" pitchFamily="34" charset="0"/>
                <a:ea typeface="BIZ UDPGothic" pitchFamily="34" charset="-122"/>
                <a:cs typeface="BIZ UDPGothic" pitchFamily="34" charset="-120"/>
              </a:rPr>
              <a:t>参照する枠組み</a:t>
            </a:r>
            <a:endParaRPr lang="en-US" sz="1100" dirty="0"/>
          </a:p>
        </p:txBody>
      </p:sp>
      <p:sp>
        <p:nvSpPr>
          <p:cNvPr id="35" name="Text 32"/>
          <p:cNvSpPr/>
          <p:nvPr/>
        </p:nvSpPr>
        <p:spPr>
          <a:xfrm>
            <a:off x="731520" y="5468112"/>
            <a:ext cx="2036003" cy="365760"/>
          </a:xfrm>
          <a:prstGeom prst="rect">
            <a:avLst/>
          </a:prstGeom>
          <a:noFill/>
          <a:ln/>
        </p:spPr>
        <p:txBody>
          <a:bodyPr wrap="square" lIns="0" tIns="0" rIns="0" bIns="0" rtlCol="0" anchor="ctr"/>
          <a:lstStyle/>
          <a:p>
            <a:pPr indent="0" marL="0">
              <a:buNone/>
            </a:pPr>
            <a:r>
              <a:rPr lang="en-US" sz="1050" b="1" dirty="0">
                <a:solidFill>
                  <a:srgbClr val="243D54"/>
                </a:solidFill>
                <a:latin typeface="BIZ UDPGothic" pitchFamily="34" charset="0"/>
                <a:ea typeface="BIZ UDPGothic" pitchFamily="34" charset="-122"/>
                <a:cs typeface="BIZ UDPGothic" pitchFamily="34" charset="-120"/>
              </a:rPr>
              <a:t>米国標準技術研究所の</a:t>
            </a:r>
            <a:endParaRPr lang="en-US" sz="1050" dirty="0"/>
          </a:p>
          <a:p>
            <a:pPr indent="0" marL="0">
              <a:buNone/>
            </a:pPr>
            <a:r>
              <a:rPr lang="en-US" sz="1050" b="1" dirty="0">
                <a:solidFill>
                  <a:srgbClr val="243D54"/>
                </a:solidFill>
                <a:latin typeface="BIZ UDPGothic" pitchFamily="34" charset="0"/>
                <a:ea typeface="BIZ UDPGothic" pitchFamily="34" charset="-122"/>
                <a:cs typeface="BIZ UDPGothic" pitchFamily="34" charset="-120"/>
              </a:rPr>
              <a:t>リスク管理枠組み</a:t>
            </a:r>
            <a:endParaRPr lang="en-US" sz="1050" dirty="0"/>
          </a:p>
        </p:txBody>
      </p:sp>
      <p:sp>
        <p:nvSpPr>
          <p:cNvPr id="36" name="Text 33"/>
          <p:cNvSpPr/>
          <p:nvPr/>
        </p:nvSpPr>
        <p:spPr>
          <a:xfrm>
            <a:off x="731520" y="5852160"/>
            <a:ext cx="2036003" cy="320040"/>
          </a:xfrm>
          <a:prstGeom prst="rect">
            <a:avLst/>
          </a:prstGeom>
          <a:noFill/>
          <a:ln/>
        </p:spPr>
        <p:txBody>
          <a:bodyPr wrap="square" lIns="0" tIns="0" rIns="0" bIns="0" rtlCol="0" anchor="t"/>
          <a:lstStyle/>
          <a:p>
            <a:pPr indent="0" marL="0">
              <a:buNone/>
            </a:pPr>
            <a:r>
              <a:rPr lang="en-US" sz="950" dirty="0">
                <a:solidFill>
                  <a:srgbClr val="56636E"/>
                </a:solidFill>
                <a:latin typeface="BIZ UDPGothic" pitchFamily="34" charset="0"/>
                <a:ea typeface="BIZ UDPGothic" pitchFamily="34" charset="-122"/>
                <a:cs typeface="BIZ UDPGothic" pitchFamily="34" charset="-120"/>
              </a:rPr>
              <a:t>責任・対象・計測・是正の循環</a:t>
            </a:r>
            <a:endParaRPr lang="en-US" sz="950" dirty="0"/>
          </a:p>
        </p:txBody>
      </p:sp>
      <p:sp>
        <p:nvSpPr>
          <p:cNvPr id="37" name="Text 34"/>
          <p:cNvSpPr/>
          <p:nvPr/>
        </p:nvSpPr>
        <p:spPr>
          <a:xfrm>
            <a:off x="2904683" y="5468112"/>
            <a:ext cx="2036003" cy="365760"/>
          </a:xfrm>
          <a:prstGeom prst="rect">
            <a:avLst/>
          </a:prstGeom>
          <a:noFill/>
          <a:ln/>
        </p:spPr>
        <p:txBody>
          <a:bodyPr wrap="square" lIns="0" tIns="0" rIns="0" bIns="0" rtlCol="0" anchor="ctr"/>
          <a:lstStyle/>
          <a:p>
            <a:pPr indent="0" marL="0">
              <a:buNone/>
            </a:pPr>
            <a:r>
              <a:rPr lang="en-US" sz="1050" b="1" dirty="0">
                <a:solidFill>
                  <a:srgbClr val="243D54"/>
                </a:solidFill>
                <a:latin typeface="BIZ UDPGothic" pitchFamily="34" charset="0"/>
                <a:ea typeface="BIZ UDPGothic" pitchFamily="34" charset="-122"/>
                <a:cs typeface="BIZ UDPGothic" pitchFamily="34" charset="-120"/>
              </a:rPr>
              <a:t>同 生成AI向けの指針</a:t>
            </a:r>
            <a:endParaRPr lang="en-US" sz="1050" dirty="0"/>
          </a:p>
        </p:txBody>
      </p:sp>
      <p:sp>
        <p:nvSpPr>
          <p:cNvPr id="38" name="Text 35"/>
          <p:cNvSpPr/>
          <p:nvPr/>
        </p:nvSpPr>
        <p:spPr>
          <a:xfrm>
            <a:off x="2904683" y="5852160"/>
            <a:ext cx="2036003" cy="320040"/>
          </a:xfrm>
          <a:prstGeom prst="rect">
            <a:avLst/>
          </a:prstGeom>
          <a:noFill/>
          <a:ln/>
        </p:spPr>
        <p:txBody>
          <a:bodyPr wrap="square" lIns="0" tIns="0" rIns="0" bIns="0" rtlCol="0" anchor="t"/>
          <a:lstStyle/>
          <a:p>
            <a:pPr indent="0" marL="0">
              <a:buNone/>
            </a:pPr>
            <a:r>
              <a:rPr lang="en-US" sz="950" dirty="0">
                <a:solidFill>
                  <a:srgbClr val="56636E"/>
                </a:solidFill>
                <a:latin typeface="BIZ UDPGothic" pitchFamily="34" charset="0"/>
                <a:ea typeface="BIZ UDPGothic" pitchFamily="34" charset="-122"/>
                <a:cs typeface="BIZ UDPGothic" pitchFamily="34" charset="-120"/>
              </a:rPr>
              <a:t>生成AIの出力を無条件に採用しない</a:t>
            </a:r>
            <a:endParaRPr lang="en-US" sz="950" dirty="0"/>
          </a:p>
        </p:txBody>
      </p:sp>
      <p:sp>
        <p:nvSpPr>
          <p:cNvPr id="39" name="Text 36"/>
          <p:cNvSpPr/>
          <p:nvPr/>
        </p:nvSpPr>
        <p:spPr>
          <a:xfrm>
            <a:off x="5077846" y="5468112"/>
            <a:ext cx="2036003" cy="365760"/>
          </a:xfrm>
          <a:prstGeom prst="rect">
            <a:avLst/>
          </a:prstGeom>
          <a:noFill/>
          <a:ln/>
        </p:spPr>
        <p:txBody>
          <a:bodyPr wrap="square" lIns="0" tIns="0" rIns="0" bIns="0" rtlCol="0" anchor="ctr"/>
          <a:lstStyle/>
          <a:p>
            <a:pPr indent="0" marL="0">
              <a:buNone/>
            </a:pPr>
            <a:r>
              <a:rPr lang="en-US" sz="1050" b="1" dirty="0">
                <a:solidFill>
                  <a:srgbClr val="243D54"/>
                </a:solidFill>
                <a:latin typeface="BIZ UDPGothic" pitchFamily="34" charset="0"/>
                <a:ea typeface="BIZ UDPGothic" pitchFamily="34" charset="-122"/>
                <a:cs typeface="BIZ UDPGothic" pitchFamily="34" charset="-120"/>
              </a:rPr>
              <a:t>国際規格ISO/IEC 42001</a:t>
            </a:r>
            <a:endParaRPr lang="en-US" sz="1050" dirty="0"/>
          </a:p>
        </p:txBody>
      </p:sp>
      <p:sp>
        <p:nvSpPr>
          <p:cNvPr id="40" name="Text 37"/>
          <p:cNvSpPr/>
          <p:nvPr/>
        </p:nvSpPr>
        <p:spPr>
          <a:xfrm>
            <a:off x="5077846" y="5852160"/>
            <a:ext cx="2036003" cy="320040"/>
          </a:xfrm>
          <a:prstGeom prst="rect">
            <a:avLst/>
          </a:prstGeom>
          <a:noFill/>
          <a:ln/>
        </p:spPr>
        <p:txBody>
          <a:bodyPr wrap="square" lIns="0" tIns="0" rIns="0" bIns="0" rtlCol="0" anchor="t"/>
          <a:lstStyle/>
          <a:p>
            <a:pPr indent="0" marL="0">
              <a:buNone/>
            </a:pPr>
            <a:r>
              <a:rPr lang="en-US" sz="950" dirty="0">
                <a:solidFill>
                  <a:srgbClr val="56636E"/>
                </a:solidFill>
                <a:latin typeface="BIZ UDPGothic" pitchFamily="34" charset="0"/>
                <a:ea typeface="BIZ UDPGothic" pitchFamily="34" charset="-122"/>
                <a:cs typeface="BIZ UDPGothic" pitchFamily="34" charset="-120"/>
              </a:rPr>
              <a:t>方針・役割・継続的な改善</a:t>
            </a:r>
            <a:endParaRPr lang="en-US" sz="950" dirty="0"/>
          </a:p>
        </p:txBody>
      </p:sp>
      <p:sp>
        <p:nvSpPr>
          <p:cNvPr id="41" name="Text 38"/>
          <p:cNvSpPr/>
          <p:nvPr/>
        </p:nvSpPr>
        <p:spPr>
          <a:xfrm>
            <a:off x="7251009" y="5468112"/>
            <a:ext cx="2036003" cy="365760"/>
          </a:xfrm>
          <a:prstGeom prst="rect">
            <a:avLst/>
          </a:prstGeom>
          <a:noFill/>
          <a:ln/>
        </p:spPr>
        <p:txBody>
          <a:bodyPr wrap="square" lIns="0" tIns="0" rIns="0" bIns="0" rtlCol="0" anchor="ctr"/>
          <a:lstStyle/>
          <a:p>
            <a:pPr indent="0" marL="0">
              <a:buNone/>
            </a:pPr>
            <a:r>
              <a:rPr lang="en-US" sz="1050" b="1" dirty="0">
                <a:solidFill>
                  <a:srgbClr val="243D54"/>
                </a:solidFill>
                <a:latin typeface="BIZ UDPGothic" pitchFamily="34" charset="0"/>
                <a:ea typeface="BIZ UDPGothic" pitchFamily="34" charset="-122"/>
                <a:cs typeface="BIZ UDPGothic" pitchFamily="34" charset="-120"/>
              </a:rPr>
              <a:t>経済協力開発機構のAI原則</a:t>
            </a:r>
            <a:endParaRPr lang="en-US" sz="1050" dirty="0"/>
          </a:p>
        </p:txBody>
      </p:sp>
      <p:sp>
        <p:nvSpPr>
          <p:cNvPr id="42" name="Text 39"/>
          <p:cNvSpPr/>
          <p:nvPr/>
        </p:nvSpPr>
        <p:spPr>
          <a:xfrm>
            <a:off x="7251009" y="5852160"/>
            <a:ext cx="2036003" cy="320040"/>
          </a:xfrm>
          <a:prstGeom prst="rect">
            <a:avLst/>
          </a:prstGeom>
          <a:noFill/>
          <a:ln/>
        </p:spPr>
        <p:txBody>
          <a:bodyPr wrap="square" lIns="0" tIns="0" rIns="0" bIns="0" rtlCol="0" anchor="t"/>
          <a:lstStyle/>
          <a:p>
            <a:pPr indent="0" marL="0">
              <a:buNone/>
            </a:pPr>
            <a:r>
              <a:rPr lang="en-US" sz="950" dirty="0">
                <a:solidFill>
                  <a:srgbClr val="56636E"/>
                </a:solidFill>
                <a:latin typeface="BIZ UDPGothic" pitchFamily="34" charset="0"/>
                <a:ea typeface="BIZ UDPGothic" pitchFamily="34" charset="-122"/>
                <a:cs typeface="BIZ UDPGothic" pitchFamily="34" charset="-120"/>
              </a:rPr>
              <a:t>人の監督・追跡・異議と停止</a:t>
            </a:r>
            <a:endParaRPr lang="en-US" sz="950" dirty="0"/>
          </a:p>
        </p:txBody>
      </p:sp>
      <p:sp>
        <p:nvSpPr>
          <p:cNvPr id="43" name="Text 40"/>
          <p:cNvSpPr/>
          <p:nvPr/>
        </p:nvSpPr>
        <p:spPr>
          <a:xfrm>
            <a:off x="9424172" y="5468112"/>
            <a:ext cx="2036003" cy="365760"/>
          </a:xfrm>
          <a:prstGeom prst="rect">
            <a:avLst/>
          </a:prstGeom>
          <a:noFill/>
          <a:ln/>
        </p:spPr>
        <p:txBody>
          <a:bodyPr wrap="square" lIns="0" tIns="0" rIns="0" bIns="0" rtlCol="0" anchor="ctr"/>
          <a:lstStyle/>
          <a:p>
            <a:pPr indent="0" marL="0">
              <a:buNone/>
            </a:pPr>
            <a:r>
              <a:rPr lang="en-US" sz="1050" b="1" dirty="0">
                <a:solidFill>
                  <a:srgbClr val="243D54"/>
                </a:solidFill>
                <a:latin typeface="BIZ UDPGothic" pitchFamily="34" charset="0"/>
                <a:ea typeface="BIZ UDPGothic" pitchFamily="34" charset="-122"/>
                <a:cs typeface="BIZ UDPGothic" pitchFamily="34" charset="-120"/>
              </a:rPr>
              <a:t>経産省 AI事業者ガイドライン</a:t>
            </a:r>
            <a:endParaRPr lang="en-US" sz="1050" dirty="0"/>
          </a:p>
        </p:txBody>
      </p:sp>
      <p:sp>
        <p:nvSpPr>
          <p:cNvPr id="44" name="Text 41"/>
          <p:cNvSpPr/>
          <p:nvPr/>
        </p:nvSpPr>
        <p:spPr>
          <a:xfrm>
            <a:off x="9424172" y="5852160"/>
            <a:ext cx="2036003" cy="320040"/>
          </a:xfrm>
          <a:prstGeom prst="rect">
            <a:avLst/>
          </a:prstGeom>
          <a:noFill/>
          <a:ln/>
        </p:spPr>
        <p:txBody>
          <a:bodyPr wrap="square" lIns="0" tIns="0" rIns="0" bIns="0" rtlCol="0" anchor="t"/>
          <a:lstStyle/>
          <a:p>
            <a:pPr indent="0" marL="0">
              <a:buNone/>
            </a:pPr>
            <a:r>
              <a:rPr lang="en-US" sz="950" dirty="0">
                <a:solidFill>
                  <a:srgbClr val="56636E"/>
                </a:solidFill>
                <a:latin typeface="BIZ UDPGothic" pitchFamily="34" charset="0"/>
                <a:ea typeface="BIZ UDPGothic" pitchFamily="34" charset="-122"/>
                <a:cs typeface="BIZ UDPGothic" pitchFamily="34" charset="-120"/>
              </a:rPr>
              <a:t>開発・提供・利用者の責務を明示</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274320"/>
            <a:ext cx="1118585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02  必要な機能</a:t>
            </a:r>
            <a:endParaRPr lang="en-US" sz="950" dirty="0"/>
          </a:p>
        </p:txBody>
      </p:sp>
      <p:sp>
        <p:nvSpPr>
          <p:cNvPr id="3" name="Text 1"/>
          <p:cNvSpPr/>
          <p:nvPr/>
        </p:nvSpPr>
        <p:spPr>
          <a:xfrm>
            <a:off x="502920" y="530352"/>
            <a:ext cx="1118585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必要な能力を八つに分け、四つの面に置く</a:t>
            </a:r>
            <a:endParaRPr lang="en-US" sz="2500" dirty="0"/>
          </a:p>
        </p:txBody>
      </p:sp>
      <p:sp>
        <p:nvSpPr>
          <p:cNvPr id="4" name="Text 2"/>
          <p:cNvSpPr/>
          <p:nvPr/>
        </p:nvSpPr>
        <p:spPr>
          <a:xfrm>
            <a:off x="502920" y="1097280"/>
            <a:ext cx="1118585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どのAIモデルを選ぶかに関係なく、認知・判断・実行を結ぶ最低限の機能がある。単一の実行基盤は要らない。</a:t>
            </a:r>
            <a:endParaRPr lang="en-US" sz="1300" dirty="0"/>
          </a:p>
        </p:txBody>
      </p:sp>
      <p:sp>
        <p:nvSpPr>
          <p:cNvPr id="5" name="Text 3"/>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06</a:t>
            </a:r>
            <a:endParaRPr lang="en-US" sz="1000" dirty="0"/>
          </a:p>
        </p:txBody>
      </p:sp>
      <p:sp>
        <p:nvSpPr>
          <p:cNvPr id="6" name="Shape 4"/>
          <p:cNvSpPr/>
          <p:nvPr/>
        </p:nvSpPr>
        <p:spPr>
          <a:xfrm>
            <a:off x="502920" y="1627632"/>
            <a:ext cx="2103120" cy="1024128"/>
          </a:xfrm>
          <a:prstGeom prst="rect">
            <a:avLst/>
          </a:prstGeom>
          <a:solidFill>
            <a:srgbClr val="ECE6D9"/>
          </a:solidFill>
          <a:ln/>
        </p:spPr>
      </p:sp>
      <p:sp>
        <p:nvSpPr>
          <p:cNvPr id="7" name="Text 5"/>
          <p:cNvSpPr/>
          <p:nvPr/>
        </p:nvSpPr>
        <p:spPr>
          <a:xfrm>
            <a:off x="685800" y="1792224"/>
            <a:ext cx="1828800" cy="384048"/>
          </a:xfrm>
          <a:prstGeom prst="rect">
            <a:avLst/>
          </a:prstGeom>
          <a:noFill/>
          <a:ln/>
        </p:spPr>
        <p:txBody>
          <a:bodyPr wrap="square" lIns="0" tIns="0" rIns="0" bIns="0" rtlCol="0" anchor="t"/>
          <a:lstStyle/>
          <a:p>
            <a:pPr indent="0" marL="0">
              <a:buNone/>
            </a:pPr>
            <a:r>
              <a:rPr lang="en-US" sz="1800" b="1" dirty="0">
                <a:solidFill>
                  <a:srgbClr val="243D54"/>
                </a:solidFill>
                <a:latin typeface="BIZ UDPGothic" pitchFamily="34" charset="0"/>
                <a:ea typeface="BIZ UDPGothic" pitchFamily="34" charset="-122"/>
                <a:cs typeface="BIZ UDPGothic" pitchFamily="34" charset="-120"/>
              </a:rPr>
              <a:t>統治面</a:t>
            </a:r>
            <a:endParaRPr lang="en-US" sz="1800" dirty="0"/>
          </a:p>
        </p:txBody>
      </p:sp>
      <p:sp>
        <p:nvSpPr>
          <p:cNvPr id="8" name="Text 6"/>
          <p:cNvSpPr/>
          <p:nvPr/>
        </p:nvSpPr>
        <p:spPr>
          <a:xfrm>
            <a:off x="685800" y="2194560"/>
            <a:ext cx="1828800" cy="320040"/>
          </a:xfrm>
          <a:prstGeom prst="rect">
            <a:avLst/>
          </a:prstGeom>
          <a:noFill/>
          <a:ln/>
        </p:spPr>
        <p:txBody>
          <a:bodyPr wrap="square" lIns="0" tIns="0" rIns="0" bIns="0" rtlCol="0" anchor="t"/>
          <a:lstStyle/>
          <a:p>
            <a:pPr indent="0" marL="0">
              <a:buNone/>
            </a:pPr>
            <a:r>
              <a:rPr lang="en-US" sz="1100" dirty="0">
                <a:solidFill>
                  <a:srgbClr val="56636E"/>
                </a:solidFill>
                <a:latin typeface="BIZ UDPGothic" pitchFamily="34" charset="0"/>
                <a:ea typeface="BIZ UDPGothic" pitchFamily="34" charset="-122"/>
                <a:cs typeface="BIZ UDPGothic" pitchFamily="34" charset="-120"/>
              </a:rPr>
              <a:t>本人・組織・参加主体</a:t>
            </a:r>
            <a:endParaRPr lang="en-US" sz="1100" dirty="0"/>
          </a:p>
        </p:txBody>
      </p:sp>
      <p:sp>
        <p:nvSpPr>
          <p:cNvPr id="9" name="Shape 7"/>
          <p:cNvSpPr/>
          <p:nvPr/>
        </p:nvSpPr>
        <p:spPr>
          <a:xfrm>
            <a:off x="2743200" y="1627632"/>
            <a:ext cx="2286000" cy="1024128"/>
          </a:xfrm>
          <a:prstGeom prst="rect">
            <a:avLst/>
          </a:prstGeom>
          <a:solidFill>
            <a:srgbClr val="FFFFFF"/>
          </a:solidFill>
          <a:ln w="9525">
            <a:solidFill>
              <a:srgbClr val="DCD5C6"/>
            </a:solidFill>
            <a:prstDash val="dash"/>
          </a:ln>
        </p:spPr>
      </p:sp>
      <p:sp>
        <p:nvSpPr>
          <p:cNvPr id="10" name="Text 8"/>
          <p:cNvSpPr/>
          <p:nvPr/>
        </p:nvSpPr>
        <p:spPr>
          <a:xfrm>
            <a:off x="2907792" y="1792224"/>
            <a:ext cx="2011680" cy="347472"/>
          </a:xfrm>
          <a:prstGeom prst="rect">
            <a:avLst/>
          </a:prstGeom>
          <a:noFill/>
          <a:ln/>
        </p:spPr>
        <p:txBody>
          <a:bodyPr wrap="square" lIns="0" tIns="0" rIns="0" bIns="0" rtlCol="0" anchor="t"/>
          <a:lstStyle/>
          <a:p>
            <a:pPr indent="0" marL="0">
              <a:buNone/>
            </a:pPr>
            <a:r>
              <a:rPr lang="en-US" sz="1400" b="1" dirty="0">
                <a:solidFill>
                  <a:srgbClr val="56636E"/>
                </a:solidFill>
                <a:latin typeface="BIZ UDPGothic" pitchFamily="34" charset="0"/>
                <a:ea typeface="BIZ UDPGothic" pitchFamily="34" charset="-122"/>
                <a:cs typeface="BIZ UDPGothic" pitchFamily="34" charset="-120"/>
              </a:rPr>
              <a:t>目的・権利</a:t>
            </a:r>
            <a:endParaRPr lang="en-US" sz="1400" dirty="0"/>
          </a:p>
        </p:txBody>
      </p:sp>
      <p:sp>
        <p:nvSpPr>
          <p:cNvPr id="11" name="Text 9"/>
          <p:cNvSpPr/>
          <p:nvPr/>
        </p:nvSpPr>
        <p:spPr>
          <a:xfrm>
            <a:off x="2907792" y="2157984"/>
            <a:ext cx="2011680" cy="411480"/>
          </a:xfrm>
          <a:prstGeom prst="rect">
            <a:avLst/>
          </a:prstGeom>
          <a:noFill/>
          <a:ln/>
        </p:spPr>
        <p:txBody>
          <a:bodyPr wrap="square" lIns="0" tIns="0" rIns="0" bIns="0" rtlCol="0" anchor="t"/>
          <a:lstStyle/>
          <a:p>
            <a:pPr indent="0" marL="0">
              <a:buNone/>
            </a:pPr>
            <a:r>
              <a:rPr lang="en-US" sz="1150" dirty="0">
                <a:solidFill>
                  <a:srgbClr val="56636E"/>
                </a:solidFill>
                <a:latin typeface="BIZ UDPGothic" pitchFamily="34" charset="0"/>
                <a:ea typeface="BIZ UDPGothic" pitchFamily="34" charset="-122"/>
                <a:cs typeface="BIZ UDPGothic" pitchFamily="34" charset="-120"/>
              </a:rPr>
              <a:t>成果目標と許容範囲</a:t>
            </a:r>
            <a:endParaRPr lang="en-US" sz="1150" dirty="0"/>
          </a:p>
        </p:txBody>
      </p:sp>
      <p:sp>
        <p:nvSpPr>
          <p:cNvPr id="12" name="Shape 10"/>
          <p:cNvSpPr/>
          <p:nvPr/>
        </p:nvSpPr>
        <p:spPr>
          <a:xfrm>
            <a:off x="5166360" y="1627632"/>
            <a:ext cx="2286000" cy="1024128"/>
          </a:xfrm>
          <a:prstGeom prst="rect">
            <a:avLst/>
          </a:prstGeom>
          <a:solidFill>
            <a:srgbClr val="FFFFFF"/>
          </a:solidFill>
          <a:ln w="9525">
            <a:solidFill>
              <a:srgbClr val="DCD5C6"/>
            </a:solidFill>
            <a:prstDash val="dash"/>
          </a:ln>
        </p:spPr>
      </p:sp>
      <p:sp>
        <p:nvSpPr>
          <p:cNvPr id="13" name="Text 11"/>
          <p:cNvSpPr/>
          <p:nvPr/>
        </p:nvSpPr>
        <p:spPr>
          <a:xfrm>
            <a:off x="5330952" y="1792224"/>
            <a:ext cx="2011680" cy="347472"/>
          </a:xfrm>
          <a:prstGeom prst="rect">
            <a:avLst/>
          </a:prstGeom>
          <a:noFill/>
          <a:ln/>
        </p:spPr>
        <p:txBody>
          <a:bodyPr wrap="square" lIns="0" tIns="0" rIns="0" bIns="0" rtlCol="0" anchor="t"/>
          <a:lstStyle/>
          <a:p>
            <a:pPr indent="0" marL="0">
              <a:buNone/>
            </a:pPr>
            <a:r>
              <a:rPr lang="en-US" sz="1400" b="1" dirty="0">
                <a:solidFill>
                  <a:srgbClr val="56636E"/>
                </a:solidFill>
                <a:latin typeface="BIZ UDPGothic" pitchFamily="34" charset="0"/>
                <a:ea typeface="BIZ UDPGothic" pitchFamily="34" charset="-122"/>
                <a:cs typeface="BIZ UDPGothic" pitchFamily="34" charset="-120"/>
              </a:rPr>
              <a:t>責任・承認</a:t>
            </a:r>
            <a:endParaRPr lang="en-US" sz="1400" dirty="0"/>
          </a:p>
        </p:txBody>
      </p:sp>
      <p:sp>
        <p:nvSpPr>
          <p:cNvPr id="14" name="Text 12"/>
          <p:cNvSpPr/>
          <p:nvPr/>
        </p:nvSpPr>
        <p:spPr>
          <a:xfrm>
            <a:off x="5330952" y="2157984"/>
            <a:ext cx="2011680" cy="411480"/>
          </a:xfrm>
          <a:prstGeom prst="rect">
            <a:avLst/>
          </a:prstGeom>
          <a:noFill/>
          <a:ln/>
        </p:spPr>
        <p:txBody>
          <a:bodyPr wrap="square" lIns="0" tIns="0" rIns="0" bIns="0" rtlCol="0" anchor="t"/>
          <a:lstStyle/>
          <a:p>
            <a:pPr indent="0" marL="0">
              <a:buNone/>
            </a:pPr>
            <a:r>
              <a:rPr lang="en-US" sz="1150" dirty="0">
                <a:solidFill>
                  <a:srgbClr val="56636E"/>
                </a:solidFill>
                <a:latin typeface="BIZ UDPGothic" pitchFamily="34" charset="0"/>
                <a:ea typeface="BIZ UDPGothic" pitchFamily="34" charset="-122"/>
                <a:cs typeface="BIZ UDPGothic" pitchFamily="34" charset="-120"/>
              </a:rPr>
              <a:t>採用者・承認者・運用者</a:t>
            </a:r>
            <a:endParaRPr lang="en-US" sz="1150" dirty="0"/>
          </a:p>
        </p:txBody>
      </p:sp>
      <p:sp>
        <p:nvSpPr>
          <p:cNvPr id="15" name="Shape 13"/>
          <p:cNvSpPr/>
          <p:nvPr/>
        </p:nvSpPr>
        <p:spPr>
          <a:xfrm>
            <a:off x="7589520" y="1627632"/>
            <a:ext cx="2286000" cy="1024128"/>
          </a:xfrm>
          <a:prstGeom prst="rect">
            <a:avLst/>
          </a:prstGeom>
          <a:solidFill>
            <a:srgbClr val="FFFFFF"/>
          </a:solidFill>
          <a:ln w="9525">
            <a:solidFill>
              <a:srgbClr val="DCD5C6"/>
            </a:solidFill>
            <a:prstDash val="dash"/>
          </a:ln>
        </p:spPr>
      </p:sp>
      <p:sp>
        <p:nvSpPr>
          <p:cNvPr id="16" name="Text 14"/>
          <p:cNvSpPr/>
          <p:nvPr/>
        </p:nvSpPr>
        <p:spPr>
          <a:xfrm>
            <a:off x="7754112" y="1792224"/>
            <a:ext cx="2011680" cy="347472"/>
          </a:xfrm>
          <a:prstGeom prst="rect">
            <a:avLst/>
          </a:prstGeom>
          <a:noFill/>
          <a:ln/>
        </p:spPr>
        <p:txBody>
          <a:bodyPr wrap="square" lIns="0" tIns="0" rIns="0" bIns="0" rtlCol="0" anchor="t"/>
          <a:lstStyle/>
          <a:p>
            <a:pPr indent="0" marL="0">
              <a:buNone/>
            </a:pPr>
            <a:r>
              <a:rPr lang="en-US" sz="1400" b="1" dirty="0">
                <a:solidFill>
                  <a:srgbClr val="56636E"/>
                </a:solidFill>
                <a:latin typeface="BIZ UDPGothic" pitchFamily="34" charset="0"/>
                <a:ea typeface="BIZ UDPGothic" pitchFamily="34" charset="-122"/>
                <a:cs typeface="BIZ UDPGothic" pitchFamily="34" charset="-120"/>
              </a:rPr>
              <a:t>監督・停止</a:t>
            </a:r>
            <a:endParaRPr lang="en-US" sz="1400" dirty="0"/>
          </a:p>
        </p:txBody>
      </p:sp>
      <p:sp>
        <p:nvSpPr>
          <p:cNvPr id="17" name="Text 15"/>
          <p:cNvSpPr/>
          <p:nvPr/>
        </p:nvSpPr>
        <p:spPr>
          <a:xfrm>
            <a:off x="7754112" y="2157984"/>
            <a:ext cx="2011680" cy="411480"/>
          </a:xfrm>
          <a:prstGeom prst="rect">
            <a:avLst/>
          </a:prstGeom>
          <a:noFill/>
          <a:ln/>
        </p:spPr>
        <p:txBody>
          <a:bodyPr wrap="square" lIns="0" tIns="0" rIns="0" bIns="0" rtlCol="0" anchor="t"/>
          <a:lstStyle/>
          <a:p>
            <a:pPr indent="0" marL="0">
              <a:buNone/>
            </a:pPr>
            <a:r>
              <a:rPr lang="en-US" sz="1150" dirty="0">
                <a:solidFill>
                  <a:srgbClr val="56636E"/>
                </a:solidFill>
                <a:latin typeface="BIZ UDPGothic" pitchFamily="34" charset="0"/>
                <a:ea typeface="BIZ UDPGothic" pitchFamily="34" charset="-122"/>
                <a:cs typeface="BIZ UDPGothic" pitchFamily="34" charset="-120"/>
              </a:rPr>
              <a:t>異常時に止め、記録を残す</a:t>
            </a:r>
            <a:endParaRPr lang="en-US" sz="1150" dirty="0"/>
          </a:p>
        </p:txBody>
      </p:sp>
      <p:sp>
        <p:nvSpPr>
          <p:cNvPr id="18" name="Shape 16"/>
          <p:cNvSpPr/>
          <p:nvPr/>
        </p:nvSpPr>
        <p:spPr>
          <a:xfrm>
            <a:off x="502920" y="2761488"/>
            <a:ext cx="2103120" cy="1024128"/>
          </a:xfrm>
          <a:prstGeom prst="rect">
            <a:avLst/>
          </a:prstGeom>
          <a:solidFill>
            <a:srgbClr val="3C6684"/>
          </a:solidFill>
          <a:ln/>
        </p:spPr>
      </p:sp>
      <p:sp>
        <p:nvSpPr>
          <p:cNvPr id="19" name="Text 17"/>
          <p:cNvSpPr/>
          <p:nvPr/>
        </p:nvSpPr>
        <p:spPr>
          <a:xfrm>
            <a:off x="685800" y="2926080"/>
            <a:ext cx="1828800" cy="384048"/>
          </a:xfrm>
          <a:prstGeom prst="rect">
            <a:avLst/>
          </a:prstGeom>
          <a:noFill/>
          <a:ln/>
        </p:spPr>
        <p:txBody>
          <a:bodyPr wrap="square" lIns="0" tIns="0" rIns="0" bIns="0" rtlCol="0" anchor="t"/>
          <a:lstStyle/>
          <a:p>
            <a:pPr indent="0" marL="0">
              <a:buNone/>
            </a:pPr>
            <a:r>
              <a:rPr lang="en-US" sz="1800" b="1" dirty="0">
                <a:solidFill>
                  <a:srgbClr val="F5F1E8"/>
                </a:solidFill>
                <a:latin typeface="BIZ UDPGothic" pitchFamily="34" charset="0"/>
                <a:ea typeface="BIZ UDPGothic" pitchFamily="34" charset="-122"/>
                <a:cs typeface="BIZ UDPGothic" pitchFamily="34" charset="-120"/>
              </a:rPr>
              <a:t>認知面</a:t>
            </a:r>
            <a:endParaRPr lang="en-US" sz="1800" dirty="0"/>
          </a:p>
        </p:txBody>
      </p:sp>
      <p:sp>
        <p:nvSpPr>
          <p:cNvPr id="20" name="Text 18"/>
          <p:cNvSpPr/>
          <p:nvPr/>
        </p:nvSpPr>
        <p:spPr>
          <a:xfrm>
            <a:off x="685800" y="3328416"/>
            <a:ext cx="1828800" cy="320040"/>
          </a:xfrm>
          <a:prstGeom prst="rect">
            <a:avLst/>
          </a:prstGeom>
          <a:noFill/>
          <a:ln/>
        </p:spPr>
        <p:txBody>
          <a:bodyPr wrap="square" lIns="0" tIns="0" rIns="0" bIns="0" rtlCol="0" anchor="t"/>
          <a:lstStyle/>
          <a:p>
            <a:pPr indent="0" marL="0">
              <a:buNone/>
            </a:pPr>
            <a:r>
              <a:rPr lang="en-US" sz="1100" dirty="0">
                <a:solidFill>
                  <a:srgbClr val="F5F1E8"/>
                </a:solidFill>
                <a:latin typeface="BIZ UDPGothic" pitchFamily="34" charset="0"/>
                <a:ea typeface="BIZ UDPGothic" pitchFamily="34" charset="-122"/>
                <a:cs typeface="BIZ UDPGothic" pitchFamily="34" charset="-120"/>
              </a:rPr>
              <a:t>SHO・SUI・SEI</a:t>
            </a:r>
            <a:endParaRPr lang="en-US" sz="1100" dirty="0"/>
          </a:p>
        </p:txBody>
      </p:sp>
      <p:sp>
        <p:nvSpPr>
          <p:cNvPr id="21" name="Shape 19"/>
          <p:cNvSpPr/>
          <p:nvPr/>
        </p:nvSpPr>
        <p:spPr>
          <a:xfrm>
            <a:off x="2743200" y="2761488"/>
            <a:ext cx="2286000" cy="1024128"/>
          </a:xfrm>
          <a:prstGeom prst="rect">
            <a:avLst/>
          </a:prstGeom>
          <a:solidFill>
            <a:srgbClr val="FFFFFF"/>
          </a:solidFill>
          <a:ln w="9525">
            <a:solidFill>
              <a:srgbClr val="DCD5C6"/>
            </a:solidFill>
            <a:prstDash val="solid"/>
          </a:ln>
        </p:spPr>
      </p:sp>
      <p:sp>
        <p:nvSpPr>
          <p:cNvPr id="22" name="Text 20"/>
          <p:cNvSpPr/>
          <p:nvPr/>
        </p:nvSpPr>
        <p:spPr>
          <a:xfrm>
            <a:off x="2907792" y="2926080"/>
            <a:ext cx="2011680" cy="347472"/>
          </a:xfrm>
          <a:prstGeom prst="rect">
            <a:avLst/>
          </a:prstGeom>
          <a:noFill/>
          <a:ln/>
        </p:spPr>
        <p:txBody>
          <a:bodyPr wrap="square" lIns="0" tIns="0" rIns="0" bIns="0" rtlCol="0" anchor="t"/>
          <a:lstStyle/>
          <a:p>
            <a:pPr indent="0" marL="0">
              <a:buNone/>
            </a:pPr>
            <a:r>
              <a:rPr lang="en-US" sz="1400" b="1" dirty="0">
                <a:solidFill>
                  <a:srgbClr val="243D54"/>
                </a:solidFill>
                <a:latin typeface="BIZ UDPGothic" pitchFamily="34" charset="0"/>
                <a:ea typeface="BIZ UDPGothic" pitchFamily="34" charset="-122"/>
                <a:cs typeface="BIZ UDPGothic" pitchFamily="34" charset="-120"/>
              </a:rPr>
              <a:t>① 原資料の参照</a:t>
            </a:r>
            <a:endParaRPr lang="en-US" sz="1400" dirty="0"/>
          </a:p>
        </p:txBody>
      </p:sp>
      <p:sp>
        <p:nvSpPr>
          <p:cNvPr id="23" name="Text 21"/>
          <p:cNvSpPr/>
          <p:nvPr/>
        </p:nvSpPr>
        <p:spPr>
          <a:xfrm>
            <a:off x="2907792" y="3291840"/>
            <a:ext cx="2011680" cy="411480"/>
          </a:xfrm>
          <a:prstGeom prst="rect">
            <a:avLst/>
          </a:prstGeom>
          <a:noFill/>
          <a:ln/>
        </p:spPr>
        <p:txBody>
          <a:bodyPr wrap="square" lIns="0" tIns="0" rIns="0" bIns="0" rtlCol="0" anchor="t"/>
          <a:lstStyle/>
          <a:p>
            <a:pPr indent="0" marL="0">
              <a:buNone/>
            </a:pPr>
            <a:r>
              <a:rPr lang="en-US" sz="1150" dirty="0">
                <a:solidFill>
                  <a:srgbClr val="56636E"/>
                </a:solidFill>
                <a:latin typeface="BIZ UDPGothic" pitchFamily="34" charset="0"/>
                <a:ea typeface="BIZ UDPGothic" pitchFamily="34" charset="-122"/>
                <a:cs typeface="BIZ UDPGothic" pitchFamily="34" charset="-120"/>
              </a:rPr>
              <a:t>正本・版・参照範囲・閲覧権限</a:t>
            </a:r>
            <a:endParaRPr lang="en-US" sz="1150" dirty="0"/>
          </a:p>
        </p:txBody>
      </p:sp>
      <p:sp>
        <p:nvSpPr>
          <p:cNvPr id="24" name="Shape 22"/>
          <p:cNvSpPr/>
          <p:nvPr/>
        </p:nvSpPr>
        <p:spPr>
          <a:xfrm>
            <a:off x="5166360" y="2761488"/>
            <a:ext cx="2286000" cy="1024128"/>
          </a:xfrm>
          <a:prstGeom prst="rect">
            <a:avLst/>
          </a:prstGeom>
          <a:solidFill>
            <a:srgbClr val="FFFFFF"/>
          </a:solidFill>
          <a:ln w="9525">
            <a:solidFill>
              <a:srgbClr val="DCD5C6"/>
            </a:solidFill>
            <a:prstDash val="solid"/>
          </a:ln>
        </p:spPr>
      </p:sp>
      <p:sp>
        <p:nvSpPr>
          <p:cNvPr id="25" name="Text 23"/>
          <p:cNvSpPr/>
          <p:nvPr/>
        </p:nvSpPr>
        <p:spPr>
          <a:xfrm>
            <a:off x="5330952" y="2926080"/>
            <a:ext cx="2011680" cy="347472"/>
          </a:xfrm>
          <a:prstGeom prst="rect">
            <a:avLst/>
          </a:prstGeom>
          <a:noFill/>
          <a:ln/>
        </p:spPr>
        <p:txBody>
          <a:bodyPr wrap="square" lIns="0" tIns="0" rIns="0" bIns="0" rtlCol="0" anchor="t"/>
          <a:lstStyle/>
          <a:p>
            <a:pPr indent="0" marL="0">
              <a:buNone/>
            </a:pPr>
            <a:r>
              <a:rPr lang="en-US" sz="1400" b="1" dirty="0">
                <a:solidFill>
                  <a:srgbClr val="243D54"/>
                </a:solidFill>
                <a:latin typeface="BIZ UDPGothic" pitchFamily="34" charset="0"/>
                <a:ea typeface="BIZ UDPGothic" pitchFamily="34" charset="-122"/>
                <a:cs typeface="BIZ UDPGothic" pitchFamily="34" charset="-120"/>
              </a:rPr>
              <a:t>② 認知と探索</a:t>
            </a:r>
            <a:endParaRPr lang="en-US" sz="1400" dirty="0"/>
          </a:p>
        </p:txBody>
      </p:sp>
      <p:sp>
        <p:nvSpPr>
          <p:cNvPr id="26" name="Text 24"/>
          <p:cNvSpPr/>
          <p:nvPr/>
        </p:nvSpPr>
        <p:spPr>
          <a:xfrm>
            <a:off x="5330952" y="3291840"/>
            <a:ext cx="2011680" cy="411480"/>
          </a:xfrm>
          <a:prstGeom prst="rect">
            <a:avLst/>
          </a:prstGeom>
          <a:noFill/>
          <a:ln/>
        </p:spPr>
        <p:txBody>
          <a:bodyPr wrap="square" lIns="0" tIns="0" rIns="0" bIns="0" rtlCol="0" anchor="t"/>
          <a:lstStyle/>
          <a:p>
            <a:pPr indent="0" marL="0">
              <a:buNone/>
            </a:pPr>
            <a:r>
              <a:rPr lang="en-US" sz="1150" dirty="0">
                <a:solidFill>
                  <a:srgbClr val="56636E"/>
                </a:solidFill>
                <a:latin typeface="BIZ UDPGothic" pitchFamily="34" charset="0"/>
                <a:ea typeface="BIZ UDPGothic" pitchFamily="34" charset="-122"/>
                <a:cs typeface="BIZ UDPGothic" pitchFamily="34" charset="-120"/>
              </a:rPr>
              <a:t>観測・解釈・競合・反証</a:t>
            </a:r>
            <a:endParaRPr lang="en-US" sz="1150" dirty="0"/>
          </a:p>
        </p:txBody>
      </p:sp>
      <p:sp>
        <p:nvSpPr>
          <p:cNvPr id="27" name="Shape 25"/>
          <p:cNvSpPr/>
          <p:nvPr/>
        </p:nvSpPr>
        <p:spPr>
          <a:xfrm>
            <a:off x="7589520" y="2761488"/>
            <a:ext cx="2286000" cy="1024128"/>
          </a:xfrm>
          <a:prstGeom prst="rect">
            <a:avLst/>
          </a:prstGeom>
          <a:solidFill>
            <a:srgbClr val="FFFFFF"/>
          </a:solidFill>
          <a:ln w="9525">
            <a:solidFill>
              <a:srgbClr val="DCD5C6"/>
            </a:solidFill>
            <a:prstDash val="solid"/>
          </a:ln>
        </p:spPr>
      </p:sp>
      <p:sp>
        <p:nvSpPr>
          <p:cNvPr id="28" name="Text 26"/>
          <p:cNvSpPr/>
          <p:nvPr/>
        </p:nvSpPr>
        <p:spPr>
          <a:xfrm>
            <a:off x="7754112" y="2926080"/>
            <a:ext cx="2011680" cy="347472"/>
          </a:xfrm>
          <a:prstGeom prst="rect">
            <a:avLst/>
          </a:prstGeom>
          <a:noFill/>
          <a:ln/>
        </p:spPr>
        <p:txBody>
          <a:bodyPr wrap="square" lIns="0" tIns="0" rIns="0" bIns="0" rtlCol="0" anchor="t"/>
          <a:lstStyle/>
          <a:p>
            <a:pPr indent="0" marL="0">
              <a:buNone/>
            </a:pPr>
            <a:r>
              <a:rPr lang="en-US" sz="1400" b="1" dirty="0">
                <a:solidFill>
                  <a:srgbClr val="243D54"/>
                </a:solidFill>
                <a:latin typeface="BIZ UDPGothic" pitchFamily="34" charset="0"/>
                <a:ea typeface="BIZ UDPGothic" pitchFamily="34" charset="-122"/>
                <a:cs typeface="BIZ UDPGothic" pitchFamily="34" charset="-120"/>
              </a:rPr>
              <a:t>③ 判断の記憶</a:t>
            </a:r>
            <a:endParaRPr lang="en-US" sz="1400" dirty="0"/>
          </a:p>
        </p:txBody>
      </p:sp>
      <p:sp>
        <p:nvSpPr>
          <p:cNvPr id="29" name="Text 27"/>
          <p:cNvSpPr/>
          <p:nvPr/>
        </p:nvSpPr>
        <p:spPr>
          <a:xfrm>
            <a:off x="7754112" y="3291840"/>
            <a:ext cx="2011680" cy="411480"/>
          </a:xfrm>
          <a:prstGeom prst="rect">
            <a:avLst/>
          </a:prstGeom>
          <a:noFill/>
          <a:ln/>
        </p:spPr>
        <p:txBody>
          <a:bodyPr wrap="square" lIns="0" tIns="0" rIns="0" bIns="0" rtlCol="0" anchor="t"/>
          <a:lstStyle/>
          <a:p>
            <a:pPr indent="0" marL="0">
              <a:buNone/>
            </a:pPr>
            <a:r>
              <a:rPr lang="en-US" sz="1150" dirty="0">
                <a:solidFill>
                  <a:srgbClr val="56636E"/>
                </a:solidFill>
                <a:latin typeface="BIZ UDPGothic" pitchFamily="34" charset="0"/>
                <a:ea typeface="BIZ UDPGothic" pitchFamily="34" charset="-122"/>
                <a:cs typeface="BIZ UDPGothic" pitchFamily="34" charset="-120"/>
              </a:rPr>
              <a:t>提案・決定・未決・責任・来歴</a:t>
            </a:r>
            <a:endParaRPr lang="en-US" sz="1150" dirty="0"/>
          </a:p>
        </p:txBody>
      </p:sp>
      <p:sp>
        <p:nvSpPr>
          <p:cNvPr id="30" name="Shape 28"/>
          <p:cNvSpPr/>
          <p:nvPr/>
        </p:nvSpPr>
        <p:spPr>
          <a:xfrm>
            <a:off x="502920" y="3895344"/>
            <a:ext cx="2103120" cy="1024128"/>
          </a:xfrm>
          <a:prstGeom prst="rect">
            <a:avLst/>
          </a:prstGeom>
          <a:solidFill>
            <a:srgbClr val="5A5A86"/>
          </a:solidFill>
          <a:ln/>
        </p:spPr>
      </p:sp>
      <p:sp>
        <p:nvSpPr>
          <p:cNvPr id="31" name="Text 29"/>
          <p:cNvSpPr/>
          <p:nvPr/>
        </p:nvSpPr>
        <p:spPr>
          <a:xfrm>
            <a:off x="685800" y="4059936"/>
            <a:ext cx="1828800" cy="384048"/>
          </a:xfrm>
          <a:prstGeom prst="rect">
            <a:avLst/>
          </a:prstGeom>
          <a:noFill/>
          <a:ln/>
        </p:spPr>
        <p:txBody>
          <a:bodyPr wrap="square" lIns="0" tIns="0" rIns="0" bIns="0" rtlCol="0" anchor="t"/>
          <a:lstStyle/>
          <a:p>
            <a:pPr indent="0" marL="0">
              <a:buNone/>
            </a:pPr>
            <a:r>
              <a:rPr lang="en-US" sz="1800" b="1" dirty="0">
                <a:solidFill>
                  <a:srgbClr val="F5F1E8"/>
                </a:solidFill>
                <a:latin typeface="BIZ UDPGothic" pitchFamily="34" charset="0"/>
                <a:ea typeface="BIZ UDPGothic" pitchFamily="34" charset="-122"/>
                <a:cs typeface="BIZ UDPGothic" pitchFamily="34" charset="-120"/>
              </a:rPr>
              <a:t>実現面</a:t>
            </a:r>
            <a:endParaRPr lang="en-US" sz="1800" dirty="0"/>
          </a:p>
        </p:txBody>
      </p:sp>
      <p:sp>
        <p:nvSpPr>
          <p:cNvPr id="32" name="Text 30"/>
          <p:cNvSpPr/>
          <p:nvPr/>
        </p:nvSpPr>
        <p:spPr>
          <a:xfrm>
            <a:off x="685800" y="4462272"/>
            <a:ext cx="1828800" cy="320040"/>
          </a:xfrm>
          <a:prstGeom prst="rect">
            <a:avLst/>
          </a:prstGeom>
          <a:noFill/>
          <a:ln/>
        </p:spPr>
        <p:txBody>
          <a:bodyPr wrap="square" lIns="0" tIns="0" rIns="0" bIns="0" rtlCol="0" anchor="t"/>
          <a:lstStyle/>
          <a:p>
            <a:pPr indent="0" marL="0">
              <a:buNone/>
            </a:pPr>
            <a:r>
              <a:rPr lang="en-US" sz="1100" dirty="0">
                <a:solidFill>
                  <a:srgbClr val="F5F1E8"/>
                </a:solidFill>
                <a:latin typeface="BIZ UDPGothic" pitchFamily="34" charset="0"/>
                <a:ea typeface="BIZ UDPGothic" pitchFamily="34" charset="-122"/>
                <a:cs typeface="BIZ UDPGothic" pitchFamily="34" charset="-120"/>
              </a:rPr>
              <a:t>TEI・EKI</a:t>
            </a:r>
            <a:endParaRPr lang="en-US" sz="1100" dirty="0"/>
          </a:p>
        </p:txBody>
      </p:sp>
      <p:sp>
        <p:nvSpPr>
          <p:cNvPr id="33" name="Shape 31"/>
          <p:cNvSpPr/>
          <p:nvPr/>
        </p:nvSpPr>
        <p:spPr>
          <a:xfrm>
            <a:off x="2743200" y="3895344"/>
            <a:ext cx="2286000" cy="1024128"/>
          </a:xfrm>
          <a:prstGeom prst="rect">
            <a:avLst/>
          </a:prstGeom>
          <a:solidFill>
            <a:srgbClr val="FFFFFF"/>
          </a:solidFill>
          <a:ln w="9525">
            <a:solidFill>
              <a:srgbClr val="DCD5C6"/>
            </a:solidFill>
            <a:prstDash val="solid"/>
          </a:ln>
        </p:spPr>
      </p:sp>
      <p:sp>
        <p:nvSpPr>
          <p:cNvPr id="34" name="Text 32"/>
          <p:cNvSpPr/>
          <p:nvPr/>
        </p:nvSpPr>
        <p:spPr>
          <a:xfrm>
            <a:off x="2907792" y="4059936"/>
            <a:ext cx="2011680" cy="347472"/>
          </a:xfrm>
          <a:prstGeom prst="rect">
            <a:avLst/>
          </a:prstGeom>
          <a:noFill/>
          <a:ln/>
        </p:spPr>
        <p:txBody>
          <a:bodyPr wrap="square" lIns="0" tIns="0" rIns="0" bIns="0" rtlCol="0" anchor="t"/>
          <a:lstStyle/>
          <a:p>
            <a:pPr indent="0" marL="0">
              <a:buNone/>
            </a:pPr>
            <a:r>
              <a:rPr lang="en-US" sz="1400" b="1" dirty="0">
                <a:solidFill>
                  <a:srgbClr val="243D54"/>
                </a:solidFill>
                <a:latin typeface="BIZ UDPGothic" pitchFamily="34" charset="0"/>
                <a:ea typeface="BIZ UDPGothic" pitchFamily="34" charset="-122"/>
                <a:cs typeface="BIZ UDPGothic" pitchFamily="34" charset="-120"/>
              </a:rPr>
              <a:t>④ 知識の実現</a:t>
            </a:r>
            <a:endParaRPr lang="en-US" sz="1400" dirty="0"/>
          </a:p>
        </p:txBody>
      </p:sp>
      <p:sp>
        <p:nvSpPr>
          <p:cNvPr id="35" name="Text 33"/>
          <p:cNvSpPr/>
          <p:nvPr/>
        </p:nvSpPr>
        <p:spPr>
          <a:xfrm>
            <a:off x="2907792" y="4425696"/>
            <a:ext cx="2011680" cy="411480"/>
          </a:xfrm>
          <a:prstGeom prst="rect">
            <a:avLst/>
          </a:prstGeom>
          <a:noFill/>
          <a:ln/>
        </p:spPr>
        <p:txBody>
          <a:bodyPr wrap="square" lIns="0" tIns="0" rIns="0" bIns="0" rtlCol="0" anchor="t"/>
          <a:lstStyle/>
          <a:p>
            <a:pPr indent="0" marL="0">
              <a:buNone/>
            </a:pPr>
            <a:r>
              <a:rPr lang="en-US" sz="1150" dirty="0">
                <a:solidFill>
                  <a:srgbClr val="56636E"/>
                </a:solidFill>
                <a:latin typeface="BIZ UDPGothic" pitchFamily="34" charset="0"/>
                <a:ea typeface="BIZ UDPGothic" pitchFamily="34" charset="-122"/>
                <a:cs typeface="BIZ UDPGothic" pitchFamily="34" charset="-120"/>
              </a:rPr>
              <a:t>規則・型・制約と実装の対応</a:t>
            </a:r>
            <a:endParaRPr lang="en-US" sz="1150" dirty="0"/>
          </a:p>
        </p:txBody>
      </p:sp>
      <p:sp>
        <p:nvSpPr>
          <p:cNvPr id="36" name="Shape 34"/>
          <p:cNvSpPr/>
          <p:nvPr/>
        </p:nvSpPr>
        <p:spPr>
          <a:xfrm>
            <a:off x="5166360" y="3895344"/>
            <a:ext cx="2286000" cy="1024128"/>
          </a:xfrm>
          <a:prstGeom prst="rect">
            <a:avLst/>
          </a:prstGeom>
          <a:solidFill>
            <a:srgbClr val="FFFFFF"/>
          </a:solidFill>
          <a:ln w="9525">
            <a:solidFill>
              <a:srgbClr val="DCD5C6"/>
            </a:solidFill>
            <a:prstDash val="solid"/>
          </a:ln>
        </p:spPr>
      </p:sp>
      <p:sp>
        <p:nvSpPr>
          <p:cNvPr id="37" name="Text 35"/>
          <p:cNvSpPr/>
          <p:nvPr/>
        </p:nvSpPr>
        <p:spPr>
          <a:xfrm>
            <a:off x="5330952" y="4059936"/>
            <a:ext cx="2011680" cy="347472"/>
          </a:xfrm>
          <a:prstGeom prst="rect">
            <a:avLst/>
          </a:prstGeom>
          <a:noFill/>
          <a:ln/>
        </p:spPr>
        <p:txBody>
          <a:bodyPr wrap="square" lIns="0" tIns="0" rIns="0" bIns="0" rtlCol="0" anchor="t"/>
          <a:lstStyle/>
          <a:p>
            <a:pPr indent="0" marL="0">
              <a:buNone/>
            </a:pPr>
            <a:r>
              <a:rPr lang="en-US" sz="1400" b="1" dirty="0">
                <a:solidFill>
                  <a:srgbClr val="243D54"/>
                </a:solidFill>
                <a:latin typeface="BIZ UDPGothic" pitchFamily="34" charset="0"/>
                <a:ea typeface="BIZ UDPGothic" pitchFamily="34" charset="-122"/>
                <a:cs typeface="BIZ UDPGothic" pitchFamily="34" charset="-120"/>
              </a:rPr>
              <a:t>⑤ 委任と処理</a:t>
            </a:r>
            <a:endParaRPr lang="en-US" sz="1400" dirty="0"/>
          </a:p>
        </p:txBody>
      </p:sp>
      <p:sp>
        <p:nvSpPr>
          <p:cNvPr id="38" name="Text 36"/>
          <p:cNvSpPr/>
          <p:nvPr/>
        </p:nvSpPr>
        <p:spPr>
          <a:xfrm>
            <a:off x="5330952" y="4425696"/>
            <a:ext cx="2011680" cy="411480"/>
          </a:xfrm>
          <a:prstGeom prst="rect">
            <a:avLst/>
          </a:prstGeom>
          <a:noFill/>
          <a:ln/>
        </p:spPr>
        <p:txBody>
          <a:bodyPr wrap="square" lIns="0" tIns="0" rIns="0" bIns="0" rtlCol="0" anchor="t"/>
          <a:lstStyle/>
          <a:p>
            <a:pPr indent="0" marL="0">
              <a:buNone/>
            </a:pPr>
            <a:r>
              <a:rPr lang="en-US" sz="1150" dirty="0">
                <a:solidFill>
                  <a:srgbClr val="56636E"/>
                </a:solidFill>
                <a:latin typeface="BIZ UDPGothic" pitchFamily="34" charset="0"/>
                <a:ea typeface="BIZ UDPGothic" pitchFamily="34" charset="-122"/>
                <a:cs typeface="BIZ UDPGothic" pitchFamily="34" charset="-120"/>
              </a:rPr>
              <a:t>権限・予算・実行先・停止</a:t>
            </a:r>
            <a:endParaRPr lang="en-US" sz="1150" dirty="0"/>
          </a:p>
        </p:txBody>
      </p:sp>
      <p:sp>
        <p:nvSpPr>
          <p:cNvPr id="39" name="Shape 37"/>
          <p:cNvSpPr/>
          <p:nvPr/>
        </p:nvSpPr>
        <p:spPr>
          <a:xfrm>
            <a:off x="7589520" y="3895344"/>
            <a:ext cx="2286000" cy="1024128"/>
          </a:xfrm>
          <a:prstGeom prst="rect">
            <a:avLst/>
          </a:prstGeom>
          <a:solidFill>
            <a:srgbClr val="FFFFFF"/>
          </a:solidFill>
          <a:ln w="9525">
            <a:solidFill>
              <a:srgbClr val="DCD5C6"/>
            </a:solidFill>
            <a:prstDash val="solid"/>
          </a:ln>
        </p:spPr>
      </p:sp>
      <p:sp>
        <p:nvSpPr>
          <p:cNvPr id="40" name="Text 38"/>
          <p:cNvSpPr/>
          <p:nvPr/>
        </p:nvSpPr>
        <p:spPr>
          <a:xfrm>
            <a:off x="7754112" y="4059936"/>
            <a:ext cx="2011680" cy="347472"/>
          </a:xfrm>
          <a:prstGeom prst="rect">
            <a:avLst/>
          </a:prstGeom>
          <a:noFill/>
          <a:ln/>
        </p:spPr>
        <p:txBody>
          <a:bodyPr wrap="square" lIns="0" tIns="0" rIns="0" bIns="0" rtlCol="0" anchor="t"/>
          <a:lstStyle/>
          <a:p>
            <a:pPr indent="0" marL="0">
              <a:buNone/>
            </a:pPr>
            <a:r>
              <a:rPr lang="en-US" sz="1400" b="1" dirty="0">
                <a:solidFill>
                  <a:srgbClr val="243D54"/>
                </a:solidFill>
                <a:latin typeface="BIZ UDPGothic" pitchFamily="34" charset="0"/>
                <a:ea typeface="BIZ UDPGothic" pitchFamily="34" charset="-122"/>
                <a:cs typeface="BIZ UDPGothic" pitchFamily="34" charset="-120"/>
              </a:rPr>
              <a:t>⑥ 結果の検証</a:t>
            </a:r>
            <a:endParaRPr lang="en-US" sz="1400" dirty="0"/>
          </a:p>
        </p:txBody>
      </p:sp>
      <p:sp>
        <p:nvSpPr>
          <p:cNvPr id="41" name="Text 39"/>
          <p:cNvSpPr/>
          <p:nvPr/>
        </p:nvSpPr>
        <p:spPr>
          <a:xfrm>
            <a:off x="7754112" y="4425696"/>
            <a:ext cx="2011680" cy="411480"/>
          </a:xfrm>
          <a:prstGeom prst="rect">
            <a:avLst/>
          </a:prstGeom>
          <a:noFill/>
          <a:ln/>
        </p:spPr>
        <p:txBody>
          <a:bodyPr wrap="square" lIns="0" tIns="0" rIns="0" bIns="0" rtlCol="0" anchor="t"/>
          <a:lstStyle/>
          <a:p>
            <a:pPr indent="0" marL="0">
              <a:buNone/>
            </a:pPr>
            <a:r>
              <a:rPr lang="en-US" sz="1150" dirty="0">
                <a:solidFill>
                  <a:srgbClr val="56636E"/>
                </a:solidFill>
                <a:latin typeface="BIZ UDPGothic" pitchFamily="34" charset="0"/>
                <a:ea typeface="BIZ UDPGothic" pitchFamily="34" charset="-122"/>
                <a:cs typeface="BIZ UDPGothic" pitchFamily="34" charset="-120"/>
              </a:rPr>
              <a:t>処理記録と業務上の結果を照合</a:t>
            </a:r>
            <a:endParaRPr lang="en-US" sz="1150" dirty="0"/>
          </a:p>
        </p:txBody>
      </p:sp>
      <p:sp>
        <p:nvSpPr>
          <p:cNvPr id="42" name="Shape 40"/>
          <p:cNvSpPr/>
          <p:nvPr/>
        </p:nvSpPr>
        <p:spPr>
          <a:xfrm>
            <a:off x="502920" y="5029200"/>
            <a:ext cx="2103120" cy="1024128"/>
          </a:xfrm>
          <a:prstGeom prst="rect">
            <a:avLst/>
          </a:prstGeom>
          <a:solidFill>
            <a:srgbClr val="243D54"/>
          </a:solidFill>
          <a:ln/>
        </p:spPr>
      </p:sp>
      <p:sp>
        <p:nvSpPr>
          <p:cNvPr id="43" name="Text 41"/>
          <p:cNvSpPr/>
          <p:nvPr/>
        </p:nvSpPr>
        <p:spPr>
          <a:xfrm>
            <a:off x="685800" y="5193792"/>
            <a:ext cx="1828800" cy="384048"/>
          </a:xfrm>
          <a:prstGeom prst="rect">
            <a:avLst/>
          </a:prstGeom>
          <a:noFill/>
          <a:ln/>
        </p:spPr>
        <p:txBody>
          <a:bodyPr wrap="square" lIns="0" tIns="0" rIns="0" bIns="0" rtlCol="0" anchor="t"/>
          <a:lstStyle/>
          <a:p>
            <a:pPr indent="0" marL="0">
              <a:buNone/>
            </a:pPr>
            <a:r>
              <a:rPr lang="en-US" sz="1800" b="1" dirty="0">
                <a:solidFill>
                  <a:srgbClr val="F5F1E8"/>
                </a:solidFill>
                <a:latin typeface="BIZ UDPGothic" pitchFamily="34" charset="0"/>
                <a:ea typeface="BIZ UDPGothic" pitchFamily="34" charset="-122"/>
                <a:cs typeface="BIZ UDPGothic" pitchFamily="34" charset="-120"/>
              </a:rPr>
              <a:t>統合面</a:t>
            </a:r>
            <a:endParaRPr lang="en-US" sz="1800" dirty="0"/>
          </a:p>
        </p:txBody>
      </p:sp>
      <p:sp>
        <p:nvSpPr>
          <p:cNvPr id="44" name="Text 42"/>
          <p:cNvSpPr/>
          <p:nvPr/>
        </p:nvSpPr>
        <p:spPr>
          <a:xfrm>
            <a:off x="685800" y="5596128"/>
            <a:ext cx="1828800" cy="320040"/>
          </a:xfrm>
          <a:prstGeom prst="rect">
            <a:avLst/>
          </a:prstGeom>
          <a:noFill/>
          <a:ln/>
        </p:spPr>
        <p:txBody>
          <a:bodyPr wrap="square" lIns="0" tIns="0" rIns="0" bIns="0" rtlCol="0" anchor="t"/>
          <a:lstStyle/>
          <a:p>
            <a:pPr indent="0" marL="0">
              <a:buNone/>
            </a:pPr>
            <a:r>
              <a:rPr lang="en-US" sz="1100" dirty="0">
                <a:solidFill>
                  <a:srgbClr val="F5F1E8"/>
                </a:solidFill>
                <a:latin typeface="BIZ UDPGothic" pitchFamily="34" charset="0"/>
                <a:ea typeface="BIZ UDPGothic" pitchFamily="34" charset="-122"/>
                <a:cs typeface="BIZ UDPGothic" pitchFamily="34" charset="-120"/>
              </a:rPr>
              <a:t>TAI</a:t>
            </a:r>
            <a:endParaRPr lang="en-US" sz="1100" dirty="0"/>
          </a:p>
        </p:txBody>
      </p:sp>
      <p:sp>
        <p:nvSpPr>
          <p:cNvPr id="45" name="Shape 43"/>
          <p:cNvSpPr/>
          <p:nvPr/>
        </p:nvSpPr>
        <p:spPr>
          <a:xfrm>
            <a:off x="2743200" y="5029200"/>
            <a:ext cx="2286000" cy="1024128"/>
          </a:xfrm>
          <a:prstGeom prst="rect">
            <a:avLst/>
          </a:prstGeom>
          <a:solidFill>
            <a:srgbClr val="FFFFFF"/>
          </a:solidFill>
          <a:ln w="9525">
            <a:solidFill>
              <a:srgbClr val="DCD5C6"/>
            </a:solidFill>
            <a:prstDash val="solid"/>
          </a:ln>
        </p:spPr>
      </p:sp>
      <p:sp>
        <p:nvSpPr>
          <p:cNvPr id="46" name="Text 44"/>
          <p:cNvSpPr/>
          <p:nvPr/>
        </p:nvSpPr>
        <p:spPr>
          <a:xfrm>
            <a:off x="2907792" y="5193792"/>
            <a:ext cx="2011680" cy="347472"/>
          </a:xfrm>
          <a:prstGeom prst="rect">
            <a:avLst/>
          </a:prstGeom>
          <a:noFill/>
          <a:ln/>
        </p:spPr>
        <p:txBody>
          <a:bodyPr wrap="square" lIns="0" tIns="0" rIns="0" bIns="0" rtlCol="0" anchor="t"/>
          <a:lstStyle/>
          <a:p>
            <a:pPr indent="0" marL="0">
              <a:buNone/>
            </a:pPr>
            <a:r>
              <a:rPr lang="en-US" sz="1400" b="1" dirty="0">
                <a:solidFill>
                  <a:srgbClr val="243D54"/>
                </a:solidFill>
                <a:latin typeface="BIZ UDPGothic" pitchFamily="34" charset="0"/>
                <a:ea typeface="BIZ UDPGothic" pitchFamily="34" charset="-122"/>
                <a:cs typeface="BIZ UDPGothic" pitchFamily="34" charset="-120"/>
              </a:rPr>
              <a:t>⑧ 統合と配布</a:t>
            </a:r>
            <a:endParaRPr lang="en-US" sz="1400" dirty="0"/>
          </a:p>
        </p:txBody>
      </p:sp>
      <p:sp>
        <p:nvSpPr>
          <p:cNvPr id="47" name="Text 45"/>
          <p:cNvSpPr/>
          <p:nvPr/>
        </p:nvSpPr>
        <p:spPr>
          <a:xfrm>
            <a:off x="2907792" y="5559552"/>
            <a:ext cx="2011680" cy="411480"/>
          </a:xfrm>
          <a:prstGeom prst="rect">
            <a:avLst/>
          </a:prstGeom>
          <a:noFill/>
          <a:ln/>
        </p:spPr>
        <p:txBody>
          <a:bodyPr wrap="square" lIns="0" tIns="0" rIns="0" bIns="0" rtlCol="0" anchor="t"/>
          <a:lstStyle/>
          <a:p>
            <a:pPr indent="0" marL="0">
              <a:buNone/>
            </a:pPr>
            <a:r>
              <a:rPr lang="en-US" sz="1150" dirty="0">
                <a:solidFill>
                  <a:srgbClr val="56636E"/>
                </a:solidFill>
                <a:latin typeface="BIZ UDPGothic" pitchFamily="34" charset="0"/>
                <a:ea typeface="BIZ UDPGothic" pitchFamily="34" charset="-122"/>
                <a:cs typeface="BIZ UDPGothic" pitchFamily="34" charset="-120"/>
              </a:rPr>
              <a:t>役割分担・用途別の構成・利用の手引き</a:t>
            </a:r>
            <a:endParaRPr lang="en-US" sz="1150" dirty="0"/>
          </a:p>
        </p:txBody>
      </p:sp>
      <p:sp>
        <p:nvSpPr>
          <p:cNvPr id="48" name="Shape 46"/>
          <p:cNvSpPr/>
          <p:nvPr/>
        </p:nvSpPr>
        <p:spPr>
          <a:xfrm>
            <a:off x="5166360" y="5029200"/>
            <a:ext cx="2286000" cy="1024128"/>
          </a:xfrm>
          <a:prstGeom prst="rect">
            <a:avLst/>
          </a:prstGeom>
          <a:solidFill>
            <a:srgbClr val="FFFFFF"/>
          </a:solidFill>
          <a:ln w="9525">
            <a:solidFill>
              <a:srgbClr val="DCD5C6"/>
            </a:solidFill>
            <a:prstDash val="solid"/>
          </a:ln>
        </p:spPr>
      </p:sp>
      <p:sp>
        <p:nvSpPr>
          <p:cNvPr id="49" name="Text 47"/>
          <p:cNvSpPr/>
          <p:nvPr/>
        </p:nvSpPr>
        <p:spPr>
          <a:xfrm>
            <a:off x="5330952" y="5193792"/>
            <a:ext cx="2011680" cy="347472"/>
          </a:xfrm>
          <a:prstGeom prst="rect">
            <a:avLst/>
          </a:prstGeom>
          <a:noFill/>
          <a:ln/>
        </p:spPr>
        <p:txBody>
          <a:bodyPr wrap="square" lIns="0" tIns="0" rIns="0" bIns="0" rtlCol="0" anchor="t"/>
          <a:lstStyle/>
          <a:p>
            <a:pPr indent="0" marL="0">
              <a:buNone/>
            </a:pPr>
            <a:r>
              <a:rPr lang="en-US" sz="1400" b="1" dirty="0">
                <a:solidFill>
                  <a:srgbClr val="243D54"/>
                </a:solidFill>
                <a:latin typeface="BIZ UDPGothic" pitchFamily="34" charset="0"/>
                <a:ea typeface="BIZ UDPGothic" pitchFamily="34" charset="-122"/>
                <a:cs typeface="BIZ UDPGothic" pitchFamily="34" charset="-120"/>
              </a:rPr>
              <a:t>課題の横断</a:t>
            </a:r>
            <a:endParaRPr lang="en-US" sz="1400" dirty="0"/>
          </a:p>
        </p:txBody>
      </p:sp>
      <p:sp>
        <p:nvSpPr>
          <p:cNvPr id="50" name="Text 48"/>
          <p:cNvSpPr/>
          <p:nvPr/>
        </p:nvSpPr>
        <p:spPr>
          <a:xfrm>
            <a:off x="5330952" y="5559552"/>
            <a:ext cx="2011680" cy="411480"/>
          </a:xfrm>
          <a:prstGeom prst="rect">
            <a:avLst/>
          </a:prstGeom>
          <a:noFill/>
          <a:ln/>
        </p:spPr>
        <p:txBody>
          <a:bodyPr wrap="square" lIns="0" tIns="0" rIns="0" bIns="0" rtlCol="0" anchor="t"/>
          <a:lstStyle/>
          <a:p>
            <a:pPr indent="0" marL="0">
              <a:buNone/>
            </a:pPr>
            <a:r>
              <a:rPr lang="en-US" sz="1150" dirty="0">
                <a:solidFill>
                  <a:srgbClr val="56636E"/>
                </a:solidFill>
                <a:latin typeface="BIZ UDPGothic" pitchFamily="34" charset="0"/>
                <a:ea typeface="BIZ UDPGothic" pitchFamily="34" charset="-122"/>
                <a:cs typeface="BIZ UDPGothic" pitchFamily="34" charset="-120"/>
              </a:rPr>
              <a:t>一つの課題の全体を追う</a:t>
            </a:r>
            <a:endParaRPr lang="en-US" sz="1150" dirty="0"/>
          </a:p>
        </p:txBody>
      </p:sp>
      <p:sp>
        <p:nvSpPr>
          <p:cNvPr id="51" name="Shape 49"/>
          <p:cNvSpPr/>
          <p:nvPr/>
        </p:nvSpPr>
        <p:spPr>
          <a:xfrm>
            <a:off x="7589520" y="5029200"/>
            <a:ext cx="2286000" cy="1024128"/>
          </a:xfrm>
          <a:prstGeom prst="rect">
            <a:avLst/>
          </a:prstGeom>
          <a:solidFill>
            <a:srgbClr val="FFFFFF"/>
          </a:solidFill>
          <a:ln w="9525">
            <a:solidFill>
              <a:srgbClr val="DCD5C6"/>
            </a:solidFill>
            <a:prstDash val="solid"/>
          </a:ln>
        </p:spPr>
      </p:sp>
      <p:sp>
        <p:nvSpPr>
          <p:cNvPr id="52" name="Text 50"/>
          <p:cNvSpPr/>
          <p:nvPr/>
        </p:nvSpPr>
        <p:spPr>
          <a:xfrm>
            <a:off x="7754112" y="5193792"/>
            <a:ext cx="2011680" cy="347472"/>
          </a:xfrm>
          <a:prstGeom prst="rect">
            <a:avLst/>
          </a:prstGeom>
          <a:noFill/>
          <a:ln/>
        </p:spPr>
        <p:txBody>
          <a:bodyPr wrap="square" lIns="0" tIns="0" rIns="0" bIns="0" rtlCol="0" anchor="t"/>
          <a:lstStyle/>
          <a:p>
            <a:pPr indent="0" marL="0">
              <a:buNone/>
            </a:pPr>
            <a:r>
              <a:rPr lang="en-US" sz="1400" b="1" dirty="0">
                <a:solidFill>
                  <a:srgbClr val="243D54"/>
                </a:solidFill>
                <a:latin typeface="BIZ UDPGothic" pitchFamily="34" charset="0"/>
                <a:ea typeface="BIZ UDPGothic" pitchFamily="34" charset="-122"/>
                <a:cs typeface="BIZ UDPGothic" pitchFamily="34" charset="-120"/>
              </a:rPr>
              <a:t>段階的な検証</a:t>
            </a:r>
            <a:endParaRPr lang="en-US" sz="1400" dirty="0"/>
          </a:p>
        </p:txBody>
      </p:sp>
      <p:sp>
        <p:nvSpPr>
          <p:cNvPr id="53" name="Text 51"/>
          <p:cNvSpPr/>
          <p:nvPr/>
        </p:nvSpPr>
        <p:spPr>
          <a:xfrm>
            <a:off x="7754112" y="5559552"/>
            <a:ext cx="2011680" cy="411480"/>
          </a:xfrm>
          <a:prstGeom prst="rect">
            <a:avLst/>
          </a:prstGeom>
          <a:noFill/>
          <a:ln/>
        </p:spPr>
        <p:txBody>
          <a:bodyPr wrap="square" lIns="0" tIns="0" rIns="0" bIns="0" rtlCol="0" anchor="t"/>
          <a:lstStyle/>
          <a:p>
            <a:pPr indent="0" marL="0">
              <a:buNone/>
            </a:pPr>
            <a:r>
              <a:rPr lang="en-US" sz="1150" dirty="0">
                <a:solidFill>
                  <a:srgbClr val="56636E"/>
                </a:solidFill>
                <a:latin typeface="BIZ UDPGothic" pitchFamily="34" charset="0"/>
                <a:ea typeface="BIZ UDPGothic" pitchFamily="34" charset="-122"/>
                <a:cs typeface="BIZ UDPGothic" pitchFamily="34" charset="-120"/>
              </a:rPr>
              <a:t>参照から委任へ広げる</a:t>
            </a:r>
            <a:endParaRPr lang="en-US" sz="1150" dirty="0"/>
          </a:p>
        </p:txBody>
      </p:sp>
      <p:sp>
        <p:nvSpPr>
          <p:cNvPr id="54" name="Shape 52"/>
          <p:cNvSpPr/>
          <p:nvPr/>
        </p:nvSpPr>
        <p:spPr>
          <a:xfrm>
            <a:off x="10122408" y="1627632"/>
            <a:ext cx="1566367" cy="4425696"/>
          </a:xfrm>
          <a:prstGeom prst="rect">
            <a:avLst/>
          </a:prstGeom>
          <a:solidFill>
            <a:srgbClr val="243D54"/>
          </a:solidFill>
          <a:ln/>
        </p:spPr>
      </p:sp>
      <p:sp>
        <p:nvSpPr>
          <p:cNvPr id="55" name="Text 53"/>
          <p:cNvSpPr/>
          <p:nvPr/>
        </p:nvSpPr>
        <p:spPr>
          <a:xfrm>
            <a:off x="10122408" y="1947672"/>
            <a:ext cx="1566367" cy="457200"/>
          </a:xfrm>
          <a:prstGeom prst="rect">
            <a:avLst/>
          </a:prstGeom>
          <a:noFill/>
          <a:ln/>
        </p:spPr>
        <p:txBody>
          <a:bodyPr wrap="square" lIns="0" tIns="0" rIns="0" bIns="0" rtlCol="0" anchor="t"/>
          <a:lstStyle/>
          <a:p>
            <a:pPr algn="ctr" indent="0" marL="0">
              <a:buNone/>
            </a:pPr>
            <a:r>
              <a:rPr lang="en-US" sz="2400" b="1" dirty="0">
                <a:solidFill>
                  <a:srgbClr val="C4A06D"/>
                </a:solidFill>
                <a:latin typeface="BIZ UDPGothic" pitchFamily="34" charset="0"/>
                <a:ea typeface="BIZ UDPGothic" pitchFamily="34" charset="-122"/>
                <a:cs typeface="BIZ UDPGothic" pitchFamily="34" charset="-120"/>
              </a:rPr>
              <a:t>⑦</a:t>
            </a:r>
            <a:endParaRPr lang="en-US" sz="2400" dirty="0"/>
          </a:p>
        </p:txBody>
      </p:sp>
      <p:sp>
        <p:nvSpPr>
          <p:cNvPr id="56" name="Text 54"/>
          <p:cNvSpPr/>
          <p:nvPr/>
        </p:nvSpPr>
        <p:spPr>
          <a:xfrm>
            <a:off x="10122408" y="2496312"/>
            <a:ext cx="1566367" cy="731520"/>
          </a:xfrm>
          <a:prstGeom prst="rect">
            <a:avLst/>
          </a:prstGeom>
          <a:noFill/>
          <a:ln/>
        </p:spPr>
        <p:txBody>
          <a:bodyPr wrap="square" lIns="0" tIns="0" rIns="0" bIns="0" rtlCol="0" anchor="t"/>
          <a:lstStyle/>
          <a:p>
            <a:pPr algn="ctr" indent="0" marL="0">
              <a:buNone/>
            </a:pPr>
            <a:r>
              <a:rPr lang="en-US" sz="1500" b="1" dirty="0">
                <a:solidFill>
                  <a:srgbClr val="F5F1E8"/>
                </a:solidFill>
                <a:latin typeface="BIZ UDPGothic" pitchFamily="34" charset="0"/>
                <a:ea typeface="BIZ UDPGothic" pitchFamily="34" charset="-122"/>
                <a:cs typeface="BIZ UDPGothic" pitchFamily="34" charset="-120"/>
              </a:rPr>
              <a:t>継続と</a:t>
            </a:r>
            <a:endParaRPr lang="en-US" sz="1500" dirty="0"/>
          </a:p>
          <a:p>
            <a:pPr algn="ctr" indent="0" marL="0">
              <a:buNone/>
            </a:pPr>
            <a:r>
              <a:rPr lang="en-US" sz="1500" b="1" dirty="0">
                <a:solidFill>
                  <a:srgbClr val="F5F1E8"/>
                </a:solidFill>
                <a:latin typeface="BIZ UDPGothic" pitchFamily="34" charset="0"/>
                <a:ea typeface="BIZ UDPGothic" pitchFamily="34" charset="-122"/>
                <a:cs typeface="BIZ UDPGothic" pitchFamily="34" charset="-120"/>
              </a:rPr>
              <a:t>交換</a:t>
            </a:r>
            <a:endParaRPr lang="en-US" sz="1500" dirty="0"/>
          </a:p>
        </p:txBody>
      </p:sp>
      <p:sp>
        <p:nvSpPr>
          <p:cNvPr id="57" name="Text 55"/>
          <p:cNvSpPr/>
          <p:nvPr/>
        </p:nvSpPr>
        <p:spPr>
          <a:xfrm>
            <a:off x="10259568" y="3456432"/>
            <a:ext cx="1292047" cy="1463040"/>
          </a:xfrm>
          <a:prstGeom prst="rect">
            <a:avLst/>
          </a:prstGeom>
          <a:noFill/>
          <a:ln/>
        </p:spPr>
        <p:txBody>
          <a:bodyPr wrap="square" lIns="0" tIns="0" rIns="0" bIns="0" rtlCol="0" anchor="t"/>
          <a:lstStyle/>
          <a:p>
            <a:pPr algn="ctr" indent="0" marL="0">
              <a:buNone/>
            </a:pPr>
            <a:r>
              <a:rPr lang="en-US" sz="1100" dirty="0">
                <a:solidFill>
                  <a:srgbClr val="C9D3D9"/>
                </a:solidFill>
                <a:latin typeface="BIZ UDPGothic" pitchFamily="34" charset="0"/>
                <a:ea typeface="BIZ UDPGothic" pitchFamily="34" charset="-122"/>
                <a:cs typeface="BIZ UDPGothic" pitchFamily="34" charset="-120"/>
              </a:rPr>
              <a:t>人・AI・実行環境が替わっても、全面で意味を保つ</a:t>
            </a:r>
            <a:endParaRPr lang="en-US" sz="1100" dirty="0"/>
          </a:p>
        </p:txBody>
      </p:sp>
      <p:sp>
        <p:nvSpPr>
          <p:cNvPr id="58" name="Text 56"/>
          <p:cNvSpPr/>
          <p:nvPr/>
        </p:nvSpPr>
        <p:spPr>
          <a:xfrm>
            <a:off x="502920" y="6419088"/>
            <a:ext cx="10332720" cy="292608"/>
          </a:xfrm>
          <a:prstGeom prst="rect">
            <a:avLst/>
          </a:prstGeom>
          <a:noFill/>
          <a:ln/>
        </p:spPr>
        <p:txBody>
          <a:bodyPr wrap="square" lIns="0" tIns="0" rIns="0" bIns="0" rtlCol="0" anchor="ctr"/>
          <a:lstStyle/>
          <a:p>
            <a:pPr indent="0" marL="0">
              <a:buNone/>
            </a:pPr>
            <a:r>
              <a:rPr lang="en-US" sz="950" dirty="0">
                <a:solidFill>
                  <a:srgbClr val="56636E"/>
                </a:solidFill>
                <a:latin typeface="BIZ UDPGothic" pitchFamily="34" charset="0"/>
                <a:ea typeface="BIZ UDPGothic" pitchFamily="34" charset="-122"/>
                <a:cs typeface="BIZ UDPGothic" pitchFamily="34" charset="-120"/>
              </a:rPr>
              <a:t>統治面の破線は、製品ではなく人と組織が担う領域。八つの整理は構造化の案であり、六製品が均一に実装済みという意味ではない。</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274320"/>
            <a:ext cx="1118585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02  必要な機能</a:t>
            </a:r>
            <a:endParaRPr lang="en-US" sz="950" dirty="0"/>
          </a:p>
        </p:txBody>
      </p:sp>
      <p:sp>
        <p:nvSpPr>
          <p:cNvPr id="3" name="Text 1"/>
          <p:cNvSpPr/>
          <p:nvPr/>
        </p:nvSpPr>
        <p:spPr>
          <a:xfrm>
            <a:off x="502920" y="530352"/>
            <a:ext cx="1118585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情報の種類と状態を、最後まで混ぜない</a:t>
            </a:r>
            <a:endParaRPr lang="en-US" sz="2500" dirty="0"/>
          </a:p>
        </p:txBody>
      </p:sp>
      <p:sp>
        <p:nvSpPr>
          <p:cNvPr id="4" name="Text 2"/>
          <p:cNvSpPr/>
          <p:nvPr/>
        </p:nvSpPr>
        <p:spPr>
          <a:xfrm>
            <a:off x="502920" y="1097280"/>
            <a:ext cx="1118585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資料に書いてあること、AIが推測したこと、人が決めたこと、実際に起きたことは、別の情報として扱う。</a:t>
            </a:r>
            <a:endParaRPr lang="en-US" sz="1300" dirty="0"/>
          </a:p>
        </p:txBody>
      </p:sp>
      <p:sp>
        <p:nvSpPr>
          <p:cNvPr id="5" name="Text 3"/>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07</a:t>
            </a:r>
            <a:endParaRPr lang="en-US" sz="1000" dirty="0"/>
          </a:p>
        </p:txBody>
      </p:sp>
      <p:sp>
        <p:nvSpPr>
          <p:cNvPr id="6" name="Text 4"/>
          <p:cNvSpPr/>
          <p:nvPr/>
        </p:nvSpPr>
        <p:spPr>
          <a:xfrm>
            <a:off x="502920" y="1572768"/>
            <a:ext cx="4572000" cy="274320"/>
          </a:xfrm>
          <a:prstGeom prst="rect">
            <a:avLst/>
          </a:prstGeom>
          <a:noFill/>
          <a:ln/>
        </p:spPr>
        <p:txBody>
          <a:bodyPr wrap="square" lIns="0" tIns="0" rIns="0" bIns="0" rtlCol="0" anchor="t"/>
          <a:lstStyle/>
          <a:p>
            <a:pPr indent="0" marL="0">
              <a:buNone/>
            </a:pPr>
            <a:r>
              <a:rPr lang="en-US" sz="1200" b="1" dirty="0">
                <a:solidFill>
                  <a:srgbClr val="4F7A5C"/>
                </a:solidFill>
                <a:latin typeface="BIZ UDPGothic" pitchFamily="34" charset="0"/>
                <a:ea typeface="BIZ UDPGothic" pitchFamily="34" charset="-122"/>
                <a:cs typeface="BIZ UDPGothic" pitchFamily="34" charset="-120"/>
              </a:rPr>
              <a:t>認知の状態（主にSUI・SEI）</a:t>
            </a:r>
            <a:endParaRPr lang="en-US" sz="1200" dirty="0"/>
          </a:p>
        </p:txBody>
      </p:sp>
      <p:sp>
        <p:nvSpPr>
          <p:cNvPr id="7" name="Shape 5"/>
          <p:cNvSpPr/>
          <p:nvPr/>
        </p:nvSpPr>
        <p:spPr>
          <a:xfrm>
            <a:off x="502920" y="1874520"/>
            <a:ext cx="1711909" cy="960120"/>
          </a:xfrm>
          <a:prstGeom prst="rect">
            <a:avLst/>
          </a:prstGeom>
          <a:solidFill>
            <a:srgbClr val="FFFFFF"/>
          </a:solidFill>
          <a:ln w="9525">
            <a:solidFill>
              <a:srgbClr val="DCD5C6"/>
            </a:solidFill>
            <a:prstDash val="solid"/>
          </a:ln>
        </p:spPr>
      </p:sp>
      <p:sp>
        <p:nvSpPr>
          <p:cNvPr id="8" name="Shape 6"/>
          <p:cNvSpPr/>
          <p:nvPr/>
        </p:nvSpPr>
        <p:spPr>
          <a:xfrm>
            <a:off x="502920" y="1874520"/>
            <a:ext cx="1711909" cy="45720"/>
          </a:xfrm>
          <a:prstGeom prst="rect">
            <a:avLst/>
          </a:prstGeom>
          <a:solidFill>
            <a:srgbClr val="4F7A5C"/>
          </a:solidFill>
          <a:ln/>
        </p:spPr>
      </p:sp>
      <p:sp>
        <p:nvSpPr>
          <p:cNvPr id="9" name="Text 7"/>
          <p:cNvSpPr/>
          <p:nvPr/>
        </p:nvSpPr>
        <p:spPr>
          <a:xfrm>
            <a:off x="557784" y="1947672"/>
            <a:ext cx="1602181" cy="432054"/>
          </a:xfrm>
          <a:prstGeom prst="rect">
            <a:avLst/>
          </a:prstGeom>
          <a:noFill/>
          <a:ln/>
        </p:spPr>
        <p:txBody>
          <a:bodyPr wrap="square" lIns="0" tIns="0" rIns="0" bIns="0" rtlCol="0" anchor="ctr"/>
          <a:lstStyle/>
          <a:p>
            <a:pPr algn="ctr" indent="0" marL="0">
              <a:buNone/>
            </a:pPr>
            <a:r>
              <a:rPr lang="en-US" sz="1400" b="1" dirty="0">
                <a:solidFill>
                  <a:srgbClr val="243D54"/>
                </a:solidFill>
                <a:latin typeface="BIZ UDPGothic" pitchFamily="34" charset="0"/>
                <a:ea typeface="BIZ UDPGothic" pitchFamily="34" charset="-122"/>
                <a:cs typeface="BIZ UDPGothic" pitchFamily="34" charset="-120"/>
              </a:rPr>
              <a:t>観測</a:t>
            </a:r>
            <a:endParaRPr lang="en-US" sz="1400" dirty="0"/>
          </a:p>
        </p:txBody>
      </p:sp>
      <p:sp>
        <p:nvSpPr>
          <p:cNvPr id="10" name="Text 8"/>
          <p:cNvSpPr/>
          <p:nvPr/>
        </p:nvSpPr>
        <p:spPr>
          <a:xfrm>
            <a:off x="557784" y="2354580"/>
            <a:ext cx="1602181" cy="441655"/>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資料や発言から確認できた記録</a:t>
            </a:r>
            <a:endParaRPr lang="en-US" sz="1000" dirty="0"/>
          </a:p>
        </p:txBody>
      </p:sp>
      <p:sp>
        <p:nvSpPr>
          <p:cNvPr id="11" name="Shape 9"/>
          <p:cNvSpPr/>
          <p:nvPr/>
        </p:nvSpPr>
        <p:spPr>
          <a:xfrm>
            <a:off x="2242261" y="2354580"/>
            <a:ext cx="128016" cy="0"/>
          </a:xfrm>
          <a:prstGeom prst="line">
            <a:avLst/>
          </a:prstGeom>
          <a:noFill/>
          <a:ln w="19050">
            <a:solidFill>
              <a:srgbClr val="4F7A5C"/>
            </a:solidFill>
            <a:prstDash val="solid"/>
            <a:tailEnd type="triangle"/>
          </a:ln>
        </p:spPr>
      </p:sp>
      <p:sp>
        <p:nvSpPr>
          <p:cNvPr id="12" name="Shape 10"/>
          <p:cNvSpPr/>
          <p:nvPr/>
        </p:nvSpPr>
        <p:spPr>
          <a:xfrm>
            <a:off x="2397709" y="1874520"/>
            <a:ext cx="1711909" cy="960120"/>
          </a:xfrm>
          <a:prstGeom prst="rect">
            <a:avLst/>
          </a:prstGeom>
          <a:solidFill>
            <a:srgbClr val="FFFFFF"/>
          </a:solidFill>
          <a:ln w="9525">
            <a:solidFill>
              <a:srgbClr val="DCD5C6"/>
            </a:solidFill>
            <a:prstDash val="solid"/>
          </a:ln>
        </p:spPr>
      </p:sp>
      <p:sp>
        <p:nvSpPr>
          <p:cNvPr id="13" name="Shape 11"/>
          <p:cNvSpPr/>
          <p:nvPr/>
        </p:nvSpPr>
        <p:spPr>
          <a:xfrm>
            <a:off x="2397709" y="1874520"/>
            <a:ext cx="1711909" cy="45720"/>
          </a:xfrm>
          <a:prstGeom prst="rect">
            <a:avLst/>
          </a:prstGeom>
          <a:solidFill>
            <a:srgbClr val="4F7A5C"/>
          </a:solidFill>
          <a:ln/>
        </p:spPr>
      </p:sp>
      <p:sp>
        <p:nvSpPr>
          <p:cNvPr id="14" name="Text 12"/>
          <p:cNvSpPr/>
          <p:nvPr/>
        </p:nvSpPr>
        <p:spPr>
          <a:xfrm>
            <a:off x="2452573" y="1947672"/>
            <a:ext cx="1602181" cy="432054"/>
          </a:xfrm>
          <a:prstGeom prst="rect">
            <a:avLst/>
          </a:prstGeom>
          <a:noFill/>
          <a:ln/>
        </p:spPr>
        <p:txBody>
          <a:bodyPr wrap="square" lIns="0" tIns="0" rIns="0" bIns="0" rtlCol="0" anchor="ctr"/>
          <a:lstStyle/>
          <a:p>
            <a:pPr algn="ctr" indent="0" marL="0">
              <a:buNone/>
            </a:pPr>
            <a:r>
              <a:rPr lang="en-US" sz="1400" b="1" dirty="0">
                <a:solidFill>
                  <a:srgbClr val="243D54"/>
                </a:solidFill>
                <a:latin typeface="BIZ UDPGothic" pitchFamily="34" charset="0"/>
                <a:ea typeface="BIZ UDPGothic" pitchFamily="34" charset="-122"/>
                <a:cs typeface="BIZ UDPGothic" pitchFamily="34" charset="-120"/>
              </a:rPr>
              <a:t>解釈・仮説</a:t>
            </a:r>
            <a:endParaRPr lang="en-US" sz="1400" dirty="0"/>
          </a:p>
        </p:txBody>
      </p:sp>
      <p:sp>
        <p:nvSpPr>
          <p:cNvPr id="15" name="Text 13"/>
          <p:cNvSpPr/>
          <p:nvPr/>
        </p:nvSpPr>
        <p:spPr>
          <a:xfrm>
            <a:off x="2452573" y="2354580"/>
            <a:ext cx="1602181" cy="441655"/>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観測から考えた意味や説明の候補</a:t>
            </a:r>
            <a:endParaRPr lang="en-US" sz="1000" dirty="0"/>
          </a:p>
        </p:txBody>
      </p:sp>
      <p:sp>
        <p:nvSpPr>
          <p:cNvPr id="16" name="Shape 14"/>
          <p:cNvSpPr/>
          <p:nvPr/>
        </p:nvSpPr>
        <p:spPr>
          <a:xfrm>
            <a:off x="4137050" y="2354580"/>
            <a:ext cx="128016" cy="0"/>
          </a:xfrm>
          <a:prstGeom prst="line">
            <a:avLst/>
          </a:prstGeom>
          <a:noFill/>
          <a:ln w="19050">
            <a:solidFill>
              <a:srgbClr val="4F7A5C"/>
            </a:solidFill>
            <a:prstDash val="solid"/>
            <a:tailEnd type="triangle"/>
          </a:ln>
        </p:spPr>
      </p:sp>
      <p:sp>
        <p:nvSpPr>
          <p:cNvPr id="17" name="Shape 15"/>
          <p:cNvSpPr/>
          <p:nvPr/>
        </p:nvSpPr>
        <p:spPr>
          <a:xfrm>
            <a:off x="4292498" y="1874520"/>
            <a:ext cx="1711909" cy="960120"/>
          </a:xfrm>
          <a:prstGeom prst="rect">
            <a:avLst/>
          </a:prstGeom>
          <a:solidFill>
            <a:srgbClr val="FFFFFF"/>
          </a:solidFill>
          <a:ln w="9525">
            <a:solidFill>
              <a:srgbClr val="DCD5C6"/>
            </a:solidFill>
            <a:prstDash val="solid"/>
          </a:ln>
        </p:spPr>
      </p:sp>
      <p:sp>
        <p:nvSpPr>
          <p:cNvPr id="18" name="Shape 16"/>
          <p:cNvSpPr/>
          <p:nvPr/>
        </p:nvSpPr>
        <p:spPr>
          <a:xfrm>
            <a:off x="4292498" y="1874520"/>
            <a:ext cx="1711909" cy="45720"/>
          </a:xfrm>
          <a:prstGeom prst="rect">
            <a:avLst/>
          </a:prstGeom>
          <a:solidFill>
            <a:srgbClr val="4F7A5C"/>
          </a:solidFill>
          <a:ln/>
        </p:spPr>
      </p:sp>
      <p:sp>
        <p:nvSpPr>
          <p:cNvPr id="19" name="Text 17"/>
          <p:cNvSpPr/>
          <p:nvPr/>
        </p:nvSpPr>
        <p:spPr>
          <a:xfrm>
            <a:off x="4347362" y="1947672"/>
            <a:ext cx="1602181" cy="432054"/>
          </a:xfrm>
          <a:prstGeom prst="rect">
            <a:avLst/>
          </a:prstGeom>
          <a:noFill/>
          <a:ln/>
        </p:spPr>
        <p:txBody>
          <a:bodyPr wrap="square" lIns="0" tIns="0" rIns="0" bIns="0" rtlCol="0" anchor="ctr"/>
          <a:lstStyle/>
          <a:p>
            <a:pPr algn="ctr" indent="0" marL="0">
              <a:buNone/>
            </a:pPr>
            <a:r>
              <a:rPr lang="en-US" sz="1400" b="1" dirty="0">
                <a:solidFill>
                  <a:srgbClr val="243D54"/>
                </a:solidFill>
                <a:latin typeface="BIZ UDPGothic" pitchFamily="34" charset="0"/>
                <a:ea typeface="BIZ UDPGothic" pitchFamily="34" charset="-122"/>
                <a:cs typeface="BIZ UDPGothic" pitchFamily="34" charset="-120"/>
              </a:rPr>
              <a:t>反証</a:t>
            </a:r>
            <a:endParaRPr lang="en-US" sz="1400" dirty="0"/>
          </a:p>
        </p:txBody>
      </p:sp>
      <p:sp>
        <p:nvSpPr>
          <p:cNvPr id="20" name="Text 18"/>
          <p:cNvSpPr/>
          <p:nvPr/>
        </p:nvSpPr>
        <p:spPr>
          <a:xfrm>
            <a:off x="4347362" y="2354580"/>
            <a:ext cx="1602181" cy="441655"/>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仮説と合わない材料</a:t>
            </a:r>
            <a:endParaRPr lang="en-US" sz="1000" dirty="0"/>
          </a:p>
        </p:txBody>
      </p:sp>
      <p:sp>
        <p:nvSpPr>
          <p:cNvPr id="21" name="Shape 19"/>
          <p:cNvSpPr/>
          <p:nvPr/>
        </p:nvSpPr>
        <p:spPr>
          <a:xfrm>
            <a:off x="6031840" y="2354580"/>
            <a:ext cx="128016" cy="0"/>
          </a:xfrm>
          <a:prstGeom prst="line">
            <a:avLst/>
          </a:prstGeom>
          <a:noFill/>
          <a:ln w="19050">
            <a:solidFill>
              <a:srgbClr val="4F7A5C"/>
            </a:solidFill>
            <a:prstDash val="solid"/>
            <a:tailEnd type="triangle"/>
          </a:ln>
        </p:spPr>
      </p:sp>
      <p:sp>
        <p:nvSpPr>
          <p:cNvPr id="22" name="Shape 20"/>
          <p:cNvSpPr/>
          <p:nvPr/>
        </p:nvSpPr>
        <p:spPr>
          <a:xfrm>
            <a:off x="6187288" y="1874520"/>
            <a:ext cx="1711909" cy="960120"/>
          </a:xfrm>
          <a:prstGeom prst="rect">
            <a:avLst/>
          </a:prstGeom>
          <a:solidFill>
            <a:srgbClr val="FFFFFF"/>
          </a:solidFill>
          <a:ln w="9525">
            <a:solidFill>
              <a:srgbClr val="DCD5C6"/>
            </a:solidFill>
            <a:prstDash val="solid"/>
          </a:ln>
        </p:spPr>
      </p:sp>
      <p:sp>
        <p:nvSpPr>
          <p:cNvPr id="23" name="Shape 21"/>
          <p:cNvSpPr/>
          <p:nvPr/>
        </p:nvSpPr>
        <p:spPr>
          <a:xfrm>
            <a:off x="6187288" y="1874520"/>
            <a:ext cx="1711909" cy="45720"/>
          </a:xfrm>
          <a:prstGeom prst="rect">
            <a:avLst/>
          </a:prstGeom>
          <a:solidFill>
            <a:srgbClr val="4F7A5C"/>
          </a:solidFill>
          <a:ln/>
        </p:spPr>
      </p:sp>
      <p:sp>
        <p:nvSpPr>
          <p:cNvPr id="24" name="Text 22"/>
          <p:cNvSpPr/>
          <p:nvPr/>
        </p:nvSpPr>
        <p:spPr>
          <a:xfrm>
            <a:off x="6242152" y="1947672"/>
            <a:ext cx="1602181" cy="432054"/>
          </a:xfrm>
          <a:prstGeom prst="rect">
            <a:avLst/>
          </a:prstGeom>
          <a:noFill/>
          <a:ln/>
        </p:spPr>
        <p:txBody>
          <a:bodyPr wrap="square" lIns="0" tIns="0" rIns="0" bIns="0" rtlCol="0" anchor="ctr"/>
          <a:lstStyle/>
          <a:p>
            <a:pPr algn="ctr" indent="0" marL="0">
              <a:buNone/>
            </a:pPr>
            <a:r>
              <a:rPr lang="en-US" sz="1400" b="1" dirty="0">
                <a:solidFill>
                  <a:srgbClr val="243D54"/>
                </a:solidFill>
                <a:latin typeface="BIZ UDPGothic" pitchFamily="34" charset="0"/>
                <a:ea typeface="BIZ UDPGothic" pitchFamily="34" charset="-122"/>
                <a:cs typeface="BIZ UDPGothic" pitchFamily="34" charset="-120"/>
              </a:rPr>
              <a:t>未解決</a:t>
            </a:r>
            <a:endParaRPr lang="en-US" sz="1400" dirty="0"/>
          </a:p>
        </p:txBody>
      </p:sp>
      <p:sp>
        <p:nvSpPr>
          <p:cNvPr id="25" name="Text 23"/>
          <p:cNvSpPr/>
          <p:nvPr/>
        </p:nvSpPr>
        <p:spPr>
          <a:xfrm>
            <a:off x="6242152" y="2354580"/>
            <a:ext cx="1602181" cy="441655"/>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まだ調べるべきこと</a:t>
            </a:r>
            <a:endParaRPr lang="en-US" sz="1000" dirty="0"/>
          </a:p>
        </p:txBody>
      </p:sp>
      <p:sp>
        <p:nvSpPr>
          <p:cNvPr id="26" name="Shape 24"/>
          <p:cNvSpPr/>
          <p:nvPr/>
        </p:nvSpPr>
        <p:spPr>
          <a:xfrm>
            <a:off x="7926629" y="2354580"/>
            <a:ext cx="128016" cy="0"/>
          </a:xfrm>
          <a:prstGeom prst="line">
            <a:avLst/>
          </a:prstGeom>
          <a:noFill/>
          <a:ln w="19050">
            <a:solidFill>
              <a:srgbClr val="4F7A5C"/>
            </a:solidFill>
            <a:prstDash val="solid"/>
            <a:tailEnd type="triangle"/>
          </a:ln>
        </p:spPr>
      </p:sp>
      <p:sp>
        <p:nvSpPr>
          <p:cNvPr id="27" name="Shape 25"/>
          <p:cNvSpPr/>
          <p:nvPr/>
        </p:nvSpPr>
        <p:spPr>
          <a:xfrm>
            <a:off x="8082077" y="1874520"/>
            <a:ext cx="1711909" cy="960120"/>
          </a:xfrm>
          <a:prstGeom prst="rect">
            <a:avLst/>
          </a:prstGeom>
          <a:solidFill>
            <a:srgbClr val="FFFFFF"/>
          </a:solidFill>
          <a:ln w="9525">
            <a:solidFill>
              <a:srgbClr val="DCD5C6"/>
            </a:solidFill>
            <a:prstDash val="solid"/>
          </a:ln>
        </p:spPr>
      </p:sp>
      <p:sp>
        <p:nvSpPr>
          <p:cNvPr id="28" name="Shape 26"/>
          <p:cNvSpPr/>
          <p:nvPr/>
        </p:nvSpPr>
        <p:spPr>
          <a:xfrm>
            <a:off x="8082077" y="1874520"/>
            <a:ext cx="1711909" cy="45720"/>
          </a:xfrm>
          <a:prstGeom prst="rect">
            <a:avLst/>
          </a:prstGeom>
          <a:solidFill>
            <a:srgbClr val="4F7A5C"/>
          </a:solidFill>
          <a:ln/>
        </p:spPr>
      </p:sp>
      <p:sp>
        <p:nvSpPr>
          <p:cNvPr id="29" name="Text 27"/>
          <p:cNvSpPr/>
          <p:nvPr/>
        </p:nvSpPr>
        <p:spPr>
          <a:xfrm>
            <a:off x="8136941" y="1947672"/>
            <a:ext cx="1602181" cy="432054"/>
          </a:xfrm>
          <a:prstGeom prst="rect">
            <a:avLst/>
          </a:prstGeom>
          <a:noFill/>
          <a:ln/>
        </p:spPr>
        <p:txBody>
          <a:bodyPr wrap="square" lIns="0" tIns="0" rIns="0" bIns="0" rtlCol="0" anchor="ctr"/>
          <a:lstStyle/>
          <a:p>
            <a:pPr algn="ctr" indent="0" marL="0">
              <a:buNone/>
            </a:pPr>
            <a:r>
              <a:rPr lang="en-US" sz="1400" b="1" dirty="0">
                <a:solidFill>
                  <a:srgbClr val="243D54"/>
                </a:solidFill>
                <a:latin typeface="BIZ UDPGothic" pitchFamily="34" charset="0"/>
                <a:ea typeface="BIZ UDPGothic" pitchFamily="34" charset="-122"/>
                <a:cs typeface="BIZ UDPGothic" pitchFamily="34" charset="-120"/>
              </a:rPr>
              <a:t>推奨</a:t>
            </a:r>
            <a:endParaRPr lang="en-US" sz="1400" dirty="0"/>
          </a:p>
        </p:txBody>
      </p:sp>
      <p:sp>
        <p:nvSpPr>
          <p:cNvPr id="30" name="Text 28"/>
          <p:cNvSpPr/>
          <p:nvPr/>
        </p:nvSpPr>
        <p:spPr>
          <a:xfrm>
            <a:off x="8136941" y="2354580"/>
            <a:ext cx="1602181" cy="441655"/>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勧める案</a:t>
            </a:r>
            <a:endParaRPr lang="en-US" sz="1000" dirty="0"/>
          </a:p>
        </p:txBody>
      </p:sp>
      <p:sp>
        <p:nvSpPr>
          <p:cNvPr id="31" name="Shape 29"/>
          <p:cNvSpPr/>
          <p:nvPr/>
        </p:nvSpPr>
        <p:spPr>
          <a:xfrm>
            <a:off x="9821418" y="2354580"/>
            <a:ext cx="128016" cy="0"/>
          </a:xfrm>
          <a:prstGeom prst="line">
            <a:avLst/>
          </a:prstGeom>
          <a:noFill/>
          <a:ln w="19050">
            <a:solidFill>
              <a:srgbClr val="4F7A5C"/>
            </a:solidFill>
            <a:prstDash val="solid"/>
            <a:tailEnd type="triangle"/>
          </a:ln>
        </p:spPr>
      </p:sp>
      <p:sp>
        <p:nvSpPr>
          <p:cNvPr id="32" name="Shape 30"/>
          <p:cNvSpPr/>
          <p:nvPr/>
        </p:nvSpPr>
        <p:spPr>
          <a:xfrm>
            <a:off x="9976866" y="1874520"/>
            <a:ext cx="1711909" cy="960120"/>
          </a:xfrm>
          <a:prstGeom prst="rect">
            <a:avLst/>
          </a:prstGeom>
          <a:solidFill>
            <a:srgbClr val="2B4834"/>
          </a:solidFill>
          <a:ln/>
        </p:spPr>
      </p:sp>
      <p:sp>
        <p:nvSpPr>
          <p:cNvPr id="33" name="Shape 31"/>
          <p:cNvSpPr/>
          <p:nvPr/>
        </p:nvSpPr>
        <p:spPr>
          <a:xfrm>
            <a:off x="9976866" y="1874520"/>
            <a:ext cx="1711909" cy="45720"/>
          </a:xfrm>
          <a:prstGeom prst="rect">
            <a:avLst/>
          </a:prstGeom>
          <a:solidFill>
            <a:srgbClr val="4F7A5C"/>
          </a:solidFill>
          <a:ln/>
        </p:spPr>
      </p:sp>
      <p:sp>
        <p:nvSpPr>
          <p:cNvPr id="34" name="Text 32"/>
          <p:cNvSpPr/>
          <p:nvPr/>
        </p:nvSpPr>
        <p:spPr>
          <a:xfrm>
            <a:off x="10031730" y="1947672"/>
            <a:ext cx="1602181" cy="432054"/>
          </a:xfrm>
          <a:prstGeom prst="rect">
            <a:avLst/>
          </a:prstGeom>
          <a:noFill/>
          <a:ln/>
        </p:spPr>
        <p:txBody>
          <a:bodyPr wrap="square" lIns="0" tIns="0" rIns="0" bIns="0" rtlCol="0" anchor="ctr"/>
          <a:lstStyle/>
          <a:p>
            <a:pPr algn="ctr" indent="0" marL="0">
              <a:buNone/>
            </a:pPr>
            <a:r>
              <a:rPr lang="en-US" sz="1400" b="1" dirty="0">
                <a:solidFill>
                  <a:srgbClr val="F5F1E8"/>
                </a:solidFill>
                <a:latin typeface="BIZ UDPGothic" pitchFamily="34" charset="0"/>
                <a:ea typeface="BIZ UDPGothic" pitchFamily="34" charset="-122"/>
                <a:cs typeface="BIZ UDPGothic" pitchFamily="34" charset="-120"/>
              </a:rPr>
              <a:t>決定</a:t>
            </a:r>
            <a:endParaRPr lang="en-US" sz="1400" dirty="0"/>
          </a:p>
        </p:txBody>
      </p:sp>
      <p:sp>
        <p:nvSpPr>
          <p:cNvPr id="35" name="Text 33"/>
          <p:cNvSpPr/>
          <p:nvPr/>
        </p:nvSpPr>
        <p:spPr>
          <a:xfrm>
            <a:off x="10031730" y="2354580"/>
            <a:ext cx="1602181" cy="441655"/>
          </a:xfrm>
          <a:prstGeom prst="rect">
            <a:avLst/>
          </a:prstGeom>
          <a:noFill/>
          <a:ln/>
        </p:spPr>
        <p:txBody>
          <a:bodyPr wrap="square" lIns="0" tIns="0" rIns="0" bIns="0" rtlCol="0" anchor="t"/>
          <a:lstStyle/>
          <a:p>
            <a:pPr algn="ctr" indent="0" marL="0">
              <a:buNone/>
            </a:pPr>
            <a:r>
              <a:rPr lang="en-US" sz="1000" dirty="0">
                <a:solidFill>
                  <a:srgbClr val="C9D3D9"/>
                </a:solidFill>
                <a:latin typeface="BIZ UDPGothic" pitchFamily="34" charset="0"/>
                <a:ea typeface="BIZ UDPGothic" pitchFamily="34" charset="-122"/>
                <a:cs typeface="BIZ UDPGothic" pitchFamily="34" charset="-120"/>
              </a:rPr>
              <a:t>責任ある主体が採用したもの</a:t>
            </a:r>
            <a:endParaRPr lang="en-US" sz="1000" dirty="0"/>
          </a:p>
        </p:txBody>
      </p:sp>
      <p:sp>
        <p:nvSpPr>
          <p:cNvPr id="36" name="Text 34"/>
          <p:cNvSpPr/>
          <p:nvPr/>
        </p:nvSpPr>
        <p:spPr>
          <a:xfrm>
            <a:off x="502920" y="3017520"/>
            <a:ext cx="4572000" cy="274320"/>
          </a:xfrm>
          <a:prstGeom prst="rect">
            <a:avLst/>
          </a:prstGeom>
          <a:noFill/>
          <a:ln/>
        </p:spPr>
        <p:txBody>
          <a:bodyPr wrap="square" lIns="0" tIns="0" rIns="0" bIns="0" rtlCol="0" anchor="t"/>
          <a:lstStyle/>
          <a:p>
            <a:pPr indent="0" marL="0">
              <a:buNone/>
            </a:pPr>
            <a:r>
              <a:rPr lang="en-US" sz="1200" b="1" dirty="0">
                <a:solidFill>
                  <a:srgbClr val="3C6684"/>
                </a:solidFill>
                <a:latin typeface="BIZ UDPGothic" pitchFamily="34" charset="0"/>
                <a:ea typeface="BIZ UDPGothic" pitchFamily="34" charset="-122"/>
                <a:cs typeface="BIZ UDPGothic" pitchFamily="34" charset="-120"/>
              </a:rPr>
              <a:t>行為の状態（SEI・EKI）</a:t>
            </a:r>
            <a:endParaRPr lang="en-US" sz="1200" dirty="0"/>
          </a:p>
        </p:txBody>
      </p:sp>
      <p:sp>
        <p:nvSpPr>
          <p:cNvPr id="37" name="Shape 35"/>
          <p:cNvSpPr/>
          <p:nvPr/>
        </p:nvSpPr>
        <p:spPr>
          <a:xfrm>
            <a:off x="502920" y="3319272"/>
            <a:ext cx="2590724" cy="822960"/>
          </a:xfrm>
          <a:prstGeom prst="rect">
            <a:avLst/>
          </a:prstGeom>
          <a:solidFill>
            <a:srgbClr val="FFFFFF"/>
          </a:solidFill>
          <a:ln w="9525">
            <a:solidFill>
              <a:srgbClr val="DCD5C6"/>
            </a:solidFill>
            <a:prstDash val="solid"/>
          </a:ln>
        </p:spPr>
      </p:sp>
      <p:sp>
        <p:nvSpPr>
          <p:cNvPr id="38" name="Shape 36"/>
          <p:cNvSpPr/>
          <p:nvPr/>
        </p:nvSpPr>
        <p:spPr>
          <a:xfrm>
            <a:off x="502920" y="3319272"/>
            <a:ext cx="2590724" cy="45720"/>
          </a:xfrm>
          <a:prstGeom prst="rect">
            <a:avLst/>
          </a:prstGeom>
          <a:solidFill>
            <a:srgbClr val="3C6684"/>
          </a:solidFill>
          <a:ln/>
        </p:spPr>
      </p:sp>
      <p:sp>
        <p:nvSpPr>
          <p:cNvPr id="39" name="Text 37"/>
          <p:cNvSpPr/>
          <p:nvPr/>
        </p:nvSpPr>
        <p:spPr>
          <a:xfrm>
            <a:off x="557784" y="3392424"/>
            <a:ext cx="2480996" cy="370332"/>
          </a:xfrm>
          <a:prstGeom prst="rect">
            <a:avLst/>
          </a:prstGeom>
          <a:noFill/>
          <a:ln/>
        </p:spPr>
        <p:txBody>
          <a:bodyPr wrap="square" lIns="0" tIns="0" rIns="0" bIns="0" rtlCol="0" anchor="ctr"/>
          <a:lstStyle/>
          <a:p>
            <a:pPr algn="ctr" indent="0" marL="0">
              <a:buNone/>
            </a:pPr>
            <a:r>
              <a:rPr lang="en-US" sz="1500" b="1" dirty="0">
                <a:solidFill>
                  <a:srgbClr val="243D54"/>
                </a:solidFill>
                <a:latin typeface="BIZ UDPGothic" pitchFamily="34" charset="0"/>
                <a:ea typeface="BIZ UDPGothic" pitchFamily="34" charset="-122"/>
                <a:cs typeface="BIZ UDPGothic" pitchFamily="34" charset="-120"/>
              </a:rPr>
              <a:t>権限</a:t>
            </a:r>
            <a:endParaRPr lang="en-US" sz="1500" dirty="0"/>
          </a:p>
        </p:txBody>
      </p:sp>
      <p:sp>
        <p:nvSpPr>
          <p:cNvPr id="40" name="Text 38"/>
          <p:cNvSpPr/>
          <p:nvPr/>
        </p:nvSpPr>
        <p:spPr>
          <a:xfrm>
            <a:off x="557784" y="3730752"/>
            <a:ext cx="2480996" cy="378562"/>
          </a:xfrm>
          <a:prstGeom prst="rect">
            <a:avLst/>
          </a:prstGeom>
          <a:noFill/>
          <a:ln/>
        </p:spPr>
        <p:txBody>
          <a:bodyPr wrap="square" lIns="0" tIns="0" rIns="0" bIns="0" rtlCol="0" anchor="t"/>
          <a:lstStyle/>
          <a:p>
            <a:pPr algn="ctr" indent="0" marL="0">
              <a:buNone/>
            </a:pPr>
            <a:r>
              <a:rPr lang="en-US" sz="1050" dirty="0">
                <a:solidFill>
                  <a:srgbClr val="56636E"/>
                </a:solidFill>
                <a:latin typeface="BIZ UDPGothic" pitchFamily="34" charset="0"/>
                <a:ea typeface="BIZ UDPGothic" pitchFamily="34" charset="-122"/>
                <a:cs typeface="BIZ UDPGothic" pitchFamily="34" charset="-120"/>
              </a:rPr>
              <a:t>誰に何を許すか</a:t>
            </a:r>
            <a:endParaRPr lang="en-US" sz="1050" dirty="0"/>
          </a:p>
        </p:txBody>
      </p:sp>
      <p:sp>
        <p:nvSpPr>
          <p:cNvPr id="41" name="Shape 39"/>
          <p:cNvSpPr/>
          <p:nvPr/>
        </p:nvSpPr>
        <p:spPr>
          <a:xfrm>
            <a:off x="3121076" y="3730752"/>
            <a:ext cx="219456" cy="0"/>
          </a:xfrm>
          <a:prstGeom prst="line">
            <a:avLst/>
          </a:prstGeom>
          <a:noFill/>
          <a:ln w="19050">
            <a:solidFill>
              <a:srgbClr val="3C6684"/>
            </a:solidFill>
            <a:prstDash val="solid"/>
            <a:tailEnd type="triangle"/>
          </a:ln>
        </p:spPr>
      </p:sp>
      <p:sp>
        <p:nvSpPr>
          <p:cNvPr id="42" name="Shape 40"/>
          <p:cNvSpPr/>
          <p:nvPr/>
        </p:nvSpPr>
        <p:spPr>
          <a:xfrm>
            <a:off x="3367964" y="3319272"/>
            <a:ext cx="2590724" cy="822960"/>
          </a:xfrm>
          <a:prstGeom prst="rect">
            <a:avLst/>
          </a:prstGeom>
          <a:solidFill>
            <a:srgbClr val="FFFFFF"/>
          </a:solidFill>
          <a:ln w="9525">
            <a:solidFill>
              <a:srgbClr val="DCD5C6"/>
            </a:solidFill>
            <a:prstDash val="solid"/>
          </a:ln>
        </p:spPr>
      </p:sp>
      <p:sp>
        <p:nvSpPr>
          <p:cNvPr id="43" name="Shape 41"/>
          <p:cNvSpPr/>
          <p:nvPr/>
        </p:nvSpPr>
        <p:spPr>
          <a:xfrm>
            <a:off x="3367964" y="3319272"/>
            <a:ext cx="2590724" cy="45720"/>
          </a:xfrm>
          <a:prstGeom prst="rect">
            <a:avLst/>
          </a:prstGeom>
          <a:solidFill>
            <a:srgbClr val="3C6684"/>
          </a:solidFill>
          <a:ln/>
        </p:spPr>
      </p:sp>
      <p:sp>
        <p:nvSpPr>
          <p:cNvPr id="44" name="Text 42"/>
          <p:cNvSpPr/>
          <p:nvPr/>
        </p:nvSpPr>
        <p:spPr>
          <a:xfrm>
            <a:off x="3422828" y="3392424"/>
            <a:ext cx="2480996" cy="370332"/>
          </a:xfrm>
          <a:prstGeom prst="rect">
            <a:avLst/>
          </a:prstGeom>
          <a:noFill/>
          <a:ln/>
        </p:spPr>
        <p:txBody>
          <a:bodyPr wrap="square" lIns="0" tIns="0" rIns="0" bIns="0" rtlCol="0" anchor="ctr"/>
          <a:lstStyle/>
          <a:p>
            <a:pPr algn="ctr" indent="0" marL="0">
              <a:buNone/>
            </a:pPr>
            <a:r>
              <a:rPr lang="en-US" sz="1500" b="1" dirty="0">
                <a:solidFill>
                  <a:srgbClr val="243D54"/>
                </a:solidFill>
                <a:latin typeface="BIZ UDPGothic" pitchFamily="34" charset="0"/>
                <a:ea typeface="BIZ UDPGothic" pitchFamily="34" charset="-122"/>
                <a:cs typeface="BIZ UDPGothic" pitchFamily="34" charset="-120"/>
              </a:rPr>
              <a:t>実行の意図</a:t>
            </a:r>
            <a:endParaRPr lang="en-US" sz="1500" dirty="0"/>
          </a:p>
        </p:txBody>
      </p:sp>
      <p:sp>
        <p:nvSpPr>
          <p:cNvPr id="45" name="Text 43"/>
          <p:cNvSpPr/>
          <p:nvPr/>
        </p:nvSpPr>
        <p:spPr>
          <a:xfrm>
            <a:off x="3422828" y="3730752"/>
            <a:ext cx="2480996" cy="378562"/>
          </a:xfrm>
          <a:prstGeom prst="rect">
            <a:avLst/>
          </a:prstGeom>
          <a:noFill/>
          <a:ln/>
        </p:spPr>
        <p:txBody>
          <a:bodyPr wrap="square" lIns="0" tIns="0" rIns="0" bIns="0" rtlCol="0" anchor="t"/>
          <a:lstStyle/>
          <a:p>
            <a:pPr algn="ctr" indent="0" marL="0">
              <a:buNone/>
            </a:pPr>
            <a:r>
              <a:rPr lang="en-US" sz="1050" dirty="0">
                <a:solidFill>
                  <a:srgbClr val="56636E"/>
                </a:solidFill>
                <a:latin typeface="BIZ UDPGothic" pitchFamily="34" charset="0"/>
                <a:ea typeface="BIZ UDPGothic" pitchFamily="34" charset="-122"/>
                <a:cs typeface="BIZ UDPGothic" pitchFamily="34" charset="-120"/>
              </a:rPr>
              <a:t>何をしようとするか</a:t>
            </a:r>
            <a:endParaRPr lang="en-US" sz="1050" dirty="0"/>
          </a:p>
        </p:txBody>
      </p:sp>
      <p:sp>
        <p:nvSpPr>
          <p:cNvPr id="46" name="Shape 44"/>
          <p:cNvSpPr/>
          <p:nvPr/>
        </p:nvSpPr>
        <p:spPr>
          <a:xfrm>
            <a:off x="5986120" y="3730752"/>
            <a:ext cx="219456" cy="0"/>
          </a:xfrm>
          <a:prstGeom prst="line">
            <a:avLst/>
          </a:prstGeom>
          <a:noFill/>
          <a:ln w="19050">
            <a:solidFill>
              <a:srgbClr val="3C6684"/>
            </a:solidFill>
            <a:prstDash val="solid"/>
            <a:tailEnd type="triangle"/>
          </a:ln>
        </p:spPr>
      </p:sp>
      <p:sp>
        <p:nvSpPr>
          <p:cNvPr id="47" name="Shape 45"/>
          <p:cNvSpPr/>
          <p:nvPr/>
        </p:nvSpPr>
        <p:spPr>
          <a:xfrm>
            <a:off x="6233008" y="3319272"/>
            <a:ext cx="2590724" cy="822960"/>
          </a:xfrm>
          <a:prstGeom prst="rect">
            <a:avLst/>
          </a:prstGeom>
          <a:solidFill>
            <a:srgbClr val="FFFFFF"/>
          </a:solidFill>
          <a:ln w="9525">
            <a:solidFill>
              <a:srgbClr val="DCD5C6"/>
            </a:solidFill>
            <a:prstDash val="solid"/>
          </a:ln>
        </p:spPr>
      </p:sp>
      <p:sp>
        <p:nvSpPr>
          <p:cNvPr id="48" name="Shape 46"/>
          <p:cNvSpPr/>
          <p:nvPr/>
        </p:nvSpPr>
        <p:spPr>
          <a:xfrm>
            <a:off x="6233008" y="3319272"/>
            <a:ext cx="2590724" cy="45720"/>
          </a:xfrm>
          <a:prstGeom prst="rect">
            <a:avLst/>
          </a:prstGeom>
          <a:solidFill>
            <a:srgbClr val="3C6684"/>
          </a:solidFill>
          <a:ln/>
        </p:spPr>
      </p:sp>
      <p:sp>
        <p:nvSpPr>
          <p:cNvPr id="49" name="Text 47"/>
          <p:cNvSpPr/>
          <p:nvPr/>
        </p:nvSpPr>
        <p:spPr>
          <a:xfrm>
            <a:off x="6287872" y="3392424"/>
            <a:ext cx="2480996" cy="370332"/>
          </a:xfrm>
          <a:prstGeom prst="rect">
            <a:avLst/>
          </a:prstGeom>
          <a:noFill/>
          <a:ln/>
        </p:spPr>
        <p:txBody>
          <a:bodyPr wrap="square" lIns="0" tIns="0" rIns="0" bIns="0" rtlCol="0" anchor="ctr"/>
          <a:lstStyle/>
          <a:p>
            <a:pPr algn="ctr" indent="0" marL="0">
              <a:buNone/>
            </a:pPr>
            <a:r>
              <a:rPr lang="en-US" sz="1500" b="1" dirty="0">
                <a:solidFill>
                  <a:srgbClr val="243D54"/>
                </a:solidFill>
                <a:latin typeface="BIZ UDPGothic" pitchFamily="34" charset="0"/>
                <a:ea typeface="BIZ UDPGothic" pitchFamily="34" charset="-122"/>
                <a:cs typeface="BIZ UDPGothic" pitchFamily="34" charset="-120"/>
              </a:rPr>
              <a:t>実行</a:t>
            </a:r>
            <a:endParaRPr lang="en-US" sz="1500" dirty="0"/>
          </a:p>
        </p:txBody>
      </p:sp>
      <p:sp>
        <p:nvSpPr>
          <p:cNvPr id="50" name="Text 48"/>
          <p:cNvSpPr/>
          <p:nvPr/>
        </p:nvSpPr>
        <p:spPr>
          <a:xfrm>
            <a:off x="6287872" y="3730752"/>
            <a:ext cx="2480996" cy="378562"/>
          </a:xfrm>
          <a:prstGeom prst="rect">
            <a:avLst/>
          </a:prstGeom>
          <a:noFill/>
          <a:ln/>
        </p:spPr>
        <p:txBody>
          <a:bodyPr wrap="square" lIns="0" tIns="0" rIns="0" bIns="0" rtlCol="0" anchor="t"/>
          <a:lstStyle/>
          <a:p>
            <a:pPr algn="ctr" indent="0" marL="0">
              <a:buNone/>
            </a:pPr>
            <a:r>
              <a:rPr lang="en-US" sz="1050" dirty="0">
                <a:solidFill>
                  <a:srgbClr val="56636E"/>
                </a:solidFill>
                <a:latin typeface="BIZ UDPGothic" pitchFamily="34" charset="0"/>
                <a:ea typeface="BIZ UDPGothic" pitchFamily="34" charset="-122"/>
                <a:cs typeface="BIZ UDPGothic" pitchFamily="34" charset="-120"/>
              </a:rPr>
              <a:t>実際に行ったこと</a:t>
            </a:r>
            <a:endParaRPr lang="en-US" sz="1050" dirty="0"/>
          </a:p>
        </p:txBody>
      </p:sp>
      <p:sp>
        <p:nvSpPr>
          <p:cNvPr id="51" name="Shape 49"/>
          <p:cNvSpPr/>
          <p:nvPr/>
        </p:nvSpPr>
        <p:spPr>
          <a:xfrm>
            <a:off x="8851163" y="3730752"/>
            <a:ext cx="219456" cy="0"/>
          </a:xfrm>
          <a:prstGeom prst="line">
            <a:avLst/>
          </a:prstGeom>
          <a:noFill/>
          <a:ln w="19050">
            <a:solidFill>
              <a:srgbClr val="3C6684"/>
            </a:solidFill>
            <a:prstDash val="solid"/>
            <a:tailEnd type="triangle"/>
          </a:ln>
        </p:spPr>
      </p:sp>
      <p:sp>
        <p:nvSpPr>
          <p:cNvPr id="52" name="Shape 50"/>
          <p:cNvSpPr/>
          <p:nvPr/>
        </p:nvSpPr>
        <p:spPr>
          <a:xfrm>
            <a:off x="9098051" y="3319272"/>
            <a:ext cx="2590724" cy="822960"/>
          </a:xfrm>
          <a:prstGeom prst="rect">
            <a:avLst/>
          </a:prstGeom>
          <a:solidFill>
            <a:srgbClr val="FFFFFF"/>
          </a:solidFill>
          <a:ln w="9525">
            <a:solidFill>
              <a:srgbClr val="DCD5C6"/>
            </a:solidFill>
            <a:prstDash val="solid"/>
          </a:ln>
        </p:spPr>
      </p:sp>
      <p:sp>
        <p:nvSpPr>
          <p:cNvPr id="53" name="Shape 51"/>
          <p:cNvSpPr/>
          <p:nvPr/>
        </p:nvSpPr>
        <p:spPr>
          <a:xfrm>
            <a:off x="9098051" y="3319272"/>
            <a:ext cx="2590724" cy="45720"/>
          </a:xfrm>
          <a:prstGeom prst="rect">
            <a:avLst/>
          </a:prstGeom>
          <a:solidFill>
            <a:srgbClr val="3C6684"/>
          </a:solidFill>
          <a:ln/>
        </p:spPr>
      </p:sp>
      <p:sp>
        <p:nvSpPr>
          <p:cNvPr id="54" name="Text 52"/>
          <p:cNvSpPr/>
          <p:nvPr/>
        </p:nvSpPr>
        <p:spPr>
          <a:xfrm>
            <a:off x="9152915" y="3392424"/>
            <a:ext cx="2480996" cy="370332"/>
          </a:xfrm>
          <a:prstGeom prst="rect">
            <a:avLst/>
          </a:prstGeom>
          <a:noFill/>
          <a:ln/>
        </p:spPr>
        <p:txBody>
          <a:bodyPr wrap="square" lIns="0" tIns="0" rIns="0" bIns="0" rtlCol="0" anchor="ctr"/>
          <a:lstStyle/>
          <a:p>
            <a:pPr algn="ctr" indent="0" marL="0">
              <a:buNone/>
            </a:pPr>
            <a:r>
              <a:rPr lang="en-US" sz="1500" b="1" dirty="0">
                <a:solidFill>
                  <a:srgbClr val="243D54"/>
                </a:solidFill>
                <a:latin typeface="BIZ UDPGothic" pitchFamily="34" charset="0"/>
                <a:ea typeface="BIZ UDPGothic" pitchFamily="34" charset="-122"/>
                <a:cs typeface="BIZ UDPGothic" pitchFamily="34" charset="-120"/>
              </a:rPr>
              <a:t>業務上の結果</a:t>
            </a:r>
            <a:endParaRPr lang="en-US" sz="1500" dirty="0"/>
          </a:p>
        </p:txBody>
      </p:sp>
      <p:sp>
        <p:nvSpPr>
          <p:cNvPr id="55" name="Text 53"/>
          <p:cNvSpPr/>
          <p:nvPr/>
        </p:nvSpPr>
        <p:spPr>
          <a:xfrm>
            <a:off x="9152915" y="3730752"/>
            <a:ext cx="2480996" cy="378562"/>
          </a:xfrm>
          <a:prstGeom prst="rect">
            <a:avLst/>
          </a:prstGeom>
          <a:noFill/>
          <a:ln/>
        </p:spPr>
        <p:txBody>
          <a:bodyPr wrap="square" lIns="0" tIns="0" rIns="0" bIns="0" rtlCol="0" anchor="t"/>
          <a:lstStyle/>
          <a:p>
            <a:pPr algn="ctr" indent="0" marL="0">
              <a:buNone/>
            </a:pPr>
            <a:r>
              <a:rPr lang="en-US" sz="1050" dirty="0">
                <a:solidFill>
                  <a:srgbClr val="56636E"/>
                </a:solidFill>
                <a:latin typeface="BIZ UDPGothic" pitchFamily="34" charset="0"/>
                <a:ea typeface="BIZ UDPGothic" pitchFamily="34" charset="-122"/>
                <a:cs typeface="BIZ UDPGothic" pitchFamily="34" charset="-120"/>
              </a:rPr>
              <a:t>何が変わったか</a:t>
            </a:r>
            <a:endParaRPr lang="en-US" sz="1050" dirty="0"/>
          </a:p>
        </p:txBody>
      </p:sp>
      <p:sp>
        <p:nvSpPr>
          <p:cNvPr id="56" name="Shape 54"/>
          <p:cNvSpPr/>
          <p:nvPr/>
        </p:nvSpPr>
        <p:spPr>
          <a:xfrm>
            <a:off x="502920" y="4343400"/>
            <a:ext cx="5455768" cy="1920240"/>
          </a:xfrm>
          <a:prstGeom prst="rect">
            <a:avLst/>
          </a:prstGeom>
          <a:solidFill>
            <a:srgbClr val="FFFFFF"/>
          </a:solidFill>
          <a:ln w="9525">
            <a:solidFill>
              <a:srgbClr val="DCD5C6"/>
            </a:solidFill>
            <a:prstDash val="solid"/>
          </a:ln>
        </p:spPr>
      </p:sp>
      <p:sp>
        <p:nvSpPr>
          <p:cNvPr id="57" name="Text 55"/>
          <p:cNvSpPr/>
          <p:nvPr/>
        </p:nvSpPr>
        <p:spPr>
          <a:xfrm>
            <a:off x="731520" y="4434840"/>
            <a:ext cx="5090008" cy="274320"/>
          </a:xfrm>
          <a:prstGeom prst="rect">
            <a:avLst/>
          </a:prstGeom>
          <a:noFill/>
          <a:ln/>
        </p:spPr>
        <p:txBody>
          <a:bodyPr wrap="square" lIns="0" tIns="0" rIns="0" bIns="0" rtlCol="0" anchor="t"/>
          <a:lstStyle/>
          <a:p>
            <a:pPr indent="0" marL="0">
              <a:buNone/>
            </a:pPr>
            <a:r>
              <a:rPr lang="en-US" sz="1200" b="1" dirty="0">
                <a:solidFill>
                  <a:srgbClr val="8C5A44"/>
                </a:solidFill>
                <a:latin typeface="BIZ UDPGothic" pitchFamily="34" charset="0"/>
                <a:ea typeface="BIZ UDPGothic" pitchFamily="34" charset="-122"/>
                <a:cs typeface="BIZ UDPGothic" pitchFamily="34" charset="-120"/>
              </a:rPr>
              <a:t>取り違えると起きること</a:t>
            </a:r>
            <a:endParaRPr lang="en-US" sz="1200" dirty="0"/>
          </a:p>
        </p:txBody>
      </p:sp>
      <p:sp>
        <p:nvSpPr>
          <p:cNvPr id="58" name="Text 56"/>
          <p:cNvSpPr/>
          <p:nvPr/>
        </p:nvSpPr>
        <p:spPr>
          <a:xfrm>
            <a:off x="731520" y="4754880"/>
            <a:ext cx="5090008" cy="14173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243D54"/>
                </a:solidFill>
                <a:latin typeface="BIZ UDPGothic" pitchFamily="34" charset="0"/>
                <a:ea typeface="BIZ UDPGothic" pitchFamily="34" charset="-122"/>
                <a:cs typeface="BIZ UDPGothic" pitchFamily="34" charset="-120"/>
              </a:rPr>
              <a:t>観測した記述を、確定した真実とみなす</a:t>
            </a:r>
            <a:endParaRPr lang="en-US" sz="1200" dirty="0"/>
          </a:p>
          <a:p>
            <a:pPr marL="342900" indent="-342900">
              <a:spcAft>
                <a:spcPts val="400"/>
              </a:spcAft>
              <a:buSzPct val="100000"/>
              <a:buChar char="•"/>
            </a:pPr>
            <a:r>
              <a:rPr lang="en-US" sz="1200" dirty="0">
                <a:solidFill>
                  <a:srgbClr val="243D54"/>
                </a:solidFill>
                <a:latin typeface="BIZ UDPGothic" pitchFamily="34" charset="0"/>
                <a:ea typeface="BIZ UDPGothic" pitchFamily="34" charset="-122"/>
                <a:cs typeface="BIZ UDPGothic" pitchFamily="34" charset="-120"/>
              </a:rPr>
              <a:t>仮説を、そのまま業務規則へ格上げする</a:t>
            </a:r>
            <a:endParaRPr lang="en-US" sz="1200" dirty="0"/>
          </a:p>
          <a:p>
            <a:pPr marL="342900" indent="-342900">
              <a:spcAft>
                <a:spcPts val="400"/>
              </a:spcAft>
              <a:buSzPct val="100000"/>
              <a:buChar char="•"/>
            </a:pPr>
            <a:r>
              <a:rPr lang="en-US" sz="1200" dirty="0">
                <a:solidFill>
                  <a:srgbClr val="243D54"/>
                </a:solidFill>
                <a:latin typeface="BIZ UDPGothic" pitchFamily="34" charset="0"/>
                <a:ea typeface="BIZ UDPGothic" pitchFamily="34" charset="-122"/>
                <a:cs typeface="BIZ UDPGothic" pitchFamily="34" charset="-120"/>
              </a:rPr>
              <a:t>AIの推奨を、正式な決定として実行する</a:t>
            </a:r>
            <a:endParaRPr lang="en-US" sz="1200" dirty="0"/>
          </a:p>
          <a:p>
            <a:pPr marL="342900" indent="-342900">
              <a:spcAft>
                <a:spcPts val="400"/>
              </a:spcAft>
              <a:buSzPct val="100000"/>
              <a:buChar char="•"/>
            </a:pPr>
            <a:r>
              <a:rPr lang="en-US" sz="1200" dirty="0">
                <a:solidFill>
                  <a:srgbClr val="243D54"/>
                </a:solidFill>
                <a:latin typeface="BIZ UDPGothic" pitchFamily="34" charset="0"/>
                <a:ea typeface="BIZ UDPGothic" pitchFamily="34" charset="-122"/>
                <a:cs typeface="BIZ UDPGothic" pitchFamily="34" charset="-120"/>
              </a:rPr>
              <a:t>処理の成功を、業務の成功と同一視する</a:t>
            </a:r>
            <a:endParaRPr lang="en-US" sz="1200" dirty="0"/>
          </a:p>
        </p:txBody>
      </p:sp>
      <p:sp>
        <p:nvSpPr>
          <p:cNvPr id="59" name="Shape 57"/>
          <p:cNvSpPr/>
          <p:nvPr/>
        </p:nvSpPr>
        <p:spPr>
          <a:xfrm>
            <a:off x="6233008" y="4343400"/>
            <a:ext cx="5455768" cy="1920240"/>
          </a:xfrm>
          <a:prstGeom prst="rect">
            <a:avLst/>
          </a:prstGeom>
          <a:solidFill>
            <a:srgbClr val="243D54"/>
          </a:solidFill>
          <a:ln/>
        </p:spPr>
      </p:sp>
      <p:sp>
        <p:nvSpPr>
          <p:cNvPr id="60" name="Text 58"/>
          <p:cNvSpPr/>
          <p:nvPr/>
        </p:nvSpPr>
        <p:spPr>
          <a:xfrm>
            <a:off x="6461608" y="4434840"/>
            <a:ext cx="5090008" cy="274320"/>
          </a:xfrm>
          <a:prstGeom prst="rect">
            <a:avLst/>
          </a:prstGeom>
          <a:noFill/>
          <a:ln/>
        </p:spPr>
        <p:txBody>
          <a:bodyPr wrap="square" lIns="0" tIns="0" rIns="0" bIns="0" rtlCol="0" anchor="t"/>
          <a:lstStyle/>
          <a:p>
            <a:pPr indent="0" marL="0">
              <a:buNone/>
            </a:pPr>
            <a:r>
              <a:rPr lang="en-US" sz="1200" b="1" dirty="0">
                <a:solidFill>
                  <a:srgbClr val="C4A06D"/>
                </a:solidFill>
                <a:latin typeface="BIZ UDPGothic" pitchFamily="34" charset="0"/>
                <a:ea typeface="BIZ UDPGothic" pitchFamily="34" charset="-122"/>
                <a:cs typeface="BIZ UDPGothic" pitchFamily="34" charset="-120"/>
              </a:rPr>
              <a:t>操作の記録だけでは足りない理由</a:t>
            </a:r>
            <a:endParaRPr lang="en-US" sz="1200" dirty="0"/>
          </a:p>
        </p:txBody>
      </p:sp>
      <p:sp>
        <p:nvSpPr>
          <p:cNvPr id="61" name="Text 59"/>
          <p:cNvSpPr/>
          <p:nvPr/>
        </p:nvSpPr>
        <p:spPr>
          <a:xfrm>
            <a:off x="6461608" y="4754880"/>
            <a:ext cx="5090008" cy="1417320"/>
          </a:xfrm>
          <a:prstGeom prst="rect">
            <a:avLst/>
          </a:prstGeom>
          <a:noFill/>
          <a:ln/>
        </p:spPr>
        <p:txBody>
          <a:bodyPr wrap="square" lIns="0" tIns="0" rIns="0" bIns="0" rtlCol="0" anchor="t"/>
          <a:lstStyle/>
          <a:p>
            <a:pPr indent="0" marL="0">
              <a:spcAft>
                <a:spcPts val="800"/>
              </a:spcAft>
              <a:buNone/>
            </a:pPr>
            <a:r>
              <a:rPr lang="en-US" sz="1200" b="1" dirty="0">
                <a:solidFill>
                  <a:srgbClr val="A7B7A7"/>
                </a:solidFill>
                <a:latin typeface="BIZ UDPGothic" pitchFamily="34" charset="0"/>
                <a:ea typeface="BIZ UDPGothic" pitchFamily="34" charset="-122"/>
                <a:cs typeface="BIZ UDPGothic" pitchFamily="34" charset="-120"/>
              </a:rPr>
              <a:t>操作の記録  </a:t>
            </a:r>
            <a:pPr indent="0" marL="0">
              <a:spcAft>
                <a:spcPts val="800"/>
              </a:spcAft>
              <a:buNone/>
            </a:pPr>
            <a:r>
              <a:rPr lang="en-US" sz="1200" dirty="0">
                <a:solidFill>
                  <a:srgbClr val="F5F1E8"/>
                </a:solidFill>
                <a:latin typeface="BIZ UDPGothic" pitchFamily="34" charset="0"/>
                <a:ea typeface="BIZ UDPGothic" pitchFamily="34" charset="-122"/>
                <a:cs typeface="BIZ UDPGothic" pitchFamily="34" charset="-120"/>
              </a:rPr>
              <a:t>誰が何を呼び出し、成功したか。追跡や障害調査に使う。</a:t>
            </a:r>
            <a:endParaRPr lang="en-US" sz="1200" dirty="0"/>
          </a:p>
          <a:p>
            <a:pPr indent="0" marL="0">
              <a:spcAft>
                <a:spcPts val="800"/>
              </a:spcAft>
              <a:buNone/>
            </a:pPr>
            <a:r>
              <a:rPr lang="en-US" sz="1200" b="1" dirty="0">
                <a:solidFill>
                  <a:srgbClr val="C4A06D"/>
                </a:solidFill>
                <a:latin typeface="BIZ UDPGothic" pitchFamily="34" charset="0"/>
                <a:ea typeface="BIZ UDPGothic" pitchFamily="34" charset="-122"/>
                <a:cs typeface="BIZ UDPGothic" pitchFamily="34" charset="-120"/>
              </a:rPr>
              <a:t>意味と判断の記録  </a:t>
            </a:r>
            <a:pPr indent="0" marL="0">
              <a:spcAft>
                <a:spcPts val="800"/>
              </a:spcAft>
              <a:buNone/>
            </a:pPr>
            <a:r>
              <a:rPr lang="en-US" sz="1200" dirty="0">
                <a:solidFill>
                  <a:srgbClr val="F5F1E8"/>
                </a:solidFill>
                <a:latin typeface="BIZ UDPGothic" pitchFamily="34" charset="0"/>
                <a:ea typeface="BIZ UDPGothic" pitchFamily="34" charset="-122"/>
                <a:cs typeface="BIZ UDPGothic" pitchFamily="34" charset="-120"/>
              </a:rPr>
              <a:t>判断の目的と根拠、採用・不採用・未確認の区別、当時の対象版と責任者、見直す条件。</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43D54"/>
        </a:solidFill>
      </p:bgPr>
    </p:bg>
    <p:spTree>
      <p:nvGrpSpPr>
        <p:cNvPr id="1" name=""/>
        <p:cNvGrpSpPr/>
        <p:nvPr/>
      </p:nvGrpSpPr>
      <p:grpSpPr>
        <a:xfrm>
          <a:off x="0" y="0"/>
          <a:ext cx="0" cy="0"/>
          <a:chOff x="0" y="0"/>
          <a:chExt cx="0" cy="0"/>
        </a:xfrm>
      </p:grpSpPr>
      <p:sp>
        <p:nvSpPr>
          <p:cNvPr id="2" name="Text 0"/>
          <p:cNvSpPr/>
          <p:nvPr/>
        </p:nvSpPr>
        <p:spPr>
          <a:xfrm>
            <a:off x="502920" y="274320"/>
            <a:ext cx="11185855" cy="228600"/>
          </a:xfrm>
          <a:prstGeom prst="rect">
            <a:avLst/>
          </a:prstGeom>
          <a:noFill/>
          <a:ln/>
        </p:spPr>
        <p:txBody>
          <a:bodyPr wrap="square" lIns="0" tIns="0" rIns="0" bIns="0" rtlCol="0" anchor="t"/>
          <a:lstStyle/>
          <a:p>
            <a:pPr indent="0" marL="0">
              <a:buNone/>
            </a:pPr>
            <a:r>
              <a:rPr lang="en-US" sz="950" spc="200" kern="0" dirty="0">
                <a:solidFill>
                  <a:srgbClr val="A7B7A7"/>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03  全体構成</a:t>
            </a:r>
            <a:endParaRPr lang="en-US" sz="950" dirty="0"/>
          </a:p>
        </p:txBody>
      </p:sp>
      <p:sp>
        <p:nvSpPr>
          <p:cNvPr id="3" name="Text 1"/>
          <p:cNvSpPr/>
          <p:nvPr/>
        </p:nvSpPr>
        <p:spPr>
          <a:xfrm>
            <a:off x="502920" y="530352"/>
            <a:ext cx="11185855" cy="548640"/>
          </a:xfrm>
          <a:prstGeom prst="rect">
            <a:avLst/>
          </a:prstGeom>
          <a:noFill/>
          <a:ln/>
        </p:spPr>
        <p:txBody>
          <a:bodyPr wrap="square" lIns="0" tIns="0" rIns="0" bIns="0" rtlCol="0" anchor="ctr"/>
          <a:lstStyle/>
          <a:p>
            <a:pPr indent="0" marL="0">
              <a:buNone/>
            </a:pPr>
            <a:r>
              <a:rPr lang="en-US" sz="2500" b="1" dirty="0">
                <a:solidFill>
                  <a:srgbClr val="F5F1E8"/>
                </a:solidFill>
                <a:latin typeface="BIZ UDPGothic" pitchFamily="34" charset="0"/>
                <a:ea typeface="BIZ UDPGothic" pitchFamily="34" charset="-122"/>
                <a:cs typeface="BIZ UDPGothic" pitchFamily="34" charset="-120"/>
              </a:rPr>
              <a:t>六つの独立した製品が、一つの問いを支える</a:t>
            </a:r>
            <a:endParaRPr lang="en-US" sz="2500" dirty="0"/>
          </a:p>
        </p:txBody>
      </p:sp>
      <p:sp>
        <p:nvSpPr>
          <p:cNvPr id="4" name="Text 2"/>
          <p:cNvSpPr/>
          <p:nvPr/>
        </p:nvSpPr>
        <p:spPr>
          <a:xfrm>
            <a:off x="502920" y="1097280"/>
            <a:ext cx="11185855" cy="329184"/>
          </a:xfrm>
          <a:prstGeom prst="rect">
            <a:avLst/>
          </a:prstGeom>
          <a:noFill/>
          <a:ln/>
        </p:spPr>
        <p:txBody>
          <a:bodyPr wrap="square" lIns="0" tIns="0" rIns="0" bIns="0" rtlCol="0" anchor="ctr"/>
          <a:lstStyle/>
          <a:p>
            <a:pPr indent="0" marL="0">
              <a:buNone/>
            </a:pPr>
            <a:r>
              <a:rPr lang="en-US" sz="1300" dirty="0">
                <a:solidFill>
                  <a:srgbClr val="C9D3D9"/>
                </a:solidFill>
                <a:latin typeface="BIZ UDPGothic" pitchFamily="34" charset="0"/>
                <a:ea typeface="BIZ UDPGothic" pitchFamily="34" charset="-122"/>
                <a:cs typeface="BIZ UDPGothic" pitchFamily="34" charset="-120"/>
              </a:rPr>
              <a:t>各製品は単独で価値を持ち、何の正本かが異なる。データや責任を一つのデータベースに集めない。</a:t>
            </a:r>
            <a:endParaRPr lang="en-US" sz="1300" dirty="0"/>
          </a:p>
        </p:txBody>
      </p:sp>
      <p:sp>
        <p:nvSpPr>
          <p:cNvPr id="5" name="Text 3"/>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A7B7A7"/>
                </a:solidFill>
                <a:latin typeface="Georgia" pitchFamily="34" charset="0"/>
                <a:ea typeface="Georgia" pitchFamily="34" charset="-122"/>
                <a:cs typeface="Georgia" pitchFamily="34" charset="-120"/>
              </a:rPr>
              <a:t>08</a:t>
            </a:r>
            <a:endParaRPr lang="en-US" sz="1000" dirty="0"/>
          </a:p>
        </p:txBody>
      </p:sp>
      <p:sp>
        <p:nvSpPr>
          <p:cNvPr id="6" name="Shape 4"/>
          <p:cNvSpPr/>
          <p:nvPr/>
        </p:nvSpPr>
        <p:spPr>
          <a:xfrm>
            <a:off x="4206240" y="1828800"/>
            <a:ext cx="45720" cy="45720"/>
          </a:xfrm>
          <a:prstGeom prst="ellipse">
            <a:avLst/>
          </a:prstGeom>
          <a:solidFill>
            <a:srgbClr val="A7B7A7"/>
          </a:solidFill>
          <a:ln/>
        </p:spPr>
      </p:sp>
      <p:sp>
        <p:nvSpPr>
          <p:cNvPr id="7" name="Shape 5"/>
          <p:cNvSpPr/>
          <p:nvPr/>
        </p:nvSpPr>
        <p:spPr>
          <a:xfrm>
            <a:off x="7772400" y="2103120"/>
            <a:ext cx="45720" cy="45720"/>
          </a:xfrm>
          <a:prstGeom prst="ellipse">
            <a:avLst/>
          </a:prstGeom>
          <a:solidFill>
            <a:srgbClr val="A7B7A7"/>
          </a:solidFill>
          <a:ln/>
        </p:spPr>
      </p:sp>
      <p:sp>
        <p:nvSpPr>
          <p:cNvPr id="8" name="Shape 6"/>
          <p:cNvSpPr/>
          <p:nvPr/>
        </p:nvSpPr>
        <p:spPr>
          <a:xfrm>
            <a:off x="5669280" y="6035040"/>
            <a:ext cx="45720" cy="45720"/>
          </a:xfrm>
          <a:prstGeom prst="ellipse">
            <a:avLst/>
          </a:prstGeom>
          <a:solidFill>
            <a:srgbClr val="A7B7A7"/>
          </a:solidFill>
          <a:ln/>
        </p:spPr>
      </p:sp>
      <p:sp>
        <p:nvSpPr>
          <p:cNvPr id="9" name="Shape 7"/>
          <p:cNvSpPr/>
          <p:nvPr/>
        </p:nvSpPr>
        <p:spPr>
          <a:xfrm>
            <a:off x="3931920" y="5669280"/>
            <a:ext cx="45720" cy="45720"/>
          </a:xfrm>
          <a:prstGeom prst="ellipse">
            <a:avLst/>
          </a:prstGeom>
          <a:solidFill>
            <a:srgbClr val="A7B7A7"/>
          </a:solidFill>
          <a:ln/>
        </p:spPr>
      </p:sp>
      <p:sp>
        <p:nvSpPr>
          <p:cNvPr id="10" name="Shape 8"/>
          <p:cNvSpPr/>
          <p:nvPr/>
        </p:nvSpPr>
        <p:spPr>
          <a:xfrm>
            <a:off x="8229600" y="5852160"/>
            <a:ext cx="45720" cy="45720"/>
          </a:xfrm>
          <a:prstGeom prst="ellipse">
            <a:avLst/>
          </a:prstGeom>
          <a:solidFill>
            <a:srgbClr val="A7B7A7"/>
          </a:solidFill>
          <a:ln/>
        </p:spPr>
      </p:sp>
      <p:sp>
        <p:nvSpPr>
          <p:cNvPr id="11" name="Shape 9"/>
          <p:cNvSpPr/>
          <p:nvPr/>
        </p:nvSpPr>
        <p:spPr>
          <a:xfrm>
            <a:off x="6766560" y="1691640"/>
            <a:ext cx="45720" cy="45720"/>
          </a:xfrm>
          <a:prstGeom prst="ellipse">
            <a:avLst/>
          </a:prstGeom>
          <a:solidFill>
            <a:srgbClr val="A7B7A7"/>
          </a:solidFill>
          <a:ln/>
        </p:spPr>
      </p:sp>
      <p:sp>
        <p:nvSpPr>
          <p:cNvPr id="12" name="Shape 10"/>
          <p:cNvSpPr/>
          <p:nvPr/>
        </p:nvSpPr>
        <p:spPr>
          <a:xfrm>
            <a:off x="3886200" y="2308860"/>
            <a:ext cx="1249528" cy="1623060"/>
          </a:xfrm>
          <a:prstGeom prst="line">
            <a:avLst/>
          </a:prstGeom>
          <a:noFill/>
          <a:ln w="12700">
            <a:solidFill>
              <a:srgbClr val="A7B7A7"/>
            </a:solidFill>
            <a:prstDash val="dash"/>
          </a:ln>
        </p:spPr>
      </p:sp>
      <p:sp>
        <p:nvSpPr>
          <p:cNvPr id="13" name="Shape 11"/>
          <p:cNvSpPr/>
          <p:nvPr/>
        </p:nvSpPr>
        <p:spPr>
          <a:xfrm>
            <a:off x="502920" y="1645920"/>
            <a:ext cx="3383280" cy="1325880"/>
          </a:xfrm>
          <a:prstGeom prst="rect">
            <a:avLst/>
          </a:prstGeom>
          <a:solidFill>
            <a:srgbClr val="2E4C66"/>
          </a:solidFill>
          <a:ln w="6350">
            <a:solidFill>
              <a:srgbClr val="789FB6"/>
            </a:solidFill>
            <a:prstDash val="solid"/>
          </a:ln>
        </p:spPr>
      </p:sp>
      <p:sp>
        <p:nvSpPr>
          <p:cNvPr id="14" name="Shape 12"/>
          <p:cNvSpPr/>
          <p:nvPr/>
        </p:nvSpPr>
        <p:spPr>
          <a:xfrm>
            <a:off x="502920" y="1645920"/>
            <a:ext cx="64008" cy="1325880"/>
          </a:xfrm>
          <a:prstGeom prst="rect">
            <a:avLst/>
          </a:prstGeom>
          <a:solidFill>
            <a:srgbClr val="8A6A35"/>
          </a:solidFill>
          <a:ln/>
        </p:spPr>
      </p:sp>
      <p:sp>
        <p:nvSpPr>
          <p:cNvPr id="15" name="Shape 13"/>
          <p:cNvSpPr/>
          <p:nvPr/>
        </p:nvSpPr>
        <p:spPr>
          <a:xfrm>
            <a:off x="731520" y="2144684"/>
            <a:ext cx="165141" cy="31588"/>
          </a:xfrm>
          <a:prstGeom prst="rect">
            <a:avLst/>
          </a:prstGeom>
          <a:solidFill>
            <a:srgbClr val="C4A06D"/>
          </a:solidFill>
          <a:ln/>
        </p:spPr>
      </p:sp>
      <p:sp>
        <p:nvSpPr>
          <p:cNvPr id="16" name="Shape 14"/>
          <p:cNvSpPr/>
          <p:nvPr/>
        </p:nvSpPr>
        <p:spPr>
          <a:xfrm>
            <a:off x="950427" y="2144684"/>
            <a:ext cx="165141" cy="31588"/>
          </a:xfrm>
          <a:prstGeom prst="rect">
            <a:avLst/>
          </a:prstGeom>
          <a:solidFill>
            <a:srgbClr val="C4A06D"/>
          </a:solidFill>
          <a:ln/>
        </p:spPr>
      </p:sp>
      <p:sp>
        <p:nvSpPr>
          <p:cNvPr id="17" name="Shape 15"/>
          <p:cNvSpPr/>
          <p:nvPr/>
        </p:nvSpPr>
        <p:spPr>
          <a:xfrm>
            <a:off x="731520" y="2081507"/>
            <a:ext cx="384048" cy="31588"/>
          </a:xfrm>
          <a:prstGeom prst="rect">
            <a:avLst/>
          </a:prstGeom>
          <a:solidFill>
            <a:srgbClr val="C4A06D"/>
          </a:solidFill>
          <a:ln/>
        </p:spPr>
      </p:sp>
      <p:sp>
        <p:nvSpPr>
          <p:cNvPr id="18" name="Shape 16"/>
          <p:cNvSpPr/>
          <p:nvPr/>
        </p:nvSpPr>
        <p:spPr>
          <a:xfrm>
            <a:off x="731520" y="2018330"/>
            <a:ext cx="384048" cy="31588"/>
          </a:xfrm>
          <a:prstGeom prst="rect">
            <a:avLst/>
          </a:prstGeom>
          <a:solidFill>
            <a:srgbClr val="C4A06D"/>
          </a:solidFill>
          <a:ln/>
        </p:spPr>
      </p:sp>
      <p:sp>
        <p:nvSpPr>
          <p:cNvPr id="19" name="Shape 17"/>
          <p:cNvSpPr/>
          <p:nvPr/>
        </p:nvSpPr>
        <p:spPr>
          <a:xfrm>
            <a:off x="731520" y="1955153"/>
            <a:ext cx="165141" cy="31588"/>
          </a:xfrm>
          <a:prstGeom prst="rect">
            <a:avLst/>
          </a:prstGeom>
          <a:solidFill>
            <a:srgbClr val="C4A06D"/>
          </a:solidFill>
          <a:ln/>
        </p:spPr>
      </p:sp>
      <p:sp>
        <p:nvSpPr>
          <p:cNvPr id="20" name="Shape 18"/>
          <p:cNvSpPr/>
          <p:nvPr/>
        </p:nvSpPr>
        <p:spPr>
          <a:xfrm>
            <a:off x="950427" y="1955153"/>
            <a:ext cx="165141" cy="31588"/>
          </a:xfrm>
          <a:prstGeom prst="rect">
            <a:avLst/>
          </a:prstGeom>
          <a:solidFill>
            <a:srgbClr val="C4A06D"/>
          </a:solidFill>
          <a:ln/>
        </p:spPr>
      </p:sp>
      <p:sp>
        <p:nvSpPr>
          <p:cNvPr id="21" name="Shape 19"/>
          <p:cNvSpPr/>
          <p:nvPr/>
        </p:nvSpPr>
        <p:spPr>
          <a:xfrm>
            <a:off x="731520" y="1891977"/>
            <a:ext cx="165141" cy="31588"/>
          </a:xfrm>
          <a:prstGeom prst="rect">
            <a:avLst/>
          </a:prstGeom>
          <a:solidFill>
            <a:srgbClr val="C4A06D"/>
          </a:solidFill>
          <a:ln/>
        </p:spPr>
      </p:sp>
      <p:sp>
        <p:nvSpPr>
          <p:cNvPr id="22" name="Shape 20"/>
          <p:cNvSpPr/>
          <p:nvPr/>
        </p:nvSpPr>
        <p:spPr>
          <a:xfrm>
            <a:off x="950427" y="1891977"/>
            <a:ext cx="165141" cy="31588"/>
          </a:xfrm>
          <a:prstGeom prst="rect">
            <a:avLst/>
          </a:prstGeom>
          <a:solidFill>
            <a:srgbClr val="C4A06D"/>
          </a:solidFill>
          <a:ln/>
        </p:spPr>
      </p:sp>
      <p:sp>
        <p:nvSpPr>
          <p:cNvPr id="23" name="Shape 21"/>
          <p:cNvSpPr/>
          <p:nvPr/>
        </p:nvSpPr>
        <p:spPr>
          <a:xfrm>
            <a:off x="731520" y="1828800"/>
            <a:ext cx="165141" cy="31588"/>
          </a:xfrm>
          <a:prstGeom prst="rect">
            <a:avLst/>
          </a:prstGeom>
          <a:solidFill>
            <a:srgbClr val="C4A06D"/>
          </a:solidFill>
          <a:ln/>
        </p:spPr>
      </p:sp>
      <p:sp>
        <p:nvSpPr>
          <p:cNvPr id="24" name="Shape 22"/>
          <p:cNvSpPr/>
          <p:nvPr/>
        </p:nvSpPr>
        <p:spPr>
          <a:xfrm>
            <a:off x="950427" y="1828800"/>
            <a:ext cx="165141" cy="31588"/>
          </a:xfrm>
          <a:prstGeom prst="rect">
            <a:avLst/>
          </a:prstGeom>
          <a:solidFill>
            <a:srgbClr val="C4A06D"/>
          </a:solidFill>
          <a:ln/>
        </p:spPr>
      </p:sp>
      <p:sp>
        <p:nvSpPr>
          <p:cNvPr id="25" name="Text 23"/>
          <p:cNvSpPr/>
          <p:nvPr/>
        </p:nvSpPr>
        <p:spPr>
          <a:xfrm>
            <a:off x="1280160" y="1755648"/>
            <a:ext cx="2514600" cy="292608"/>
          </a:xfrm>
          <a:prstGeom prst="rect">
            <a:avLst/>
          </a:prstGeom>
          <a:noFill/>
          <a:ln/>
        </p:spPr>
        <p:txBody>
          <a:bodyPr wrap="square" lIns="0" tIns="0" rIns="0" bIns="0" rtlCol="0" anchor="t"/>
          <a:lstStyle/>
          <a:p>
            <a:pPr indent="0" marL="0">
              <a:buNone/>
            </a:pPr>
            <a:r>
              <a:rPr lang="en-US" sz="1400" b="1" dirty="0">
                <a:solidFill>
                  <a:srgbClr val="F5F1E8"/>
                </a:solidFill>
                <a:latin typeface="Georgia" pitchFamily="34" charset="0"/>
                <a:ea typeface="Georgia" pitchFamily="34" charset="-122"/>
                <a:cs typeface="Georgia" pitchFamily="34" charset="-120"/>
              </a:rPr>
              <a:t>SHO Composer</a:t>
            </a:r>
            <a:endParaRPr lang="en-US" sz="1400" dirty="0"/>
          </a:p>
        </p:txBody>
      </p:sp>
      <p:sp>
        <p:nvSpPr>
          <p:cNvPr id="26" name="Text 24"/>
          <p:cNvSpPr/>
          <p:nvPr/>
        </p:nvSpPr>
        <p:spPr>
          <a:xfrm>
            <a:off x="1280160" y="2029968"/>
            <a:ext cx="2514600" cy="219456"/>
          </a:xfrm>
          <a:prstGeom prst="rect">
            <a:avLst/>
          </a:prstGeom>
          <a:noFill/>
          <a:ln/>
        </p:spPr>
        <p:txBody>
          <a:bodyPr wrap="square" lIns="0" tIns="0" rIns="0" bIns="0" rtlCol="0" anchor="t"/>
          <a:lstStyle/>
          <a:p>
            <a:pPr indent="0" marL="0">
              <a:buNone/>
            </a:pPr>
            <a:r>
              <a:rPr lang="en-US" sz="1000" dirty="0">
                <a:solidFill>
                  <a:srgbClr val="C4A06D"/>
                </a:solidFill>
                <a:latin typeface="BIZ UDPGothic" pitchFamily="34" charset="0"/>
                <a:ea typeface="BIZ UDPGothic" pitchFamily="34" charset="-122"/>
                <a:cs typeface="BIZ UDPGothic" pitchFamily="34" charset="-120"/>
              </a:rPr>
              <a:t>升　地風升｜文書と出典</a:t>
            </a:r>
            <a:endParaRPr lang="en-US" sz="1000" dirty="0"/>
          </a:p>
        </p:txBody>
      </p:sp>
      <p:sp>
        <p:nvSpPr>
          <p:cNvPr id="27" name="Text 25"/>
          <p:cNvSpPr/>
          <p:nvPr/>
        </p:nvSpPr>
        <p:spPr>
          <a:xfrm>
            <a:off x="731520" y="2331720"/>
            <a:ext cx="3017520" cy="594360"/>
          </a:xfrm>
          <a:prstGeom prst="rect">
            <a:avLst/>
          </a:prstGeom>
          <a:noFill/>
          <a:ln/>
        </p:spPr>
        <p:txBody>
          <a:bodyPr wrap="square" lIns="0" tIns="0" rIns="0" bIns="0" rtlCol="0" anchor="t"/>
          <a:lstStyle/>
          <a:p>
            <a:pPr indent="0" marL="0">
              <a:spcAft>
                <a:spcPts val="200"/>
              </a:spcAft>
              <a:buNone/>
            </a:pPr>
            <a:r>
              <a:rPr lang="en-US" sz="1050" b="1" dirty="0">
                <a:solidFill>
                  <a:srgbClr val="A7B7A7"/>
                </a:solidFill>
                <a:latin typeface="BIZ UDPGothic" pitchFamily="34" charset="0"/>
                <a:ea typeface="BIZ UDPGothic" pitchFamily="34" charset="-122"/>
                <a:cs typeface="BIZ UDPGothic" pitchFamily="34" charset="-120"/>
              </a:rPr>
              <a:t>扱う  </a:t>
            </a:r>
            <a:pPr indent="0" marL="0">
              <a:spcAft>
                <a:spcPts val="200"/>
              </a:spcAft>
              <a:buNone/>
            </a:pPr>
            <a:r>
              <a:rPr lang="en-US" sz="1050" dirty="0">
                <a:solidFill>
                  <a:srgbClr val="F5F1E8"/>
                </a:solidFill>
                <a:latin typeface="BIZ UDPGothic" pitchFamily="34" charset="0"/>
                <a:ea typeface="BIZ UDPGothic" pitchFamily="34" charset="-122"/>
                <a:cs typeface="BIZ UDPGothic" pitchFamily="34" charset="-120"/>
              </a:rPr>
              <a:t>文書の作成・参照、出典をたどれる成果物</a:t>
            </a:r>
            <a:endParaRPr lang="en-US" sz="1050" dirty="0"/>
          </a:p>
          <a:p>
            <a:pPr indent="0" marL="0">
              <a:spcAft>
                <a:spcPts val="200"/>
              </a:spcAft>
              <a:buNone/>
            </a:pPr>
            <a:r>
              <a:rPr lang="en-US" sz="1050" b="1" dirty="0">
                <a:solidFill>
                  <a:srgbClr val="E0A890"/>
                </a:solidFill>
                <a:latin typeface="BIZ UDPGothic" pitchFamily="34" charset="0"/>
                <a:ea typeface="BIZ UDPGothic" pitchFamily="34" charset="-122"/>
                <a:cs typeface="BIZ UDPGothic" pitchFamily="34" charset="-120"/>
              </a:rPr>
              <a:t>扱わない  </a:t>
            </a:r>
            <a:pPr indent="0" marL="0">
              <a:spcAft>
                <a:spcPts val="200"/>
              </a:spcAft>
              <a:buNone/>
            </a:pPr>
            <a:r>
              <a:rPr lang="en-US" sz="1050" dirty="0">
                <a:solidFill>
                  <a:srgbClr val="F5F1E8"/>
                </a:solidFill>
                <a:latin typeface="BIZ UDPGothic" pitchFamily="34" charset="0"/>
                <a:ea typeface="BIZ UDPGothic" pitchFamily="34" charset="-122"/>
                <a:cs typeface="BIZ UDPGothic" pitchFamily="34" charset="-120"/>
              </a:rPr>
              <a:t>判断が正しいという証明</a:t>
            </a:r>
            <a:endParaRPr lang="en-US" sz="1050" dirty="0"/>
          </a:p>
        </p:txBody>
      </p:sp>
      <p:sp>
        <p:nvSpPr>
          <p:cNvPr id="28" name="Shape 26"/>
          <p:cNvSpPr/>
          <p:nvPr/>
        </p:nvSpPr>
        <p:spPr>
          <a:xfrm>
            <a:off x="3886200" y="3817620"/>
            <a:ext cx="1249528" cy="114300"/>
          </a:xfrm>
          <a:prstGeom prst="line">
            <a:avLst/>
          </a:prstGeom>
          <a:noFill/>
          <a:ln w="12700">
            <a:solidFill>
              <a:srgbClr val="A7B7A7"/>
            </a:solidFill>
            <a:prstDash val="dash"/>
          </a:ln>
        </p:spPr>
      </p:sp>
      <p:sp>
        <p:nvSpPr>
          <p:cNvPr id="29" name="Shape 27"/>
          <p:cNvSpPr/>
          <p:nvPr/>
        </p:nvSpPr>
        <p:spPr>
          <a:xfrm>
            <a:off x="502920" y="3154680"/>
            <a:ext cx="3383280" cy="1325880"/>
          </a:xfrm>
          <a:prstGeom prst="rect">
            <a:avLst/>
          </a:prstGeom>
          <a:solidFill>
            <a:srgbClr val="2E4C66"/>
          </a:solidFill>
          <a:ln w="6350">
            <a:solidFill>
              <a:srgbClr val="789FB6"/>
            </a:solidFill>
            <a:prstDash val="solid"/>
          </a:ln>
        </p:spPr>
      </p:sp>
      <p:sp>
        <p:nvSpPr>
          <p:cNvPr id="30" name="Shape 28"/>
          <p:cNvSpPr/>
          <p:nvPr/>
        </p:nvSpPr>
        <p:spPr>
          <a:xfrm>
            <a:off x="502920" y="3154680"/>
            <a:ext cx="64008" cy="1325880"/>
          </a:xfrm>
          <a:prstGeom prst="rect">
            <a:avLst/>
          </a:prstGeom>
          <a:solidFill>
            <a:srgbClr val="4F7A5C"/>
          </a:solidFill>
          <a:ln/>
        </p:spPr>
      </p:sp>
      <p:sp>
        <p:nvSpPr>
          <p:cNvPr id="31" name="Shape 29"/>
          <p:cNvSpPr/>
          <p:nvPr/>
        </p:nvSpPr>
        <p:spPr>
          <a:xfrm>
            <a:off x="731520" y="3653444"/>
            <a:ext cx="165141" cy="31588"/>
          </a:xfrm>
          <a:prstGeom prst="rect">
            <a:avLst/>
          </a:prstGeom>
          <a:solidFill>
            <a:srgbClr val="C4A06D"/>
          </a:solidFill>
          <a:ln/>
        </p:spPr>
      </p:sp>
      <p:sp>
        <p:nvSpPr>
          <p:cNvPr id="32" name="Shape 30"/>
          <p:cNvSpPr/>
          <p:nvPr/>
        </p:nvSpPr>
        <p:spPr>
          <a:xfrm>
            <a:off x="950427" y="3653444"/>
            <a:ext cx="165141" cy="31588"/>
          </a:xfrm>
          <a:prstGeom prst="rect">
            <a:avLst/>
          </a:prstGeom>
          <a:solidFill>
            <a:srgbClr val="C4A06D"/>
          </a:solidFill>
          <a:ln/>
        </p:spPr>
      </p:sp>
      <p:sp>
        <p:nvSpPr>
          <p:cNvPr id="33" name="Shape 31"/>
          <p:cNvSpPr/>
          <p:nvPr/>
        </p:nvSpPr>
        <p:spPr>
          <a:xfrm>
            <a:off x="731520" y="3590267"/>
            <a:ext cx="165141" cy="31588"/>
          </a:xfrm>
          <a:prstGeom prst="rect">
            <a:avLst/>
          </a:prstGeom>
          <a:solidFill>
            <a:srgbClr val="C4A06D"/>
          </a:solidFill>
          <a:ln/>
        </p:spPr>
      </p:sp>
      <p:sp>
        <p:nvSpPr>
          <p:cNvPr id="34" name="Shape 32"/>
          <p:cNvSpPr/>
          <p:nvPr/>
        </p:nvSpPr>
        <p:spPr>
          <a:xfrm>
            <a:off x="950427" y="3590267"/>
            <a:ext cx="165141" cy="31588"/>
          </a:xfrm>
          <a:prstGeom prst="rect">
            <a:avLst/>
          </a:prstGeom>
          <a:solidFill>
            <a:srgbClr val="C4A06D"/>
          </a:solidFill>
          <a:ln/>
        </p:spPr>
      </p:sp>
      <p:sp>
        <p:nvSpPr>
          <p:cNvPr id="35" name="Shape 33"/>
          <p:cNvSpPr/>
          <p:nvPr/>
        </p:nvSpPr>
        <p:spPr>
          <a:xfrm>
            <a:off x="731520" y="3527090"/>
            <a:ext cx="165141" cy="31588"/>
          </a:xfrm>
          <a:prstGeom prst="rect">
            <a:avLst/>
          </a:prstGeom>
          <a:solidFill>
            <a:srgbClr val="C4A06D"/>
          </a:solidFill>
          <a:ln/>
        </p:spPr>
      </p:sp>
      <p:sp>
        <p:nvSpPr>
          <p:cNvPr id="36" name="Shape 34"/>
          <p:cNvSpPr/>
          <p:nvPr/>
        </p:nvSpPr>
        <p:spPr>
          <a:xfrm>
            <a:off x="950427" y="3527090"/>
            <a:ext cx="165141" cy="31588"/>
          </a:xfrm>
          <a:prstGeom prst="rect">
            <a:avLst/>
          </a:prstGeom>
          <a:solidFill>
            <a:srgbClr val="C4A06D"/>
          </a:solidFill>
          <a:ln/>
        </p:spPr>
      </p:sp>
      <p:sp>
        <p:nvSpPr>
          <p:cNvPr id="37" name="Shape 35"/>
          <p:cNvSpPr/>
          <p:nvPr/>
        </p:nvSpPr>
        <p:spPr>
          <a:xfrm>
            <a:off x="731520" y="3463913"/>
            <a:ext cx="384048" cy="31588"/>
          </a:xfrm>
          <a:prstGeom prst="rect">
            <a:avLst/>
          </a:prstGeom>
          <a:solidFill>
            <a:srgbClr val="C4A06D"/>
          </a:solidFill>
          <a:ln/>
        </p:spPr>
      </p:sp>
      <p:sp>
        <p:nvSpPr>
          <p:cNvPr id="38" name="Shape 36"/>
          <p:cNvSpPr/>
          <p:nvPr/>
        </p:nvSpPr>
        <p:spPr>
          <a:xfrm>
            <a:off x="731520" y="3400737"/>
            <a:ext cx="384048" cy="31588"/>
          </a:xfrm>
          <a:prstGeom prst="rect">
            <a:avLst/>
          </a:prstGeom>
          <a:solidFill>
            <a:srgbClr val="C4A06D"/>
          </a:solidFill>
          <a:ln/>
        </p:spPr>
      </p:sp>
      <p:sp>
        <p:nvSpPr>
          <p:cNvPr id="39" name="Shape 37"/>
          <p:cNvSpPr/>
          <p:nvPr/>
        </p:nvSpPr>
        <p:spPr>
          <a:xfrm>
            <a:off x="731520" y="3337560"/>
            <a:ext cx="165141" cy="31588"/>
          </a:xfrm>
          <a:prstGeom prst="rect">
            <a:avLst/>
          </a:prstGeom>
          <a:solidFill>
            <a:srgbClr val="C4A06D"/>
          </a:solidFill>
          <a:ln/>
        </p:spPr>
      </p:sp>
      <p:sp>
        <p:nvSpPr>
          <p:cNvPr id="40" name="Shape 38"/>
          <p:cNvSpPr/>
          <p:nvPr/>
        </p:nvSpPr>
        <p:spPr>
          <a:xfrm>
            <a:off x="950427" y="3337560"/>
            <a:ext cx="165141" cy="31588"/>
          </a:xfrm>
          <a:prstGeom prst="rect">
            <a:avLst/>
          </a:prstGeom>
          <a:solidFill>
            <a:srgbClr val="C4A06D"/>
          </a:solidFill>
          <a:ln/>
        </p:spPr>
      </p:sp>
      <p:sp>
        <p:nvSpPr>
          <p:cNvPr id="41" name="Text 39"/>
          <p:cNvSpPr/>
          <p:nvPr/>
        </p:nvSpPr>
        <p:spPr>
          <a:xfrm>
            <a:off x="1280160" y="3264408"/>
            <a:ext cx="2514600" cy="292608"/>
          </a:xfrm>
          <a:prstGeom prst="rect">
            <a:avLst/>
          </a:prstGeom>
          <a:noFill/>
          <a:ln/>
        </p:spPr>
        <p:txBody>
          <a:bodyPr wrap="square" lIns="0" tIns="0" rIns="0" bIns="0" rtlCol="0" anchor="t"/>
          <a:lstStyle/>
          <a:p>
            <a:pPr indent="0" marL="0">
              <a:buNone/>
            </a:pPr>
            <a:r>
              <a:rPr lang="en-US" sz="1400" b="1" dirty="0">
                <a:solidFill>
                  <a:srgbClr val="F5F1E8"/>
                </a:solidFill>
                <a:latin typeface="Georgia" pitchFamily="34" charset="0"/>
                <a:ea typeface="Georgia" pitchFamily="34" charset="-122"/>
                <a:cs typeface="Georgia" pitchFamily="34" charset="-120"/>
              </a:rPr>
              <a:t>SUI Sensemaking</a:t>
            </a:r>
            <a:endParaRPr lang="en-US" sz="1400" dirty="0"/>
          </a:p>
        </p:txBody>
      </p:sp>
      <p:sp>
        <p:nvSpPr>
          <p:cNvPr id="42" name="Text 40"/>
          <p:cNvSpPr/>
          <p:nvPr/>
        </p:nvSpPr>
        <p:spPr>
          <a:xfrm>
            <a:off x="1280160" y="3538728"/>
            <a:ext cx="2514600" cy="219456"/>
          </a:xfrm>
          <a:prstGeom prst="rect">
            <a:avLst/>
          </a:prstGeom>
          <a:noFill/>
          <a:ln/>
        </p:spPr>
        <p:txBody>
          <a:bodyPr wrap="square" lIns="0" tIns="0" rIns="0" bIns="0" rtlCol="0" anchor="t"/>
          <a:lstStyle/>
          <a:p>
            <a:pPr indent="0" marL="0">
              <a:buNone/>
            </a:pPr>
            <a:r>
              <a:rPr lang="en-US" sz="1000" dirty="0">
                <a:solidFill>
                  <a:srgbClr val="C4A06D"/>
                </a:solidFill>
                <a:latin typeface="BIZ UDPGothic" pitchFamily="34" charset="0"/>
                <a:ea typeface="BIZ UDPGothic" pitchFamily="34" charset="-122"/>
                <a:cs typeface="BIZ UDPGothic" pitchFamily="34" charset="-120"/>
              </a:rPr>
              <a:t>萃　沢地萃｜意味の探索</a:t>
            </a:r>
            <a:endParaRPr lang="en-US" sz="1000" dirty="0"/>
          </a:p>
        </p:txBody>
      </p:sp>
      <p:sp>
        <p:nvSpPr>
          <p:cNvPr id="43" name="Text 41"/>
          <p:cNvSpPr/>
          <p:nvPr/>
        </p:nvSpPr>
        <p:spPr>
          <a:xfrm>
            <a:off x="731520" y="3840480"/>
            <a:ext cx="3017520" cy="594360"/>
          </a:xfrm>
          <a:prstGeom prst="rect">
            <a:avLst/>
          </a:prstGeom>
          <a:noFill/>
          <a:ln/>
        </p:spPr>
        <p:txBody>
          <a:bodyPr wrap="square" lIns="0" tIns="0" rIns="0" bIns="0" rtlCol="0" anchor="t"/>
          <a:lstStyle/>
          <a:p>
            <a:pPr indent="0" marL="0">
              <a:spcAft>
                <a:spcPts val="200"/>
              </a:spcAft>
              <a:buNone/>
            </a:pPr>
            <a:r>
              <a:rPr lang="en-US" sz="1050" b="1" dirty="0">
                <a:solidFill>
                  <a:srgbClr val="A7B7A7"/>
                </a:solidFill>
                <a:latin typeface="BIZ UDPGothic" pitchFamily="34" charset="0"/>
                <a:ea typeface="BIZ UDPGothic" pitchFamily="34" charset="-122"/>
                <a:cs typeface="BIZ UDPGothic" pitchFamily="34" charset="-120"/>
              </a:rPr>
              <a:t>扱う  </a:t>
            </a:r>
            <a:pPr indent="0" marL="0">
              <a:spcAft>
                <a:spcPts val="200"/>
              </a:spcAft>
              <a:buNone/>
            </a:pPr>
            <a:r>
              <a:rPr lang="en-US" sz="1050" dirty="0">
                <a:solidFill>
                  <a:srgbClr val="F5F1E8"/>
                </a:solidFill>
                <a:latin typeface="BIZ UDPGothic" pitchFamily="34" charset="0"/>
                <a:ea typeface="BIZ UDPGothic" pitchFamily="34" charset="-122"/>
                <a:cs typeface="BIZ UDPGothic" pitchFamily="34" charset="-120"/>
              </a:rPr>
              <a:t>観測・解釈・仮説の整理と意味の探索</a:t>
            </a:r>
            <a:endParaRPr lang="en-US" sz="1050" dirty="0"/>
          </a:p>
          <a:p>
            <a:pPr indent="0" marL="0">
              <a:spcAft>
                <a:spcPts val="200"/>
              </a:spcAft>
              <a:buNone/>
            </a:pPr>
            <a:r>
              <a:rPr lang="en-US" sz="1050" b="1" dirty="0">
                <a:solidFill>
                  <a:srgbClr val="E0A890"/>
                </a:solidFill>
                <a:latin typeface="BIZ UDPGothic" pitchFamily="34" charset="0"/>
                <a:ea typeface="BIZ UDPGothic" pitchFamily="34" charset="-122"/>
                <a:cs typeface="BIZ UDPGothic" pitchFamily="34" charset="-120"/>
              </a:rPr>
              <a:t>扱わない  </a:t>
            </a:r>
            <a:pPr indent="0" marL="0">
              <a:spcAft>
                <a:spcPts val="200"/>
              </a:spcAft>
              <a:buNone/>
            </a:pPr>
            <a:r>
              <a:rPr lang="en-US" sz="1050" dirty="0">
                <a:solidFill>
                  <a:srgbClr val="F5F1E8"/>
                </a:solidFill>
                <a:latin typeface="BIZ UDPGothic" pitchFamily="34" charset="0"/>
                <a:ea typeface="BIZ UDPGothic" pitchFamily="34" charset="-122"/>
                <a:cs typeface="BIZ UDPGothic" pitchFamily="34" charset="-120"/>
              </a:rPr>
              <a:t>仮説の自動的な確定</a:t>
            </a:r>
            <a:endParaRPr lang="en-US" sz="1050" dirty="0"/>
          </a:p>
        </p:txBody>
      </p:sp>
      <p:sp>
        <p:nvSpPr>
          <p:cNvPr id="44" name="Shape 42"/>
          <p:cNvSpPr/>
          <p:nvPr/>
        </p:nvSpPr>
        <p:spPr>
          <a:xfrm flipV="1">
            <a:off x="3886200" y="3931920"/>
            <a:ext cx="1249528" cy="1394460"/>
          </a:xfrm>
          <a:prstGeom prst="line">
            <a:avLst/>
          </a:prstGeom>
          <a:noFill/>
          <a:ln w="12700">
            <a:solidFill>
              <a:srgbClr val="A7B7A7"/>
            </a:solidFill>
            <a:prstDash val="dash"/>
          </a:ln>
        </p:spPr>
      </p:sp>
      <p:sp>
        <p:nvSpPr>
          <p:cNvPr id="45" name="Shape 43"/>
          <p:cNvSpPr/>
          <p:nvPr/>
        </p:nvSpPr>
        <p:spPr>
          <a:xfrm>
            <a:off x="502920" y="4663440"/>
            <a:ext cx="3383280" cy="1325880"/>
          </a:xfrm>
          <a:prstGeom prst="rect">
            <a:avLst/>
          </a:prstGeom>
          <a:solidFill>
            <a:srgbClr val="2E4C66"/>
          </a:solidFill>
          <a:ln w="6350">
            <a:solidFill>
              <a:srgbClr val="789FB6"/>
            </a:solidFill>
            <a:prstDash val="solid"/>
          </a:ln>
        </p:spPr>
      </p:sp>
      <p:sp>
        <p:nvSpPr>
          <p:cNvPr id="46" name="Shape 44"/>
          <p:cNvSpPr/>
          <p:nvPr/>
        </p:nvSpPr>
        <p:spPr>
          <a:xfrm>
            <a:off x="502920" y="4663440"/>
            <a:ext cx="64008" cy="1325880"/>
          </a:xfrm>
          <a:prstGeom prst="rect">
            <a:avLst/>
          </a:prstGeom>
          <a:solidFill>
            <a:srgbClr val="3C6684"/>
          </a:solidFill>
          <a:ln/>
        </p:spPr>
      </p:sp>
      <p:sp>
        <p:nvSpPr>
          <p:cNvPr id="47" name="Shape 45"/>
          <p:cNvSpPr/>
          <p:nvPr/>
        </p:nvSpPr>
        <p:spPr>
          <a:xfrm>
            <a:off x="731520" y="5162204"/>
            <a:ext cx="165141" cy="31588"/>
          </a:xfrm>
          <a:prstGeom prst="rect">
            <a:avLst/>
          </a:prstGeom>
          <a:solidFill>
            <a:srgbClr val="C4A06D"/>
          </a:solidFill>
          <a:ln/>
        </p:spPr>
      </p:sp>
      <p:sp>
        <p:nvSpPr>
          <p:cNvPr id="48" name="Shape 46"/>
          <p:cNvSpPr/>
          <p:nvPr/>
        </p:nvSpPr>
        <p:spPr>
          <a:xfrm>
            <a:off x="950427" y="5162204"/>
            <a:ext cx="165141" cy="31588"/>
          </a:xfrm>
          <a:prstGeom prst="rect">
            <a:avLst/>
          </a:prstGeom>
          <a:solidFill>
            <a:srgbClr val="C4A06D"/>
          </a:solidFill>
          <a:ln/>
        </p:spPr>
      </p:sp>
      <p:sp>
        <p:nvSpPr>
          <p:cNvPr id="49" name="Shape 47"/>
          <p:cNvSpPr/>
          <p:nvPr/>
        </p:nvSpPr>
        <p:spPr>
          <a:xfrm>
            <a:off x="731520" y="5099027"/>
            <a:ext cx="384048" cy="31588"/>
          </a:xfrm>
          <a:prstGeom prst="rect">
            <a:avLst/>
          </a:prstGeom>
          <a:solidFill>
            <a:srgbClr val="C4A06D"/>
          </a:solidFill>
          <a:ln/>
        </p:spPr>
      </p:sp>
      <p:sp>
        <p:nvSpPr>
          <p:cNvPr id="50" name="Shape 48"/>
          <p:cNvSpPr/>
          <p:nvPr/>
        </p:nvSpPr>
        <p:spPr>
          <a:xfrm>
            <a:off x="731520" y="5035850"/>
            <a:ext cx="384048" cy="31588"/>
          </a:xfrm>
          <a:prstGeom prst="rect">
            <a:avLst/>
          </a:prstGeom>
          <a:solidFill>
            <a:srgbClr val="C4A06D"/>
          </a:solidFill>
          <a:ln/>
        </p:spPr>
      </p:sp>
      <p:sp>
        <p:nvSpPr>
          <p:cNvPr id="51" name="Shape 49"/>
          <p:cNvSpPr/>
          <p:nvPr/>
        </p:nvSpPr>
        <p:spPr>
          <a:xfrm>
            <a:off x="731520" y="4972673"/>
            <a:ext cx="165141" cy="31588"/>
          </a:xfrm>
          <a:prstGeom prst="rect">
            <a:avLst/>
          </a:prstGeom>
          <a:solidFill>
            <a:srgbClr val="C4A06D"/>
          </a:solidFill>
          <a:ln/>
        </p:spPr>
      </p:sp>
      <p:sp>
        <p:nvSpPr>
          <p:cNvPr id="52" name="Shape 50"/>
          <p:cNvSpPr/>
          <p:nvPr/>
        </p:nvSpPr>
        <p:spPr>
          <a:xfrm>
            <a:off x="950427" y="4972673"/>
            <a:ext cx="165141" cy="31588"/>
          </a:xfrm>
          <a:prstGeom prst="rect">
            <a:avLst/>
          </a:prstGeom>
          <a:solidFill>
            <a:srgbClr val="C4A06D"/>
          </a:solidFill>
          <a:ln/>
        </p:spPr>
      </p:sp>
      <p:sp>
        <p:nvSpPr>
          <p:cNvPr id="53" name="Shape 51"/>
          <p:cNvSpPr/>
          <p:nvPr/>
        </p:nvSpPr>
        <p:spPr>
          <a:xfrm>
            <a:off x="731520" y="4909497"/>
            <a:ext cx="384048" cy="31588"/>
          </a:xfrm>
          <a:prstGeom prst="rect">
            <a:avLst/>
          </a:prstGeom>
          <a:solidFill>
            <a:srgbClr val="C4A06D"/>
          </a:solidFill>
          <a:ln/>
        </p:spPr>
      </p:sp>
      <p:sp>
        <p:nvSpPr>
          <p:cNvPr id="54" name="Shape 52"/>
          <p:cNvSpPr/>
          <p:nvPr/>
        </p:nvSpPr>
        <p:spPr>
          <a:xfrm>
            <a:off x="731520" y="4846320"/>
            <a:ext cx="165141" cy="31588"/>
          </a:xfrm>
          <a:prstGeom prst="rect">
            <a:avLst/>
          </a:prstGeom>
          <a:solidFill>
            <a:srgbClr val="C4A06D"/>
          </a:solidFill>
          <a:ln/>
        </p:spPr>
      </p:sp>
      <p:sp>
        <p:nvSpPr>
          <p:cNvPr id="55" name="Shape 53"/>
          <p:cNvSpPr/>
          <p:nvPr/>
        </p:nvSpPr>
        <p:spPr>
          <a:xfrm>
            <a:off x="950427" y="4846320"/>
            <a:ext cx="165141" cy="31588"/>
          </a:xfrm>
          <a:prstGeom prst="rect">
            <a:avLst/>
          </a:prstGeom>
          <a:solidFill>
            <a:srgbClr val="C4A06D"/>
          </a:solidFill>
          <a:ln/>
        </p:spPr>
      </p:sp>
      <p:sp>
        <p:nvSpPr>
          <p:cNvPr id="56" name="Text 54"/>
          <p:cNvSpPr/>
          <p:nvPr/>
        </p:nvSpPr>
        <p:spPr>
          <a:xfrm>
            <a:off x="1280160" y="4773168"/>
            <a:ext cx="2514600" cy="292608"/>
          </a:xfrm>
          <a:prstGeom prst="rect">
            <a:avLst/>
          </a:prstGeom>
          <a:noFill/>
          <a:ln/>
        </p:spPr>
        <p:txBody>
          <a:bodyPr wrap="square" lIns="0" tIns="0" rIns="0" bIns="0" rtlCol="0" anchor="t"/>
          <a:lstStyle/>
          <a:p>
            <a:pPr indent="0" marL="0">
              <a:buNone/>
            </a:pPr>
            <a:r>
              <a:rPr lang="en-US" sz="1400" b="1" dirty="0">
                <a:solidFill>
                  <a:srgbClr val="F5F1E8"/>
                </a:solidFill>
                <a:latin typeface="Georgia" pitchFamily="34" charset="0"/>
                <a:ea typeface="Georgia" pitchFamily="34" charset="-122"/>
                <a:cs typeface="Georgia" pitchFamily="34" charset="-120"/>
              </a:rPr>
              <a:t>SEI Cognition</a:t>
            </a:r>
            <a:endParaRPr lang="en-US" sz="1400" dirty="0"/>
          </a:p>
        </p:txBody>
      </p:sp>
      <p:sp>
        <p:nvSpPr>
          <p:cNvPr id="57" name="Text 55"/>
          <p:cNvSpPr/>
          <p:nvPr/>
        </p:nvSpPr>
        <p:spPr>
          <a:xfrm>
            <a:off x="1280160" y="5047488"/>
            <a:ext cx="2514600" cy="219456"/>
          </a:xfrm>
          <a:prstGeom prst="rect">
            <a:avLst/>
          </a:prstGeom>
          <a:noFill/>
          <a:ln/>
        </p:spPr>
        <p:txBody>
          <a:bodyPr wrap="square" lIns="0" tIns="0" rIns="0" bIns="0" rtlCol="0" anchor="t"/>
          <a:lstStyle/>
          <a:p>
            <a:pPr indent="0" marL="0">
              <a:buNone/>
            </a:pPr>
            <a:r>
              <a:rPr lang="en-US" sz="1000" dirty="0">
                <a:solidFill>
                  <a:srgbClr val="C4A06D"/>
                </a:solidFill>
                <a:latin typeface="BIZ UDPGothic" pitchFamily="34" charset="0"/>
                <a:ea typeface="BIZ UDPGothic" pitchFamily="34" charset="-122"/>
                <a:cs typeface="BIZ UDPGothic" pitchFamily="34" charset="-120"/>
              </a:rPr>
              <a:t>井　水風井｜判断と来歴</a:t>
            </a:r>
            <a:endParaRPr lang="en-US" sz="1000" dirty="0"/>
          </a:p>
        </p:txBody>
      </p:sp>
      <p:sp>
        <p:nvSpPr>
          <p:cNvPr id="58" name="Text 56"/>
          <p:cNvSpPr/>
          <p:nvPr/>
        </p:nvSpPr>
        <p:spPr>
          <a:xfrm>
            <a:off x="731520" y="5349240"/>
            <a:ext cx="3017520" cy="594360"/>
          </a:xfrm>
          <a:prstGeom prst="rect">
            <a:avLst/>
          </a:prstGeom>
          <a:noFill/>
          <a:ln/>
        </p:spPr>
        <p:txBody>
          <a:bodyPr wrap="square" lIns="0" tIns="0" rIns="0" bIns="0" rtlCol="0" anchor="t"/>
          <a:lstStyle/>
          <a:p>
            <a:pPr indent="0" marL="0">
              <a:spcAft>
                <a:spcPts val="200"/>
              </a:spcAft>
              <a:buNone/>
            </a:pPr>
            <a:r>
              <a:rPr lang="en-US" sz="1050" b="1" dirty="0">
                <a:solidFill>
                  <a:srgbClr val="A7B7A7"/>
                </a:solidFill>
                <a:latin typeface="BIZ UDPGothic" pitchFamily="34" charset="0"/>
                <a:ea typeface="BIZ UDPGothic" pitchFamily="34" charset="-122"/>
                <a:cs typeface="BIZ UDPGothic" pitchFamily="34" charset="-120"/>
              </a:rPr>
              <a:t>扱う  </a:t>
            </a:r>
            <a:pPr indent="0" marL="0">
              <a:spcAft>
                <a:spcPts val="200"/>
              </a:spcAft>
              <a:buNone/>
            </a:pPr>
            <a:r>
              <a:rPr lang="en-US" sz="1050" dirty="0">
                <a:solidFill>
                  <a:srgbClr val="F5F1E8"/>
                </a:solidFill>
                <a:latin typeface="BIZ UDPGothic" pitchFamily="34" charset="0"/>
                <a:ea typeface="BIZ UDPGothic" pitchFamily="34" charset="-122"/>
                <a:cs typeface="BIZ UDPGothic" pitchFamily="34" charset="-120"/>
              </a:rPr>
              <a:t>観測から判断までの意味と、根拠・判断の履歴</a:t>
            </a:r>
            <a:endParaRPr lang="en-US" sz="1050" dirty="0"/>
          </a:p>
          <a:p>
            <a:pPr indent="0" marL="0">
              <a:spcAft>
                <a:spcPts val="200"/>
              </a:spcAft>
              <a:buNone/>
            </a:pPr>
            <a:r>
              <a:rPr lang="en-US" sz="1050" b="1" dirty="0">
                <a:solidFill>
                  <a:srgbClr val="E0A890"/>
                </a:solidFill>
                <a:latin typeface="BIZ UDPGothic" pitchFamily="34" charset="0"/>
                <a:ea typeface="BIZ UDPGothic" pitchFamily="34" charset="-122"/>
                <a:cs typeface="BIZ UDPGothic" pitchFamily="34" charset="-120"/>
              </a:rPr>
              <a:t>扱わない  </a:t>
            </a:r>
            <a:pPr indent="0" marL="0">
              <a:spcAft>
                <a:spcPts val="200"/>
              </a:spcAft>
              <a:buNone/>
            </a:pPr>
            <a:r>
              <a:rPr lang="en-US" sz="1050" dirty="0">
                <a:solidFill>
                  <a:srgbClr val="F5F1E8"/>
                </a:solidFill>
                <a:latin typeface="BIZ UDPGothic" pitchFamily="34" charset="0"/>
                <a:ea typeface="BIZ UDPGothic" pitchFamily="34" charset="-122"/>
                <a:cs typeface="BIZ UDPGothic" pitchFamily="34" charset="-120"/>
              </a:rPr>
              <a:t>外部の実行の支配</a:t>
            </a:r>
            <a:endParaRPr lang="en-US" sz="1050" dirty="0"/>
          </a:p>
        </p:txBody>
      </p:sp>
      <p:sp>
        <p:nvSpPr>
          <p:cNvPr id="59" name="Shape 57"/>
          <p:cNvSpPr/>
          <p:nvPr/>
        </p:nvSpPr>
        <p:spPr>
          <a:xfrm flipH="1">
            <a:off x="7055968" y="2308860"/>
            <a:ext cx="1249528" cy="1623060"/>
          </a:xfrm>
          <a:prstGeom prst="line">
            <a:avLst/>
          </a:prstGeom>
          <a:noFill/>
          <a:ln w="12700">
            <a:solidFill>
              <a:srgbClr val="A7B7A7"/>
            </a:solidFill>
            <a:prstDash val="dash"/>
          </a:ln>
        </p:spPr>
      </p:sp>
      <p:sp>
        <p:nvSpPr>
          <p:cNvPr id="60" name="Shape 58"/>
          <p:cNvSpPr/>
          <p:nvPr/>
        </p:nvSpPr>
        <p:spPr>
          <a:xfrm>
            <a:off x="8305495" y="1645920"/>
            <a:ext cx="3383280" cy="1325880"/>
          </a:xfrm>
          <a:prstGeom prst="rect">
            <a:avLst/>
          </a:prstGeom>
          <a:solidFill>
            <a:srgbClr val="2E4C66"/>
          </a:solidFill>
          <a:ln w="6350">
            <a:solidFill>
              <a:srgbClr val="789FB6"/>
            </a:solidFill>
            <a:prstDash val="solid"/>
          </a:ln>
        </p:spPr>
      </p:sp>
      <p:sp>
        <p:nvSpPr>
          <p:cNvPr id="61" name="Shape 59"/>
          <p:cNvSpPr/>
          <p:nvPr/>
        </p:nvSpPr>
        <p:spPr>
          <a:xfrm>
            <a:off x="8305495" y="1645920"/>
            <a:ext cx="64008" cy="1325880"/>
          </a:xfrm>
          <a:prstGeom prst="rect">
            <a:avLst/>
          </a:prstGeom>
          <a:solidFill>
            <a:srgbClr val="5A5A86"/>
          </a:solidFill>
          <a:ln/>
        </p:spPr>
      </p:sp>
      <p:sp>
        <p:nvSpPr>
          <p:cNvPr id="62" name="Shape 60"/>
          <p:cNvSpPr/>
          <p:nvPr/>
        </p:nvSpPr>
        <p:spPr>
          <a:xfrm>
            <a:off x="8534095" y="2144684"/>
            <a:ext cx="165141" cy="31588"/>
          </a:xfrm>
          <a:prstGeom prst="rect">
            <a:avLst/>
          </a:prstGeom>
          <a:solidFill>
            <a:srgbClr val="C4A06D"/>
          </a:solidFill>
          <a:ln/>
        </p:spPr>
      </p:sp>
      <p:sp>
        <p:nvSpPr>
          <p:cNvPr id="63" name="Shape 61"/>
          <p:cNvSpPr/>
          <p:nvPr/>
        </p:nvSpPr>
        <p:spPr>
          <a:xfrm>
            <a:off x="8753003" y="2144684"/>
            <a:ext cx="165141" cy="31588"/>
          </a:xfrm>
          <a:prstGeom prst="rect">
            <a:avLst/>
          </a:prstGeom>
          <a:solidFill>
            <a:srgbClr val="C4A06D"/>
          </a:solidFill>
          <a:ln/>
        </p:spPr>
      </p:sp>
      <p:sp>
        <p:nvSpPr>
          <p:cNvPr id="64" name="Shape 62"/>
          <p:cNvSpPr/>
          <p:nvPr/>
        </p:nvSpPr>
        <p:spPr>
          <a:xfrm>
            <a:off x="8534095" y="2081507"/>
            <a:ext cx="384048" cy="31588"/>
          </a:xfrm>
          <a:prstGeom prst="rect">
            <a:avLst/>
          </a:prstGeom>
          <a:solidFill>
            <a:srgbClr val="C4A06D"/>
          </a:solidFill>
          <a:ln/>
        </p:spPr>
      </p:sp>
      <p:sp>
        <p:nvSpPr>
          <p:cNvPr id="65" name="Shape 63"/>
          <p:cNvSpPr/>
          <p:nvPr/>
        </p:nvSpPr>
        <p:spPr>
          <a:xfrm>
            <a:off x="8534095" y="2018330"/>
            <a:ext cx="384048" cy="31588"/>
          </a:xfrm>
          <a:prstGeom prst="rect">
            <a:avLst/>
          </a:prstGeom>
          <a:solidFill>
            <a:srgbClr val="C4A06D"/>
          </a:solidFill>
          <a:ln/>
        </p:spPr>
      </p:sp>
      <p:sp>
        <p:nvSpPr>
          <p:cNvPr id="66" name="Shape 64"/>
          <p:cNvSpPr/>
          <p:nvPr/>
        </p:nvSpPr>
        <p:spPr>
          <a:xfrm>
            <a:off x="8534095" y="1955153"/>
            <a:ext cx="384048" cy="31588"/>
          </a:xfrm>
          <a:prstGeom prst="rect">
            <a:avLst/>
          </a:prstGeom>
          <a:solidFill>
            <a:srgbClr val="C4A06D"/>
          </a:solidFill>
          <a:ln/>
        </p:spPr>
      </p:sp>
      <p:sp>
        <p:nvSpPr>
          <p:cNvPr id="67" name="Shape 65"/>
          <p:cNvSpPr/>
          <p:nvPr/>
        </p:nvSpPr>
        <p:spPr>
          <a:xfrm>
            <a:off x="8534095" y="1891977"/>
            <a:ext cx="165141" cy="31588"/>
          </a:xfrm>
          <a:prstGeom prst="rect">
            <a:avLst/>
          </a:prstGeom>
          <a:solidFill>
            <a:srgbClr val="C4A06D"/>
          </a:solidFill>
          <a:ln/>
        </p:spPr>
      </p:sp>
      <p:sp>
        <p:nvSpPr>
          <p:cNvPr id="68" name="Shape 66"/>
          <p:cNvSpPr/>
          <p:nvPr/>
        </p:nvSpPr>
        <p:spPr>
          <a:xfrm>
            <a:off x="8753003" y="1891977"/>
            <a:ext cx="165141" cy="31588"/>
          </a:xfrm>
          <a:prstGeom prst="rect">
            <a:avLst/>
          </a:prstGeom>
          <a:solidFill>
            <a:srgbClr val="C4A06D"/>
          </a:solidFill>
          <a:ln/>
        </p:spPr>
      </p:sp>
      <p:sp>
        <p:nvSpPr>
          <p:cNvPr id="69" name="Shape 67"/>
          <p:cNvSpPr/>
          <p:nvPr/>
        </p:nvSpPr>
        <p:spPr>
          <a:xfrm>
            <a:off x="8534095" y="1828800"/>
            <a:ext cx="384048" cy="31588"/>
          </a:xfrm>
          <a:prstGeom prst="rect">
            <a:avLst/>
          </a:prstGeom>
          <a:solidFill>
            <a:srgbClr val="C4A06D"/>
          </a:solidFill>
          <a:ln/>
        </p:spPr>
      </p:sp>
      <p:sp>
        <p:nvSpPr>
          <p:cNvPr id="70" name="Text 68"/>
          <p:cNvSpPr/>
          <p:nvPr/>
        </p:nvSpPr>
        <p:spPr>
          <a:xfrm>
            <a:off x="9082735" y="1755648"/>
            <a:ext cx="2514600" cy="292608"/>
          </a:xfrm>
          <a:prstGeom prst="rect">
            <a:avLst/>
          </a:prstGeom>
          <a:noFill/>
          <a:ln/>
        </p:spPr>
        <p:txBody>
          <a:bodyPr wrap="square" lIns="0" tIns="0" rIns="0" bIns="0" rtlCol="0" anchor="t"/>
          <a:lstStyle/>
          <a:p>
            <a:pPr indent="0" marL="0">
              <a:buNone/>
            </a:pPr>
            <a:r>
              <a:rPr lang="en-US" sz="1400" b="1" dirty="0">
                <a:solidFill>
                  <a:srgbClr val="F5F1E8"/>
                </a:solidFill>
                <a:latin typeface="Georgia" pitchFamily="34" charset="0"/>
                <a:ea typeface="Georgia" pitchFamily="34" charset="-122"/>
                <a:cs typeface="Georgia" pitchFamily="34" charset="-120"/>
              </a:rPr>
              <a:t>TEI Platform</a:t>
            </a:r>
            <a:endParaRPr lang="en-US" sz="1400" dirty="0"/>
          </a:p>
        </p:txBody>
      </p:sp>
      <p:sp>
        <p:nvSpPr>
          <p:cNvPr id="71" name="Text 69"/>
          <p:cNvSpPr/>
          <p:nvPr/>
        </p:nvSpPr>
        <p:spPr>
          <a:xfrm>
            <a:off x="9082735" y="2029968"/>
            <a:ext cx="2514600" cy="219456"/>
          </a:xfrm>
          <a:prstGeom prst="rect">
            <a:avLst/>
          </a:prstGeom>
          <a:noFill/>
          <a:ln/>
        </p:spPr>
        <p:txBody>
          <a:bodyPr wrap="square" lIns="0" tIns="0" rIns="0" bIns="0" rtlCol="0" anchor="t"/>
          <a:lstStyle/>
          <a:p>
            <a:pPr indent="0" marL="0">
              <a:buNone/>
            </a:pPr>
            <a:r>
              <a:rPr lang="en-US" sz="1000" dirty="0">
                <a:solidFill>
                  <a:srgbClr val="C4A06D"/>
                </a:solidFill>
                <a:latin typeface="BIZ UDPGothic" pitchFamily="34" charset="0"/>
                <a:ea typeface="BIZ UDPGothic" pitchFamily="34" charset="-122"/>
                <a:cs typeface="BIZ UDPGothic" pitchFamily="34" charset="-120"/>
              </a:rPr>
              <a:t>鼎　火風鼎｜知識の実現</a:t>
            </a:r>
            <a:endParaRPr lang="en-US" sz="1000" dirty="0"/>
          </a:p>
        </p:txBody>
      </p:sp>
      <p:sp>
        <p:nvSpPr>
          <p:cNvPr id="72" name="Text 70"/>
          <p:cNvSpPr/>
          <p:nvPr/>
        </p:nvSpPr>
        <p:spPr>
          <a:xfrm>
            <a:off x="8534095" y="2331720"/>
            <a:ext cx="3017520" cy="594360"/>
          </a:xfrm>
          <a:prstGeom prst="rect">
            <a:avLst/>
          </a:prstGeom>
          <a:noFill/>
          <a:ln/>
        </p:spPr>
        <p:txBody>
          <a:bodyPr wrap="square" lIns="0" tIns="0" rIns="0" bIns="0" rtlCol="0" anchor="t"/>
          <a:lstStyle/>
          <a:p>
            <a:pPr indent="0" marL="0">
              <a:spcAft>
                <a:spcPts val="200"/>
              </a:spcAft>
              <a:buNone/>
            </a:pPr>
            <a:r>
              <a:rPr lang="en-US" sz="1050" b="1" dirty="0">
                <a:solidFill>
                  <a:srgbClr val="A7B7A7"/>
                </a:solidFill>
                <a:latin typeface="BIZ UDPGothic" pitchFamily="34" charset="0"/>
                <a:ea typeface="BIZ UDPGothic" pitchFamily="34" charset="-122"/>
                <a:cs typeface="BIZ UDPGothic" pitchFamily="34" charset="-120"/>
              </a:rPr>
              <a:t>扱う  </a:t>
            </a:r>
            <a:pPr indent="0" marL="0">
              <a:spcAft>
                <a:spcPts val="200"/>
              </a:spcAft>
              <a:buNone/>
            </a:pPr>
            <a:r>
              <a:rPr lang="en-US" sz="1050" dirty="0">
                <a:solidFill>
                  <a:srgbClr val="F5F1E8"/>
                </a:solidFill>
                <a:latin typeface="BIZ UDPGothic" pitchFamily="34" charset="0"/>
                <a:ea typeface="BIZ UDPGothic" pitchFamily="34" charset="-122"/>
                <a:cs typeface="BIZ UDPGothic" pitchFamily="34" charset="-120"/>
              </a:rPr>
              <a:t>業務のデータ・規則・機能のモデル化と検証</a:t>
            </a:r>
            <a:endParaRPr lang="en-US" sz="1050" dirty="0"/>
          </a:p>
          <a:p>
            <a:pPr indent="0" marL="0">
              <a:spcAft>
                <a:spcPts val="200"/>
              </a:spcAft>
              <a:buNone/>
            </a:pPr>
            <a:r>
              <a:rPr lang="en-US" sz="1050" b="1" dirty="0">
                <a:solidFill>
                  <a:srgbClr val="E0A890"/>
                </a:solidFill>
                <a:latin typeface="BIZ UDPGothic" pitchFamily="34" charset="0"/>
                <a:ea typeface="BIZ UDPGothic" pitchFamily="34" charset="-122"/>
                <a:cs typeface="BIZ UDPGothic" pitchFamily="34" charset="-120"/>
              </a:rPr>
              <a:t>扱わない  </a:t>
            </a:r>
            <a:pPr indent="0" marL="0">
              <a:spcAft>
                <a:spcPts val="200"/>
              </a:spcAft>
              <a:buNone/>
            </a:pPr>
            <a:r>
              <a:rPr lang="en-US" sz="1050" dirty="0">
                <a:solidFill>
                  <a:srgbClr val="F5F1E8"/>
                </a:solidFill>
                <a:latin typeface="BIZ UDPGothic" pitchFamily="34" charset="0"/>
                <a:ea typeface="BIZ UDPGothic" pitchFamily="34" charset="-122"/>
                <a:cs typeface="BIZ UDPGothic" pitchFamily="34" charset="-120"/>
              </a:rPr>
              <a:t>組織の最終決裁</a:t>
            </a:r>
            <a:endParaRPr lang="en-US" sz="1050" dirty="0"/>
          </a:p>
        </p:txBody>
      </p:sp>
      <p:sp>
        <p:nvSpPr>
          <p:cNvPr id="73" name="Shape 71"/>
          <p:cNvSpPr/>
          <p:nvPr/>
        </p:nvSpPr>
        <p:spPr>
          <a:xfrm flipH="1">
            <a:off x="7055968" y="3817620"/>
            <a:ext cx="1249528" cy="114300"/>
          </a:xfrm>
          <a:prstGeom prst="line">
            <a:avLst/>
          </a:prstGeom>
          <a:noFill/>
          <a:ln w="12700">
            <a:solidFill>
              <a:srgbClr val="A7B7A7"/>
            </a:solidFill>
            <a:prstDash val="dash"/>
          </a:ln>
        </p:spPr>
      </p:sp>
      <p:sp>
        <p:nvSpPr>
          <p:cNvPr id="74" name="Shape 72"/>
          <p:cNvSpPr/>
          <p:nvPr/>
        </p:nvSpPr>
        <p:spPr>
          <a:xfrm>
            <a:off x="8305495" y="3154680"/>
            <a:ext cx="3383280" cy="1325880"/>
          </a:xfrm>
          <a:prstGeom prst="rect">
            <a:avLst/>
          </a:prstGeom>
          <a:solidFill>
            <a:srgbClr val="2E4C66"/>
          </a:solidFill>
          <a:ln w="6350">
            <a:solidFill>
              <a:srgbClr val="789FB6"/>
            </a:solidFill>
            <a:prstDash val="solid"/>
          </a:ln>
        </p:spPr>
      </p:sp>
      <p:sp>
        <p:nvSpPr>
          <p:cNvPr id="75" name="Shape 73"/>
          <p:cNvSpPr/>
          <p:nvPr/>
        </p:nvSpPr>
        <p:spPr>
          <a:xfrm>
            <a:off x="8305495" y="3154680"/>
            <a:ext cx="64008" cy="1325880"/>
          </a:xfrm>
          <a:prstGeom prst="rect">
            <a:avLst/>
          </a:prstGeom>
          <a:solidFill>
            <a:srgbClr val="8C5A44"/>
          </a:solidFill>
          <a:ln/>
        </p:spPr>
      </p:sp>
      <p:sp>
        <p:nvSpPr>
          <p:cNvPr id="76" name="Shape 74"/>
          <p:cNvSpPr/>
          <p:nvPr/>
        </p:nvSpPr>
        <p:spPr>
          <a:xfrm>
            <a:off x="8534095" y="3653444"/>
            <a:ext cx="384048" cy="31588"/>
          </a:xfrm>
          <a:prstGeom prst="rect">
            <a:avLst/>
          </a:prstGeom>
          <a:solidFill>
            <a:srgbClr val="C4A06D"/>
          </a:solidFill>
          <a:ln/>
        </p:spPr>
      </p:sp>
      <p:sp>
        <p:nvSpPr>
          <p:cNvPr id="77" name="Shape 75"/>
          <p:cNvSpPr/>
          <p:nvPr/>
        </p:nvSpPr>
        <p:spPr>
          <a:xfrm>
            <a:off x="8534095" y="3590267"/>
            <a:ext cx="165141" cy="31588"/>
          </a:xfrm>
          <a:prstGeom prst="rect">
            <a:avLst/>
          </a:prstGeom>
          <a:solidFill>
            <a:srgbClr val="C4A06D"/>
          </a:solidFill>
          <a:ln/>
        </p:spPr>
      </p:sp>
      <p:sp>
        <p:nvSpPr>
          <p:cNvPr id="78" name="Shape 76"/>
          <p:cNvSpPr/>
          <p:nvPr/>
        </p:nvSpPr>
        <p:spPr>
          <a:xfrm>
            <a:off x="8753003" y="3590267"/>
            <a:ext cx="165141" cy="31588"/>
          </a:xfrm>
          <a:prstGeom prst="rect">
            <a:avLst/>
          </a:prstGeom>
          <a:solidFill>
            <a:srgbClr val="C4A06D"/>
          </a:solidFill>
          <a:ln/>
        </p:spPr>
      </p:sp>
      <p:sp>
        <p:nvSpPr>
          <p:cNvPr id="79" name="Shape 77"/>
          <p:cNvSpPr/>
          <p:nvPr/>
        </p:nvSpPr>
        <p:spPr>
          <a:xfrm>
            <a:off x="8534095" y="3527090"/>
            <a:ext cx="165141" cy="31588"/>
          </a:xfrm>
          <a:prstGeom prst="rect">
            <a:avLst/>
          </a:prstGeom>
          <a:solidFill>
            <a:srgbClr val="C4A06D"/>
          </a:solidFill>
          <a:ln/>
        </p:spPr>
      </p:sp>
      <p:sp>
        <p:nvSpPr>
          <p:cNvPr id="80" name="Shape 78"/>
          <p:cNvSpPr/>
          <p:nvPr/>
        </p:nvSpPr>
        <p:spPr>
          <a:xfrm>
            <a:off x="8753003" y="3527090"/>
            <a:ext cx="165141" cy="31588"/>
          </a:xfrm>
          <a:prstGeom prst="rect">
            <a:avLst/>
          </a:prstGeom>
          <a:solidFill>
            <a:srgbClr val="C4A06D"/>
          </a:solidFill>
          <a:ln/>
        </p:spPr>
      </p:sp>
      <p:sp>
        <p:nvSpPr>
          <p:cNvPr id="81" name="Shape 79"/>
          <p:cNvSpPr/>
          <p:nvPr/>
        </p:nvSpPr>
        <p:spPr>
          <a:xfrm>
            <a:off x="8534095" y="3463913"/>
            <a:ext cx="165141" cy="31588"/>
          </a:xfrm>
          <a:prstGeom prst="rect">
            <a:avLst/>
          </a:prstGeom>
          <a:solidFill>
            <a:srgbClr val="C4A06D"/>
          </a:solidFill>
          <a:ln/>
        </p:spPr>
      </p:sp>
      <p:sp>
        <p:nvSpPr>
          <p:cNvPr id="82" name="Shape 80"/>
          <p:cNvSpPr/>
          <p:nvPr/>
        </p:nvSpPr>
        <p:spPr>
          <a:xfrm>
            <a:off x="8753003" y="3463913"/>
            <a:ext cx="165141" cy="31588"/>
          </a:xfrm>
          <a:prstGeom prst="rect">
            <a:avLst/>
          </a:prstGeom>
          <a:solidFill>
            <a:srgbClr val="C4A06D"/>
          </a:solidFill>
          <a:ln/>
        </p:spPr>
      </p:sp>
      <p:sp>
        <p:nvSpPr>
          <p:cNvPr id="83" name="Shape 81"/>
          <p:cNvSpPr/>
          <p:nvPr/>
        </p:nvSpPr>
        <p:spPr>
          <a:xfrm>
            <a:off x="8534095" y="3400737"/>
            <a:ext cx="384048" cy="31588"/>
          </a:xfrm>
          <a:prstGeom prst="rect">
            <a:avLst/>
          </a:prstGeom>
          <a:solidFill>
            <a:srgbClr val="C4A06D"/>
          </a:solidFill>
          <a:ln/>
        </p:spPr>
      </p:sp>
      <p:sp>
        <p:nvSpPr>
          <p:cNvPr id="84" name="Shape 82"/>
          <p:cNvSpPr/>
          <p:nvPr/>
        </p:nvSpPr>
        <p:spPr>
          <a:xfrm>
            <a:off x="8534095" y="3337560"/>
            <a:ext cx="384048" cy="31588"/>
          </a:xfrm>
          <a:prstGeom prst="rect">
            <a:avLst/>
          </a:prstGeom>
          <a:solidFill>
            <a:srgbClr val="C4A06D"/>
          </a:solidFill>
          <a:ln/>
        </p:spPr>
      </p:sp>
      <p:sp>
        <p:nvSpPr>
          <p:cNvPr id="85" name="Text 83"/>
          <p:cNvSpPr/>
          <p:nvPr/>
        </p:nvSpPr>
        <p:spPr>
          <a:xfrm>
            <a:off x="9082735" y="3264408"/>
            <a:ext cx="2514600" cy="292608"/>
          </a:xfrm>
          <a:prstGeom prst="rect">
            <a:avLst/>
          </a:prstGeom>
          <a:noFill/>
          <a:ln/>
        </p:spPr>
        <p:txBody>
          <a:bodyPr wrap="square" lIns="0" tIns="0" rIns="0" bIns="0" rtlCol="0" anchor="t"/>
          <a:lstStyle/>
          <a:p>
            <a:pPr indent="0" marL="0">
              <a:buNone/>
            </a:pPr>
            <a:r>
              <a:rPr lang="en-US" sz="1400" b="1" dirty="0">
                <a:solidFill>
                  <a:srgbClr val="F5F1E8"/>
                </a:solidFill>
                <a:latin typeface="Georgia" pitchFamily="34" charset="0"/>
                <a:ea typeface="Georgia" pitchFamily="34" charset="-122"/>
                <a:cs typeface="Georgia" pitchFamily="34" charset="-120"/>
              </a:rPr>
              <a:t>EKI Fabric</a:t>
            </a:r>
            <a:endParaRPr lang="en-US" sz="1400" dirty="0"/>
          </a:p>
        </p:txBody>
      </p:sp>
      <p:sp>
        <p:nvSpPr>
          <p:cNvPr id="86" name="Text 84"/>
          <p:cNvSpPr/>
          <p:nvPr/>
        </p:nvSpPr>
        <p:spPr>
          <a:xfrm>
            <a:off x="9082735" y="3538728"/>
            <a:ext cx="2514600" cy="219456"/>
          </a:xfrm>
          <a:prstGeom prst="rect">
            <a:avLst/>
          </a:prstGeom>
          <a:noFill/>
          <a:ln/>
        </p:spPr>
        <p:txBody>
          <a:bodyPr wrap="square" lIns="0" tIns="0" rIns="0" bIns="0" rtlCol="0" anchor="t"/>
          <a:lstStyle/>
          <a:p>
            <a:pPr indent="0" marL="0">
              <a:buNone/>
            </a:pPr>
            <a:r>
              <a:rPr lang="en-US" sz="1000" dirty="0">
                <a:solidFill>
                  <a:srgbClr val="C4A06D"/>
                </a:solidFill>
                <a:latin typeface="BIZ UDPGothic" pitchFamily="34" charset="0"/>
                <a:ea typeface="BIZ UDPGothic" pitchFamily="34" charset="-122"/>
                <a:cs typeface="BIZ UDPGothic" pitchFamily="34" charset="-120"/>
              </a:rPr>
              <a:t>益　風雷益｜委任と実行</a:t>
            </a:r>
            <a:endParaRPr lang="en-US" sz="1000" dirty="0"/>
          </a:p>
        </p:txBody>
      </p:sp>
      <p:sp>
        <p:nvSpPr>
          <p:cNvPr id="87" name="Text 85"/>
          <p:cNvSpPr/>
          <p:nvPr/>
        </p:nvSpPr>
        <p:spPr>
          <a:xfrm>
            <a:off x="8534095" y="3840480"/>
            <a:ext cx="3017520" cy="594360"/>
          </a:xfrm>
          <a:prstGeom prst="rect">
            <a:avLst/>
          </a:prstGeom>
          <a:noFill/>
          <a:ln/>
        </p:spPr>
        <p:txBody>
          <a:bodyPr wrap="square" lIns="0" tIns="0" rIns="0" bIns="0" rtlCol="0" anchor="t"/>
          <a:lstStyle/>
          <a:p>
            <a:pPr indent="0" marL="0">
              <a:spcAft>
                <a:spcPts val="200"/>
              </a:spcAft>
              <a:buNone/>
            </a:pPr>
            <a:r>
              <a:rPr lang="en-US" sz="1050" b="1" dirty="0">
                <a:solidFill>
                  <a:srgbClr val="A7B7A7"/>
                </a:solidFill>
                <a:latin typeface="BIZ UDPGothic" pitchFamily="34" charset="0"/>
                <a:ea typeface="BIZ UDPGothic" pitchFamily="34" charset="-122"/>
                <a:cs typeface="BIZ UDPGothic" pitchFamily="34" charset="-120"/>
              </a:rPr>
              <a:t>扱う  </a:t>
            </a:r>
            <a:pPr indent="0" marL="0">
              <a:spcAft>
                <a:spcPts val="200"/>
              </a:spcAft>
              <a:buNone/>
            </a:pPr>
            <a:r>
              <a:rPr lang="en-US" sz="1050" dirty="0">
                <a:solidFill>
                  <a:srgbClr val="F5F1E8"/>
                </a:solidFill>
                <a:latin typeface="BIZ UDPGothic" pitchFamily="34" charset="0"/>
                <a:ea typeface="BIZ UDPGothic" pitchFamily="34" charset="-122"/>
                <a:cs typeface="BIZ UDPGothic" pitchFamily="34" charset="-120"/>
              </a:rPr>
              <a:t>範囲と権限を定めた委任と、結果の確認</a:t>
            </a:r>
            <a:endParaRPr lang="en-US" sz="1050" dirty="0"/>
          </a:p>
          <a:p>
            <a:pPr indent="0" marL="0">
              <a:spcAft>
                <a:spcPts val="200"/>
              </a:spcAft>
              <a:buNone/>
            </a:pPr>
            <a:r>
              <a:rPr lang="en-US" sz="1050" b="1" dirty="0">
                <a:solidFill>
                  <a:srgbClr val="E0A890"/>
                </a:solidFill>
                <a:latin typeface="BIZ UDPGothic" pitchFamily="34" charset="0"/>
                <a:ea typeface="BIZ UDPGothic" pitchFamily="34" charset="-122"/>
                <a:cs typeface="BIZ UDPGothic" pitchFamily="34" charset="-120"/>
              </a:rPr>
              <a:t>扱わない  </a:t>
            </a:r>
            <a:pPr indent="0" marL="0">
              <a:spcAft>
                <a:spcPts val="200"/>
              </a:spcAft>
              <a:buNone/>
            </a:pPr>
            <a:r>
              <a:rPr lang="en-US" sz="1050" dirty="0">
                <a:solidFill>
                  <a:srgbClr val="F5F1E8"/>
                </a:solidFill>
                <a:latin typeface="BIZ UDPGothic" pitchFamily="34" charset="0"/>
                <a:ea typeface="BIZ UDPGothic" pitchFamily="34" charset="-122"/>
                <a:cs typeface="BIZ UDPGothic" pitchFamily="34" charset="-120"/>
              </a:rPr>
              <a:t>業務判断の意味の正本</a:t>
            </a:r>
            <a:endParaRPr lang="en-US" sz="1050" dirty="0"/>
          </a:p>
        </p:txBody>
      </p:sp>
      <p:sp>
        <p:nvSpPr>
          <p:cNvPr id="88" name="Shape 86"/>
          <p:cNvSpPr/>
          <p:nvPr/>
        </p:nvSpPr>
        <p:spPr>
          <a:xfrm flipH="1" flipV="1">
            <a:off x="7055968" y="3931920"/>
            <a:ext cx="1249528" cy="1394460"/>
          </a:xfrm>
          <a:prstGeom prst="line">
            <a:avLst/>
          </a:prstGeom>
          <a:noFill/>
          <a:ln w="12700">
            <a:solidFill>
              <a:srgbClr val="A7B7A7"/>
            </a:solidFill>
            <a:prstDash val="dash"/>
          </a:ln>
        </p:spPr>
      </p:sp>
      <p:sp>
        <p:nvSpPr>
          <p:cNvPr id="89" name="Shape 87"/>
          <p:cNvSpPr/>
          <p:nvPr/>
        </p:nvSpPr>
        <p:spPr>
          <a:xfrm>
            <a:off x="8305495" y="4663440"/>
            <a:ext cx="3383280" cy="1325880"/>
          </a:xfrm>
          <a:prstGeom prst="rect">
            <a:avLst/>
          </a:prstGeom>
          <a:solidFill>
            <a:srgbClr val="2E4C66"/>
          </a:solidFill>
          <a:ln w="6350">
            <a:solidFill>
              <a:srgbClr val="789FB6"/>
            </a:solidFill>
            <a:prstDash val="solid"/>
          </a:ln>
        </p:spPr>
      </p:sp>
      <p:sp>
        <p:nvSpPr>
          <p:cNvPr id="90" name="Shape 88"/>
          <p:cNvSpPr/>
          <p:nvPr/>
        </p:nvSpPr>
        <p:spPr>
          <a:xfrm>
            <a:off x="8305495" y="4663440"/>
            <a:ext cx="64008" cy="1325880"/>
          </a:xfrm>
          <a:prstGeom prst="rect">
            <a:avLst/>
          </a:prstGeom>
          <a:solidFill>
            <a:srgbClr val="C4A06D"/>
          </a:solidFill>
          <a:ln/>
        </p:spPr>
      </p:sp>
      <p:sp>
        <p:nvSpPr>
          <p:cNvPr id="91" name="Shape 89"/>
          <p:cNvSpPr/>
          <p:nvPr/>
        </p:nvSpPr>
        <p:spPr>
          <a:xfrm>
            <a:off x="8534095" y="5162204"/>
            <a:ext cx="384048" cy="31588"/>
          </a:xfrm>
          <a:prstGeom prst="rect">
            <a:avLst/>
          </a:prstGeom>
          <a:solidFill>
            <a:srgbClr val="C4A06D"/>
          </a:solidFill>
          <a:ln/>
        </p:spPr>
      </p:sp>
      <p:sp>
        <p:nvSpPr>
          <p:cNvPr id="92" name="Shape 90"/>
          <p:cNvSpPr/>
          <p:nvPr/>
        </p:nvSpPr>
        <p:spPr>
          <a:xfrm>
            <a:off x="8534095" y="5099027"/>
            <a:ext cx="384048" cy="31588"/>
          </a:xfrm>
          <a:prstGeom prst="rect">
            <a:avLst/>
          </a:prstGeom>
          <a:solidFill>
            <a:srgbClr val="C4A06D"/>
          </a:solidFill>
          <a:ln/>
        </p:spPr>
      </p:sp>
      <p:sp>
        <p:nvSpPr>
          <p:cNvPr id="93" name="Shape 91"/>
          <p:cNvSpPr/>
          <p:nvPr/>
        </p:nvSpPr>
        <p:spPr>
          <a:xfrm>
            <a:off x="8534095" y="5035850"/>
            <a:ext cx="384048" cy="31588"/>
          </a:xfrm>
          <a:prstGeom prst="rect">
            <a:avLst/>
          </a:prstGeom>
          <a:solidFill>
            <a:srgbClr val="C4A06D"/>
          </a:solidFill>
          <a:ln/>
        </p:spPr>
      </p:sp>
      <p:sp>
        <p:nvSpPr>
          <p:cNvPr id="94" name="Shape 92"/>
          <p:cNvSpPr/>
          <p:nvPr/>
        </p:nvSpPr>
        <p:spPr>
          <a:xfrm>
            <a:off x="8534095" y="4972673"/>
            <a:ext cx="165141" cy="31588"/>
          </a:xfrm>
          <a:prstGeom prst="rect">
            <a:avLst/>
          </a:prstGeom>
          <a:solidFill>
            <a:srgbClr val="C4A06D"/>
          </a:solidFill>
          <a:ln/>
        </p:spPr>
      </p:sp>
      <p:sp>
        <p:nvSpPr>
          <p:cNvPr id="95" name="Shape 93"/>
          <p:cNvSpPr/>
          <p:nvPr/>
        </p:nvSpPr>
        <p:spPr>
          <a:xfrm>
            <a:off x="8753003" y="4972673"/>
            <a:ext cx="165141" cy="31588"/>
          </a:xfrm>
          <a:prstGeom prst="rect">
            <a:avLst/>
          </a:prstGeom>
          <a:solidFill>
            <a:srgbClr val="C4A06D"/>
          </a:solidFill>
          <a:ln/>
        </p:spPr>
      </p:sp>
      <p:sp>
        <p:nvSpPr>
          <p:cNvPr id="96" name="Shape 94"/>
          <p:cNvSpPr/>
          <p:nvPr/>
        </p:nvSpPr>
        <p:spPr>
          <a:xfrm>
            <a:off x="8534095" y="4909497"/>
            <a:ext cx="165141" cy="31588"/>
          </a:xfrm>
          <a:prstGeom prst="rect">
            <a:avLst/>
          </a:prstGeom>
          <a:solidFill>
            <a:srgbClr val="C4A06D"/>
          </a:solidFill>
          <a:ln/>
        </p:spPr>
      </p:sp>
      <p:sp>
        <p:nvSpPr>
          <p:cNvPr id="97" name="Shape 95"/>
          <p:cNvSpPr/>
          <p:nvPr/>
        </p:nvSpPr>
        <p:spPr>
          <a:xfrm>
            <a:off x="8753003" y="4909497"/>
            <a:ext cx="165141" cy="31588"/>
          </a:xfrm>
          <a:prstGeom prst="rect">
            <a:avLst/>
          </a:prstGeom>
          <a:solidFill>
            <a:srgbClr val="C4A06D"/>
          </a:solidFill>
          <a:ln/>
        </p:spPr>
      </p:sp>
      <p:sp>
        <p:nvSpPr>
          <p:cNvPr id="98" name="Shape 96"/>
          <p:cNvSpPr/>
          <p:nvPr/>
        </p:nvSpPr>
        <p:spPr>
          <a:xfrm>
            <a:off x="8534095" y="4846320"/>
            <a:ext cx="165141" cy="31588"/>
          </a:xfrm>
          <a:prstGeom prst="rect">
            <a:avLst/>
          </a:prstGeom>
          <a:solidFill>
            <a:srgbClr val="C4A06D"/>
          </a:solidFill>
          <a:ln/>
        </p:spPr>
      </p:sp>
      <p:sp>
        <p:nvSpPr>
          <p:cNvPr id="99" name="Shape 97"/>
          <p:cNvSpPr/>
          <p:nvPr/>
        </p:nvSpPr>
        <p:spPr>
          <a:xfrm>
            <a:off x="8753003" y="4846320"/>
            <a:ext cx="165141" cy="31588"/>
          </a:xfrm>
          <a:prstGeom prst="rect">
            <a:avLst/>
          </a:prstGeom>
          <a:solidFill>
            <a:srgbClr val="C4A06D"/>
          </a:solidFill>
          <a:ln/>
        </p:spPr>
      </p:sp>
      <p:sp>
        <p:nvSpPr>
          <p:cNvPr id="100" name="Text 98"/>
          <p:cNvSpPr/>
          <p:nvPr/>
        </p:nvSpPr>
        <p:spPr>
          <a:xfrm>
            <a:off x="9082735" y="4773168"/>
            <a:ext cx="2514600" cy="292608"/>
          </a:xfrm>
          <a:prstGeom prst="rect">
            <a:avLst/>
          </a:prstGeom>
          <a:noFill/>
          <a:ln/>
        </p:spPr>
        <p:txBody>
          <a:bodyPr wrap="square" lIns="0" tIns="0" rIns="0" bIns="0" rtlCol="0" anchor="t"/>
          <a:lstStyle/>
          <a:p>
            <a:pPr indent="0" marL="0">
              <a:buNone/>
            </a:pPr>
            <a:r>
              <a:rPr lang="en-US" sz="1400" b="1" dirty="0">
                <a:solidFill>
                  <a:srgbClr val="F5F1E8"/>
                </a:solidFill>
                <a:latin typeface="Georgia" pitchFamily="34" charset="0"/>
                <a:ea typeface="Georgia" pitchFamily="34" charset="-122"/>
                <a:cs typeface="Georgia" pitchFamily="34" charset="-120"/>
              </a:rPr>
              <a:t>TAI Pleroma</a:t>
            </a:r>
            <a:endParaRPr lang="en-US" sz="1400" dirty="0"/>
          </a:p>
        </p:txBody>
      </p:sp>
      <p:sp>
        <p:nvSpPr>
          <p:cNvPr id="101" name="Text 99"/>
          <p:cNvSpPr/>
          <p:nvPr/>
        </p:nvSpPr>
        <p:spPr>
          <a:xfrm>
            <a:off x="9082735" y="5047488"/>
            <a:ext cx="2514600" cy="219456"/>
          </a:xfrm>
          <a:prstGeom prst="rect">
            <a:avLst/>
          </a:prstGeom>
          <a:noFill/>
          <a:ln/>
        </p:spPr>
        <p:txBody>
          <a:bodyPr wrap="square" lIns="0" tIns="0" rIns="0" bIns="0" rtlCol="0" anchor="t"/>
          <a:lstStyle/>
          <a:p>
            <a:pPr indent="0" marL="0">
              <a:buNone/>
            </a:pPr>
            <a:r>
              <a:rPr lang="en-US" sz="1000" dirty="0">
                <a:solidFill>
                  <a:srgbClr val="C4A06D"/>
                </a:solidFill>
                <a:latin typeface="BIZ UDPGothic" pitchFamily="34" charset="0"/>
                <a:ea typeface="BIZ UDPGothic" pitchFamily="34" charset="-122"/>
                <a:cs typeface="BIZ UDPGothic" pitchFamily="34" charset="-120"/>
              </a:rPr>
              <a:t>泰　地天泰｜課題の横断</a:t>
            </a:r>
            <a:endParaRPr lang="en-US" sz="1000" dirty="0"/>
          </a:p>
        </p:txBody>
      </p:sp>
      <p:sp>
        <p:nvSpPr>
          <p:cNvPr id="102" name="Text 100"/>
          <p:cNvSpPr/>
          <p:nvPr/>
        </p:nvSpPr>
        <p:spPr>
          <a:xfrm>
            <a:off x="8534095" y="5349240"/>
            <a:ext cx="3017520" cy="594360"/>
          </a:xfrm>
          <a:prstGeom prst="rect">
            <a:avLst/>
          </a:prstGeom>
          <a:noFill/>
          <a:ln/>
        </p:spPr>
        <p:txBody>
          <a:bodyPr wrap="square" lIns="0" tIns="0" rIns="0" bIns="0" rtlCol="0" anchor="t"/>
          <a:lstStyle/>
          <a:p>
            <a:pPr indent="0" marL="0">
              <a:spcAft>
                <a:spcPts val="200"/>
              </a:spcAft>
              <a:buNone/>
            </a:pPr>
            <a:r>
              <a:rPr lang="en-US" sz="1050" b="1" dirty="0">
                <a:solidFill>
                  <a:srgbClr val="A7B7A7"/>
                </a:solidFill>
                <a:latin typeface="BIZ UDPGothic" pitchFamily="34" charset="0"/>
                <a:ea typeface="BIZ UDPGothic" pitchFamily="34" charset="-122"/>
                <a:cs typeface="BIZ UDPGothic" pitchFamily="34" charset="-120"/>
              </a:rPr>
              <a:t>扱う  </a:t>
            </a:r>
            <a:pPr indent="0" marL="0">
              <a:spcAft>
                <a:spcPts val="200"/>
              </a:spcAft>
              <a:buNone/>
            </a:pPr>
            <a:r>
              <a:rPr lang="en-US" sz="1050" dirty="0">
                <a:solidFill>
                  <a:srgbClr val="F5F1E8"/>
                </a:solidFill>
                <a:latin typeface="BIZ UDPGothic" pitchFamily="34" charset="0"/>
                <a:ea typeface="BIZ UDPGothic" pitchFamily="34" charset="-122"/>
                <a:cs typeface="BIZ UDPGothic" pitchFamily="34" charset="-120"/>
              </a:rPr>
              <a:t>課題をまたぐ活用と、製品群の組み合わせ</a:t>
            </a:r>
            <a:endParaRPr lang="en-US" sz="1050" dirty="0"/>
          </a:p>
          <a:p>
            <a:pPr indent="0" marL="0">
              <a:spcAft>
                <a:spcPts val="200"/>
              </a:spcAft>
              <a:buNone/>
            </a:pPr>
            <a:r>
              <a:rPr lang="en-US" sz="1050" b="1" dirty="0">
                <a:solidFill>
                  <a:srgbClr val="E0A890"/>
                </a:solidFill>
                <a:latin typeface="BIZ UDPGothic" pitchFamily="34" charset="0"/>
                <a:ea typeface="BIZ UDPGothic" pitchFamily="34" charset="-122"/>
                <a:cs typeface="BIZ UDPGothic" pitchFamily="34" charset="-120"/>
              </a:rPr>
              <a:t>扱わない  </a:t>
            </a:r>
            <a:pPr indent="0" marL="0">
              <a:spcAft>
                <a:spcPts val="200"/>
              </a:spcAft>
              <a:buNone/>
            </a:pPr>
            <a:r>
              <a:rPr lang="en-US" sz="1050" dirty="0">
                <a:solidFill>
                  <a:srgbClr val="F5F1E8"/>
                </a:solidFill>
                <a:latin typeface="BIZ UDPGothic" pitchFamily="34" charset="0"/>
                <a:ea typeface="BIZ UDPGothic" pitchFamily="34" charset="-122"/>
                <a:cs typeface="BIZ UDPGothic" pitchFamily="34" charset="-120"/>
              </a:rPr>
              <a:t>他製品の正本と公開判断</a:t>
            </a:r>
            <a:endParaRPr lang="en-US" sz="1050" dirty="0"/>
          </a:p>
        </p:txBody>
      </p:sp>
      <p:sp>
        <p:nvSpPr>
          <p:cNvPr id="103" name="Shape 101"/>
          <p:cNvSpPr/>
          <p:nvPr/>
        </p:nvSpPr>
        <p:spPr>
          <a:xfrm>
            <a:off x="5135728" y="3291840"/>
            <a:ext cx="1920240" cy="1280160"/>
          </a:xfrm>
          <a:prstGeom prst="ellipse">
            <a:avLst/>
          </a:prstGeom>
          <a:solidFill>
            <a:srgbClr val="F5F1E8"/>
          </a:solidFill>
          <a:ln w="25400">
            <a:solidFill>
              <a:srgbClr val="C4A06D"/>
            </a:solidFill>
            <a:prstDash val="solid"/>
          </a:ln>
        </p:spPr>
      </p:sp>
      <p:sp>
        <p:nvSpPr>
          <p:cNvPr id="104" name="Text 102"/>
          <p:cNvSpPr/>
          <p:nvPr/>
        </p:nvSpPr>
        <p:spPr>
          <a:xfrm>
            <a:off x="5135728" y="3291840"/>
            <a:ext cx="1920240" cy="1280160"/>
          </a:xfrm>
          <a:prstGeom prst="rect">
            <a:avLst/>
          </a:prstGeom>
          <a:noFill/>
          <a:ln/>
        </p:spPr>
        <p:txBody>
          <a:bodyPr wrap="square" lIns="0" tIns="0" rIns="0" bIns="0" rtlCol="0" anchor="ctr"/>
          <a:lstStyle/>
          <a:p>
            <a:pPr algn="ctr" indent="0" marL="0">
              <a:buNone/>
            </a:pPr>
            <a:r>
              <a:rPr lang="en-US" sz="1700" b="1" dirty="0">
                <a:solidFill>
                  <a:srgbClr val="243D54"/>
                </a:solidFill>
                <a:latin typeface="BIZ UDPGothic" pitchFamily="34" charset="0"/>
                <a:ea typeface="BIZ UDPGothic" pitchFamily="34" charset="-122"/>
                <a:cs typeface="BIZ UDPGothic" pitchFamily="34" charset="-120"/>
              </a:rPr>
              <a:t>人と組織の</a:t>
            </a:r>
            <a:endParaRPr lang="en-US" sz="1700" dirty="0"/>
          </a:p>
          <a:p>
            <a:pPr algn="ctr" indent="0" marL="0">
              <a:buNone/>
            </a:pPr>
            <a:r>
              <a:rPr lang="en-US" sz="1700" b="1" dirty="0">
                <a:solidFill>
                  <a:srgbClr val="243D54"/>
                </a:solidFill>
                <a:latin typeface="BIZ UDPGothic" pitchFamily="34" charset="0"/>
                <a:ea typeface="BIZ UDPGothic" pitchFamily="34" charset="-122"/>
                <a:cs typeface="BIZ UDPGothic" pitchFamily="34" charset="-120"/>
              </a:rPr>
              <a:t>問い</a:t>
            </a:r>
            <a:endParaRPr lang="en-US" sz="1700" dirty="0"/>
          </a:p>
        </p:txBody>
      </p:sp>
      <p:sp>
        <p:nvSpPr>
          <p:cNvPr id="105" name="Text 103"/>
          <p:cNvSpPr/>
          <p:nvPr/>
        </p:nvSpPr>
        <p:spPr>
          <a:xfrm>
            <a:off x="4632808" y="1828800"/>
            <a:ext cx="2926080" cy="548640"/>
          </a:xfrm>
          <a:prstGeom prst="rect">
            <a:avLst/>
          </a:prstGeom>
          <a:noFill/>
          <a:ln/>
        </p:spPr>
        <p:txBody>
          <a:bodyPr wrap="square" lIns="0" tIns="0" rIns="0" bIns="0" rtlCol="0" anchor="t"/>
          <a:lstStyle/>
          <a:p>
            <a:pPr algn="ctr" indent="0" marL="0">
              <a:buNone/>
            </a:pPr>
            <a:r>
              <a:rPr lang="en-US" sz="1100" dirty="0">
                <a:solidFill>
                  <a:srgbClr val="C9D3D9"/>
                </a:solidFill>
                <a:latin typeface="BIZ UDPGothic" pitchFamily="34" charset="0"/>
                <a:ea typeface="BIZ UDPGothic" pitchFamily="34" charset="-122"/>
                <a:cs typeface="BIZ UDPGothic" pitchFamily="34" charset="-120"/>
              </a:rPr>
              <a:t>目的・権限・説明責任・停止条件は</a:t>
            </a:r>
            <a:endParaRPr lang="en-US" sz="1100" dirty="0"/>
          </a:p>
          <a:p>
            <a:pPr algn="ctr" indent="0" marL="0">
              <a:buNone/>
            </a:pPr>
            <a:r>
              <a:rPr lang="en-US" sz="1100" dirty="0">
                <a:solidFill>
                  <a:srgbClr val="C9D3D9"/>
                </a:solidFill>
                <a:latin typeface="BIZ UDPGothic" pitchFamily="34" charset="0"/>
                <a:ea typeface="BIZ UDPGothic" pitchFamily="34" charset="-122"/>
                <a:cs typeface="BIZ UDPGothic" pitchFamily="34" charset="-120"/>
              </a:rPr>
              <a:t>人と組織が持つ</a:t>
            </a:r>
            <a:endParaRPr lang="en-US" sz="1100" dirty="0"/>
          </a:p>
        </p:txBody>
      </p:sp>
      <p:sp>
        <p:nvSpPr>
          <p:cNvPr id="106" name="Shape 104"/>
          <p:cNvSpPr/>
          <p:nvPr/>
        </p:nvSpPr>
        <p:spPr>
          <a:xfrm>
            <a:off x="4495648" y="5532120"/>
            <a:ext cx="457200" cy="0"/>
          </a:xfrm>
          <a:prstGeom prst="line">
            <a:avLst/>
          </a:prstGeom>
          <a:noFill/>
          <a:ln w="12700">
            <a:solidFill>
              <a:srgbClr val="A7B7A7"/>
            </a:solidFill>
            <a:prstDash val="dash"/>
          </a:ln>
        </p:spPr>
      </p:sp>
      <p:sp>
        <p:nvSpPr>
          <p:cNvPr id="107" name="Text 105"/>
          <p:cNvSpPr/>
          <p:nvPr/>
        </p:nvSpPr>
        <p:spPr>
          <a:xfrm>
            <a:off x="5044288" y="5413248"/>
            <a:ext cx="2697480" cy="237744"/>
          </a:xfrm>
          <a:prstGeom prst="rect">
            <a:avLst/>
          </a:prstGeom>
          <a:noFill/>
          <a:ln/>
        </p:spPr>
        <p:txBody>
          <a:bodyPr wrap="square" lIns="0" tIns="0" rIns="0" bIns="0" rtlCol="0" anchor="t"/>
          <a:lstStyle/>
          <a:p>
            <a:pPr indent="0" marL="0">
              <a:buNone/>
            </a:pPr>
            <a:r>
              <a:rPr lang="en-US" sz="950" dirty="0">
                <a:solidFill>
                  <a:srgbClr val="C9D3D9"/>
                </a:solidFill>
                <a:latin typeface="BIZ UDPGothic" pitchFamily="34" charset="0"/>
                <a:ea typeface="BIZ UDPGothic" pitchFamily="34" charset="-122"/>
                <a:cs typeface="BIZ UDPGothic" pitchFamily="34" charset="-120"/>
              </a:rPr>
              <a:t>役割上の補完（実接続や主従は示さない）</a:t>
            </a:r>
            <a:endParaRPr lang="en-US" sz="950" dirty="0"/>
          </a:p>
        </p:txBody>
      </p:sp>
      <p:sp>
        <p:nvSpPr>
          <p:cNvPr id="108" name="Text 106"/>
          <p:cNvSpPr/>
          <p:nvPr/>
        </p:nvSpPr>
        <p:spPr>
          <a:xfrm>
            <a:off x="4038448" y="5852160"/>
            <a:ext cx="4114800" cy="274320"/>
          </a:xfrm>
          <a:prstGeom prst="rect">
            <a:avLst/>
          </a:prstGeom>
          <a:noFill/>
          <a:ln/>
        </p:spPr>
        <p:txBody>
          <a:bodyPr wrap="square" lIns="0" tIns="0" rIns="0" bIns="0" rtlCol="0" anchor="t"/>
          <a:lstStyle/>
          <a:p>
            <a:pPr algn="ctr" indent="0" marL="0">
              <a:buNone/>
            </a:pPr>
            <a:r>
              <a:rPr lang="en-US" sz="1000" b="1" dirty="0">
                <a:solidFill>
                  <a:srgbClr val="C4A06D"/>
                </a:solidFill>
                <a:latin typeface="BIZ UDPGothic" pitchFamily="34" charset="0"/>
                <a:ea typeface="BIZ UDPGothic" pitchFamily="34" charset="-122"/>
                <a:cs typeface="BIZ UDPGothic" pitchFamily="34" charset="-120"/>
              </a:rPr>
              <a:t>YI Constellationはブランド名、TAI Pleromaは統合製品</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274320"/>
            <a:ext cx="1118585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03  全体構成</a:t>
            </a:r>
            <a:endParaRPr lang="en-US" sz="950" dirty="0"/>
          </a:p>
        </p:txBody>
      </p:sp>
      <p:sp>
        <p:nvSpPr>
          <p:cNvPr id="3" name="Text 1"/>
          <p:cNvSpPr/>
          <p:nvPr/>
        </p:nvSpPr>
        <p:spPr>
          <a:xfrm>
            <a:off x="502920" y="530352"/>
            <a:ext cx="1118585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製品間で渡すのは「意味の約束」と「実行の約束」</a:t>
            </a:r>
            <a:endParaRPr lang="en-US" sz="2500" dirty="0"/>
          </a:p>
        </p:txBody>
      </p:sp>
      <p:sp>
        <p:nvSpPr>
          <p:cNvPr id="4" name="Text 2"/>
          <p:cNvSpPr/>
          <p:nvPr/>
        </p:nvSpPr>
        <p:spPr>
          <a:xfrm>
            <a:off x="502920" y="1097280"/>
            <a:ext cx="1118585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関係図に線があるだけでは連携とは言えない。境界ごとに、通す条件と拒否すべき条件を書く。</a:t>
            </a:r>
            <a:endParaRPr lang="en-US" sz="1300" dirty="0"/>
          </a:p>
        </p:txBody>
      </p:sp>
      <p:sp>
        <p:nvSpPr>
          <p:cNvPr id="5" name="Text 3"/>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09</a:t>
            </a:r>
            <a:endParaRPr lang="en-US" sz="1000" dirty="0"/>
          </a:p>
        </p:txBody>
      </p:sp>
      <p:sp>
        <p:nvSpPr>
          <p:cNvPr id="6" name="Shape 4"/>
          <p:cNvSpPr/>
          <p:nvPr/>
        </p:nvSpPr>
        <p:spPr>
          <a:xfrm>
            <a:off x="502920" y="1600200"/>
            <a:ext cx="2788920" cy="2514600"/>
          </a:xfrm>
          <a:prstGeom prst="rect">
            <a:avLst/>
          </a:prstGeom>
          <a:solidFill>
            <a:srgbClr val="FFFFFF"/>
          </a:solidFill>
          <a:ln w="9525">
            <a:solidFill>
              <a:srgbClr val="DCD5C6"/>
            </a:solidFill>
            <a:prstDash val="solid"/>
          </a:ln>
        </p:spPr>
      </p:sp>
      <p:sp>
        <p:nvSpPr>
          <p:cNvPr id="7" name="Shape 5"/>
          <p:cNvSpPr/>
          <p:nvPr/>
        </p:nvSpPr>
        <p:spPr>
          <a:xfrm>
            <a:off x="502920" y="1600200"/>
            <a:ext cx="2788920" cy="54864"/>
          </a:xfrm>
          <a:prstGeom prst="rect">
            <a:avLst/>
          </a:prstGeom>
          <a:solidFill>
            <a:srgbClr val="3C6684"/>
          </a:solidFill>
          <a:ln/>
        </p:spPr>
      </p:sp>
      <p:sp>
        <p:nvSpPr>
          <p:cNvPr id="8" name="Text 6"/>
          <p:cNvSpPr/>
          <p:nvPr/>
        </p:nvSpPr>
        <p:spPr>
          <a:xfrm>
            <a:off x="685800" y="1746504"/>
            <a:ext cx="2514600" cy="292608"/>
          </a:xfrm>
          <a:prstGeom prst="rect">
            <a:avLst/>
          </a:prstGeom>
          <a:noFill/>
          <a:ln/>
        </p:spPr>
        <p:txBody>
          <a:bodyPr wrap="square" lIns="0" tIns="0" rIns="0" bIns="0" rtlCol="0" anchor="t"/>
          <a:lstStyle/>
          <a:p>
            <a:pPr indent="0" marL="0">
              <a:buNone/>
            </a:pPr>
            <a:r>
              <a:rPr lang="en-US" sz="1350" b="1" dirty="0">
                <a:solidFill>
                  <a:srgbClr val="3C6684"/>
                </a:solidFill>
                <a:latin typeface="BIZ UDPGothic" pitchFamily="34" charset="0"/>
                <a:ea typeface="BIZ UDPGothic" pitchFamily="34" charset="-122"/>
                <a:cs typeface="BIZ UDPGothic" pitchFamily="34" charset="-120"/>
              </a:rPr>
              <a:t>意味と参照の約束</a:t>
            </a:r>
            <a:endParaRPr lang="en-US" sz="1350" dirty="0"/>
          </a:p>
        </p:txBody>
      </p:sp>
      <p:sp>
        <p:nvSpPr>
          <p:cNvPr id="9" name="Text 7"/>
          <p:cNvSpPr/>
          <p:nvPr/>
        </p:nvSpPr>
        <p:spPr>
          <a:xfrm>
            <a:off x="685800" y="2039112"/>
            <a:ext cx="2514600" cy="237744"/>
          </a:xfrm>
          <a:prstGeom prst="rect">
            <a:avLst/>
          </a:prstGeom>
          <a:noFill/>
          <a:ln/>
        </p:spPr>
        <p:txBody>
          <a:bodyPr wrap="square" lIns="0" tIns="0" rIns="0" bIns="0" rtlCol="0" anchor="t"/>
          <a:lstStyle/>
          <a:p>
            <a:pPr indent="0" marL="0">
              <a:buNone/>
            </a:pPr>
            <a:r>
              <a:rPr lang="en-US" sz="1050" dirty="0">
                <a:solidFill>
                  <a:srgbClr val="56636E"/>
                </a:solidFill>
                <a:latin typeface="BIZ UDPGothic" pitchFamily="34" charset="0"/>
                <a:ea typeface="BIZ UDPGothic" pitchFamily="34" charset="-122"/>
                <a:cs typeface="BIZ UDPGothic" pitchFamily="34" charset="-120"/>
              </a:rPr>
              <a:t>何を指すか</a:t>
            </a:r>
            <a:endParaRPr lang="en-US" sz="1050" dirty="0"/>
          </a:p>
        </p:txBody>
      </p:sp>
      <p:sp>
        <p:nvSpPr>
          <p:cNvPr id="10" name="Text 8"/>
          <p:cNvSpPr/>
          <p:nvPr/>
        </p:nvSpPr>
        <p:spPr>
          <a:xfrm>
            <a:off x="685800" y="2350008"/>
            <a:ext cx="2514600" cy="169164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43D54"/>
                </a:solidFill>
                <a:latin typeface="BIZ UDPGothic" pitchFamily="34" charset="0"/>
                <a:ea typeface="BIZ UDPGothic" pitchFamily="34" charset="-122"/>
                <a:cs typeface="BIZ UDPGothic" pitchFamily="34" charset="-120"/>
              </a:rPr>
              <a:t>識別子・範囲・版</a:t>
            </a:r>
            <a:endParaRPr lang="en-US" sz="1150" dirty="0"/>
          </a:p>
          <a:p>
            <a:pPr marL="342900" indent="-342900">
              <a:spcAft>
                <a:spcPts val="500"/>
              </a:spcAft>
              <a:buSzPct val="100000"/>
              <a:buChar char="•"/>
            </a:pPr>
            <a:r>
              <a:rPr lang="en-US" sz="1150" dirty="0">
                <a:solidFill>
                  <a:srgbClr val="243D54"/>
                </a:solidFill>
                <a:latin typeface="BIZ UDPGothic" pitchFamily="34" charset="0"/>
                <a:ea typeface="BIZ UDPGothic" pitchFamily="34" charset="-122"/>
                <a:cs typeface="BIZ UDPGothic" pitchFamily="34" charset="-120"/>
              </a:rPr>
              <a:t>観測・候補・受理済みの区別</a:t>
            </a:r>
            <a:endParaRPr lang="en-US" sz="1150" dirty="0"/>
          </a:p>
          <a:p>
            <a:pPr marL="342900" indent="-342900">
              <a:spcAft>
                <a:spcPts val="500"/>
              </a:spcAft>
              <a:buSzPct val="100000"/>
              <a:buChar char="•"/>
            </a:pPr>
            <a:r>
              <a:rPr lang="en-US" sz="1150" dirty="0">
                <a:solidFill>
                  <a:srgbClr val="243D54"/>
                </a:solidFill>
                <a:latin typeface="BIZ UDPGothic" pitchFamily="34" charset="0"/>
                <a:ea typeface="BIZ UDPGothic" pitchFamily="34" charset="-122"/>
                <a:cs typeface="BIZ UDPGothic" pitchFamily="34" charset="-120"/>
              </a:rPr>
              <a:t>参照できても閲覧権限は引き継がない</a:t>
            </a:r>
            <a:endParaRPr lang="en-US" sz="1150" dirty="0"/>
          </a:p>
          <a:p>
            <a:pPr marL="342900" indent="-342900">
              <a:spcAft>
                <a:spcPts val="500"/>
              </a:spcAft>
              <a:buSzPct val="100000"/>
              <a:buChar char="•"/>
            </a:pPr>
            <a:r>
              <a:rPr lang="en-US" sz="1150" dirty="0">
                <a:solidFill>
                  <a:srgbClr val="243D54"/>
                </a:solidFill>
                <a:latin typeface="BIZ UDPGothic" pitchFamily="34" charset="0"/>
                <a:ea typeface="BIZ UDPGothic" pitchFamily="34" charset="-122"/>
                <a:cs typeface="BIZ UDPGothic" pitchFamily="34" charset="-120"/>
              </a:rPr>
              <a:t>意味の正本の持ち主を明示</a:t>
            </a:r>
            <a:endParaRPr lang="en-US" sz="1150" dirty="0"/>
          </a:p>
        </p:txBody>
      </p:sp>
      <p:sp>
        <p:nvSpPr>
          <p:cNvPr id="11" name="Shape 9"/>
          <p:cNvSpPr/>
          <p:nvPr/>
        </p:nvSpPr>
        <p:spPr>
          <a:xfrm>
            <a:off x="3429000" y="1600200"/>
            <a:ext cx="2788920" cy="2514600"/>
          </a:xfrm>
          <a:prstGeom prst="rect">
            <a:avLst/>
          </a:prstGeom>
          <a:solidFill>
            <a:srgbClr val="FFFFFF"/>
          </a:solidFill>
          <a:ln w="9525">
            <a:solidFill>
              <a:srgbClr val="DCD5C6"/>
            </a:solidFill>
            <a:prstDash val="solid"/>
          </a:ln>
        </p:spPr>
      </p:sp>
      <p:sp>
        <p:nvSpPr>
          <p:cNvPr id="12" name="Shape 10"/>
          <p:cNvSpPr/>
          <p:nvPr/>
        </p:nvSpPr>
        <p:spPr>
          <a:xfrm>
            <a:off x="3429000" y="1600200"/>
            <a:ext cx="2788920" cy="54864"/>
          </a:xfrm>
          <a:prstGeom prst="rect">
            <a:avLst/>
          </a:prstGeom>
          <a:solidFill>
            <a:srgbClr val="8C5A44"/>
          </a:solidFill>
          <a:ln/>
        </p:spPr>
      </p:sp>
      <p:sp>
        <p:nvSpPr>
          <p:cNvPr id="13" name="Text 11"/>
          <p:cNvSpPr/>
          <p:nvPr/>
        </p:nvSpPr>
        <p:spPr>
          <a:xfrm>
            <a:off x="3611880" y="1746504"/>
            <a:ext cx="2514600" cy="292608"/>
          </a:xfrm>
          <a:prstGeom prst="rect">
            <a:avLst/>
          </a:prstGeom>
          <a:noFill/>
          <a:ln/>
        </p:spPr>
        <p:txBody>
          <a:bodyPr wrap="square" lIns="0" tIns="0" rIns="0" bIns="0" rtlCol="0" anchor="t"/>
          <a:lstStyle/>
          <a:p>
            <a:pPr indent="0" marL="0">
              <a:buNone/>
            </a:pPr>
            <a:r>
              <a:rPr lang="en-US" sz="1350" b="1" dirty="0">
                <a:solidFill>
                  <a:srgbClr val="8C5A44"/>
                </a:solidFill>
                <a:latin typeface="BIZ UDPGothic" pitchFamily="34" charset="0"/>
                <a:ea typeface="BIZ UDPGothic" pitchFamily="34" charset="-122"/>
                <a:cs typeface="BIZ UDPGothic" pitchFamily="34" charset="-120"/>
              </a:rPr>
              <a:t>操作と成果の約束</a:t>
            </a:r>
            <a:endParaRPr lang="en-US" sz="1350" dirty="0"/>
          </a:p>
        </p:txBody>
      </p:sp>
      <p:sp>
        <p:nvSpPr>
          <p:cNvPr id="14" name="Text 12"/>
          <p:cNvSpPr/>
          <p:nvPr/>
        </p:nvSpPr>
        <p:spPr>
          <a:xfrm>
            <a:off x="3611880" y="2039112"/>
            <a:ext cx="2514600" cy="237744"/>
          </a:xfrm>
          <a:prstGeom prst="rect">
            <a:avLst/>
          </a:prstGeom>
          <a:noFill/>
          <a:ln/>
        </p:spPr>
        <p:txBody>
          <a:bodyPr wrap="square" lIns="0" tIns="0" rIns="0" bIns="0" rtlCol="0" anchor="t"/>
          <a:lstStyle/>
          <a:p>
            <a:pPr indent="0" marL="0">
              <a:buNone/>
            </a:pPr>
            <a:r>
              <a:rPr lang="en-US" sz="1050" dirty="0">
                <a:solidFill>
                  <a:srgbClr val="56636E"/>
                </a:solidFill>
                <a:latin typeface="BIZ UDPGothic" pitchFamily="34" charset="0"/>
                <a:ea typeface="BIZ UDPGothic" pitchFamily="34" charset="-122"/>
                <a:cs typeface="BIZ UDPGothic" pitchFamily="34" charset="-120"/>
              </a:rPr>
              <a:t>何をしてよいか</a:t>
            </a:r>
            <a:endParaRPr lang="en-US" sz="1050" dirty="0"/>
          </a:p>
        </p:txBody>
      </p:sp>
      <p:sp>
        <p:nvSpPr>
          <p:cNvPr id="15" name="Text 13"/>
          <p:cNvSpPr/>
          <p:nvPr/>
        </p:nvSpPr>
        <p:spPr>
          <a:xfrm>
            <a:off x="3611880" y="2350008"/>
            <a:ext cx="2514600" cy="169164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43D54"/>
                </a:solidFill>
                <a:latin typeface="BIZ UDPGothic" pitchFamily="34" charset="0"/>
                <a:ea typeface="BIZ UDPGothic" pitchFamily="34" charset="-122"/>
                <a:cs typeface="BIZ UDPGothic" pitchFamily="34" charset="-120"/>
              </a:rPr>
              <a:t>主体・許可・期限</a:t>
            </a:r>
            <a:endParaRPr lang="en-US" sz="1150" dirty="0"/>
          </a:p>
          <a:p>
            <a:pPr marL="342900" indent="-342900">
              <a:spcAft>
                <a:spcPts val="500"/>
              </a:spcAft>
              <a:buSzPct val="100000"/>
              <a:buChar char="•"/>
            </a:pPr>
            <a:r>
              <a:rPr lang="en-US" sz="1150" dirty="0">
                <a:solidFill>
                  <a:srgbClr val="243D54"/>
                </a:solidFill>
                <a:latin typeface="BIZ UDPGothic" pitchFamily="34" charset="0"/>
                <a:ea typeface="BIZ UDPGothic" pitchFamily="34" charset="-122"/>
                <a:cs typeface="BIZ UDPGothic" pitchFamily="34" charset="-120"/>
              </a:rPr>
              <a:t>入力の約束と実行先の適合</a:t>
            </a:r>
            <a:endParaRPr lang="en-US" sz="1150" dirty="0"/>
          </a:p>
          <a:p>
            <a:pPr marL="342900" indent="-342900">
              <a:spcAft>
                <a:spcPts val="500"/>
              </a:spcAft>
              <a:buSzPct val="100000"/>
              <a:buChar char="•"/>
            </a:pPr>
            <a:r>
              <a:rPr lang="en-US" sz="1150" dirty="0">
                <a:solidFill>
                  <a:srgbClr val="243D54"/>
                </a:solidFill>
                <a:latin typeface="BIZ UDPGothic" pitchFamily="34" charset="0"/>
                <a:ea typeface="BIZ UDPGothic" pitchFamily="34" charset="-122"/>
                <a:cs typeface="BIZ UDPGothic" pitchFamily="34" charset="-120"/>
              </a:rPr>
              <a:t>受付・実行・結果確認の状態</a:t>
            </a:r>
            <a:endParaRPr lang="en-US" sz="1150" dirty="0"/>
          </a:p>
          <a:p>
            <a:pPr marL="342900" indent="-342900">
              <a:spcAft>
                <a:spcPts val="500"/>
              </a:spcAft>
              <a:buSzPct val="100000"/>
              <a:buChar char="•"/>
            </a:pPr>
            <a:r>
              <a:rPr lang="en-US" sz="1150" dirty="0">
                <a:solidFill>
                  <a:srgbClr val="243D54"/>
                </a:solidFill>
                <a:latin typeface="BIZ UDPGothic" pitchFamily="34" charset="0"/>
                <a:ea typeface="BIZ UDPGothic" pitchFamily="34" charset="-122"/>
                <a:cs typeface="BIZ UDPGothic" pitchFamily="34" charset="-120"/>
              </a:rPr>
              <a:t>結果から業務判断へ戻す責任</a:t>
            </a:r>
            <a:endParaRPr lang="en-US" sz="1150" dirty="0"/>
          </a:p>
        </p:txBody>
      </p:sp>
      <p:sp>
        <p:nvSpPr>
          <p:cNvPr id="16" name="Shape 14"/>
          <p:cNvSpPr/>
          <p:nvPr/>
        </p:nvSpPr>
        <p:spPr>
          <a:xfrm>
            <a:off x="6400800" y="1600200"/>
            <a:ext cx="5287975" cy="2514600"/>
          </a:xfrm>
          <a:prstGeom prst="rect">
            <a:avLst/>
          </a:prstGeom>
          <a:solidFill>
            <a:srgbClr val="1E2B38"/>
          </a:solidFill>
          <a:ln/>
        </p:spPr>
      </p:sp>
      <p:sp>
        <p:nvSpPr>
          <p:cNvPr id="17" name="Text 15"/>
          <p:cNvSpPr/>
          <p:nvPr/>
        </p:nvSpPr>
        <p:spPr>
          <a:xfrm>
            <a:off x="6629400" y="1691640"/>
            <a:ext cx="4830775" cy="256032"/>
          </a:xfrm>
          <a:prstGeom prst="rect">
            <a:avLst/>
          </a:prstGeom>
          <a:noFill/>
          <a:ln/>
        </p:spPr>
        <p:txBody>
          <a:bodyPr wrap="square" lIns="0" tIns="0" rIns="0" bIns="0" rtlCol="0" anchor="t"/>
          <a:lstStyle/>
          <a:p>
            <a:pPr indent="0" marL="0">
              <a:buNone/>
            </a:pPr>
            <a:r>
              <a:rPr lang="en-US" sz="1100" b="1" dirty="0">
                <a:solidFill>
                  <a:srgbClr val="C4A06D"/>
                </a:solidFill>
                <a:latin typeface="BIZ UDPGothic" pitchFamily="34" charset="0"/>
                <a:ea typeface="BIZ UDPGothic" pitchFamily="34" charset="-122"/>
                <a:cs typeface="BIZ UDPGothic" pitchFamily="34" charset="-120"/>
              </a:rPr>
              <a:t>製品間で渡す最小限の文脈（例）</a:t>
            </a:r>
            <a:endParaRPr lang="en-US" sz="1100" dirty="0"/>
          </a:p>
        </p:txBody>
      </p:sp>
      <p:sp>
        <p:nvSpPr>
          <p:cNvPr id="18" name="Text 16"/>
          <p:cNvSpPr/>
          <p:nvPr/>
        </p:nvSpPr>
        <p:spPr>
          <a:xfrm>
            <a:off x="6629400" y="2011680"/>
            <a:ext cx="1325880" cy="274320"/>
          </a:xfrm>
          <a:prstGeom prst="rect">
            <a:avLst/>
          </a:prstGeom>
          <a:noFill/>
          <a:ln/>
        </p:spPr>
        <p:txBody>
          <a:bodyPr wrap="square" lIns="0" tIns="0" rIns="0" bIns="0" rtlCol="0" anchor="ctr"/>
          <a:lstStyle/>
          <a:p>
            <a:pPr indent="0" marL="0">
              <a:buNone/>
            </a:pPr>
            <a:r>
              <a:rPr lang="en-US" sz="1100" b="1" dirty="0">
                <a:solidFill>
                  <a:srgbClr val="9CC3DD"/>
                </a:solidFill>
                <a:latin typeface="BIZ UDPGothic" pitchFamily="34" charset="0"/>
                <a:ea typeface="BIZ UDPGothic" pitchFamily="34" charset="-122"/>
                <a:cs typeface="BIZ UDPGothic" pitchFamily="34" charset="-120"/>
              </a:rPr>
              <a:t>追跡番号</a:t>
            </a:r>
            <a:endParaRPr lang="en-US" sz="1100" dirty="0"/>
          </a:p>
        </p:txBody>
      </p:sp>
      <p:sp>
        <p:nvSpPr>
          <p:cNvPr id="19" name="Text 17"/>
          <p:cNvSpPr/>
          <p:nvPr/>
        </p:nvSpPr>
        <p:spPr>
          <a:xfrm>
            <a:off x="8001000" y="2011680"/>
            <a:ext cx="1188720" cy="274320"/>
          </a:xfrm>
          <a:prstGeom prst="rect">
            <a:avLst/>
          </a:prstGeom>
          <a:noFill/>
          <a:ln/>
        </p:spPr>
        <p:txBody>
          <a:bodyPr wrap="square" lIns="0" tIns="0" rIns="0" bIns="0" rtlCol="0" anchor="ctr"/>
          <a:lstStyle/>
          <a:p>
            <a:pPr indent="0" marL="0">
              <a:buNone/>
            </a:pPr>
            <a:r>
              <a:rPr lang="en-US" sz="1100" dirty="0">
                <a:solidFill>
                  <a:srgbClr val="E8D3A8"/>
                </a:solidFill>
                <a:latin typeface="BIZ UDPGothic" pitchFamily="34" charset="0"/>
                <a:ea typeface="BIZ UDPGothic" pitchFamily="34" charset="-122"/>
                <a:cs typeface="BIZ UDPGothic" pitchFamily="34" charset="-120"/>
              </a:rPr>
              <a:t>Q-001</a:t>
            </a:r>
            <a:endParaRPr lang="en-US" sz="1100" dirty="0"/>
          </a:p>
        </p:txBody>
      </p:sp>
      <p:sp>
        <p:nvSpPr>
          <p:cNvPr id="20" name="Text 18"/>
          <p:cNvSpPr/>
          <p:nvPr/>
        </p:nvSpPr>
        <p:spPr>
          <a:xfrm>
            <a:off x="9235440" y="2011680"/>
            <a:ext cx="2316175" cy="274320"/>
          </a:xfrm>
          <a:prstGeom prst="rect">
            <a:avLst/>
          </a:prstGeom>
          <a:noFill/>
          <a:ln/>
        </p:spPr>
        <p:txBody>
          <a:bodyPr wrap="square" lIns="0" tIns="0" rIns="0" bIns="0" rtlCol="0" anchor="ctr"/>
          <a:lstStyle/>
          <a:p>
            <a:pPr indent="0" marL="0">
              <a:buNone/>
            </a:pPr>
            <a:r>
              <a:rPr lang="en-US" sz="1000" dirty="0">
                <a:solidFill>
                  <a:srgbClr val="8FA1AE"/>
                </a:solidFill>
                <a:latin typeface="BIZ UDPGothic" pitchFamily="34" charset="0"/>
                <a:ea typeface="BIZ UDPGothic" pitchFamily="34" charset="-122"/>
                <a:cs typeface="BIZ UDPGothic" pitchFamily="34" charset="-120"/>
              </a:rPr>
              <a:t>利用課題を追う鍵</a:t>
            </a:r>
            <a:endParaRPr lang="en-US" sz="1000" dirty="0"/>
          </a:p>
        </p:txBody>
      </p:sp>
      <p:sp>
        <p:nvSpPr>
          <p:cNvPr id="21" name="Text 19"/>
          <p:cNvSpPr/>
          <p:nvPr/>
        </p:nvSpPr>
        <p:spPr>
          <a:xfrm>
            <a:off x="6629400" y="2304288"/>
            <a:ext cx="1325880" cy="274320"/>
          </a:xfrm>
          <a:prstGeom prst="rect">
            <a:avLst/>
          </a:prstGeom>
          <a:noFill/>
          <a:ln/>
        </p:spPr>
        <p:txBody>
          <a:bodyPr wrap="square" lIns="0" tIns="0" rIns="0" bIns="0" rtlCol="0" anchor="ctr"/>
          <a:lstStyle/>
          <a:p>
            <a:pPr indent="0" marL="0">
              <a:buNone/>
            </a:pPr>
            <a:r>
              <a:rPr lang="en-US" sz="1100" b="1" dirty="0">
                <a:solidFill>
                  <a:srgbClr val="9CC3DD"/>
                </a:solidFill>
                <a:latin typeface="BIZ UDPGothic" pitchFamily="34" charset="0"/>
                <a:ea typeface="BIZ UDPGothic" pitchFamily="34" charset="-122"/>
                <a:cs typeface="BIZ UDPGothic" pitchFamily="34" charset="-120"/>
              </a:rPr>
              <a:t>対象</a:t>
            </a:r>
            <a:endParaRPr lang="en-US" sz="1100" dirty="0"/>
          </a:p>
        </p:txBody>
      </p:sp>
      <p:sp>
        <p:nvSpPr>
          <p:cNvPr id="22" name="Text 20"/>
          <p:cNvSpPr/>
          <p:nvPr/>
        </p:nvSpPr>
        <p:spPr>
          <a:xfrm>
            <a:off x="8001000" y="2304288"/>
            <a:ext cx="1188720" cy="274320"/>
          </a:xfrm>
          <a:prstGeom prst="rect">
            <a:avLst/>
          </a:prstGeom>
          <a:noFill/>
          <a:ln/>
        </p:spPr>
        <p:txBody>
          <a:bodyPr wrap="square" lIns="0" tIns="0" rIns="0" bIns="0" rtlCol="0" anchor="ctr"/>
          <a:lstStyle/>
          <a:p>
            <a:pPr indent="0" marL="0">
              <a:buNone/>
            </a:pPr>
            <a:r>
              <a:rPr lang="en-US" sz="1100" dirty="0">
                <a:solidFill>
                  <a:srgbClr val="E8D3A8"/>
                </a:solidFill>
                <a:latin typeface="BIZ UDPGothic" pitchFamily="34" charset="0"/>
                <a:ea typeface="BIZ UDPGothic" pitchFamily="34" charset="-122"/>
                <a:cs typeface="BIZ UDPGothic" pitchFamily="34" charset="-120"/>
              </a:rPr>
              <a:t>規程の改定</a:t>
            </a:r>
            <a:endParaRPr lang="en-US" sz="1100" dirty="0"/>
          </a:p>
        </p:txBody>
      </p:sp>
      <p:sp>
        <p:nvSpPr>
          <p:cNvPr id="23" name="Text 21"/>
          <p:cNvSpPr/>
          <p:nvPr/>
        </p:nvSpPr>
        <p:spPr>
          <a:xfrm>
            <a:off x="9235440" y="2304288"/>
            <a:ext cx="2316175" cy="274320"/>
          </a:xfrm>
          <a:prstGeom prst="rect">
            <a:avLst/>
          </a:prstGeom>
          <a:noFill/>
          <a:ln/>
        </p:spPr>
        <p:txBody>
          <a:bodyPr wrap="square" lIns="0" tIns="0" rIns="0" bIns="0" rtlCol="0" anchor="ctr"/>
          <a:lstStyle/>
          <a:p>
            <a:pPr indent="0" marL="0">
              <a:buNone/>
            </a:pPr>
            <a:r>
              <a:rPr lang="en-US" sz="1000" dirty="0">
                <a:solidFill>
                  <a:srgbClr val="8FA1AE"/>
                </a:solidFill>
                <a:latin typeface="BIZ UDPGothic" pitchFamily="34" charset="0"/>
                <a:ea typeface="BIZ UDPGothic" pitchFamily="34" charset="-122"/>
                <a:cs typeface="BIZ UDPGothic" pitchFamily="34" charset="-120"/>
              </a:rPr>
              <a:t>対象の業務</a:t>
            </a:r>
            <a:endParaRPr lang="en-US" sz="1000" dirty="0"/>
          </a:p>
        </p:txBody>
      </p:sp>
      <p:sp>
        <p:nvSpPr>
          <p:cNvPr id="24" name="Text 22"/>
          <p:cNvSpPr/>
          <p:nvPr/>
        </p:nvSpPr>
        <p:spPr>
          <a:xfrm>
            <a:off x="6629400" y="2596896"/>
            <a:ext cx="1325880" cy="274320"/>
          </a:xfrm>
          <a:prstGeom prst="rect">
            <a:avLst/>
          </a:prstGeom>
          <a:noFill/>
          <a:ln/>
        </p:spPr>
        <p:txBody>
          <a:bodyPr wrap="square" lIns="0" tIns="0" rIns="0" bIns="0" rtlCol="0" anchor="ctr"/>
          <a:lstStyle/>
          <a:p>
            <a:pPr indent="0" marL="0">
              <a:buNone/>
            </a:pPr>
            <a:r>
              <a:rPr lang="en-US" sz="1100" b="1" dirty="0">
                <a:solidFill>
                  <a:srgbClr val="9CC3DD"/>
                </a:solidFill>
                <a:latin typeface="BIZ UDPGothic" pitchFamily="34" charset="0"/>
                <a:ea typeface="BIZ UDPGothic" pitchFamily="34" charset="-122"/>
                <a:cs typeface="BIZ UDPGothic" pitchFamily="34" charset="-120"/>
              </a:rPr>
              <a:t>参照した資料</a:t>
            </a:r>
            <a:endParaRPr lang="en-US" sz="1100" dirty="0"/>
          </a:p>
        </p:txBody>
      </p:sp>
      <p:sp>
        <p:nvSpPr>
          <p:cNvPr id="25" name="Text 23"/>
          <p:cNvSpPr/>
          <p:nvPr/>
        </p:nvSpPr>
        <p:spPr>
          <a:xfrm>
            <a:off x="8001000" y="2596896"/>
            <a:ext cx="1188720" cy="274320"/>
          </a:xfrm>
          <a:prstGeom prst="rect">
            <a:avLst/>
          </a:prstGeom>
          <a:noFill/>
          <a:ln/>
        </p:spPr>
        <p:txBody>
          <a:bodyPr wrap="square" lIns="0" tIns="0" rIns="0" bIns="0" rtlCol="0" anchor="ctr"/>
          <a:lstStyle/>
          <a:p>
            <a:pPr indent="0" marL="0">
              <a:buNone/>
            </a:pPr>
            <a:r>
              <a:rPr lang="en-US" sz="1100" dirty="0">
                <a:solidFill>
                  <a:srgbClr val="E8D3A8"/>
                </a:solidFill>
                <a:latin typeface="BIZ UDPGothic" pitchFamily="34" charset="0"/>
                <a:ea typeface="BIZ UDPGothic" pitchFamily="34" charset="-122"/>
                <a:cs typeface="BIZ UDPGothic" pitchFamily="34" charset="-120"/>
              </a:rPr>
              <a:t>固定した版</a:t>
            </a:r>
            <a:endParaRPr lang="en-US" sz="1100" dirty="0"/>
          </a:p>
        </p:txBody>
      </p:sp>
      <p:sp>
        <p:nvSpPr>
          <p:cNvPr id="26" name="Text 24"/>
          <p:cNvSpPr/>
          <p:nvPr/>
        </p:nvSpPr>
        <p:spPr>
          <a:xfrm>
            <a:off x="9235440" y="2596896"/>
            <a:ext cx="2316175" cy="274320"/>
          </a:xfrm>
          <a:prstGeom prst="rect">
            <a:avLst/>
          </a:prstGeom>
          <a:noFill/>
          <a:ln/>
        </p:spPr>
        <p:txBody>
          <a:bodyPr wrap="square" lIns="0" tIns="0" rIns="0" bIns="0" rtlCol="0" anchor="ctr"/>
          <a:lstStyle/>
          <a:p>
            <a:pPr indent="0" marL="0">
              <a:buNone/>
            </a:pPr>
            <a:r>
              <a:rPr lang="en-US" sz="1000" dirty="0">
                <a:solidFill>
                  <a:srgbClr val="8FA1AE"/>
                </a:solidFill>
                <a:latin typeface="BIZ UDPGothic" pitchFamily="34" charset="0"/>
                <a:ea typeface="BIZ UDPGothic" pitchFamily="34" charset="-122"/>
                <a:cs typeface="BIZ UDPGothic" pitchFamily="34" charset="-120"/>
              </a:rPr>
              <a:t>内容の指紋で同一性を確認</a:t>
            </a:r>
            <a:endParaRPr lang="en-US" sz="1000" dirty="0"/>
          </a:p>
        </p:txBody>
      </p:sp>
      <p:sp>
        <p:nvSpPr>
          <p:cNvPr id="27" name="Text 25"/>
          <p:cNvSpPr/>
          <p:nvPr/>
        </p:nvSpPr>
        <p:spPr>
          <a:xfrm>
            <a:off x="6629400" y="2889504"/>
            <a:ext cx="1325880" cy="274320"/>
          </a:xfrm>
          <a:prstGeom prst="rect">
            <a:avLst/>
          </a:prstGeom>
          <a:noFill/>
          <a:ln/>
        </p:spPr>
        <p:txBody>
          <a:bodyPr wrap="square" lIns="0" tIns="0" rIns="0" bIns="0" rtlCol="0" anchor="ctr"/>
          <a:lstStyle/>
          <a:p>
            <a:pPr indent="0" marL="0">
              <a:buNone/>
            </a:pPr>
            <a:r>
              <a:rPr lang="en-US" sz="1100" b="1" dirty="0">
                <a:solidFill>
                  <a:srgbClr val="9CC3DD"/>
                </a:solidFill>
                <a:latin typeface="BIZ UDPGothic" pitchFamily="34" charset="0"/>
                <a:ea typeface="BIZ UDPGothic" pitchFamily="34" charset="-122"/>
                <a:cs typeface="BIZ UDPGothic" pitchFamily="34" charset="-120"/>
              </a:rPr>
              <a:t>主張の段階</a:t>
            </a:r>
            <a:endParaRPr lang="en-US" sz="1100" dirty="0"/>
          </a:p>
        </p:txBody>
      </p:sp>
      <p:sp>
        <p:nvSpPr>
          <p:cNvPr id="28" name="Text 26"/>
          <p:cNvSpPr/>
          <p:nvPr/>
        </p:nvSpPr>
        <p:spPr>
          <a:xfrm>
            <a:off x="8001000" y="2889504"/>
            <a:ext cx="1188720" cy="274320"/>
          </a:xfrm>
          <a:prstGeom prst="rect">
            <a:avLst/>
          </a:prstGeom>
          <a:noFill/>
          <a:ln/>
        </p:spPr>
        <p:txBody>
          <a:bodyPr wrap="square" lIns="0" tIns="0" rIns="0" bIns="0" rtlCol="0" anchor="ctr"/>
          <a:lstStyle/>
          <a:p>
            <a:pPr indent="0" marL="0">
              <a:buNone/>
            </a:pPr>
            <a:r>
              <a:rPr lang="en-US" sz="1100" dirty="0">
                <a:solidFill>
                  <a:srgbClr val="E8D3A8"/>
                </a:solidFill>
                <a:latin typeface="BIZ UDPGothic" pitchFamily="34" charset="0"/>
                <a:ea typeface="BIZ UDPGothic" pitchFamily="34" charset="-122"/>
                <a:cs typeface="BIZ UDPGothic" pitchFamily="34" charset="-120"/>
              </a:rPr>
              <a:t>仮説</a:t>
            </a:r>
            <a:endParaRPr lang="en-US" sz="1100" dirty="0"/>
          </a:p>
        </p:txBody>
      </p:sp>
      <p:sp>
        <p:nvSpPr>
          <p:cNvPr id="29" name="Text 27"/>
          <p:cNvSpPr/>
          <p:nvPr/>
        </p:nvSpPr>
        <p:spPr>
          <a:xfrm>
            <a:off x="9235440" y="2889504"/>
            <a:ext cx="2316175" cy="274320"/>
          </a:xfrm>
          <a:prstGeom prst="rect">
            <a:avLst/>
          </a:prstGeom>
          <a:noFill/>
          <a:ln/>
        </p:spPr>
        <p:txBody>
          <a:bodyPr wrap="square" lIns="0" tIns="0" rIns="0" bIns="0" rtlCol="0" anchor="ctr"/>
          <a:lstStyle/>
          <a:p>
            <a:pPr indent="0" marL="0">
              <a:buNone/>
            </a:pPr>
            <a:r>
              <a:rPr lang="en-US" sz="1000" dirty="0">
                <a:solidFill>
                  <a:srgbClr val="8FA1AE"/>
                </a:solidFill>
                <a:latin typeface="BIZ UDPGothic" pitchFamily="34" charset="0"/>
                <a:ea typeface="BIZ UDPGothic" pitchFamily="34" charset="-122"/>
                <a:cs typeface="BIZ UDPGothic" pitchFamily="34" charset="-120"/>
              </a:rPr>
              <a:t>提案・仮説の段階</a:t>
            </a:r>
            <a:endParaRPr lang="en-US" sz="1000" dirty="0"/>
          </a:p>
        </p:txBody>
      </p:sp>
      <p:sp>
        <p:nvSpPr>
          <p:cNvPr id="30" name="Text 28"/>
          <p:cNvSpPr/>
          <p:nvPr/>
        </p:nvSpPr>
        <p:spPr>
          <a:xfrm>
            <a:off x="6629400" y="3182112"/>
            <a:ext cx="1325880" cy="274320"/>
          </a:xfrm>
          <a:prstGeom prst="rect">
            <a:avLst/>
          </a:prstGeom>
          <a:noFill/>
          <a:ln/>
        </p:spPr>
        <p:txBody>
          <a:bodyPr wrap="square" lIns="0" tIns="0" rIns="0" bIns="0" rtlCol="0" anchor="ctr"/>
          <a:lstStyle/>
          <a:p>
            <a:pPr indent="0" marL="0">
              <a:buNone/>
            </a:pPr>
            <a:r>
              <a:rPr lang="en-US" sz="1100" b="1" dirty="0">
                <a:solidFill>
                  <a:srgbClr val="9CC3DD"/>
                </a:solidFill>
                <a:latin typeface="BIZ UDPGothic" pitchFamily="34" charset="0"/>
                <a:ea typeface="BIZ UDPGothic" pitchFamily="34" charset="-122"/>
                <a:cs typeface="BIZ UDPGothic" pitchFamily="34" charset="-120"/>
              </a:rPr>
              <a:t>判断</a:t>
            </a:r>
            <a:endParaRPr lang="en-US" sz="1100" dirty="0"/>
          </a:p>
        </p:txBody>
      </p:sp>
      <p:sp>
        <p:nvSpPr>
          <p:cNvPr id="31" name="Text 29"/>
          <p:cNvSpPr/>
          <p:nvPr/>
        </p:nvSpPr>
        <p:spPr>
          <a:xfrm>
            <a:off x="8001000" y="3182112"/>
            <a:ext cx="1188720" cy="274320"/>
          </a:xfrm>
          <a:prstGeom prst="rect">
            <a:avLst/>
          </a:prstGeom>
          <a:noFill/>
          <a:ln/>
        </p:spPr>
        <p:txBody>
          <a:bodyPr wrap="square" lIns="0" tIns="0" rIns="0" bIns="0" rtlCol="0" anchor="ctr"/>
          <a:lstStyle/>
          <a:p>
            <a:pPr indent="0" marL="0">
              <a:buNone/>
            </a:pPr>
            <a:r>
              <a:rPr lang="en-US" sz="1100" dirty="0">
                <a:solidFill>
                  <a:srgbClr val="E8D3A8"/>
                </a:solidFill>
                <a:latin typeface="BIZ UDPGothic" pitchFamily="34" charset="0"/>
                <a:ea typeface="BIZ UDPGothic" pitchFamily="34" charset="-122"/>
                <a:cs typeface="BIZ UDPGothic" pitchFamily="34" charset="-120"/>
              </a:rPr>
              <a:t>未受理</a:t>
            </a:r>
            <a:endParaRPr lang="en-US" sz="1100" dirty="0"/>
          </a:p>
        </p:txBody>
      </p:sp>
      <p:sp>
        <p:nvSpPr>
          <p:cNvPr id="32" name="Text 30"/>
          <p:cNvSpPr/>
          <p:nvPr/>
        </p:nvSpPr>
        <p:spPr>
          <a:xfrm>
            <a:off x="9235440" y="3182112"/>
            <a:ext cx="2316175" cy="274320"/>
          </a:xfrm>
          <a:prstGeom prst="rect">
            <a:avLst/>
          </a:prstGeom>
          <a:noFill/>
          <a:ln/>
        </p:spPr>
        <p:txBody>
          <a:bodyPr wrap="square" lIns="0" tIns="0" rIns="0" bIns="0" rtlCol="0" anchor="ctr"/>
          <a:lstStyle/>
          <a:p>
            <a:pPr indent="0" marL="0">
              <a:buNone/>
            </a:pPr>
            <a:r>
              <a:rPr lang="en-US" sz="1000" dirty="0">
                <a:solidFill>
                  <a:srgbClr val="8FA1AE"/>
                </a:solidFill>
                <a:latin typeface="BIZ UDPGothic" pitchFamily="34" charset="0"/>
                <a:ea typeface="BIZ UDPGothic" pitchFamily="34" charset="-122"/>
                <a:cs typeface="BIZ UDPGothic" pitchFamily="34" charset="-120"/>
              </a:rPr>
              <a:t>受理していないことを明示</a:t>
            </a:r>
            <a:endParaRPr lang="en-US" sz="1000" dirty="0"/>
          </a:p>
        </p:txBody>
      </p:sp>
      <p:sp>
        <p:nvSpPr>
          <p:cNvPr id="33" name="Text 31"/>
          <p:cNvSpPr/>
          <p:nvPr/>
        </p:nvSpPr>
        <p:spPr>
          <a:xfrm>
            <a:off x="6629400" y="3474720"/>
            <a:ext cx="1325880" cy="274320"/>
          </a:xfrm>
          <a:prstGeom prst="rect">
            <a:avLst/>
          </a:prstGeom>
          <a:noFill/>
          <a:ln/>
        </p:spPr>
        <p:txBody>
          <a:bodyPr wrap="square" lIns="0" tIns="0" rIns="0" bIns="0" rtlCol="0" anchor="ctr"/>
          <a:lstStyle/>
          <a:p>
            <a:pPr indent="0" marL="0">
              <a:buNone/>
            </a:pPr>
            <a:r>
              <a:rPr lang="en-US" sz="1100" b="1" dirty="0">
                <a:solidFill>
                  <a:srgbClr val="9CC3DD"/>
                </a:solidFill>
                <a:latin typeface="BIZ UDPGothic" pitchFamily="34" charset="0"/>
                <a:ea typeface="BIZ UDPGothic" pitchFamily="34" charset="-122"/>
                <a:cs typeface="BIZ UDPGothic" pitchFamily="34" charset="-120"/>
              </a:rPr>
              <a:t>権限</a:t>
            </a:r>
            <a:endParaRPr lang="en-US" sz="1100" dirty="0"/>
          </a:p>
        </p:txBody>
      </p:sp>
      <p:sp>
        <p:nvSpPr>
          <p:cNvPr id="34" name="Text 32"/>
          <p:cNvSpPr/>
          <p:nvPr/>
        </p:nvSpPr>
        <p:spPr>
          <a:xfrm>
            <a:off x="8001000" y="3474720"/>
            <a:ext cx="1188720" cy="274320"/>
          </a:xfrm>
          <a:prstGeom prst="rect">
            <a:avLst/>
          </a:prstGeom>
          <a:noFill/>
          <a:ln/>
        </p:spPr>
        <p:txBody>
          <a:bodyPr wrap="square" lIns="0" tIns="0" rIns="0" bIns="0" rtlCol="0" anchor="ctr"/>
          <a:lstStyle/>
          <a:p>
            <a:pPr indent="0" marL="0">
              <a:buNone/>
            </a:pPr>
            <a:r>
              <a:rPr lang="en-US" sz="1100" dirty="0">
                <a:solidFill>
                  <a:srgbClr val="E8D3A8"/>
                </a:solidFill>
                <a:latin typeface="BIZ UDPGothic" pitchFamily="34" charset="0"/>
                <a:ea typeface="BIZ UDPGothic" pitchFamily="34" charset="-122"/>
                <a:cs typeface="BIZ UDPGothic" pitchFamily="34" charset="-120"/>
              </a:rPr>
              <a:t>なし</a:t>
            </a:r>
            <a:endParaRPr lang="en-US" sz="1100" dirty="0"/>
          </a:p>
        </p:txBody>
      </p:sp>
      <p:sp>
        <p:nvSpPr>
          <p:cNvPr id="35" name="Text 33"/>
          <p:cNvSpPr/>
          <p:nvPr/>
        </p:nvSpPr>
        <p:spPr>
          <a:xfrm>
            <a:off x="9235440" y="3474720"/>
            <a:ext cx="2316175" cy="274320"/>
          </a:xfrm>
          <a:prstGeom prst="rect">
            <a:avLst/>
          </a:prstGeom>
          <a:noFill/>
          <a:ln/>
        </p:spPr>
        <p:txBody>
          <a:bodyPr wrap="square" lIns="0" tIns="0" rIns="0" bIns="0" rtlCol="0" anchor="ctr"/>
          <a:lstStyle/>
          <a:p>
            <a:pPr indent="0" marL="0">
              <a:buNone/>
            </a:pPr>
            <a:r>
              <a:rPr lang="en-US" sz="1000" dirty="0">
                <a:solidFill>
                  <a:srgbClr val="8FA1AE"/>
                </a:solidFill>
                <a:latin typeface="BIZ UDPGothic" pitchFamily="34" charset="0"/>
                <a:ea typeface="BIZ UDPGothic" pitchFamily="34" charset="-122"/>
                <a:cs typeface="BIZ UDPGothic" pitchFamily="34" charset="-120"/>
              </a:rPr>
              <a:t>更新の権限は与えない</a:t>
            </a:r>
            <a:endParaRPr lang="en-US" sz="1000" dirty="0"/>
          </a:p>
        </p:txBody>
      </p:sp>
      <p:sp>
        <p:nvSpPr>
          <p:cNvPr id="36" name="Text 34"/>
          <p:cNvSpPr/>
          <p:nvPr/>
        </p:nvSpPr>
        <p:spPr>
          <a:xfrm>
            <a:off x="6629400" y="3767328"/>
            <a:ext cx="1325880" cy="274320"/>
          </a:xfrm>
          <a:prstGeom prst="rect">
            <a:avLst/>
          </a:prstGeom>
          <a:noFill/>
          <a:ln/>
        </p:spPr>
        <p:txBody>
          <a:bodyPr wrap="square" lIns="0" tIns="0" rIns="0" bIns="0" rtlCol="0" anchor="ctr"/>
          <a:lstStyle/>
          <a:p>
            <a:pPr indent="0" marL="0">
              <a:buNone/>
            </a:pPr>
            <a:r>
              <a:rPr lang="en-US" sz="1100" b="1" dirty="0">
                <a:solidFill>
                  <a:srgbClr val="9CC3DD"/>
                </a:solidFill>
                <a:latin typeface="BIZ UDPGothic" pitchFamily="34" charset="0"/>
                <a:ea typeface="BIZ UDPGothic" pitchFamily="34" charset="-122"/>
                <a:cs typeface="BIZ UDPGothic" pitchFamily="34" charset="-120"/>
              </a:rPr>
              <a:t>結果の証拠</a:t>
            </a:r>
            <a:endParaRPr lang="en-US" sz="1100" dirty="0"/>
          </a:p>
        </p:txBody>
      </p:sp>
      <p:sp>
        <p:nvSpPr>
          <p:cNvPr id="37" name="Text 35"/>
          <p:cNvSpPr/>
          <p:nvPr/>
        </p:nvSpPr>
        <p:spPr>
          <a:xfrm>
            <a:off x="8001000" y="3767328"/>
            <a:ext cx="1188720" cy="274320"/>
          </a:xfrm>
          <a:prstGeom prst="rect">
            <a:avLst/>
          </a:prstGeom>
          <a:noFill/>
          <a:ln/>
        </p:spPr>
        <p:txBody>
          <a:bodyPr wrap="square" lIns="0" tIns="0" rIns="0" bIns="0" rtlCol="0" anchor="ctr"/>
          <a:lstStyle/>
          <a:p>
            <a:pPr indent="0" marL="0">
              <a:buNone/>
            </a:pPr>
            <a:r>
              <a:rPr lang="en-US" sz="1100" dirty="0">
                <a:solidFill>
                  <a:srgbClr val="E8D3A8"/>
                </a:solidFill>
                <a:latin typeface="BIZ UDPGothic" pitchFamily="34" charset="0"/>
                <a:ea typeface="BIZ UDPGothic" pitchFamily="34" charset="-122"/>
                <a:cs typeface="BIZ UDPGothic" pitchFamily="34" charset="-120"/>
              </a:rPr>
              <a:t>未実行</a:t>
            </a:r>
            <a:endParaRPr lang="en-US" sz="1100" dirty="0"/>
          </a:p>
        </p:txBody>
      </p:sp>
      <p:sp>
        <p:nvSpPr>
          <p:cNvPr id="38" name="Text 36"/>
          <p:cNvSpPr/>
          <p:nvPr/>
        </p:nvSpPr>
        <p:spPr>
          <a:xfrm>
            <a:off x="9235440" y="3767328"/>
            <a:ext cx="2316175" cy="274320"/>
          </a:xfrm>
          <a:prstGeom prst="rect">
            <a:avLst/>
          </a:prstGeom>
          <a:noFill/>
          <a:ln/>
        </p:spPr>
        <p:txBody>
          <a:bodyPr wrap="square" lIns="0" tIns="0" rIns="0" bIns="0" rtlCol="0" anchor="ctr"/>
          <a:lstStyle/>
          <a:p>
            <a:pPr indent="0" marL="0">
              <a:buNone/>
            </a:pPr>
            <a:r>
              <a:rPr lang="en-US" sz="1000" dirty="0">
                <a:solidFill>
                  <a:srgbClr val="8FA1AE"/>
                </a:solidFill>
                <a:latin typeface="BIZ UDPGothic" pitchFamily="34" charset="0"/>
                <a:ea typeface="BIZ UDPGothic" pitchFamily="34" charset="-122"/>
                <a:cs typeface="BIZ UDPGothic" pitchFamily="34" charset="-120"/>
              </a:rPr>
              <a:t>実行も確認もしていない</a:t>
            </a:r>
            <a:endParaRPr lang="en-US" sz="1000" dirty="0"/>
          </a:p>
        </p:txBody>
      </p:sp>
      <p:sp>
        <p:nvSpPr>
          <p:cNvPr id="39" name="Text 37"/>
          <p:cNvSpPr/>
          <p:nvPr/>
        </p:nvSpPr>
        <p:spPr>
          <a:xfrm>
            <a:off x="502920" y="4297680"/>
            <a:ext cx="11185855" cy="274320"/>
          </a:xfrm>
          <a:prstGeom prst="rect">
            <a:avLst/>
          </a:prstGeom>
          <a:noFill/>
          <a:ln/>
        </p:spPr>
        <p:txBody>
          <a:bodyPr wrap="square" lIns="0" tIns="0" rIns="0" bIns="0" rtlCol="0" anchor="t"/>
          <a:lstStyle/>
          <a:p>
            <a:pPr indent="0" marL="0">
              <a:buNone/>
            </a:pPr>
            <a:r>
              <a:rPr lang="en-US" sz="1200" b="1" dirty="0">
                <a:solidFill>
                  <a:srgbClr val="56636E"/>
                </a:solidFill>
                <a:latin typeface="BIZ UDPGothic" pitchFamily="34" charset="0"/>
                <a:ea typeface="BIZ UDPGothic" pitchFamily="34" charset="-122"/>
                <a:cs typeface="BIZ UDPGothic" pitchFamily="34" charset="-120"/>
              </a:rPr>
              <a:t>境界を越えるときの検査（拒否すべき条件で先へ進まないこと）</a:t>
            </a:r>
            <a:endParaRPr lang="en-US" sz="1200" dirty="0"/>
          </a:p>
        </p:txBody>
      </p:sp>
      <p:sp>
        <p:nvSpPr>
          <p:cNvPr id="40" name="Shape 38"/>
          <p:cNvSpPr/>
          <p:nvPr/>
        </p:nvSpPr>
        <p:spPr>
          <a:xfrm>
            <a:off x="502920" y="4617720"/>
            <a:ext cx="1750009" cy="384048"/>
          </a:xfrm>
          <a:prstGeom prst="rect">
            <a:avLst/>
          </a:prstGeom>
          <a:solidFill>
            <a:srgbClr val="243D54"/>
          </a:solidFill>
          <a:ln/>
        </p:spPr>
      </p:sp>
      <p:sp>
        <p:nvSpPr>
          <p:cNvPr id="41" name="Text 39"/>
          <p:cNvSpPr/>
          <p:nvPr/>
        </p:nvSpPr>
        <p:spPr>
          <a:xfrm>
            <a:off x="502920" y="4617720"/>
            <a:ext cx="1750009" cy="384048"/>
          </a:xfrm>
          <a:prstGeom prst="rect">
            <a:avLst/>
          </a:prstGeom>
          <a:noFill/>
          <a:ln/>
        </p:spPr>
        <p:txBody>
          <a:bodyPr wrap="square" lIns="0" tIns="0" rIns="0" bIns="0" rtlCol="0" anchor="ctr"/>
          <a:lstStyle/>
          <a:p>
            <a:pPr algn="ctr" indent="0" marL="0">
              <a:buNone/>
            </a:pPr>
            <a:r>
              <a:rPr lang="en-US" sz="1200" b="1" dirty="0">
                <a:solidFill>
                  <a:srgbClr val="F5F1E8"/>
                </a:solidFill>
                <a:latin typeface="BIZ UDPGothic" pitchFamily="34" charset="0"/>
                <a:ea typeface="BIZ UDPGothic" pitchFamily="34" charset="-122"/>
                <a:cs typeface="BIZ UDPGothic" pitchFamily="34" charset="-120"/>
              </a:rPr>
              <a:t>文書→観測</a:t>
            </a:r>
            <a:endParaRPr lang="en-US" sz="1200" dirty="0"/>
          </a:p>
        </p:txBody>
      </p:sp>
      <p:sp>
        <p:nvSpPr>
          <p:cNvPr id="42" name="Shape 40"/>
          <p:cNvSpPr/>
          <p:nvPr/>
        </p:nvSpPr>
        <p:spPr>
          <a:xfrm>
            <a:off x="502920" y="5001768"/>
            <a:ext cx="1750009" cy="1280160"/>
          </a:xfrm>
          <a:prstGeom prst="rect">
            <a:avLst/>
          </a:prstGeom>
          <a:solidFill>
            <a:srgbClr val="FFFFFF"/>
          </a:solidFill>
          <a:ln w="9525">
            <a:solidFill>
              <a:srgbClr val="DCD5C6"/>
            </a:solidFill>
            <a:prstDash val="solid"/>
          </a:ln>
        </p:spPr>
      </p:sp>
      <p:sp>
        <p:nvSpPr>
          <p:cNvPr id="43" name="Text 41"/>
          <p:cNvSpPr/>
          <p:nvPr/>
        </p:nvSpPr>
        <p:spPr>
          <a:xfrm>
            <a:off x="612648" y="5093208"/>
            <a:ext cx="1567129" cy="548640"/>
          </a:xfrm>
          <a:prstGeom prst="rect">
            <a:avLst/>
          </a:prstGeom>
          <a:noFill/>
          <a:ln/>
        </p:spPr>
        <p:txBody>
          <a:bodyPr wrap="square" lIns="0" tIns="0" rIns="0" bIns="0" rtlCol="0" anchor="t"/>
          <a:lstStyle/>
          <a:p>
            <a:pPr indent="0" marL="0">
              <a:buNone/>
            </a:pPr>
            <a:r>
              <a:rPr lang="en-US" sz="1050" b="1" dirty="0">
                <a:solidFill>
                  <a:srgbClr val="4F7A5C"/>
                </a:solidFill>
                <a:latin typeface="BIZ UDPGothic" pitchFamily="34" charset="0"/>
                <a:ea typeface="BIZ UDPGothic" pitchFamily="34" charset="-122"/>
                <a:cs typeface="BIZ UDPGothic" pitchFamily="34" charset="-120"/>
              </a:rPr>
              <a:t>通す  </a:t>
            </a:r>
            <a:pPr indent="0" marL="0">
              <a:buNone/>
            </a:pPr>
            <a:r>
              <a:rPr lang="en-US" sz="1050" dirty="0">
                <a:solidFill>
                  <a:srgbClr val="243D54"/>
                </a:solidFill>
                <a:latin typeface="BIZ UDPGothic" pitchFamily="34" charset="0"/>
                <a:ea typeface="BIZ UDPGothic" pitchFamily="34" charset="-122"/>
                <a:cs typeface="BIZ UDPGothic" pitchFamily="34" charset="-120"/>
              </a:rPr>
              <a:t>参照元・版・範囲がある</a:t>
            </a:r>
            <a:endParaRPr lang="en-US" sz="1050" dirty="0"/>
          </a:p>
        </p:txBody>
      </p:sp>
      <p:sp>
        <p:nvSpPr>
          <p:cNvPr id="44" name="Text 42"/>
          <p:cNvSpPr/>
          <p:nvPr/>
        </p:nvSpPr>
        <p:spPr>
          <a:xfrm>
            <a:off x="612648" y="5650992"/>
            <a:ext cx="1567129" cy="548640"/>
          </a:xfrm>
          <a:prstGeom prst="rect">
            <a:avLst/>
          </a:prstGeom>
          <a:noFill/>
          <a:ln/>
        </p:spPr>
        <p:txBody>
          <a:bodyPr wrap="square" lIns="0" tIns="0" rIns="0" bIns="0" rtlCol="0" anchor="t"/>
          <a:lstStyle/>
          <a:p>
            <a:pPr indent="0" marL="0">
              <a:buNone/>
            </a:pPr>
            <a:r>
              <a:rPr lang="en-US" sz="1050" b="1" dirty="0">
                <a:solidFill>
                  <a:srgbClr val="8C5A44"/>
                </a:solidFill>
                <a:latin typeface="BIZ UDPGothic" pitchFamily="34" charset="0"/>
                <a:ea typeface="BIZ UDPGothic" pitchFamily="34" charset="-122"/>
                <a:cs typeface="BIZ UDPGothic" pitchFamily="34" charset="-120"/>
              </a:rPr>
              <a:t>拒否  </a:t>
            </a:r>
            <a:pPr indent="0" marL="0">
              <a:buNone/>
            </a:pPr>
            <a:r>
              <a:rPr lang="en-US" sz="1050" dirty="0">
                <a:solidFill>
                  <a:srgbClr val="243D54"/>
                </a:solidFill>
                <a:latin typeface="BIZ UDPGothic" pitchFamily="34" charset="0"/>
                <a:ea typeface="BIZ UDPGothic" pitchFamily="34" charset="-122"/>
                <a:cs typeface="BIZ UDPGothic" pitchFamily="34" charset="-120"/>
              </a:rPr>
              <a:t>出典不明のまま確定引用</a:t>
            </a:r>
            <a:endParaRPr lang="en-US" sz="1050" dirty="0"/>
          </a:p>
        </p:txBody>
      </p:sp>
      <p:sp>
        <p:nvSpPr>
          <p:cNvPr id="45" name="Shape 43"/>
          <p:cNvSpPr/>
          <p:nvPr/>
        </p:nvSpPr>
        <p:spPr>
          <a:xfrm>
            <a:off x="2390089" y="4617720"/>
            <a:ext cx="1750009" cy="384048"/>
          </a:xfrm>
          <a:prstGeom prst="rect">
            <a:avLst/>
          </a:prstGeom>
          <a:solidFill>
            <a:srgbClr val="243D54"/>
          </a:solidFill>
          <a:ln/>
        </p:spPr>
      </p:sp>
      <p:sp>
        <p:nvSpPr>
          <p:cNvPr id="46" name="Text 44"/>
          <p:cNvSpPr/>
          <p:nvPr/>
        </p:nvSpPr>
        <p:spPr>
          <a:xfrm>
            <a:off x="2390089" y="4617720"/>
            <a:ext cx="1750009" cy="384048"/>
          </a:xfrm>
          <a:prstGeom prst="rect">
            <a:avLst/>
          </a:prstGeom>
          <a:noFill/>
          <a:ln/>
        </p:spPr>
        <p:txBody>
          <a:bodyPr wrap="square" lIns="0" tIns="0" rIns="0" bIns="0" rtlCol="0" anchor="ctr"/>
          <a:lstStyle/>
          <a:p>
            <a:pPr algn="ctr" indent="0" marL="0">
              <a:buNone/>
            </a:pPr>
            <a:r>
              <a:rPr lang="en-US" sz="1200" b="1" dirty="0">
                <a:solidFill>
                  <a:srgbClr val="F5F1E8"/>
                </a:solidFill>
                <a:latin typeface="BIZ UDPGothic" pitchFamily="34" charset="0"/>
                <a:ea typeface="BIZ UDPGothic" pitchFamily="34" charset="-122"/>
                <a:cs typeface="BIZ UDPGothic" pitchFamily="34" charset="-120"/>
              </a:rPr>
              <a:t>観測→候補</a:t>
            </a:r>
            <a:endParaRPr lang="en-US" sz="1200" dirty="0"/>
          </a:p>
        </p:txBody>
      </p:sp>
      <p:sp>
        <p:nvSpPr>
          <p:cNvPr id="47" name="Shape 45"/>
          <p:cNvSpPr/>
          <p:nvPr/>
        </p:nvSpPr>
        <p:spPr>
          <a:xfrm>
            <a:off x="2390089" y="5001768"/>
            <a:ext cx="1750009" cy="1280160"/>
          </a:xfrm>
          <a:prstGeom prst="rect">
            <a:avLst/>
          </a:prstGeom>
          <a:solidFill>
            <a:srgbClr val="FFFFFF"/>
          </a:solidFill>
          <a:ln w="9525">
            <a:solidFill>
              <a:srgbClr val="DCD5C6"/>
            </a:solidFill>
            <a:prstDash val="solid"/>
          </a:ln>
        </p:spPr>
      </p:sp>
      <p:sp>
        <p:nvSpPr>
          <p:cNvPr id="48" name="Text 46"/>
          <p:cNvSpPr/>
          <p:nvPr/>
        </p:nvSpPr>
        <p:spPr>
          <a:xfrm>
            <a:off x="2499817" y="5093208"/>
            <a:ext cx="1567129" cy="548640"/>
          </a:xfrm>
          <a:prstGeom prst="rect">
            <a:avLst/>
          </a:prstGeom>
          <a:noFill/>
          <a:ln/>
        </p:spPr>
        <p:txBody>
          <a:bodyPr wrap="square" lIns="0" tIns="0" rIns="0" bIns="0" rtlCol="0" anchor="t"/>
          <a:lstStyle/>
          <a:p>
            <a:pPr indent="0" marL="0">
              <a:buNone/>
            </a:pPr>
            <a:r>
              <a:rPr lang="en-US" sz="1050" b="1" dirty="0">
                <a:solidFill>
                  <a:srgbClr val="4F7A5C"/>
                </a:solidFill>
                <a:latin typeface="BIZ UDPGothic" pitchFamily="34" charset="0"/>
                <a:ea typeface="BIZ UDPGothic" pitchFamily="34" charset="-122"/>
                <a:cs typeface="BIZ UDPGothic" pitchFamily="34" charset="-120"/>
              </a:rPr>
              <a:t>通す  </a:t>
            </a:r>
            <a:pPr indent="0" marL="0">
              <a:buNone/>
            </a:pPr>
            <a:r>
              <a:rPr lang="en-US" sz="1050" dirty="0">
                <a:solidFill>
                  <a:srgbClr val="243D54"/>
                </a:solidFill>
                <a:latin typeface="BIZ UDPGothic" pitchFamily="34" charset="0"/>
                <a:ea typeface="BIZ UDPGothic" pitchFamily="34" charset="-122"/>
                <a:cs typeface="BIZ UDPGothic" pitchFamily="34" charset="-120"/>
              </a:rPr>
              <a:t>理由と反証が見える</a:t>
            </a:r>
            <a:endParaRPr lang="en-US" sz="1050" dirty="0"/>
          </a:p>
        </p:txBody>
      </p:sp>
      <p:sp>
        <p:nvSpPr>
          <p:cNvPr id="49" name="Text 47"/>
          <p:cNvSpPr/>
          <p:nvPr/>
        </p:nvSpPr>
        <p:spPr>
          <a:xfrm>
            <a:off x="2499817" y="5650992"/>
            <a:ext cx="1567129" cy="548640"/>
          </a:xfrm>
          <a:prstGeom prst="rect">
            <a:avLst/>
          </a:prstGeom>
          <a:noFill/>
          <a:ln/>
        </p:spPr>
        <p:txBody>
          <a:bodyPr wrap="square" lIns="0" tIns="0" rIns="0" bIns="0" rtlCol="0" anchor="t"/>
          <a:lstStyle/>
          <a:p>
            <a:pPr indent="0" marL="0">
              <a:buNone/>
            </a:pPr>
            <a:r>
              <a:rPr lang="en-US" sz="1050" b="1" dirty="0">
                <a:solidFill>
                  <a:srgbClr val="8C5A44"/>
                </a:solidFill>
                <a:latin typeface="BIZ UDPGothic" pitchFamily="34" charset="0"/>
                <a:ea typeface="BIZ UDPGothic" pitchFamily="34" charset="-122"/>
                <a:cs typeface="BIZ UDPGothic" pitchFamily="34" charset="-120"/>
              </a:rPr>
              <a:t>拒否  </a:t>
            </a:r>
            <a:pPr indent="0" marL="0">
              <a:buNone/>
            </a:pPr>
            <a:r>
              <a:rPr lang="en-US" sz="1050" dirty="0">
                <a:solidFill>
                  <a:srgbClr val="243D54"/>
                </a:solidFill>
                <a:latin typeface="BIZ UDPGothic" pitchFamily="34" charset="0"/>
                <a:ea typeface="BIZ UDPGothic" pitchFamily="34" charset="-122"/>
                <a:cs typeface="BIZ UDPGothic" pitchFamily="34" charset="-120"/>
              </a:rPr>
              <a:t>矛盾を最新版だけで上書き</a:t>
            </a:r>
            <a:endParaRPr lang="en-US" sz="1050" dirty="0"/>
          </a:p>
        </p:txBody>
      </p:sp>
      <p:sp>
        <p:nvSpPr>
          <p:cNvPr id="50" name="Shape 48"/>
          <p:cNvSpPr/>
          <p:nvPr/>
        </p:nvSpPr>
        <p:spPr>
          <a:xfrm>
            <a:off x="4277258" y="4617720"/>
            <a:ext cx="1750009" cy="384048"/>
          </a:xfrm>
          <a:prstGeom prst="rect">
            <a:avLst/>
          </a:prstGeom>
          <a:solidFill>
            <a:srgbClr val="243D54"/>
          </a:solidFill>
          <a:ln/>
        </p:spPr>
      </p:sp>
      <p:sp>
        <p:nvSpPr>
          <p:cNvPr id="51" name="Text 49"/>
          <p:cNvSpPr/>
          <p:nvPr/>
        </p:nvSpPr>
        <p:spPr>
          <a:xfrm>
            <a:off x="4277258" y="4617720"/>
            <a:ext cx="1750009" cy="384048"/>
          </a:xfrm>
          <a:prstGeom prst="rect">
            <a:avLst/>
          </a:prstGeom>
          <a:noFill/>
          <a:ln/>
        </p:spPr>
        <p:txBody>
          <a:bodyPr wrap="square" lIns="0" tIns="0" rIns="0" bIns="0" rtlCol="0" anchor="ctr"/>
          <a:lstStyle/>
          <a:p>
            <a:pPr algn="ctr" indent="0" marL="0">
              <a:buNone/>
            </a:pPr>
            <a:r>
              <a:rPr lang="en-US" sz="1200" b="1" dirty="0">
                <a:solidFill>
                  <a:srgbClr val="F5F1E8"/>
                </a:solidFill>
                <a:latin typeface="BIZ UDPGothic" pitchFamily="34" charset="0"/>
                <a:ea typeface="BIZ UDPGothic" pitchFamily="34" charset="-122"/>
                <a:cs typeface="BIZ UDPGothic" pitchFamily="34" charset="-120"/>
              </a:rPr>
              <a:t>候補→決定</a:t>
            </a:r>
            <a:endParaRPr lang="en-US" sz="1200" dirty="0"/>
          </a:p>
        </p:txBody>
      </p:sp>
      <p:sp>
        <p:nvSpPr>
          <p:cNvPr id="52" name="Shape 50"/>
          <p:cNvSpPr/>
          <p:nvPr/>
        </p:nvSpPr>
        <p:spPr>
          <a:xfrm>
            <a:off x="4277258" y="5001768"/>
            <a:ext cx="1750009" cy="1280160"/>
          </a:xfrm>
          <a:prstGeom prst="rect">
            <a:avLst/>
          </a:prstGeom>
          <a:solidFill>
            <a:srgbClr val="FFFFFF"/>
          </a:solidFill>
          <a:ln w="9525">
            <a:solidFill>
              <a:srgbClr val="DCD5C6"/>
            </a:solidFill>
            <a:prstDash val="solid"/>
          </a:ln>
        </p:spPr>
      </p:sp>
      <p:sp>
        <p:nvSpPr>
          <p:cNvPr id="53" name="Text 51"/>
          <p:cNvSpPr/>
          <p:nvPr/>
        </p:nvSpPr>
        <p:spPr>
          <a:xfrm>
            <a:off x="4386986" y="5093208"/>
            <a:ext cx="1567129" cy="548640"/>
          </a:xfrm>
          <a:prstGeom prst="rect">
            <a:avLst/>
          </a:prstGeom>
          <a:noFill/>
          <a:ln/>
        </p:spPr>
        <p:txBody>
          <a:bodyPr wrap="square" lIns="0" tIns="0" rIns="0" bIns="0" rtlCol="0" anchor="t"/>
          <a:lstStyle/>
          <a:p>
            <a:pPr indent="0" marL="0">
              <a:buNone/>
            </a:pPr>
            <a:r>
              <a:rPr lang="en-US" sz="1050" b="1" dirty="0">
                <a:solidFill>
                  <a:srgbClr val="4F7A5C"/>
                </a:solidFill>
                <a:latin typeface="BIZ UDPGothic" pitchFamily="34" charset="0"/>
                <a:ea typeface="BIZ UDPGothic" pitchFamily="34" charset="-122"/>
                <a:cs typeface="BIZ UDPGothic" pitchFamily="34" charset="-120"/>
              </a:rPr>
              <a:t>通す  </a:t>
            </a:r>
            <a:pPr indent="0" marL="0">
              <a:buNone/>
            </a:pPr>
            <a:r>
              <a:rPr lang="en-US" sz="1050" dirty="0">
                <a:solidFill>
                  <a:srgbClr val="243D54"/>
                </a:solidFill>
                <a:latin typeface="BIZ UDPGothic" pitchFamily="34" charset="0"/>
                <a:ea typeface="BIZ UDPGothic" pitchFamily="34" charset="-122"/>
                <a:cs typeface="BIZ UDPGothic" pitchFamily="34" charset="-120"/>
              </a:rPr>
              <a:t>採否と責任主体が明示</a:t>
            </a:r>
            <a:endParaRPr lang="en-US" sz="1050" dirty="0"/>
          </a:p>
        </p:txBody>
      </p:sp>
      <p:sp>
        <p:nvSpPr>
          <p:cNvPr id="54" name="Text 52"/>
          <p:cNvSpPr/>
          <p:nvPr/>
        </p:nvSpPr>
        <p:spPr>
          <a:xfrm>
            <a:off x="4386986" y="5650992"/>
            <a:ext cx="1567129" cy="548640"/>
          </a:xfrm>
          <a:prstGeom prst="rect">
            <a:avLst/>
          </a:prstGeom>
          <a:noFill/>
          <a:ln/>
        </p:spPr>
        <p:txBody>
          <a:bodyPr wrap="square" lIns="0" tIns="0" rIns="0" bIns="0" rtlCol="0" anchor="t"/>
          <a:lstStyle/>
          <a:p>
            <a:pPr indent="0" marL="0">
              <a:buNone/>
            </a:pPr>
            <a:r>
              <a:rPr lang="en-US" sz="1050" b="1" dirty="0">
                <a:solidFill>
                  <a:srgbClr val="8C5A44"/>
                </a:solidFill>
                <a:latin typeface="BIZ UDPGothic" pitchFamily="34" charset="0"/>
                <a:ea typeface="BIZ UDPGothic" pitchFamily="34" charset="-122"/>
                <a:cs typeface="BIZ UDPGothic" pitchFamily="34" charset="-120"/>
              </a:rPr>
              <a:t>拒否  </a:t>
            </a:r>
            <a:pPr indent="0" marL="0">
              <a:buNone/>
            </a:pPr>
            <a:r>
              <a:rPr lang="en-US" sz="1050" dirty="0">
                <a:solidFill>
                  <a:srgbClr val="243D54"/>
                </a:solidFill>
                <a:latin typeface="BIZ UDPGothic" pitchFamily="34" charset="0"/>
                <a:ea typeface="BIZ UDPGothic" pitchFamily="34" charset="-122"/>
                <a:cs typeface="BIZ UDPGothic" pitchFamily="34" charset="-120"/>
              </a:rPr>
              <a:t>AIの推奨を承認扱い</a:t>
            </a:r>
            <a:endParaRPr lang="en-US" sz="1050" dirty="0"/>
          </a:p>
        </p:txBody>
      </p:sp>
      <p:sp>
        <p:nvSpPr>
          <p:cNvPr id="55" name="Shape 53"/>
          <p:cNvSpPr/>
          <p:nvPr/>
        </p:nvSpPr>
        <p:spPr>
          <a:xfrm>
            <a:off x="6164428" y="4617720"/>
            <a:ext cx="1750009" cy="384048"/>
          </a:xfrm>
          <a:prstGeom prst="rect">
            <a:avLst/>
          </a:prstGeom>
          <a:solidFill>
            <a:srgbClr val="243D54"/>
          </a:solidFill>
          <a:ln/>
        </p:spPr>
      </p:sp>
      <p:sp>
        <p:nvSpPr>
          <p:cNvPr id="56" name="Text 54"/>
          <p:cNvSpPr/>
          <p:nvPr/>
        </p:nvSpPr>
        <p:spPr>
          <a:xfrm>
            <a:off x="6164428" y="4617720"/>
            <a:ext cx="1750009" cy="384048"/>
          </a:xfrm>
          <a:prstGeom prst="rect">
            <a:avLst/>
          </a:prstGeom>
          <a:noFill/>
          <a:ln/>
        </p:spPr>
        <p:txBody>
          <a:bodyPr wrap="square" lIns="0" tIns="0" rIns="0" bIns="0" rtlCol="0" anchor="ctr"/>
          <a:lstStyle/>
          <a:p>
            <a:pPr algn="ctr" indent="0" marL="0">
              <a:buNone/>
            </a:pPr>
            <a:r>
              <a:rPr lang="en-US" sz="1200" b="1" dirty="0">
                <a:solidFill>
                  <a:srgbClr val="F5F1E8"/>
                </a:solidFill>
                <a:latin typeface="BIZ UDPGothic" pitchFamily="34" charset="0"/>
                <a:ea typeface="BIZ UDPGothic" pitchFamily="34" charset="-122"/>
                <a:cs typeface="BIZ UDPGothic" pitchFamily="34" charset="-120"/>
              </a:rPr>
              <a:t>決定→実装</a:t>
            </a:r>
            <a:endParaRPr lang="en-US" sz="1200" dirty="0"/>
          </a:p>
        </p:txBody>
      </p:sp>
      <p:sp>
        <p:nvSpPr>
          <p:cNvPr id="57" name="Shape 55"/>
          <p:cNvSpPr/>
          <p:nvPr/>
        </p:nvSpPr>
        <p:spPr>
          <a:xfrm>
            <a:off x="6164428" y="5001768"/>
            <a:ext cx="1750009" cy="1280160"/>
          </a:xfrm>
          <a:prstGeom prst="rect">
            <a:avLst/>
          </a:prstGeom>
          <a:solidFill>
            <a:srgbClr val="FFFFFF"/>
          </a:solidFill>
          <a:ln w="9525">
            <a:solidFill>
              <a:srgbClr val="DCD5C6"/>
            </a:solidFill>
            <a:prstDash val="solid"/>
          </a:ln>
        </p:spPr>
      </p:sp>
      <p:sp>
        <p:nvSpPr>
          <p:cNvPr id="58" name="Text 56"/>
          <p:cNvSpPr/>
          <p:nvPr/>
        </p:nvSpPr>
        <p:spPr>
          <a:xfrm>
            <a:off x="6274156" y="5093208"/>
            <a:ext cx="1567129" cy="548640"/>
          </a:xfrm>
          <a:prstGeom prst="rect">
            <a:avLst/>
          </a:prstGeom>
          <a:noFill/>
          <a:ln/>
        </p:spPr>
        <p:txBody>
          <a:bodyPr wrap="square" lIns="0" tIns="0" rIns="0" bIns="0" rtlCol="0" anchor="t"/>
          <a:lstStyle/>
          <a:p>
            <a:pPr indent="0" marL="0">
              <a:buNone/>
            </a:pPr>
            <a:r>
              <a:rPr lang="en-US" sz="1050" b="1" dirty="0">
                <a:solidFill>
                  <a:srgbClr val="4F7A5C"/>
                </a:solidFill>
                <a:latin typeface="BIZ UDPGothic" pitchFamily="34" charset="0"/>
                <a:ea typeface="BIZ UDPGothic" pitchFamily="34" charset="-122"/>
                <a:cs typeface="BIZ UDPGothic" pitchFamily="34" charset="-120"/>
              </a:rPr>
              <a:t>通す  </a:t>
            </a:r>
            <a:pPr indent="0" marL="0">
              <a:buNone/>
            </a:pPr>
            <a:r>
              <a:rPr lang="en-US" sz="1050" dirty="0">
                <a:solidFill>
                  <a:srgbClr val="243D54"/>
                </a:solidFill>
                <a:latin typeface="BIZ UDPGothic" pitchFamily="34" charset="0"/>
                <a:ea typeface="BIZ UDPGothic" pitchFamily="34" charset="-122"/>
                <a:cs typeface="BIZ UDPGothic" pitchFamily="34" charset="-120"/>
              </a:rPr>
              <a:t>規則・版・適用範囲を検証</a:t>
            </a:r>
            <a:endParaRPr lang="en-US" sz="1050" dirty="0"/>
          </a:p>
        </p:txBody>
      </p:sp>
      <p:sp>
        <p:nvSpPr>
          <p:cNvPr id="59" name="Text 57"/>
          <p:cNvSpPr/>
          <p:nvPr/>
        </p:nvSpPr>
        <p:spPr>
          <a:xfrm>
            <a:off x="6274156" y="5650992"/>
            <a:ext cx="1567129" cy="548640"/>
          </a:xfrm>
          <a:prstGeom prst="rect">
            <a:avLst/>
          </a:prstGeom>
          <a:noFill/>
          <a:ln/>
        </p:spPr>
        <p:txBody>
          <a:bodyPr wrap="square" lIns="0" tIns="0" rIns="0" bIns="0" rtlCol="0" anchor="t"/>
          <a:lstStyle/>
          <a:p>
            <a:pPr indent="0" marL="0">
              <a:buNone/>
            </a:pPr>
            <a:r>
              <a:rPr lang="en-US" sz="1050" b="1" dirty="0">
                <a:solidFill>
                  <a:srgbClr val="8C5A44"/>
                </a:solidFill>
                <a:latin typeface="BIZ UDPGothic" pitchFamily="34" charset="0"/>
                <a:ea typeface="BIZ UDPGothic" pitchFamily="34" charset="-122"/>
                <a:cs typeface="BIZ UDPGothic" pitchFamily="34" charset="-120"/>
              </a:rPr>
              <a:t>拒否  </a:t>
            </a:r>
            <a:pPr indent="0" marL="0">
              <a:buNone/>
            </a:pPr>
            <a:r>
              <a:rPr lang="en-US" sz="1050" dirty="0">
                <a:solidFill>
                  <a:srgbClr val="243D54"/>
                </a:solidFill>
                <a:latin typeface="BIZ UDPGothic" pitchFamily="34" charset="0"/>
                <a:ea typeface="BIZ UDPGothic" pitchFamily="34" charset="-122"/>
                <a:cs typeface="BIZ UDPGothic" pitchFamily="34" charset="-120"/>
              </a:rPr>
              <a:t>対象外の変更が混入</a:t>
            </a:r>
            <a:endParaRPr lang="en-US" sz="1050" dirty="0"/>
          </a:p>
        </p:txBody>
      </p:sp>
      <p:sp>
        <p:nvSpPr>
          <p:cNvPr id="60" name="Shape 58"/>
          <p:cNvSpPr/>
          <p:nvPr/>
        </p:nvSpPr>
        <p:spPr>
          <a:xfrm>
            <a:off x="8051597" y="4617720"/>
            <a:ext cx="1750009" cy="384048"/>
          </a:xfrm>
          <a:prstGeom prst="rect">
            <a:avLst/>
          </a:prstGeom>
          <a:solidFill>
            <a:srgbClr val="243D54"/>
          </a:solidFill>
          <a:ln/>
        </p:spPr>
      </p:sp>
      <p:sp>
        <p:nvSpPr>
          <p:cNvPr id="61" name="Text 59"/>
          <p:cNvSpPr/>
          <p:nvPr/>
        </p:nvSpPr>
        <p:spPr>
          <a:xfrm>
            <a:off x="8051597" y="4617720"/>
            <a:ext cx="1750009" cy="384048"/>
          </a:xfrm>
          <a:prstGeom prst="rect">
            <a:avLst/>
          </a:prstGeom>
          <a:noFill/>
          <a:ln/>
        </p:spPr>
        <p:txBody>
          <a:bodyPr wrap="square" lIns="0" tIns="0" rIns="0" bIns="0" rtlCol="0" anchor="ctr"/>
          <a:lstStyle/>
          <a:p>
            <a:pPr algn="ctr" indent="0" marL="0">
              <a:buNone/>
            </a:pPr>
            <a:r>
              <a:rPr lang="en-US" sz="1200" b="1" dirty="0">
                <a:solidFill>
                  <a:srgbClr val="F5F1E8"/>
                </a:solidFill>
                <a:latin typeface="BIZ UDPGothic" pitchFamily="34" charset="0"/>
                <a:ea typeface="BIZ UDPGothic" pitchFamily="34" charset="-122"/>
                <a:cs typeface="BIZ UDPGothic" pitchFamily="34" charset="-120"/>
              </a:rPr>
              <a:t>委任→実行</a:t>
            </a:r>
            <a:endParaRPr lang="en-US" sz="1200" dirty="0"/>
          </a:p>
        </p:txBody>
      </p:sp>
      <p:sp>
        <p:nvSpPr>
          <p:cNvPr id="62" name="Shape 60"/>
          <p:cNvSpPr/>
          <p:nvPr/>
        </p:nvSpPr>
        <p:spPr>
          <a:xfrm>
            <a:off x="8051597" y="5001768"/>
            <a:ext cx="1750009" cy="1280160"/>
          </a:xfrm>
          <a:prstGeom prst="rect">
            <a:avLst/>
          </a:prstGeom>
          <a:solidFill>
            <a:srgbClr val="FFFFFF"/>
          </a:solidFill>
          <a:ln w="9525">
            <a:solidFill>
              <a:srgbClr val="DCD5C6"/>
            </a:solidFill>
            <a:prstDash val="solid"/>
          </a:ln>
        </p:spPr>
      </p:sp>
      <p:sp>
        <p:nvSpPr>
          <p:cNvPr id="63" name="Text 61"/>
          <p:cNvSpPr/>
          <p:nvPr/>
        </p:nvSpPr>
        <p:spPr>
          <a:xfrm>
            <a:off x="8161325" y="5093208"/>
            <a:ext cx="1567129" cy="548640"/>
          </a:xfrm>
          <a:prstGeom prst="rect">
            <a:avLst/>
          </a:prstGeom>
          <a:noFill/>
          <a:ln/>
        </p:spPr>
        <p:txBody>
          <a:bodyPr wrap="square" lIns="0" tIns="0" rIns="0" bIns="0" rtlCol="0" anchor="t"/>
          <a:lstStyle/>
          <a:p>
            <a:pPr indent="0" marL="0">
              <a:buNone/>
            </a:pPr>
            <a:r>
              <a:rPr lang="en-US" sz="1050" b="1" dirty="0">
                <a:solidFill>
                  <a:srgbClr val="4F7A5C"/>
                </a:solidFill>
                <a:latin typeface="BIZ UDPGothic" pitchFamily="34" charset="0"/>
                <a:ea typeface="BIZ UDPGothic" pitchFamily="34" charset="-122"/>
                <a:cs typeface="BIZ UDPGothic" pitchFamily="34" charset="-120"/>
              </a:rPr>
              <a:t>通す  </a:t>
            </a:r>
            <a:pPr indent="0" marL="0">
              <a:buNone/>
            </a:pPr>
            <a:r>
              <a:rPr lang="en-US" sz="1050" dirty="0">
                <a:solidFill>
                  <a:srgbClr val="243D54"/>
                </a:solidFill>
                <a:latin typeface="BIZ UDPGothic" pitchFamily="34" charset="0"/>
                <a:ea typeface="BIZ UDPGothic" pitchFamily="34" charset="-122"/>
                <a:cs typeface="BIZ UDPGothic" pitchFamily="34" charset="-120"/>
              </a:rPr>
              <a:t>権限・期限・環境が適合</a:t>
            </a:r>
            <a:endParaRPr lang="en-US" sz="1050" dirty="0"/>
          </a:p>
        </p:txBody>
      </p:sp>
      <p:sp>
        <p:nvSpPr>
          <p:cNvPr id="64" name="Text 62"/>
          <p:cNvSpPr/>
          <p:nvPr/>
        </p:nvSpPr>
        <p:spPr>
          <a:xfrm>
            <a:off x="8161325" y="5650992"/>
            <a:ext cx="1567129" cy="548640"/>
          </a:xfrm>
          <a:prstGeom prst="rect">
            <a:avLst/>
          </a:prstGeom>
          <a:noFill/>
          <a:ln/>
        </p:spPr>
        <p:txBody>
          <a:bodyPr wrap="square" lIns="0" tIns="0" rIns="0" bIns="0" rtlCol="0" anchor="t"/>
          <a:lstStyle/>
          <a:p>
            <a:pPr indent="0" marL="0">
              <a:buNone/>
            </a:pPr>
            <a:r>
              <a:rPr lang="en-US" sz="1050" b="1" dirty="0">
                <a:solidFill>
                  <a:srgbClr val="8C5A44"/>
                </a:solidFill>
                <a:latin typeface="BIZ UDPGothic" pitchFamily="34" charset="0"/>
                <a:ea typeface="BIZ UDPGothic" pitchFamily="34" charset="-122"/>
                <a:cs typeface="BIZ UDPGothic" pitchFamily="34" charset="-120"/>
              </a:rPr>
              <a:t>拒否  </a:t>
            </a:r>
            <a:pPr indent="0" marL="0">
              <a:buNone/>
            </a:pPr>
            <a:r>
              <a:rPr lang="en-US" sz="1050" dirty="0">
                <a:solidFill>
                  <a:srgbClr val="243D54"/>
                </a:solidFill>
                <a:latin typeface="BIZ UDPGothic" pitchFamily="34" charset="0"/>
                <a:ea typeface="BIZ UDPGothic" pitchFamily="34" charset="-122"/>
                <a:cs typeface="BIZ UDPGothic" pitchFamily="34" charset="-120"/>
              </a:rPr>
              <a:t>認証だけで実行</a:t>
            </a:r>
            <a:endParaRPr lang="en-US" sz="1050" dirty="0"/>
          </a:p>
        </p:txBody>
      </p:sp>
      <p:sp>
        <p:nvSpPr>
          <p:cNvPr id="65" name="Shape 63"/>
          <p:cNvSpPr/>
          <p:nvPr/>
        </p:nvSpPr>
        <p:spPr>
          <a:xfrm>
            <a:off x="9938766" y="4617720"/>
            <a:ext cx="1750009" cy="384048"/>
          </a:xfrm>
          <a:prstGeom prst="rect">
            <a:avLst/>
          </a:prstGeom>
          <a:solidFill>
            <a:srgbClr val="243D54"/>
          </a:solidFill>
          <a:ln/>
        </p:spPr>
      </p:sp>
      <p:sp>
        <p:nvSpPr>
          <p:cNvPr id="66" name="Text 64"/>
          <p:cNvSpPr/>
          <p:nvPr/>
        </p:nvSpPr>
        <p:spPr>
          <a:xfrm>
            <a:off x="9938766" y="4617720"/>
            <a:ext cx="1750009" cy="384048"/>
          </a:xfrm>
          <a:prstGeom prst="rect">
            <a:avLst/>
          </a:prstGeom>
          <a:noFill/>
          <a:ln/>
        </p:spPr>
        <p:txBody>
          <a:bodyPr wrap="square" lIns="0" tIns="0" rIns="0" bIns="0" rtlCol="0" anchor="ctr"/>
          <a:lstStyle/>
          <a:p>
            <a:pPr algn="ctr" indent="0" marL="0">
              <a:buNone/>
            </a:pPr>
            <a:r>
              <a:rPr lang="en-US" sz="1200" b="1" dirty="0">
                <a:solidFill>
                  <a:srgbClr val="F5F1E8"/>
                </a:solidFill>
                <a:latin typeface="BIZ UDPGothic" pitchFamily="34" charset="0"/>
                <a:ea typeface="BIZ UDPGothic" pitchFamily="34" charset="-122"/>
                <a:cs typeface="BIZ UDPGothic" pitchFamily="34" charset="-120"/>
              </a:rPr>
              <a:t>結果→改善</a:t>
            </a:r>
            <a:endParaRPr lang="en-US" sz="1200" dirty="0"/>
          </a:p>
        </p:txBody>
      </p:sp>
      <p:sp>
        <p:nvSpPr>
          <p:cNvPr id="67" name="Shape 65"/>
          <p:cNvSpPr/>
          <p:nvPr/>
        </p:nvSpPr>
        <p:spPr>
          <a:xfrm>
            <a:off x="9938766" y="5001768"/>
            <a:ext cx="1750009" cy="1280160"/>
          </a:xfrm>
          <a:prstGeom prst="rect">
            <a:avLst/>
          </a:prstGeom>
          <a:solidFill>
            <a:srgbClr val="FFFFFF"/>
          </a:solidFill>
          <a:ln w="9525">
            <a:solidFill>
              <a:srgbClr val="DCD5C6"/>
            </a:solidFill>
            <a:prstDash val="solid"/>
          </a:ln>
        </p:spPr>
      </p:sp>
      <p:sp>
        <p:nvSpPr>
          <p:cNvPr id="68" name="Text 66"/>
          <p:cNvSpPr/>
          <p:nvPr/>
        </p:nvSpPr>
        <p:spPr>
          <a:xfrm>
            <a:off x="10048494" y="5093208"/>
            <a:ext cx="1567129" cy="548640"/>
          </a:xfrm>
          <a:prstGeom prst="rect">
            <a:avLst/>
          </a:prstGeom>
          <a:noFill/>
          <a:ln/>
        </p:spPr>
        <p:txBody>
          <a:bodyPr wrap="square" lIns="0" tIns="0" rIns="0" bIns="0" rtlCol="0" anchor="t"/>
          <a:lstStyle/>
          <a:p>
            <a:pPr indent="0" marL="0">
              <a:buNone/>
            </a:pPr>
            <a:r>
              <a:rPr lang="en-US" sz="1050" b="1" dirty="0">
                <a:solidFill>
                  <a:srgbClr val="4F7A5C"/>
                </a:solidFill>
                <a:latin typeface="BIZ UDPGothic" pitchFamily="34" charset="0"/>
                <a:ea typeface="BIZ UDPGothic" pitchFamily="34" charset="-122"/>
                <a:cs typeface="BIZ UDPGothic" pitchFamily="34" charset="-120"/>
              </a:rPr>
              <a:t>通す  </a:t>
            </a:r>
            <a:pPr indent="0" marL="0">
              <a:buNone/>
            </a:pPr>
            <a:r>
              <a:rPr lang="en-US" sz="1050" dirty="0">
                <a:solidFill>
                  <a:srgbClr val="243D54"/>
                </a:solidFill>
                <a:latin typeface="BIZ UDPGothic" pitchFamily="34" charset="0"/>
                <a:ea typeface="BIZ UDPGothic" pitchFamily="34" charset="-122"/>
                <a:cs typeface="BIZ UDPGothic" pitchFamily="34" charset="-120"/>
              </a:rPr>
              <a:t>独立した観測と再評価</a:t>
            </a:r>
            <a:endParaRPr lang="en-US" sz="1050" dirty="0"/>
          </a:p>
        </p:txBody>
      </p:sp>
      <p:sp>
        <p:nvSpPr>
          <p:cNvPr id="69" name="Text 67"/>
          <p:cNvSpPr/>
          <p:nvPr/>
        </p:nvSpPr>
        <p:spPr>
          <a:xfrm>
            <a:off x="10048494" y="5650992"/>
            <a:ext cx="1567129" cy="548640"/>
          </a:xfrm>
          <a:prstGeom prst="rect">
            <a:avLst/>
          </a:prstGeom>
          <a:noFill/>
          <a:ln/>
        </p:spPr>
        <p:txBody>
          <a:bodyPr wrap="square" lIns="0" tIns="0" rIns="0" bIns="0" rtlCol="0" anchor="t"/>
          <a:lstStyle/>
          <a:p>
            <a:pPr indent="0" marL="0">
              <a:buNone/>
            </a:pPr>
            <a:r>
              <a:rPr lang="en-US" sz="1050" b="1" dirty="0">
                <a:solidFill>
                  <a:srgbClr val="8C5A44"/>
                </a:solidFill>
                <a:latin typeface="BIZ UDPGothic" pitchFamily="34" charset="0"/>
                <a:ea typeface="BIZ UDPGothic" pitchFamily="34" charset="-122"/>
                <a:cs typeface="BIZ UDPGothic" pitchFamily="34" charset="-120"/>
              </a:rPr>
              <a:t>拒否  </a:t>
            </a:r>
            <a:pPr indent="0" marL="0">
              <a:buNone/>
            </a:pPr>
            <a:r>
              <a:rPr lang="en-US" sz="1050" dirty="0">
                <a:solidFill>
                  <a:srgbClr val="243D54"/>
                </a:solidFill>
                <a:latin typeface="BIZ UDPGothic" pitchFamily="34" charset="0"/>
                <a:ea typeface="BIZ UDPGothic" pitchFamily="34" charset="-122"/>
                <a:cs typeface="BIZ UDPGothic" pitchFamily="34" charset="-120"/>
              </a:rPr>
              <a:t>正常応答だけで成果と確定</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274320"/>
            <a:ext cx="1118585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03  全体構成</a:t>
            </a:r>
            <a:endParaRPr lang="en-US" sz="950" dirty="0"/>
          </a:p>
        </p:txBody>
      </p:sp>
      <p:sp>
        <p:nvSpPr>
          <p:cNvPr id="3" name="Text 1"/>
          <p:cNvSpPr/>
          <p:nvPr/>
        </p:nvSpPr>
        <p:spPr>
          <a:xfrm>
            <a:off x="502920" y="530352"/>
            <a:ext cx="1118585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既存技術を置き換えず、欠けている境界を足す</a:t>
            </a:r>
            <a:endParaRPr lang="en-US" sz="2500" dirty="0"/>
          </a:p>
        </p:txBody>
      </p:sp>
      <p:sp>
        <p:nvSpPr>
          <p:cNvPr id="4" name="Text 2"/>
          <p:cNvSpPr/>
          <p:nvPr/>
        </p:nvSpPr>
        <p:spPr>
          <a:xfrm>
            <a:off x="502920" y="1097280"/>
            <a:ext cx="1118585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検索・業務処理・権限管理・記録はそれぞれ有用。ただし採否の意味・当時の根拠・業務の成果までは再現できない。</a:t>
            </a:r>
            <a:endParaRPr lang="en-US" sz="1300" dirty="0"/>
          </a:p>
        </p:txBody>
      </p:sp>
      <p:sp>
        <p:nvSpPr>
          <p:cNvPr id="5" name="Text 3"/>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27632"/>
          <a:ext cx="7589520" cy="914400"/>
        </p:xfrm>
        <a:graphic>
          <a:graphicData uri="http://schemas.openxmlformats.org/drawingml/2006/table">
            <a:tbl>
              <a:tblPr/>
              <a:tblGrid>
                <a:gridCol w="2377440"/>
                <a:gridCol w="2468880"/>
                <a:gridCol w="2743200"/>
              </a:tblGrid>
              <a:tr h="384048">
                <a:tc>
                  <a:txBody>
                    <a:bodyPr/>
                    <a:lstStyle/>
                    <a:p>
                      <a:pPr indent="0" marL="0">
                        <a:buNone/>
                      </a:pPr>
                      <a:r>
                        <a:rPr lang="en-US" sz="1100" b="1" dirty="0">
                          <a:solidFill>
                            <a:srgbClr val="F5F1E8"/>
                          </a:solidFill>
                          <a:latin typeface="BIZ UDPGothic" pitchFamily="34" charset="0"/>
                          <a:ea typeface="BIZ UDPGothic" pitchFamily="34" charset="-122"/>
                          <a:cs typeface="BIZ UDPGothic" pitchFamily="34" charset="-120"/>
                        </a:rPr>
                        <a:t>既存の仕組み</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243D54"/>
                    </a:solidFill>
                  </a:tcPr>
                </a:tc>
                <a:tc>
                  <a:txBody>
                    <a:bodyPr/>
                    <a:lstStyle/>
                    <a:p>
                      <a:pPr indent="0" marL="0">
                        <a:buNone/>
                      </a:pPr>
                      <a:r>
                        <a:rPr lang="en-US" sz="1100" b="1" dirty="0">
                          <a:solidFill>
                            <a:srgbClr val="F5F1E8"/>
                          </a:solidFill>
                          <a:latin typeface="BIZ UDPGothic" pitchFamily="34" charset="0"/>
                          <a:ea typeface="BIZ UDPGothic" pitchFamily="34" charset="-122"/>
                          <a:cs typeface="BIZ UDPGothic" pitchFamily="34" charset="-120"/>
                        </a:rPr>
                        <a:t>得意な仕事</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243D54"/>
                    </a:solidFill>
                  </a:tcPr>
                </a:tc>
                <a:tc>
                  <a:txBody>
                    <a:bodyPr/>
                    <a:lstStyle/>
                    <a:p>
                      <a:pPr indent="0" marL="0">
                        <a:buNone/>
                      </a:pPr>
                      <a:r>
                        <a:rPr lang="en-US" sz="1100" b="1" dirty="0">
                          <a:solidFill>
                            <a:srgbClr val="F5F1E8"/>
                          </a:solidFill>
                          <a:latin typeface="BIZ UDPGothic" pitchFamily="34" charset="0"/>
                          <a:ea typeface="BIZ UDPGothic" pitchFamily="34" charset="-122"/>
                          <a:cs typeface="BIZ UDPGothic" pitchFamily="34" charset="-120"/>
                        </a:rPr>
                        <a:t>YIが加えて確かめる観点</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243D54"/>
                    </a:solidFill>
                  </a:tcPr>
                </a:tc>
              </a:tr>
              <a:tr h="566928">
                <a:tc>
                  <a:txBody>
                    <a:bodyPr/>
                    <a:lstStyle/>
                    <a:p>
                      <a:pPr indent="0" marL="0">
                        <a:buNone/>
                      </a:pPr>
                      <a:r>
                        <a:rPr lang="en-US" sz="1200" b="1" dirty="0">
                          <a:solidFill>
                            <a:srgbClr val="243D54"/>
                          </a:solidFill>
                          <a:latin typeface="BIZ UDPGothic" pitchFamily="34" charset="0"/>
                          <a:ea typeface="BIZ UDPGothic" pitchFamily="34" charset="-122"/>
                          <a:cs typeface="BIZ UDPGothic" pitchFamily="34" charset="-120"/>
                        </a:rPr>
                        <a:t>検索拡張による生成</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200" dirty="0">
                          <a:solidFill>
                            <a:srgbClr val="243D54"/>
                          </a:solidFill>
                          <a:latin typeface="BIZ UDPGothic" pitchFamily="34" charset="0"/>
                          <a:ea typeface="BIZ UDPGothic" pitchFamily="34" charset="-122"/>
                          <a:cs typeface="BIZ UDPGothic" pitchFamily="34" charset="-120"/>
                        </a:rPr>
                        <a:t>情報を探し、回答の材料にする</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200" dirty="0">
                          <a:solidFill>
                            <a:srgbClr val="243D54"/>
                          </a:solidFill>
                          <a:latin typeface="BIZ UDPGothic" pitchFamily="34" charset="0"/>
                          <a:ea typeface="BIZ UDPGothic" pitchFamily="34" charset="-122"/>
                          <a:cs typeface="BIZ UDPGothic" pitchFamily="34" charset="-120"/>
                        </a:rPr>
                        <a:t>出典の固定版、解釈と承認の分離</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243D54"/>
                          </a:solidFill>
                          <a:latin typeface="BIZ UDPGothic" pitchFamily="34" charset="0"/>
                          <a:ea typeface="BIZ UDPGothic" pitchFamily="34" charset="-122"/>
                          <a:cs typeface="BIZ UDPGothic" pitchFamily="34" charset="-120"/>
                        </a:rPr>
                        <a:t>エージェントと業務処理の自動化</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200" dirty="0">
                          <a:solidFill>
                            <a:srgbClr val="243D54"/>
                          </a:solidFill>
                          <a:latin typeface="BIZ UDPGothic" pitchFamily="34" charset="0"/>
                          <a:ea typeface="BIZ UDPGothic" pitchFamily="34" charset="-122"/>
                          <a:cs typeface="BIZ UDPGothic" pitchFamily="34" charset="-120"/>
                        </a:rPr>
                        <a:t>手順やツールの実行を進める</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200" dirty="0">
                          <a:solidFill>
                            <a:srgbClr val="243D54"/>
                          </a:solidFill>
                          <a:latin typeface="BIZ UDPGothic" pitchFamily="34" charset="0"/>
                          <a:ea typeface="BIZ UDPGothic" pitchFamily="34" charset="-122"/>
                          <a:cs typeface="BIZ UDPGothic" pitchFamily="34" charset="-120"/>
                        </a:rPr>
                        <a:t>範囲を限った委任、途中の採否と再開</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r h="566928">
                <a:tc>
                  <a:txBody>
                    <a:bodyPr/>
                    <a:lstStyle/>
                    <a:p>
                      <a:pPr indent="0" marL="0">
                        <a:buNone/>
                      </a:pPr>
                      <a:r>
                        <a:rPr lang="en-US" sz="1200" b="1" dirty="0">
                          <a:solidFill>
                            <a:srgbClr val="243D54"/>
                          </a:solidFill>
                          <a:latin typeface="BIZ UDPGothic" pitchFamily="34" charset="0"/>
                          <a:ea typeface="BIZ UDPGothic" pitchFamily="34" charset="-122"/>
                          <a:cs typeface="BIZ UDPGothic" pitchFamily="34" charset="-120"/>
                        </a:rPr>
                        <a:t>認証と権限の管理</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200" dirty="0">
                          <a:solidFill>
                            <a:srgbClr val="243D54"/>
                          </a:solidFill>
                          <a:latin typeface="BIZ UDPGothic" pitchFamily="34" charset="0"/>
                          <a:ea typeface="BIZ UDPGothic" pitchFamily="34" charset="-122"/>
                          <a:cs typeface="BIZ UDPGothic" pitchFamily="34" charset="-120"/>
                        </a:rPr>
                        <a:t>本人確認と操作権限を判断する</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200" dirty="0">
                          <a:solidFill>
                            <a:srgbClr val="243D54"/>
                          </a:solidFill>
                          <a:latin typeface="BIZ UDPGothic" pitchFamily="34" charset="0"/>
                          <a:ea typeface="BIZ UDPGothic" pitchFamily="34" charset="-122"/>
                          <a:cs typeface="BIZ UDPGothic" pitchFamily="34" charset="-120"/>
                        </a:rPr>
                        <a:t>判断の理由・業務上の責任・結果との対応</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243D54"/>
                          </a:solidFill>
                          <a:latin typeface="BIZ UDPGothic" pitchFamily="34" charset="0"/>
                          <a:ea typeface="BIZ UDPGothic" pitchFamily="34" charset="-122"/>
                          <a:cs typeface="BIZ UDPGothic" pitchFamily="34" charset="-120"/>
                        </a:rPr>
                        <a:t>監査記録と追跡</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200" dirty="0">
                          <a:solidFill>
                            <a:srgbClr val="243D54"/>
                          </a:solidFill>
                          <a:latin typeface="BIZ UDPGothic" pitchFamily="34" charset="0"/>
                          <a:ea typeface="BIZ UDPGothic" pitchFamily="34" charset="-122"/>
                          <a:cs typeface="BIZ UDPGothic" pitchFamily="34" charset="-120"/>
                        </a:rPr>
                        <a:t>実行の出来事や通信を記録する</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200" dirty="0">
                          <a:solidFill>
                            <a:srgbClr val="243D54"/>
                          </a:solidFill>
                          <a:latin typeface="BIZ UDPGothic" pitchFamily="34" charset="0"/>
                          <a:ea typeface="BIZ UDPGothic" pitchFamily="34" charset="-122"/>
                          <a:cs typeface="BIZ UDPGothic" pitchFamily="34" charset="-120"/>
                        </a:rPr>
                        <a:t>当時の根拠、未解決の点、業務上の意味</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r h="566928">
                <a:tc>
                  <a:txBody>
                    <a:bodyPr/>
                    <a:lstStyle/>
                    <a:p>
                      <a:pPr indent="0" marL="0">
                        <a:buNone/>
                      </a:pPr>
                      <a:r>
                        <a:rPr lang="en-US" sz="1200" b="1" dirty="0">
                          <a:solidFill>
                            <a:srgbClr val="243D54"/>
                          </a:solidFill>
                          <a:latin typeface="BIZ UDPGothic" pitchFamily="34" charset="0"/>
                          <a:ea typeface="BIZ UDPGothic" pitchFamily="34" charset="-122"/>
                          <a:cs typeface="BIZ UDPGothic" pitchFamily="34" charset="-120"/>
                        </a:rPr>
                        <a:t>モデルの評価基盤</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200" dirty="0">
                          <a:solidFill>
                            <a:srgbClr val="243D54"/>
                          </a:solidFill>
                          <a:latin typeface="BIZ UDPGothic" pitchFamily="34" charset="0"/>
                          <a:ea typeface="BIZ UDPGothic" pitchFamily="34" charset="-122"/>
                          <a:cs typeface="BIZ UDPGothic" pitchFamily="34" charset="-120"/>
                        </a:rPr>
                        <a:t>モデルや出力の品質を測る</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200" dirty="0">
                          <a:solidFill>
                            <a:srgbClr val="243D54"/>
                          </a:solidFill>
                          <a:latin typeface="BIZ UDPGothic" pitchFamily="34" charset="0"/>
                          <a:ea typeface="BIZ UDPGothic" pitchFamily="34" charset="-122"/>
                          <a:cs typeface="BIZ UDPGothic" pitchFamily="34" charset="-120"/>
                        </a:rPr>
                        <a:t>製品をまたぐ利用と、人の受け入れの境界</a:t>
                      </a:r>
                      <a:endParaRPr lang="en-US" sz="12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bl>
          </a:graphicData>
        </a:graphic>
      </p:graphicFrame>
      <p:sp>
        <p:nvSpPr>
          <p:cNvPr id="7" name="Shape 4"/>
          <p:cNvSpPr/>
          <p:nvPr/>
        </p:nvSpPr>
        <p:spPr>
          <a:xfrm>
            <a:off x="8321040" y="1627632"/>
            <a:ext cx="3367735" cy="3218688"/>
          </a:xfrm>
          <a:prstGeom prst="rect">
            <a:avLst/>
          </a:prstGeom>
          <a:solidFill>
            <a:srgbClr val="243D54"/>
          </a:solidFill>
          <a:ln/>
        </p:spPr>
      </p:sp>
      <p:sp>
        <p:nvSpPr>
          <p:cNvPr id="8" name="Text 5"/>
          <p:cNvSpPr/>
          <p:nvPr/>
        </p:nvSpPr>
        <p:spPr>
          <a:xfrm>
            <a:off x="8522208" y="1737360"/>
            <a:ext cx="3001975" cy="274320"/>
          </a:xfrm>
          <a:prstGeom prst="rect">
            <a:avLst/>
          </a:prstGeom>
          <a:noFill/>
          <a:ln/>
        </p:spPr>
        <p:txBody>
          <a:bodyPr wrap="square" lIns="0" tIns="0" rIns="0" bIns="0" rtlCol="0" anchor="t"/>
          <a:lstStyle/>
          <a:p>
            <a:pPr indent="0" marL="0">
              <a:buNone/>
            </a:pPr>
            <a:r>
              <a:rPr lang="en-US" sz="1250" b="1" dirty="0">
                <a:solidFill>
                  <a:srgbClr val="C4A06D"/>
                </a:solidFill>
                <a:latin typeface="BIZ UDPGothic" pitchFamily="34" charset="0"/>
                <a:ea typeface="BIZ UDPGothic" pitchFamily="34" charset="-122"/>
                <a:cs typeface="BIZ UDPGothic" pitchFamily="34" charset="-120"/>
              </a:rPr>
              <a:t>一つの巨大な実行基盤にしない</a:t>
            </a:r>
            <a:endParaRPr lang="en-US" sz="1250" dirty="0"/>
          </a:p>
        </p:txBody>
      </p:sp>
      <p:sp>
        <p:nvSpPr>
          <p:cNvPr id="9" name="Text 6"/>
          <p:cNvSpPr/>
          <p:nvPr/>
        </p:nvSpPr>
        <p:spPr>
          <a:xfrm>
            <a:off x="8522208" y="2103120"/>
            <a:ext cx="960120" cy="411480"/>
          </a:xfrm>
          <a:prstGeom prst="rect">
            <a:avLst/>
          </a:prstGeom>
          <a:noFill/>
          <a:ln/>
        </p:spPr>
        <p:txBody>
          <a:bodyPr wrap="square" lIns="0" tIns="0" rIns="0" bIns="0" rtlCol="0" anchor="ctr"/>
          <a:lstStyle/>
          <a:p>
            <a:pPr indent="0" marL="0">
              <a:buNone/>
            </a:pPr>
            <a:r>
              <a:rPr lang="en-US" sz="1150" b="1" dirty="0">
                <a:solidFill>
                  <a:srgbClr val="F5F1E8"/>
                </a:solidFill>
                <a:latin typeface="BIZ UDPGothic" pitchFamily="34" charset="0"/>
                <a:ea typeface="BIZ UDPGothic" pitchFamily="34" charset="-122"/>
                <a:cs typeface="BIZ UDPGothic" pitchFamily="34" charset="-120"/>
              </a:rPr>
              <a:t>独立性</a:t>
            </a:r>
            <a:endParaRPr lang="en-US" sz="1150" dirty="0"/>
          </a:p>
        </p:txBody>
      </p:sp>
      <p:sp>
        <p:nvSpPr>
          <p:cNvPr id="10" name="Text 7"/>
          <p:cNvSpPr/>
          <p:nvPr/>
        </p:nvSpPr>
        <p:spPr>
          <a:xfrm>
            <a:off x="9509760" y="2103120"/>
            <a:ext cx="2041855" cy="411480"/>
          </a:xfrm>
          <a:prstGeom prst="rect">
            <a:avLst/>
          </a:prstGeom>
          <a:noFill/>
          <a:ln/>
        </p:spPr>
        <p:txBody>
          <a:bodyPr wrap="square" lIns="0" tIns="0" rIns="0" bIns="0" rtlCol="0" anchor="ctr"/>
          <a:lstStyle/>
          <a:p>
            <a:pPr indent="0" marL="0">
              <a:buNone/>
            </a:pPr>
            <a:r>
              <a:rPr lang="en-US" sz="1050" dirty="0">
                <a:solidFill>
                  <a:srgbClr val="C9D3D9"/>
                </a:solidFill>
                <a:latin typeface="BIZ UDPGothic" pitchFamily="34" charset="0"/>
                <a:ea typeface="BIZ UDPGothic" pitchFamily="34" charset="-122"/>
                <a:cs typeface="BIZ UDPGothic" pitchFamily="34" charset="-120"/>
              </a:rPr>
              <a:t>実装・正本・試験・公開は各製品が持つ</a:t>
            </a:r>
            <a:endParaRPr lang="en-US" sz="1050" dirty="0"/>
          </a:p>
        </p:txBody>
      </p:sp>
      <p:sp>
        <p:nvSpPr>
          <p:cNvPr id="11" name="Text 8"/>
          <p:cNvSpPr/>
          <p:nvPr/>
        </p:nvSpPr>
        <p:spPr>
          <a:xfrm>
            <a:off x="8522208" y="2551176"/>
            <a:ext cx="960120" cy="411480"/>
          </a:xfrm>
          <a:prstGeom prst="rect">
            <a:avLst/>
          </a:prstGeom>
          <a:noFill/>
          <a:ln/>
        </p:spPr>
        <p:txBody>
          <a:bodyPr wrap="square" lIns="0" tIns="0" rIns="0" bIns="0" rtlCol="0" anchor="ctr"/>
          <a:lstStyle/>
          <a:p>
            <a:pPr indent="0" marL="0">
              <a:buNone/>
            </a:pPr>
            <a:r>
              <a:rPr lang="en-US" sz="1150" b="1" dirty="0">
                <a:solidFill>
                  <a:srgbClr val="F5F1E8"/>
                </a:solidFill>
                <a:latin typeface="BIZ UDPGothic" pitchFamily="34" charset="0"/>
                <a:ea typeface="BIZ UDPGothic" pitchFamily="34" charset="-122"/>
                <a:cs typeface="BIZ UDPGothic" pitchFamily="34" charset="-120"/>
              </a:rPr>
              <a:t>疎結合</a:t>
            </a:r>
            <a:endParaRPr lang="en-US" sz="1150" dirty="0"/>
          </a:p>
        </p:txBody>
      </p:sp>
      <p:sp>
        <p:nvSpPr>
          <p:cNvPr id="12" name="Text 9"/>
          <p:cNvSpPr/>
          <p:nvPr/>
        </p:nvSpPr>
        <p:spPr>
          <a:xfrm>
            <a:off x="9509760" y="2551176"/>
            <a:ext cx="2041855" cy="411480"/>
          </a:xfrm>
          <a:prstGeom prst="rect">
            <a:avLst/>
          </a:prstGeom>
          <a:noFill/>
          <a:ln/>
        </p:spPr>
        <p:txBody>
          <a:bodyPr wrap="square" lIns="0" tIns="0" rIns="0" bIns="0" rtlCol="0" anchor="ctr"/>
          <a:lstStyle/>
          <a:p>
            <a:pPr indent="0" marL="0">
              <a:buNone/>
            </a:pPr>
            <a:r>
              <a:rPr lang="en-US" sz="1050" dirty="0">
                <a:solidFill>
                  <a:srgbClr val="C9D3D9"/>
                </a:solidFill>
                <a:latin typeface="BIZ UDPGothic" pitchFamily="34" charset="0"/>
                <a:ea typeface="BIZ UDPGothic" pitchFamily="34" charset="-122"/>
                <a:cs typeface="BIZ UDPGothic" pitchFamily="34" charset="-120"/>
              </a:rPr>
              <a:t>約束と版を明示し、必要な機能だけ使う</a:t>
            </a:r>
            <a:endParaRPr lang="en-US" sz="1050" dirty="0"/>
          </a:p>
        </p:txBody>
      </p:sp>
      <p:sp>
        <p:nvSpPr>
          <p:cNvPr id="13" name="Text 10"/>
          <p:cNvSpPr/>
          <p:nvPr/>
        </p:nvSpPr>
        <p:spPr>
          <a:xfrm>
            <a:off x="8522208" y="2999232"/>
            <a:ext cx="960120" cy="411480"/>
          </a:xfrm>
          <a:prstGeom prst="rect">
            <a:avLst/>
          </a:prstGeom>
          <a:noFill/>
          <a:ln/>
        </p:spPr>
        <p:txBody>
          <a:bodyPr wrap="square" lIns="0" tIns="0" rIns="0" bIns="0" rtlCol="0" anchor="ctr"/>
          <a:lstStyle/>
          <a:p>
            <a:pPr indent="0" marL="0">
              <a:buNone/>
            </a:pPr>
            <a:r>
              <a:rPr lang="en-US" sz="1150" b="1" dirty="0">
                <a:solidFill>
                  <a:srgbClr val="F5F1E8"/>
                </a:solidFill>
                <a:latin typeface="BIZ UDPGothic" pitchFamily="34" charset="0"/>
                <a:ea typeface="BIZ UDPGothic" pitchFamily="34" charset="-122"/>
                <a:cs typeface="BIZ UDPGothic" pitchFamily="34" charset="-120"/>
              </a:rPr>
              <a:t>耐障害</a:t>
            </a:r>
            <a:endParaRPr lang="en-US" sz="1150" dirty="0"/>
          </a:p>
        </p:txBody>
      </p:sp>
      <p:sp>
        <p:nvSpPr>
          <p:cNvPr id="14" name="Text 11"/>
          <p:cNvSpPr/>
          <p:nvPr/>
        </p:nvSpPr>
        <p:spPr>
          <a:xfrm>
            <a:off x="9509760" y="2999232"/>
            <a:ext cx="2041855" cy="411480"/>
          </a:xfrm>
          <a:prstGeom prst="rect">
            <a:avLst/>
          </a:prstGeom>
          <a:noFill/>
          <a:ln/>
        </p:spPr>
        <p:txBody>
          <a:bodyPr wrap="square" lIns="0" tIns="0" rIns="0" bIns="0" rtlCol="0" anchor="ctr"/>
          <a:lstStyle/>
          <a:p>
            <a:pPr indent="0" marL="0">
              <a:buNone/>
            </a:pPr>
            <a:r>
              <a:rPr lang="en-US" sz="1050" dirty="0">
                <a:solidFill>
                  <a:srgbClr val="C9D3D9"/>
                </a:solidFill>
                <a:latin typeface="BIZ UDPGothic" pitchFamily="34" charset="0"/>
                <a:ea typeface="BIZ UDPGothic" pitchFamily="34" charset="-122"/>
                <a:cs typeface="BIZ UDPGothic" pitchFamily="34" charset="-120"/>
              </a:rPr>
              <a:t>他製品が止まっても局所で安全に判断</a:t>
            </a:r>
            <a:endParaRPr lang="en-US" sz="1050" dirty="0"/>
          </a:p>
        </p:txBody>
      </p:sp>
      <p:sp>
        <p:nvSpPr>
          <p:cNvPr id="15" name="Text 12"/>
          <p:cNvSpPr/>
          <p:nvPr/>
        </p:nvSpPr>
        <p:spPr>
          <a:xfrm>
            <a:off x="8522208" y="3447288"/>
            <a:ext cx="960120" cy="411480"/>
          </a:xfrm>
          <a:prstGeom prst="rect">
            <a:avLst/>
          </a:prstGeom>
          <a:noFill/>
          <a:ln/>
        </p:spPr>
        <p:txBody>
          <a:bodyPr wrap="square" lIns="0" tIns="0" rIns="0" bIns="0" rtlCol="0" anchor="ctr"/>
          <a:lstStyle/>
          <a:p>
            <a:pPr indent="0" marL="0">
              <a:buNone/>
            </a:pPr>
            <a:r>
              <a:rPr lang="en-US" sz="1150" b="1" dirty="0">
                <a:solidFill>
                  <a:srgbClr val="F5F1E8"/>
                </a:solidFill>
                <a:latin typeface="BIZ UDPGothic" pitchFamily="34" charset="0"/>
                <a:ea typeface="BIZ UDPGothic" pitchFamily="34" charset="-122"/>
                <a:cs typeface="BIZ UDPGothic" pitchFamily="34" charset="-120"/>
              </a:rPr>
              <a:t>選び直し</a:t>
            </a:r>
            <a:endParaRPr lang="en-US" sz="1150" dirty="0"/>
          </a:p>
        </p:txBody>
      </p:sp>
      <p:sp>
        <p:nvSpPr>
          <p:cNvPr id="16" name="Text 13"/>
          <p:cNvSpPr/>
          <p:nvPr/>
        </p:nvSpPr>
        <p:spPr>
          <a:xfrm>
            <a:off x="9509760" y="3447288"/>
            <a:ext cx="2041855" cy="411480"/>
          </a:xfrm>
          <a:prstGeom prst="rect">
            <a:avLst/>
          </a:prstGeom>
          <a:noFill/>
          <a:ln/>
        </p:spPr>
        <p:txBody>
          <a:bodyPr wrap="square" lIns="0" tIns="0" rIns="0" bIns="0" rtlCol="0" anchor="ctr"/>
          <a:lstStyle/>
          <a:p>
            <a:pPr indent="0" marL="0">
              <a:buNone/>
            </a:pPr>
            <a:r>
              <a:rPr lang="en-US" sz="1050" dirty="0">
                <a:solidFill>
                  <a:srgbClr val="C9D3D9"/>
                </a:solidFill>
                <a:latin typeface="BIZ UDPGothic" pitchFamily="34" charset="0"/>
                <a:ea typeface="BIZ UDPGothic" pitchFamily="34" charset="-122"/>
                <a:cs typeface="BIZ UDPGothic" pitchFamily="34" charset="-120"/>
              </a:rPr>
              <a:t>モデル・データベース・実行先・画面を交換できる</a:t>
            </a:r>
            <a:endParaRPr lang="en-US" sz="1050" dirty="0"/>
          </a:p>
        </p:txBody>
      </p:sp>
      <p:sp>
        <p:nvSpPr>
          <p:cNvPr id="17" name="Text 14"/>
          <p:cNvSpPr/>
          <p:nvPr/>
        </p:nvSpPr>
        <p:spPr>
          <a:xfrm>
            <a:off x="8522208" y="3895344"/>
            <a:ext cx="960120" cy="411480"/>
          </a:xfrm>
          <a:prstGeom prst="rect">
            <a:avLst/>
          </a:prstGeom>
          <a:noFill/>
          <a:ln/>
        </p:spPr>
        <p:txBody>
          <a:bodyPr wrap="square" lIns="0" tIns="0" rIns="0" bIns="0" rtlCol="0" anchor="ctr"/>
          <a:lstStyle/>
          <a:p>
            <a:pPr indent="0" marL="0">
              <a:buNone/>
            </a:pPr>
            <a:r>
              <a:rPr lang="en-US" sz="1150" b="1" dirty="0">
                <a:solidFill>
                  <a:srgbClr val="F5F1E8"/>
                </a:solidFill>
                <a:latin typeface="BIZ UDPGothic" pitchFamily="34" charset="0"/>
                <a:ea typeface="BIZ UDPGothic" pitchFamily="34" charset="-122"/>
                <a:cs typeface="BIZ UDPGothic" pitchFamily="34" charset="-120"/>
              </a:rPr>
              <a:t>段階導入</a:t>
            </a:r>
            <a:endParaRPr lang="en-US" sz="1150" dirty="0"/>
          </a:p>
        </p:txBody>
      </p:sp>
      <p:sp>
        <p:nvSpPr>
          <p:cNvPr id="18" name="Text 15"/>
          <p:cNvSpPr/>
          <p:nvPr/>
        </p:nvSpPr>
        <p:spPr>
          <a:xfrm>
            <a:off x="9509760" y="3895344"/>
            <a:ext cx="2041855" cy="411480"/>
          </a:xfrm>
          <a:prstGeom prst="rect">
            <a:avLst/>
          </a:prstGeom>
          <a:noFill/>
          <a:ln/>
        </p:spPr>
        <p:txBody>
          <a:bodyPr wrap="square" lIns="0" tIns="0" rIns="0" bIns="0" rtlCol="0" anchor="ctr"/>
          <a:lstStyle/>
          <a:p>
            <a:pPr indent="0" marL="0">
              <a:buNone/>
            </a:pPr>
            <a:r>
              <a:rPr lang="en-US" sz="1050" dirty="0">
                <a:solidFill>
                  <a:srgbClr val="C9D3D9"/>
                </a:solidFill>
                <a:latin typeface="BIZ UDPGothic" pitchFamily="34" charset="0"/>
                <a:ea typeface="BIZ UDPGothic" pitchFamily="34" charset="-122"/>
                <a:cs typeface="BIZ UDPGothic" pitchFamily="34" charset="-120"/>
              </a:rPr>
              <a:t>読み取り専用から始める</a:t>
            </a:r>
            <a:endParaRPr lang="en-US" sz="1050" dirty="0"/>
          </a:p>
        </p:txBody>
      </p:sp>
      <p:sp>
        <p:nvSpPr>
          <p:cNvPr id="19" name="Text 16"/>
          <p:cNvSpPr/>
          <p:nvPr/>
        </p:nvSpPr>
        <p:spPr>
          <a:xfrm>
            <a:off x="8522208" y="4343400"/>
            <a:ext cx="960120" cy="411480"/>
          </a:xfrm>
          <a:prstGeom prst="rect">
            <a:avLst/>
          </a:prstGeom>
          <a:noFill/>
          <a:ln/>
        </p:spPr>
        <p:txBody>
          <a:bodyPr wrap="square" lIns="0" tIns="0" rIns="0" bIns="0" rtlCol="0" anchor="ctr"/>
          <a:lstStyle/>
          <a:p>
            <a:pPr indent="0" marL="0">
              <a:buNone/>
            </a:pPr>
            <a:r>
              <a:rPr lang="en-US" sz="1150" b="1" dirty="0">
                <a:solidFill>
                  <a:srgbClr val="F5F1E8"/>
                </a:solidFill>
                <a:latin typeface="BIZ UDPGothic" pitchFamily="34" charset="0"/>
                <a:ea typeface="BIZ UDPGothic" pitchFamily="34" charset="-122"/>
                <a:cs typeface="BIZ UDPGothic" pitchFamily="34" charset="-120"/>
              </a:rPr>
              <a:t>開示の限定</a:t>
            </a:r>
            <a:endParaRPr lang="en-US" sz="1150" dirty="0"/>
          </a:p>
        </p:txBody>
      </p:sp>
      <p:sp>
        <p:nvSpPr>
          <p:cNvPr id="20" name="Text 17"/>
          <p:cNvSpPr/>
          <p:nvPr/>
        </p:nvSpPr>
        <p:spPr>
          <a:xfrm>
            <a:off x="9509760" y="4343400"/>
            <a:ext cx="2041855" cy="411480"/>
          </a:xfrm>
          <a:prstGeom prst="rect">
            <a:avLst/>
          </a:prstGeom>
          <a:noFill/>
          <a:ln/>
        </p:spPr>
        <p:txBody>
          <a:bodyPr wrap="square" lIns="0" tIns="0" rIns="0" bIns="0" rtlCol="0" anchor="ctr"/>
          <a:lstStyle/>
          <a:p>
            <a:pPr indent="0" marL="0">
              <a:buNone/>
            </a:pPr>
            <a:r>
              <a:rPr lang="en-US" sz="1050" dirty="0">
                <a:solidFill>
                  <a:srgbClr val="C9D3D9"/>
                </a:solidFill>
                <a:latin typeface="BIZ UDPGothic" pitchFamily="34" charset="0"/>
                <a:ea typeface="BIZ UDPGothic" pitchFamily="34" charset="-122"/>
                <a:cs typeface="BIZ UDPGothic" pitchFamily="34" charset="-120"/>
              </a:rPr>
              <a:t>情報や権限を製品をまたいで広げない</a:t>
            </a:r>
            <a:endParaRPr lang="en-US" sz="1050" dirty="0"/>
          </a:p>
        </p:txBody>
      </p:sp>
      <p:sp>
        <p:nvSpPr>
          <p:cNvPr id="21" name="Shape 18"/>
          <p:cNvSpPr/>
          <p:nvPr/>
        </p:nvSpPr>
        <p:spPr>
          <a:xfrm>
            <a:off x="502920" y="5120640"/>
            <a:ext cx="11185855" cy="548640"/>
          </a:xfrm>
          <a:prstGeom prst="rect">
            <a:avLst/>
          </a:prstGeom>
          <a:solidFill>
            <a:srgbClr val="243D54"/>
          </a:solidFill>
          <a:ln/>
        </p:spPr>
      </p:sp>
      <p:sp>
        <p:nvSpPr>
          <p:cNvPr id="22" name="Shape 19"/>
          <p:cNvSpPr/>
          <p:nvPr/>
        </p:nvSpPr>
        <p:spPr>
          <a:xfrm>
            <a:off x="502920" y="5120640"/>
            <a:ext cx="64008" cy="548640"/>
          </a:xfrm>
          <a:prstGeom prst="rect">
            <a:avLst/>
          </a:prstGeom>
          <a:solidFill>
            <a:srgbClr val="C4A06D"/>
          </a:solidFill>
          <a:ln/>
        </p:spPr>
      </p:sp>
      <p:sp>
        <p:nvSpPr>
          <p:cNvPr id="23" name="Text 20"/>
          <p:cNvSpPr/>
          <p:nvPr/>
        </p:nvSpPr>
        <p:spPr>
          <a:xfrm>
            <a:off x="731520" y="5120640"/>
            <a:ext cx="10865815" cy="548640"/>
          </a:xfrm>
          <a:prstGeom prst="rect">
            <a:avLst/>
          </a:prstGeom>
          <a:noFill/>
          <a:ln/>
        </p:spPr>
        <p:txBody>
          <a:bodyPr wrap="square" lIns="0" tIns="0" rIns="0" bIns="0" rtlCol="0" anchor="ctr"/>
          <a:lstStyle/>
          <a:p>
            <a:pPr indent="0" marL="0">
              <a:buNone/>
            </a:pPr>
            <a:r>
              <a:rPr lang="en-US" sz="1400" b="1" dirty="0">
                <a:solidFill>
                  <a:srgbClr val="F5F1E8"/>
                </a:solidFill>
                <a:latin typeface="BIZ UDPGothic" pitchFamily="34" charset="0"/>
                <a:ea typeface="BIZ UDPGothic" pitchFamily="34" charset="-122"/>
                <a:cs typeface="BIZ UDPGothic" pitchFamily="34" charset="-120"/>
              </a:rPr>
              <a:t>既存製品の組み合わせで十分な組織では、YI独自の基盤は要らない。差分の価値は実証で確かめる。</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274320"/>
            <a:ext cx="1118585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03  全体構成</a:t>
            </a:r>
            <a:endParaRPr lang="en-US" sz="950" dirty="0"/>
          </a:p>
        </p:txBody>
      </p:sp>
      <p:sp>
        <p:nvSpPr>
          <p:cNvPr id="3" name="Text 1"/>
          <p:cNvSpPr/>
          <p:nvPr/>
        </p:nvSpPr>
        <p:spPr>
          <a:xfrm>
            <a:off x="502920" y="530352"/>
            <a:ext cx="1118585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全製品に共通する開発の規律</a:t>
            </a:r>
            <a:endParaRPr lang="en-US" sz="2500" dirty="0"/>
          </a:p>
        </p:txBody>
      </p:sp>
      <p:sp>
        <p:nvSpPr>
          <p:cNvPr id="4" name="Text 2"/>
          <p:cNvSpPr/>
          <p:nvPr/>
        </p:nvSpPr>
        <p:spPr>
          <a:xfrm>
            <a:off x="502920" y="1097280"/>
            <a:ext cx="1118585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どの製品も生成AIを用いて開発中で、人による確認は完了していない。だからこそ、主張と根拠の距離を管理する。</a:t>
            </a:r>
            <a:endParaRPr lang="en-US" sz="1300" dirty="0"/>
          </a:p>
        </p:txBody>
      </p:sp>
      <p:sp>
        <p:nvSpPr>
          <p:cNvPr id="5" name="Text 3"/>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11</a:t>
            </a:r>
            <a:endParaRPr lang="en-US" sz="1000" dirty="0"/>
          </a:p>
        </p:txBody>
      </p:sp>
      <p:sp>
        <p:nvSpPr>
          <p:cNvPr id="6" name="Text 4"/>
          <p:cNvSpPr/>
          <p:nvPr/>
        </p:nvSpPr>
        <p:spPr>
          <a:xfrm>
            <a:off x="502920" y="1600200"/>
            <a:ext cx="5486400" cy="274320"/>
          </a:xfrm>
          <a:prstGeom prst="rect">
            <a:avLst/>
          </a:prstGeom>
          <a:noFill/>
          <a:ln/>
        </p:spPr>
        <p:txBody>
          <a:bodyPr wrap="square" lIns="0" tIns="0" rIns="0" bIns="0" rtlCol="0" anchor="t"/>
          <a:lstStyle/>
          <a:p>
            <a:pPr indent="0" marL="0">
              <a:buNone/>
            </a:pPr>
            <a:r>
              <a:rPr lang="en-US" sz="1200" b="1" dirty="0">
                <a:solidFill>
                  <a:srgbClr val="56636E"/>
                </a:solidFill>
                <a:latin typeface="BIZ UDPGothic" pitchFamily="34" charset="0"/>
                <a:ea typeface="BIZ UDPGothic" pitchFamily="34" charset="-122"/>
                <a:cs typeface="BIZ UDPGothic" pitchFamily="34" charset="-120"/>
              </a:rPr>
              <a:t>文書の優先関係（TEIの例。他製品も同じ考え方）</a:t>
            </a:r>
            <a:endParaRPr lang="en-US" sz="1200" dirty="0"/>
          </a:p>
        </p:txBody>
      </p:sp>
      <p:sp>
        <p:nvSpPr>
          <p:cNvPr id="7" name="Shape 5"/>
          <p:cNvSpPr/>
          <p:nvPr/>
        </p:nvSpPr>
        <p:spPr>
          <a:xfrm>
            <a:off x="502920" y="1920240"/>
            <a:ext cx="5120640" cy="457200"/>
          </a:xfrm>
          <a:prstGeom prst="rect">
            <a:avLst/>
          </a:prstGeom>
          <a:solidFill>
            <a:srgbClr val="243D54"/>
          </a:solidFill>
          <a:ln/>
        </p:spPr>
      </p:sp>
      <p:sp>
        <p:nvSpPr>
          <p:cNvPr id="8" name="Text 6"/>
          <p:cNvSpPr/>
          <p:nvPr/>
        </p:nvSpPr>
        <p:spPr>
          <a:xfrm>
            <a:off x="502920" y="1920240"/>
            <a:ext cx="5120640" cy="457200"/>
          </a:xfrm>
          <a:prstGeom prst="rect">
            <a:avLst/>
          </a:prstGeom>
          <a:noFill/>
          <a:ln/>
        </p:spPr>
        <p:txBody>
          <a:bodyPr wrap="square" lIns="0" tIns="0" rIns="0" bIns="0" rtlCol="0" anchor="ctr"/>
          <a:lstStyle/>
          <a:p>
            <a:pPr algn="ctr" indent="0" marL="0">
              <a:buNone/>
            </a:pPr>
            <a:r>
              <a:rPr lang="en-US" sz="1300" b="1" dirty="0">
                <a:solidFill>
                  <a:srgbClr val="F5F1E8"/>
                </a:solidFill>
                <a:latin typeface="BIZ UDPGothic" pitchFamily="34" charset="0"/>
                <a:ea typeface="BIZ UDPGothic" pitchFamily="34" charset="-122"/>
                <a:cs typeface="BIZ UDPGothic" pitchFamily="34" charset="-120"/>
              </a:rPr>
              <a:t>製品の価値</a:t>
            </a:r>
            <a:endParaRPr lang="en-US" sz="1300" dirty="0"/>
          </a:p>
        </p:txBody>
      </p:sp>
      <p:sp>
        <p:nvSpPr>
          <p:cNvPr id="9" name="Shape 7"/>
          <p:cNvSpPr/>
          <p:nvPr/>
        </p:nvSpPr>
        <p:spPr>
          <a:xfrm>
            <a:off x="662940" y="2468880"/>
            <a:ext cx="4800600" cy="457200"/>
          </a:xfrm>
          <a:prstGeom prst="rect">
            <a:avLst/>
          </a:prstGeom>
          <a:solidFill>
            <a:srgbClr val="243D54"/>
          </a:solidFill>
          <a:ln/>
        </p:spPr>
      </p:sp>
      <p:sp>
        <p:nvSpPr>
          <p:cNvPr id="10" name="Text 8"/>
          <p:cNvSpPr/>
          <p:nvPr/>
        </p:nvSpPr>
        <p:spPr>
          <a:xfrm>
            <a:off x="662940" y="2468880"/>
            <a:ext cx="4800600" cy="457200"/>
          </a:xfrm>
          <a:prstGeom prst="rect">
            <a:avLst/>
          </a:prstGeom>
          <a:noFill/>
          <a:ln/>
        </p:spPr>
        <p:txBody>
          <a:bodyPr wrap="square" lIns="0" tIns="0" rIns="0" bIns="0" rtlCol="0" anchor="ctr"/>
          <a:lstStyle/>
          <a:p>
            <a:pPr algn="ctr" indent="0" marL="0">
              <a:buNone/>
            </a:pPr>
            <a:r>
              <a:rPr lang="en-US" sz="1300" b="1" dirty="0">
                <a:solidFill>
                  <a:srgbClr val="F5F1E8"/>
                </a:solidFill>
                <a:latin typeface="BIZ UDPGothic" pitchFamily="34" charset="0"/>
                <a:ea typeface="BIZ UDPGothic" pitchFamily="34" charset="-122"/>
                <a:cs typeface="BIZ UDPGothic" pitchFamily="34" charset="-120"/>
              </a:rPr>
              <a:t>将来像</a:t>
            </a:r>
            <a:endParaRPr lang="en-US" sz="1300" dirty="0"/>
          </a:p>
        </p:txBody>
      </p:sp>
      <p:sp>
        <p:nvSpPr>
          <p:cNvPr id="11" name="Shape 9"/>
          <p:cNvSpPr/>
          <p:nvPr/>
        </p:nvSpPr>
        <p:spPr>
          <a:xfrm>
            <a:off x="822960" y="3017520"/>
            <a:ext cx="4480560" cy="457200"/>
          </a:xfrm>
          <a:prstGeom prst="rect">
            <a:avLst/>
          </a:prstGeom>
          <a:solidFill>
            <a:srgbClr val="243D54"/>
          </a:solidFill>
          <a:ln/>
        </p:spPr>
      </p:sp>
      <p:sp>
        <p:nvSpPr>
          <p:cNvPr id="12" name="Text 10"/>
          <p:cNvSpPr/>
          <p:nvPr/>
        </p:nvSpPr>
        <p:spPr>
          <a:xfrm>
            <a:off x="822960" y="3017520"/>
            <a:ext cx="4480560" cy="457200"/>
          </a:xfrm>
          <a:prstGeom prst="rect">
            <a:avLst/>
          </a:prstGeom>
          <a:noFill/>
          <a:ln/>
        </p:spPr>
        <p:txBody>
          <a:bodyPr wrap="square" lIns="0" tIns="0" rIns="0" bIns="0" rtlCol="0" anchor="ctr"/>
          <a:lstStyle/>
          <a:p>
            <a:pPr algn="ctr" indent="0" marL="0">
              <a:buNone/>
            </a:pPr>
            <a:r>
              <a:rPr lang="en-US" sz="1300" b="1" dirty="0">
                <a:solidFill>
                  <a:srgbClr val="F5F1E8"/>
                </a:solidFill>
                <a:latin typeface="BIZ UDPGothic" pitchFamily="34" charset="0"/>
                <a:ea typeface="BIZ UDPGothic" pitchFamily="34" charset="-122"/>
                <a:cs typeface="BIZ UDPGothic" pitchFamily="34" charset="-120"/>
              </a:rPr>
              <a:t>設計の原則</a:t>
            </a:r>
            <a:endParaRPr lang="en-US" sz="1300" dirty="0"/>
          </a:p>
        </p:txBody>
      </p:sp>
      <p:sp>
        <p:nvSpPr>
          <p:cNvPr id="13" name="Shape 11"/>
          <p:cNvSpPr/>
          <p:nvPr/>
        </p:nvSpPr>
        <p:spPr>
          <a:xfrm>
            <a:off x="982980" y="3566160"/>
            <a:ext cx="4160520" cy="457200"/>
          </a:xfrm>
          <a:prstGeom prst="rect">
            <a:avLst/>
          </a:prstGeom>
          <a:solidFill>
            <a:srgbClr val="2E4C66"/>
          </a:solidFill>
          <a:ln/>
        </p:spPr>
      </p:sp>
      <p:sp>
        <p:nvSpPr>
          <p:cNvPr id="14" name="Text 12"/>
          <p:cNvSpPr/>
          <p:nvPr/>
        </p:nvSpPr>
        <p:spPr>
          <a:xfrm>
            <a:off x="982980" y="3566160"/>
            <a:ext cx="4160520" cy="457200"/>
          </a:xfrm>
          <a:prstGeom prst="rect">
            <a:avLst/>
          </a:prstGeom>
          <a:noFill/>
          <a:ln/>
        </p:spPr>
        <p:txBody>
          <a:bodyPr wrap="square" lIns="0" tIns="0" rIns="0" bIns="0" rtlCol="0" anchor="ctr"/>
          <a:lstStyle/>
          <a:p>
            <a:pPr algn="ctr" indent="0" marL="0">
              <a:buNone/>
            </a:pPr>
            <a:r>
              <a:rPr lang="en-US" sz="1300" b="1" dirty="0">
                <a:solidFill>
                  <a:srgbClr val="F5F1E8"/>
                </a:solidFill>
                <a:latin typeface="BIZ UDPGothic" pitchFamily="34" charset="0"/>
                <a:ea typeface="BIZ UDPGothic" pitchFamily="34" charset="-122"/>
                <a:cs typeface="BIZ UDPGothic" pitchFamily="34" charset="-120"/>
              </a:rPr>
              <a:t>製品要求</a:t>
            </a:r>
            <a:endParaRPr lang="en-US" sz="1300" dirty="0"/>
          </a:p>
        </p:txBody>
      </p:sp>
      <p:sp>
        <p:nvSpPr>
          <p:cNvPr id="15" name="Shape 13"/>
          <p:cNvSpPr/>
          <p:nvPr/>
        </p:nvSpPr>
        <p:spPr>
          <a:xfrm>
            <a:off x="1143000" y="4114800"/>
            <a:ext cx="3840480" cy="457200"/>
          </a:xfrm>
          <a:prstGeom prst="rect">
            <a:avLst/>
          </a:prstGeom>
          <a:solidFill>
            <a:srgbClr val="2E4C66"/>
          </a:solidFill>
          <a:ln/>
        </p:spPr>
      </p:sp>
      <p:sp>
        <p:nvSpPr>
          <p:cNvPr id="16" name="Text 14"/>
          <p:cNvSpPr/>
          <p:nvPr/>
        </p:nvSpPr>
        <p:spPr>
          <a:xfrm>
            <a:off x="1143000" y="4114800"/>
            <a:ext cx="3840480" cy="457200"/>
          </a:xfrm>
          <a:prstGeom prst="rect">
            <a:avLst/>
          </a:prstGeom>
          <a:noFill/>
          <a:ln/>
        </p:spPr>
        <p:txBody>
          <a:bodyPr wrap="square" lIns="0" tIns="0" rIns="0" bIns="0" rtlCol="0" anchor="ctr"/>
          <a:lstStyle/>
          <a:p>
            <a:pPr algn="ctr" indent="0" marL="0">
              <a:buNone/>
            </a:pPr>
            <a:r>
              <a:rPr lang="en-US" sz="1300" b="1" dirty="0">
                <a:solidFill>
                  <a:srgbClr val="F5F1E8"/>
                </a:solidFill>
                <a:latin typeface="BIZ UDPGothic" pitchFamily="34" charset="0"/>
                <a:ea typeface="BIZ UDPGothic" pitchFamily="34" charset="-122"/>
                <a:cs typeface="BIZ UDPGothic" pitchFamily="34" charset="-120"/>
              </a:rPr>
              <a:t>設計判断・課題</a:t>
            </a:r>
            <a:endParaRPr lang="en-US" sz="1300" dirty="0"/>
          </a:p>
        </p:txBody>
      </p:sp>
      <p:sp>
        <p:nvSpPr>
          <p:cNvPr id="17" name="Shape 15"/>
          <p:cNvSpPr/>
          <p:nvPr/>
        </p:nvSpPr>
        <p:spPr>
          <a:xfrm>
            <a:off x="1303020" y="4663440"/>
            <a:ext cx="3520440" cy="457200"/>
          </a:xfrm>
          <a:prstGeom prst="rect">
            <a:avLst/>
          </a:prstGeom>
          <a:solidFill>
            <a:srgbClr val="5C7389"/>
          </a:solidFill>
          <a:ln/>
        </p:spPr>
      </p:sp>
      <p:sp>
        <p:nvSpPr>
          <p:cNvPr id="18" name="Text 16"/>
          <p:cNvSpPr/>
          <p:nvPr/>
        </p:nvSpPr>
        <p:spPr>
          <a:xfrm>
            <a:off x="1303020" y="4663440"/>
            <a:ext cx="3520440" cy="457200"/>
          </a:xfrm>
          <a:prstGeom prst="rect">
            <a:avLst/>
          </a:prstGeom>
          <a:noFill/>
          <a:ln/>
        </p:spPr>
        <p:txBody>
          <a:bodyPr wrap="square" lIns="0" tIns="0" rIns="0" bIns="0" rtlCol="0" anchor="ctr"/>
          <a:lstStyle/>
          <a:p>
            <a:pPr algn="ctr" indent="0" marL="0">
              <a:buNone/>
            </a:pPr>
            <a:r>
              <a:rPr lang="en-US" sz="1300" b="1" dirty="0">
                <a:solidFill>
                  <a:srgbClr val="F5F1E8"/>
                </a:solidFill>
                <a:latin typeface="BIZ UDPGothic" pitchFamily="34" charset="0"/>
                <a:ea typeface="BIZ UDPGothic" pitchFamily="34" charset="-122"/>
                <a:cs typeface="BIZ UDPGothic" pitchFamily="34" charset="-120"/>
              </a:rPr>
              <a:t>構成・詳細設計</a:t>
            </a:r>
            <a:endParaRPr lang="en-US" sz="1300" dirty="0"/>
          </a:p>
        </p:txBody>
      </p:sp>
      <p:sp>
        <p:nvSpPr>
          <p:cNvPr id="19" name="Shape 17"/>
          <p:cNvSpPr/>
          <p:nvPr/>
        </p:nvSpPr>
        <p:spPr>
          <a:xfrm>
            <a:off x="1463040" y="5212080"/>
            <a:ext cx="3200400" cy="457200"/>
          </a:xfrm>
          <a:prstGeom prst="rect">
            <a:avLst/>
          </a:prstGeom>
          <a:solidFill>
            <a:srgbClr val="5C7389"/>
          </a:solidFill>
          <a:ln/>
        </p:spPr>
      </p:sp>
      <p:sp>
        <p:nvSpPr>
          <p:cNvPr id="20" name="Text 18"/>
          <p:cNvSpPr/>
          <p:nvPr/>
        </p:nvSpPr>
        <p:spPr>
          <a:xfrm>
            <a:off x="1463040" y="5212080"/>
            <a:ext cx="3200400" cy="457200"/>
          </a:xfrm>
          <a:prstGeom prst="rect">
            <a:avLst/>
          </a:prstGeom>
          <a:noFill/>
          <a:ln/>
        </p:spPr>
        <p:txBody>
          <a:bodyPr wrap="square" lIns="0" tIns="0" rIns="0" bIns="0" rtlCol="0" anchor="ctr"/>
          <a:lstStyle/>
          <a:p>
            <a:pPr algn="ctr" indent="0" marL="0">
              <a:buNone/>
            </a:pPr>
            <a:r>
              <a:rPr lang="en-US" sz="1300" b="1" dirty="0">
                <a:solidFill>
                  <a:srgbClr val="F5F1E8"/>
                </a:solidFill>
                <a:latin typeface="BIZ UDPGothic" pitchFamily="34" charset="0"/>
                <a:ea typeface="BIZ UDPGothic" pitchFamily="34" charset="-122"/>
                <a:cs typeface="BIZ UDPGothic" pitchFamily="34" charset="-120"/>
              </a:rPr>
              <a:t>実装・試験・検証の根拠</a:t>
            </a:r>
            <a:endParaRPr lang="en-US" sz="1300" dirty="0"/>
          </a:p>
        </p:txBody>
      </p:sp>
      <p:sp>
        <p:nvSpPr>
          <p:cNvPr id="21" name="Text 19"/>
          <p:cNvSpPr/>
          <p:nvPr/>
        </p:nvSpPr>
        <p:spPr>
          <a:xfrm>
            <a:off x="502920" y="5852160"/>
            <a:ext cx="5120640" cy="274320"/>
          </a:xfrm>
          <a:prstGeom prst="rect">
            <a:avLst/>
          </a:prstGeom>
          <a:noFill/>
          <a:ln/>
        </p:spPr>
        <p:txBody>
          <a:bodyPr wrap="square" lIns="0" tIns="0" rIns="0" bIns="0" rtlCol="0" anchor="t"/>
          <a:lstStyle/>
          <a:p>
            <a:pPr algn="ctr" indent="0" marL="0">
              <a:buNone/>
            </a:pPr>
            <a:r>
              <a:rPr lang="en-US" sz="1100" dirty="0">
                <a:solidFill>
                  <a:srgbClr val="56636E"/>
                </a:solidFill>
                <a:latin typeface="BIZ UDPGothic" pitchFamily="34" charset="0"/>
                <a:ea typeface="BIZ UDPGothic" pitchFamily="34" charset="-122"/>
                <a:cs typeface="BIZ UDPGothic" pitchFamily="34" charset="-120"/>
              </a:rPr>
              <a:t>上の文書ほど優先。実装の都合で上位の意味を黙って変えない。</a:t>
            </a:r>
            <a:endParaRPr lang="en-US" sz="1100" dirty="0"/>
          </a:p>
        </p:txBody>
      </p:sp>
      <p:sp>
        <p:nvSpPr>
          <p:cNvPr id="22" name="Shape 20"/>
          <p:cNvSpPr/>
          <p:nvPr/>
        </p:nvSpPr>
        <p:spPr>
          <a:xfrm>
            <a:off x="6035040" y="1627632"/>
            <a:ext cx="5653735" cy="667512"/>
          </a:xfrm>
          <a:prstGeom prst="rect">
            <a:avLst/>
          </a:prstGeom>
          <a:solidFill>
            <a:srgbClr val="FFFFFF"/>
          </a:solidFill>
          <a:ln w="9525">
            <a:solidFill>
              <a:srgbClr val="DCD5C6"/>
            </a:solidFill>
            <a:prstDash val="solid"/>
          </a:ln>
        </p:spPr>
      </p:sp>
      <p:sp>
        <p:nvSpPr>
          <p:cNvPr id="23" name="Shape 21"/>
          <p:cNvSpPr/>
          <p:nvPr/>
        </p:nvSpPr>
        <p:spPr>
          <a:xfrm>
            <a:off x="6035040" y="1627632"/>
            <a:ext cx="54864" cy="667512"/>
          </a:xfrm>
          <a:prstGeom prst="rect">
            <a:avLst/>
          </a:prstGeom>
          <a:solidFill>
            <a:srgbClr val="C4A06D"/>
          </a:solidFill>
          <a:ln/>
        </p:spPr>
      </p:sp>
      <p:sp>
        <p:nvSpPr>
          <p:cNvPr id="24" name="Text 22"/>
          <p:cNvSpPr/>
          <p:nvPr/>
        </p:nvSpPr>
        <p:spPr>
          <a:xfrm>
            <a:off x="6236208" y="1691640"/>
            <a:ext cx="5333695" cy="274320"/>
          </a:xfrm>
          <a:prstGeom prst="rect">
            <a:avLst/>
          </a:prstGeom>
          <a:noFill/>
          <a:ln/>
        </p:spPr>
        <p:txBody>
          <a:bodyPr wrap="square" lIns="0" tIns="0" rIns="0" bIns="0" rtlCol="0" anchor="t"/>
          <a:lstStyle/>
          <a:p>
            <a:pPr indent="0" marL="0">
              <a:buNone/>
            </a:pPr>
            <a:r>
              <a:rPr lang="en-US" sz="1250" b="1" dirty="0">
                <a:solidFill>
                  <a:srgbClr val="243D54"/>
                </a:solidFill>
                <a:latin typeface="BIZ UDPGothic" pitchFamily="34" charset="0"/>
                <a:ea typeface="BIZ UDPGothic" pitchFamily="34" charset="-122"/>
                <a:cs typeface="BIZ UDPGothic" pitchFamily="34" charset="-120"/>
              </a:rPr>
              <a:t>実行できなかった検査を合格に読み替えない</a:t>
            </a:r>
            <a:endParaRPr lang="en-US" sz="1250" dirty="0"/>
          </a:p>
        </p:txBody>
      </p:sp>
      <p:sp>
        <p:nvSpPr>
          <p:cNvPr id="25" name="Text 23"/>
          <p:cNvSpPr/>
          <p:nvPr/>
        </p:nvSpPr>
        <p:spPr>
          <a:xfrm>
            <a:off x="6236208" y="1975104"/>
            <a:ext cx="5333695" cy="274320"/>
          </a:xfrm>
          <a:prstGeom prst="rect">
            <a:avLst/>
          </a:prstGeom>
          <a:noFill/>
          <a:ln/>
        </p:spPr>
        <p:txBody>
          <a:bodyPr wrap="square" lIns="0" tIns="0" rIns="0" bIns="0" rtlCol="0" anchor="t"/>
          <a:lstStyle/>
          <a:p>
            <a:pPr indent="0" marL="0">
              <a:buNone/>
            </a:pPr>
            <a:r>
              <a:rPr lang="en-US" sz="1050" dirty="0">
                <a:solidFill>
                  <a:srgbClr val="56636E"/>
                </a:solidFill>
                <a:latin typeface="BIZ UDPGothic" pitchFamily="34" charset="0"/>
                <a:ea typeface="BIZ UDPGothic" pitchFamily="34" charset="-122"/>
                <a:cs typeface="BIZ UDPGothic" pitchFamily="34" charset="-120"/>
              </a:rPr>
              <a:t>未実行なら「未検証」として扱う（SEIの公開判定）</a:t>
            </a:r>
            <a:endParaRPr lang="en-US" sz="1050" dirty="0"/>
          </a:p>
        </p:txBody>
      </p:sp>
      <p:sp>
        <p:nvSpPr>
          <p:cNvPr id="26" name="Shape 24"/>
          <p:cNvSpPr/>
          <p:nvPr/>
        </p:nvSpPr>
        <p:spPr>
          <a:xfrm>
            <a:off x="6035040" y="2386584"/>
            <a:ext cx="5653735" cy="667512"/>
          </a:xfrm>
          <a:prstGeom prst="rect">
            <a:avLst/>
          </a:prstGeom>
          <a:solidFill>
            <a:srgbClr val="FFFFFF"/>
          </a:solidFill>
          <a:ln w="9525">
            <a:solidFill>
              <a:srgbClr val="DCD5C6"/>
            </a:solidFill>
            <a:prstDash val="solid"/>
          </a:ln>
        </p:spPr>
      </p:sp>
      <p:sp>
        <p:nvSpPr>
          <p:cNvPr id="27" name="Shape 25"/>
          <p:cNvSpPr/>
          <p:nvPr/>
        </p:nvSpPr>
        <p:spPr>
          <a:xfrm>
            <a:off x="6035040" y="2386584"/>
            <a:ext cx="54864" cy="667512"/>
          </a:xfrm>
          <a:prstGeom prst="rect">
            <a:avLst/>
          </a:prstGeom>
          <a:solidFill>
            <a:srgbClr val="C4A06D"/>
          </a:solidFill>
          <a:ln/>
        </p:spPr>
      </p:sp>
      <p:sp>
        <p:nvSpPr>
          <p:cNvPr id="28" name="Text 26"/>
          <p:cNvSpPr/>
          <p:nvPr/>
        </p:nvSpPr>
        <p:spPr>
          <a:xfrm>
            <a:off x="6236208" y="2450592"/>
            <a:ext cx="5333695" cy="274320"/>
          </a:xfrm>
          <a:prstGeom prst="rect">
            <a:avLst/>
          </a:prstGeom>
          <a:noFill/>
          <a:ln/>
        </p:spPr>
        <p:txBody>
          <a:bodyPr wrap="square" lIns="0" tIns="0" rIns="0" bIns="0" rtlCol="0" anchor="t"/>
          <a:lstStyle/>
          <a:p>
            <a:pPr indent="0" marL="0">
              <a:buNone/>
            </a:pPr>
            <a:r>
              <a:rPr lang="en-US" sz="1250" b="1" dirty="0">
                <a:solidFill>
                  <a:srgbClr val="243D54"/>
                </a:solidFill>
                <a:latin typeface="BIZ UDPGothic" pitchFamily="34" charset="0"/>
                <a:ea typeface="BIZ UDPGothic" pitchFamily="34" charset="-122"/>
                <a:cs typeface="BIZ UDPGothic" pitchFamily="34" charset="-120"/>
              </a:rPr>
              <a:t>合格は、その時点で固定した版に対するもの</a:t>
            </a:r>
            <a:endParaRPr lang="en-US" sz="1250" dirty="0"/>
          </a:p>
        </p:txBody>
      </p:sp>
      <p:sp>
        <p:nvSpPr>
          <p:cNvPr id="29" name="Text 27"/>
          <p:cNvSpPr/>
          <p:nvPr/>
        </p:nvSpPr>
        <p:spPr>
          <a:xfrm>
            <a:off x="6236208" y="2734056"/>
            <a:ext cx="5333695" cy="274320"/>
          </a:xfrm>
          <a:prstGeom prst="rect">
            <a:avLst/>
          </a:prstGeom>
          <a:noFill/>
          <a:ln/>
        </p:spPr>
        <p:txBody>
          <a:bodyPr wrap="square" lIns="0" tIns="0" rIns="0" bIns="0" rtlCol="0" anchor="t"/>
          <a:lstStyle/>
          <a:p>
            <a:pPr indent="0" marL="0">
              <a:buNone/>
            </a:pPr>
            <a:r>
              <a:rPr lang="en-US" sz="1050" dirty="0">
                <a:solidFill>
                  <a:srgbClr val="56636E"/>
                </a:solidFill>
                <a:latin typeface="BIZ UDPGothic" pitchFamily="34" charset="0"/>
                <a:ea typeface="BIZ UDPGothic" pitchFamily="34" charset="-122"/>
                <a:cs typeface="BIZ UDPGothic" pitchFamily="34" charset="-120"/>
              </a:rPr>
              <a:t>今の版や別の実行先が自動的に合格になるわけではない（TEIの判定段階）</a:t>
            </a:r>
            <a:endParaRPr lang="en-US" sz="1050" dirty="0"/>
          </a:p>
        </p:txBody>
      </p:sp>
      <p:sp>
        <p:nvSpPr>
          <p:cNvPr id="30" name="Shape 28"/>
          <p:cNvSpPr/>
          <p:nvPr/>
        </p:nvSpPr>
        <p:spPr>
          <a:xfrm>
            <a:off x="6035040" y="3145536"/>
            <a:ext cx="5653735" cy="667512"/>
          </a:xfrm>
          <a:prstGeom prst="rect">
            <a:avLst/>
          </a:prstGeom>
          <a:solidFill>
            <a:srgbClr val="FFFFFF"/>
          </a:solidFill>
          <a:ln w="9525">
            <a:solidFill>
              <a:srgbClr val="DCD5C6"/>
            </a:solidFill>
            <a:prstDash val="solid"/>
          </a:ln>
        </p:spPr>
      </p:sp>
      <p:sp>
        <p:nvSpPr>
          <p:cNvPr id="31" name="Shape 29"/>
          <p:cNvSpPr/>
          <p:nvPr/>
        </p:nvSpPr>
        <p:spPr>
          <a:xfrm>
            <a:off x="6035040" y="3145536"/>
            <a:ext cx="54864" cy="667512"/>
          </a:xfrm>
          <a:prstGeom prst="rect">
            <a:avLst/>
          </a:prstGeom>
          <a:solidFill>
            <a:srgbClr val="C4A06D"/>
          </a:solidFill>
          <a:ln/>
        </p:spPr>
      </p:sp>
      <p:sp>
        <p:nvSpPr>
          <p:cNvPr id="32" name="Text 30"/>
          <p:cNvSpPr/>
          <p:nvPr/>
        </p:nvSpPr>
        <p:spPr>
          <a:xfrm>
            <a:off x="6236208" y="3209544"/>
            <a:ext cx="5333695" cy="274320"/>
          </a:xfrm>
          <a:prstGeom prst="rect">
            <a:avLst/>
          </a:prstGeom>
          <a:noFill/>
          <a:ln/>
        </p:spPr>
        <p:txBody>
          <a:bodyPr wrap="square" lIns="0" tIns="0" rIns="0" bIns="0" rtlCol="0" anchor="t"/>
          <a:lstStyle/>
          <a:p>
            <a:pPr indent="0" marL="0">
              <a:buNone/>
            </a:pPr>
            <a:r>
              <a:rPr lang="en-US" sz="1250" b="1" dirty="0">
                <a:solidFill>
                  <a:srgbClr val="243D54"/>
                </a:solidFill>
                <a:latin typeface="BIZ UDPGothic" pitchFamily="34" charset="0"/>
                <a:ea typeface="BIZ UDPGothic" pitchFamily="34" charset="-122"/>
                <a:cs typeface="BIZ UDPGothic" pitchFamily="34" charset="-120"/>
              </a:rPr>
              <a:t>受付と完了、返却と正しさを分ける</a:t>
            </a:r>
            <a:endParaRPr lang="en-US" sz="1250" dirty="0"/>
          </a:p>
        </p:txBody>
      </p:sp>
      <p:sp>
        <p:nvSpPr>
          <p:cNvPr id="33" name="Text 31"/>
          <p:cNvSpPr/>
          <p:nvPr/>
        </p:nvSpPr>
        <p:spPr>
          <a:xfrm>
            <a:off x="6236208" y="3493008"/>
            <a:ext cx="5333695" cy="274320"/>
          </a:xfrm>
          <a:prstGeom prst="rect">
            <a:avLst/>
          </a:prstGeom>
          <a:noFill/>
          <a:ln/>
        </p:spPr>
        <p:txBody>
          <a:bodyPr wrap="square" lIns="0" tIns="0" rIns="0" bIns="0" rtlCol="0" anchor="t"/>
          <a:lstStyle/>
          <a:p>
            <a:pPr indent="0" marL="0">
              <a:buNone/>
            </a:pPr>
            <a:r>
              <a:rPr lang="en-US" sz="1050" dirty="0">
                <a:solidFill>
                  <a:srgbClr val="56636E"/>
                </a:solidFill>
                <a:latin typeface="BIZ UDPGothic" pitchFamily="34" charset="0"/>
                <a:ea typeface="BIZ UDPGothic" pitchFamily="34" charset="-122"/>
                <a:cs typeface="BIZ UDPGothic" pitchFamily="34" charset="-120"/>
              </a:rPr>
              <a:t>受付済みは実行の完了ではない（EKI）</a:t>
            </a:r>
            <a:endParaRPr lang="en-US" sz="1050" dirty="0"/>
          </a:p>
        </p:txBody>
      </p:sp>
      <p:sp>
        <p:nvSpPr>
          <p:cNvPr id="34" name="Shape 32"/>
          <p:cNvSpPr/>
          <p:nvPr/>
        </p:nvSpPr>
        <p:spPr>
          <a:xfrm>
            <a:off x="6035040" y="3904488"/>
            <a:ext cx="5653735" cy="667512"/>
          </a:xfrm>
          <a:prstGeom prst="rect">
            <a:avLst/>
          </a:prstGeom>
          <a:solidFill>
            <a:srgbClr val="FFFFFF"/>
          </a:solidFill>
          <a:ln w="9525">
            <a:solidFill>
              <a:srgbClr val="DCD5C6"/>
            </a:solidFill>
            <a:prstDash val="solid"/>
          </a:ln>
        </p:spPr>
      </p:sp>
      <p:sp>
        <p:nvSpPr>
          <p:cNvPr id="35" name="Shape 33"/>
          <p:cNvSpPr/>
          <p:nvPr/>
        </p:nvSpPr>
        <p:spPr>
          <a:xfrm>
            <a:off x="6035040" y="3904488"/>
            <a:ext cx="54864" cy="667512"/>
          </a:xfrm>
          <a:prstGeom prst="rect">
            <a:avLst/>
          </a:prstGeom>
          <a:solidFill>
            <a:srgbClr val="C4A06D"/>
          </a:solidFill>
          <a:ln/>
        </p:spPr>
      </p:sp>
      <p:sp>
        <p:nvSpPr>
          <p:cNvPr id="36" name="Text 34"/>
          <p:cNvSpPr/>
          <p:nvPr/>
        </p:nvSpPr>
        <p:spPr>
          <a:xfrm>
            <a:off x="6236208" y="3968496"/>
            <a:ext cx="5333695" cy="274320"/>
          </a:xfrm>
          <a:prstGeom prst="rect">
            <a:avLst/>
          </a:prstGeom>
          <a:noFill/>
          <a:ln/>
        </p:spPr>
        <p:txBody>
          <a:bodyPr wrap="square" lIns="0" tIns="0" rIns="0" bIns="0" rtlCol="0" anchor="t"/>
          <a:lstStyle/>
          <a:p>
            <a:pPr indent="0" marL="0">
              <a:buNone/>
            </a:pPr>
            <a:r>
              <a:rPr lang="en-US" sz="1250" b="1" dirty="0">
                <a:solidFill>
                  <a:srgbClr val="243D54"/>
                </a:solidFill>
                <a:latin typeface="BIZ UDPGothic" pitchFamily="34" charset="0"/>
                <a:ea typeface="BIZ UDPGothic" pitchFamily="34" charset="-122"/>
                <a:cs typeface="BIZ UDPGothic" pitchFamily="34" charset="-120"/>
              </a:rPr>
              <a:t>表示しやすい形は、意味の正本ではない</a:t>
            </a:r>
            <a:endParaRPr lang="en-US" sz="1250" dirty="0"/>
          </a:p>
        </p:txBody>
      </p:sp>
      <p:sp>
        <p:nvSpPr>
          <p:cNvPr id="37" name="Text 35"/>
          <p:cNvSpPr/>
          <p:nvPr/>
        </p:nvSpPr>
        <p:spPr>
          <a:xfrm>
            <a:off x="6236208" y="4251960"/>
            <a:ext cx="5333695" cy="274320"/>
          </a:xfrm>
          <a:prstGeom prst="rect">
            <a:avLst/>
          </a:prstGeom>
          <a:noFill/>
          <a:ln/>
        </p:spPr>
        <p:txBody>
          <a:bodyPr wrap="square" lIns="0" tIns="0" rIns="0" bIns="0" rtlCol="0" anchor="t"/>
          <a:lstStyle/>
          <a:p>
            <a:pPr indent="0" marL="0">
              <a:buNone/>
            </a:pPr>
            <a:r>
              <a:rPr lang="en-US" sz="1050" dirty="0">
                <a:solidFill>
                  <a:srgbClr val="56636E"/>
                </a:solidFill>
                <a:latin typeface="BIZ UDPGothic" pitchFamily="34" charset="0"/>
                <a:ea typeface="BIZ UDPGothic" pitchFamily="34" charset="-122"/>
                <a:cs typeface="BIZ UDPGothic" pitchFamily="34" charset="-120"/>
              </a:rPr>
              <a:t>整えた表示と正本を別に管理する（SEI）</a:t>
            </a:r>
            <a:endParaRPr lang="en-US" sz="1050" dirty="0"/>
          </a:p>
        </p:txBody>
      </p:sp>
      <p:sp>
        <p:nvSpPr>
          <p:cNvPr id="38" name="Shape 36"/>
          <p:cNvSpPr/>
          <p:nvPr/>
        </p:nvSpPr>
        <p:spPr>
          <a:xfrm>
            <a:off x="6035040" y="4663440"/>
            <a:ext cx="5653735" cy="667512"/>
          </a:xfrm>
          <a:prstGeom prst="rect">
            <a:avLst/>
          </a:prstGeom>
          <a:solidFill>
            <a:srgbClr val="FFFFFF"/>
          </a:solidFill>
          <a:ln w="9525">
            <a:solidFill>
              <a:srgbClr val="DCD5C6"/>
            </a:solidFill>
            <a:prstDash val="solid"/>
          </a:ln>
        </p:spPr>
      </p:sp>
      <p:sp>
        <p:nvSpPr>
          <p:cNvPr id="39" name="Shape 37"/>
          <p:cNvSpPr/>
          <p:nvPr/>
        </p:nvSpPr>
        <p:spPr>
          <a:xfrm>
            <a:off x="6035040" y="4663440"/>
            <a:ext cx="54864" cy="667512"/>
          </a:xfrm>
          <a:prstGeom prst="rect">
            <a:avLst/>
          </a:prstGeom>
          <a:solidFill>
            <a:srgbClr val="C4A06D"/>
          </a:solidFill>
          <a:ln/>
        </p:spPr>
      </p:sp>
      <p:sp>
        <p:nvSpPr>
          <p:cNvPr id="40" name="Text 38"/>
          <p:cNvSpPr/>
          <p:nvPr/>
        </p:nvSpPr>
        <p:spPr>
          <a:xfrm>
            <a:off x="6236208" y="4727448"/>
            <a:ext cx="5333695" cy="274320"/>
          </a:xfrm>
          <a:prstGeom prst="rect">
            <a:avLst/>
          </a:prstGeom>
          <a:noFill/>
          <a:ln/>
        </p:spPr>
        <p:txBody>
          <a:bodyPr wrap="square" lIns="0" tIns="0" rIns="0" bIns="0" rtlCol="0" anchor="t"/>
          <a:lstStyle/>
          <a:p>
            <a:pPr indent="0" marL="0">
              <a:buNone/>
            </a:pPr>
            <a:r>
              <a:rPr lang="en-US" sz="1250" b="1" dirty="0">
                <a:solidFill>
                  <a:srgbClr val="243D54"/>
                </a:solidFill>
                <a:latin typeface="BIZ UDPGothic" pitchFamily="34" charset="0"/>
                <a:ea typeface="BIZ UDPGothic" pitchFamily="34" charset="-122"/>
                <a:cs typeface="BIZ UDPGothic" pitchFamily="34" charset="-120"/>
              </a:rPr>
              <a:t>分からない、と、否定された、を分ける</a:t>
            </a:r>
            <a:endParaRPr lang="en-US" sz="1250" dirty="0"/>
          </a:p>
        </p:txBody>
      </p:sp>
      <p:sp>
        <p:nvSpPr>
          <p:cNvPr id="41" name="Text 39"/>
          <p:cNvSpPr/>
          <p:nvPr/>
        </p:nvSpPr>
        <p:spPr>
          <a:xfrm>
            <a:off x="6236208" y="5010912"/>
            <a:ext cx="5333695" cy="274320"/>
          </a:xfrm>
          <a:prstGeom prst="rect">
            <a:avLst/>
          </a:prstGeom>
          <a:noFill/>
          <a:ln/>
        </p:spPr>
        <p:txBody>
          <a:bodyPr wrap="square" lIns="0" tIns="0" rIns="0" bIns="0" rtlCol="0" anchor="t"/>
          <a:lstStyle/>
          <a:p>
            <a:pPr indent="0" marL="0">
              <a:buNone/>
            </a:pPr>
            <a:r>
              <a:rPr lang="en-US" sz="1050" dirty="0">
                <a:solidFill>
                  <a:srgbClr val="56636E"/>
                </a:solidFill>
                <a:latin typeface="BIZ UDPGothic" pitchFamily="34" charset="0"/>
                <a:ea typeface="BIZ UDPGothic" pitchFamily="34" charset="-122"/>
                <a:cs typeface="BIZ UDPGothic" pitchFamily="34" charset="-120"/>
              </a:rPr>
              <a:t>未観測・未検証・不合格をそれぞれ区別する（SEI）</a:t>
            </a:r>
            <a:endParaRPr lang="en-US" sz="1050" dirty="0"/>
          </a:p>
        </p:txBody>
      </p:sp>
      <p:sp>
        <p:nvSpPr>
          <p:cNvPr id="42" name="Shape 40"/>
          <p:cNvSpPr/>
          <p:nvPr/>
        </p:nvSpPr>
        <p:spPr>
          <a:xfrm>
            <a:off x="6035040" y="5422392"/>
            <a:ext cx="5653735" cy="667512"/>
          </a:xfrm>
          <a:prstGeom prst="rect">
            <a:avLst/>
          </a:prstGeom>
          <a:solidFill>
            <a:srgbClr val="FFFFFF"/>
          </a:solidFill>
          <a:ln w="9525">
            <a:solidFill>
              <a:srgbClr val="DCD5C6"/>
            </a:solidFill>
            <a:prstDash val="solid"/>
          </a:ln>
        </p:spPr>
      </p:sp>
      <p:sp>
        <p:nvSpPr>
          <p:cNvPr id="43" name="Shape 41"/>
          <p:cNvSpPr/>
          <p:nvPr/>
        </p:nvSpPr>
        <p:spPr>
          <a:xfrm>
            <a:off x="6035040" y="5422392"/>
            <a:ext cx="54864" cy="667512"/>
          </a:xfrm>
          <a:prstGeom prst="rect">
            <a:avLst/>
          </a:prstGeom>
          <a:solidFill>
            <a:srgbClr val="C4A06D"/>
          </a:solidFill>
          <a:ln/>
        </p:spPr>
      </p:sp>
      <p:sp>
        <p:nvSpPr>
          <p:cNvPr id="44" name="Text 42"/>
          <p:cNvSpPr/>
          <p:nvPr/>
        </p:nvSpPr>
        <p:spPr>
          <a:xfrm>
            <a:off x="6236208" y="5486400"/>
            <a:ext cx="5333695" cy="274320"/>
          </a:xfrm>
          <a:prstGeom prst="rect">
            <a:avLst/>
          </a:prstGeom>
          <a:noFill/>
          <a:ln/>
        </p:spPr>
        <p:txBody>
          <a:bodyPr wrap="square" lIns="0" tIns="0" rIns="0" bIns="0" rtlCol="0" anchor="t"/>
          <a:lstStyle/>
          <a:p>
            <a:pPr indent="0" marL="0">
              <a:buNone/>
            </a:pPr>
            <a:r>
              <a:rPr lang="en-US" sz="1250" b="1" dirty="0">
                <a:solidFill>
                  <a:srgbClr val="243D54"/>
                </a:solidFill>
                <a:latin typeface="BIZ UDPGothic" pitchFamily="34" charset="0"/>
                <a:ea typeface="BIZ UDPGothic" pitchFamily="34" charset="-122"/>
                <a:cs typeface="BIZ UDPGothic" pitchFamily="34" charset="-120"/>
              </a:rPr>
              <a:t>読み手が専門家でなくても参加できる文書</a:t>
            </a:r>
            <a:endParaRPr lang="en-US" sz="1250" dirty="0"/>
          </a:p>
        </p:txBody>
      </p:sp>
      <p:sp>
        <p:nvSpPr>
          <p:cNvPr id="45" name="Text 43"/>
          <p:cNvSpPr/>
          <p:nvPr/>
        </p:nvSpPr>
        <p:spPr>
          <a:xfrm>
            <a:off x="6236208" y="5769864"/>
            <a:ext cx="5333695" cy="274320"/>
          </a:xfrm>
          <a:prstGeom prst="rect">
            <a:avLst/>
          </a:prstGeom>
          <a:noFill/>
          <a:ln/>
        </p:spPr>
        <p:txBody>
          <a:bodyPr wrap="square" lIns="0" tIns="0" rIns="0" bIns="0" rtlCol="0" anchor="t"/>
          <a:lstStyle/>
          <a:p>
            <a:pPr indent="0" marL="0">
              <a:buNone/>
            </a:pPr>
            <a:r>
              <a:rPr lang="en-US" sz="1050" dirty="0">
                <a:solidFill>
                  <a:srgbClr val="56636E"/>
                </a:solidFill>
                <a:latin typeface="BIZ UDPGothic" pitchFamily="34" charset="0"/>
                <a:ea typeface="BIZ UDPGothic" pitchFamily="34" charset="-122"/>
                <a:cs typeface="BIZ UDPGothic" pitchFamily="34" charset="-120"/>
              </a:rPr>
              <a:t>困りごと→単純な方法の限界→要求→例→保証しない範囲の順に書く（EKI）</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0" y="0"/>
            <a:ext cx="3520440" cy="6858000"/>
          </a:xfrm>
          <a:prstGeom prst="rect">
            <a:avLst/>
          </a:prstGeom>
          <a:solidFill>
            <a:srgbClr val="4E3B1D"/>
          </a:solidFill>
          <a:ln/>
        </p:spPr>
      </p:sp>
      <p:sp>
        <p:nvSpPr>
          <p:cNvPr id="3" name="Text 1"/>
          <p:cNvSpPr/>
          <p:nvPr/>
        </p:nvSpPr>
        <p:spPr>
          <a:xfrm>
            <a:off x="411480" y="292608"/>
            <a:ext cx="2743200" cy="228600"/>
          </a:xfrm>
          <a:prstGeom prst="rect">
            <a:avLst/>
          </a:prstGeom>
          <a:noFill/>
          <a:ln/>
        </p:spPr>
        <p:txBody>
          <a:bodyPr wrap="square" lIns="0" tIns="0" rIns="0" bIns="0" rtlCol="0" anchor="t"/>
          <a:lstStyle/>
          <a:p>
            <a:pPr indent="0" marL="0">
              <a:buNone/>
            </a:pPr>
            <a:r>
              <a:rPr lang="en-US" sz="950" b="1" dirty="0">
                <a:solidFill>
                  <a:srgbClr val="C4A06D"/>
                </a:solidFill>
                <a:latin typeface="BIZ UDPGothic" pitchFamily="34" charset="0"/>
                <a:ea typeface="BIZ UDPGothic" pitchFamily="34" charset="-122"/>
                <a:cs typeface="BIZ UDPGothic" pitchFamily="34" charset="-120"/>
              </a:rPr>
              <a:t>製品  </a:t>
            </a:r>
            <a:pPr indent="0" marL="0">
              <a:buNone/>
            </a:pPr>
            <a:r>
              <a:rPr lang="en-US" sz="950" dirty="0">
                <a:solidFill>
                  <a:srgbClr val="C9D3D9"/>
                </a:solidFill>
                <a:latin typeface="Georgia" pitchFamily="34" charset="0"/>
                <a:ea typeface="Georgia" pitchFamily="34" charset="-122"/>
                <a:cs typeface="Georgia" pitchFamily="34" charset="-120"/>
              </a:rPr>
              <a:t>1 / 6</a:t>
            </a:r>
            <a:endParaRPr lang="en-US" sz="950" dirty="0"/>
          </a:p>
        </p:txBody>
      </p:sp>
      <p:sp>
        <p:nvSpPr>
          <p:cNvPr id="4" name="Shape 2"/>
          <p:cNvSpPr/>
          <p:nvPr/>
        </p:nvSpPr>
        <p:spPr>
          <a:xfrm>
            <a:off x="411480" y="1481328"/>
            <a:ext cx="373532" cy="73152"/>
          </a:xfrm>
          <a:prstGeom prst="rect">
            <a:avLst/>
          </a:prstGeom>
          <a:solidFill>
            <a:srgbClr val="C4A06D"/>
          </a:solidFill>
          <a:ln/>
        </p:spPr>
      </p:sp>
      <p:sp>
        <p:nvSpPr>
          <p:cNvPr id="5" name="Shape 3"/>
          <p:cNvSpPr/>
          <p:nvPr/>
        </p:nvSpPr>
        <p:spPr>
          <a:xfrm>
            <a:off x="906628" y="1481328"/>
            <a:ext cx="373532" cy="73152"/>
          </a:xfrm>
          <a:prstGeom prst="rect">
            <a:avLst/>
          </a:prstGeom>
          <a:solidFill>
            <a:srgbClr val="C4A06D"/>
          </a:solidFill>
          <a:ln/>
        </p:spPr>
      </p:sp>
      <p:sp>
        <p:nvSpPr>
          <p:cNvPr id="6" name="Shape 4"/>
          <p:cNvSpPr/>
          <p:nvPr/>
        </p:nvSpPr>
        <p:spPr>
          <a:xfrm>
            <a:off x="411480" y="1335024"/>
            <a:ext cx="868680" cy="73152"/>
          </a:xfrm>
          <a:prstGeom prst="rect">
            <a:avLst/>
          </a:prstGeom>
          <a:solidFill>
            <a:srgbClr val="C4A06D"/>
          </a:solidFill>
          <a:ln/>
        </p:spPr>
      </p:sp>
      <p:sp>
        <p:nvSpPr>
          <p:cNvPr id="7" name="Shape 5"/>
          <p:cNvSpPr/>
          <p:nvPr/>
        </p:nvSpPr>
        <p:spPr>
          <a:xfrm>
            <a:off x="411480" y="1188720"/>
            <a:ext cx="868680" cy="73152"/>
          </a:xfrm>
          <a:prstGeom prst="rect">
            <a:avLst/>
          </a:prstGeom>
          <a:solidFill>
            <a:srgbClr val="C4A06D"/>
          </a:solidFill>
          <a:ln/>
        </p:spPr>
      </p:sp>
      <p:sp>
        <p:nvSpPr>
          <p:cNvPr id="8" name="Shape 6"/>
          <p:cNvSpPr/>
          <p:nvPr/>
        </p:nvSpPr>
        <p:spPr>
          <a:xfrm>
            <a:off x="411480" y="1042416"/>
            <a:ext cx="373532" cy="73152"/>
          </a:xfrm>
          <a:prstGeom prst="rect">
            <a:avLst/>
          </a:prstGeom>
          <a:solidFill>
            <a:srgbClr val="C4A06D"/>
          </a:solidFill>
          <a:ln/>
        </p:spPr>
      </p:sp>
      <p:sp>
        <p:nvSpPr>
          <p:cNvPr id="9" name="Shape 7"/>
          <p:cNvSpPr/>
          <p:nvPr/>
        </p:nvSpPr>
        <p:spPr>
          <a:xfrm>
            <a:off x="906628" y="1042416"/>
            <a:ext cx="373532" cy="73152"/>
          </a:xfrm>
          <a:prstGeom prst="rect">
            <a:avLst/>
          </a:prstGeom>
          <a:solidFill>
            <a:srgbClr val="C4A06D"/>
          </a:solidFill>
          <a:ln/>
        </p:spPr>
      </p:sp>
      <p:sp>
        <p:nvSpPr>
          <p:cNvPr id="10" name="Shape 8"/>
          <p:cNvSpPr/>
          <p:nvPr/>
        </p:nvSpPr>
        <p:spPr>
          <a:xfrm>
            <a:off x="411480" y="896112"/>
            <a:ext cx="373532" cy="73152"/>
          </a:xfrm>
          <a:prstGeom prst="rect">
            <a:avLst/>
          </a:prstGeom>
          <a:solidFill>
            <a:srgbClr val="C4A06D"/>
          </a:solidFill>
          <a:ln/>
        </p:spPr>
      </p:sp>
      <p:sp>
        <p:nvSpPr>
          <p:cNvPr id="11" name="Shape 9"/>
          <p:cNvSpPr/>
          <p:nvPr/>
        </p:nvSpPr>
        <p:spPr>
          <a:xfrm>
            <a:off x="906628" y="896112"/>
            <a:ext cx="373532" cy="73152"/>
          </a:xfrm>
          <a:prstGeom prst="rect">
            <a:avLst/>
          </a:prstGeom>
          <a:solidFill>
            <a:srgbClr val="C4A06D"/>
          </a:solidFill>
          <a:ln/>
        </p:spPr>
      </p:sp>
      <p:sp>
        <p:nvSpPr>
          <p:cNvPr id="12" name="Shape 10"/>
          <p:cNvSpPr/>
          <p:nvPr/>
        </p:nvSpPr>
        <p:spPr>
          <a:xfrm>
            <a:off x="411480" y="749808"/>
            <a:ext cx="373532" cy="73152"/>
          </a:xfrm>
          <a:prstGeom prst="rect">
            <a:avLst/>
          </a:prstGeom>
          <a:solidFill>
            <a:srgbClr val="C4A06D"/>
          </a:solidFill>
          <a:ln/>
        </p:spPr>
      </p:sp>
      <p:sp>
        <p:nvSpPr>
          <p:cNvPr id="13" name="Shape 11"/>
          <p:cNvSpPr/>
          <p:nvPr/>
        </p:nvSpPr>
        <p:spPr>
          <a:xfrm>
            <a:off x="906628" y="749808"/>
            <a:ext cx="373532" cy="73152"/>
          </a:xfrm>
          <a:prstGeom prst="rect">
            <a:avLst/>
          </a:prstGeom>
          <a:solidFill>
            <a:srgbClr val="C4A06D"/>
          </a:solidFill>
          <a:ln/>
        </p:spPr>
      </p:sp>
      <p:sp>
        <p:nvSpPr>
          <p:cNvPr id="14" name="Text 12"/>
          <p:cNvSpPr/>
          <p:nvPr/>
        </p:nvSpPr>
        <p:spPr>
          <a:xfrm>
            <a:off x="1508760" y="694944"/>
            <a:ext cx="731520" cy="548640"/>
          </a:xfrm>
          <a:prstGeom prst="rect">
            <a:avLst/>
          </a:prstGeom>
          <a:noFill/>
          <a:ln/>
        </p:spPr>
        <p:txBody>
          <a:bodyPr wrap="square" lIns="0" tIns="0" rIns="0" bIns="0" rtlCol="0" anchor="ctr"/>
          <a:lstStyle/>
          <a:p>
            <a:pPr indent="0" marL="0">
              <a:buNone/>
            </a:pPr>
            <a:r>
              <a:rPr lang="en-US" sz="3200" b="1" dirty="0">
                <a:solidFill>
                  <a:srgbClr val="F5F1E8"/>
                </a:solidFill>
                <a:latin typeface="BIZ UDPGothic" pitchFamily="34" charset="0"/>
                <a:ea typeface="BIZ UDPGothic" pitchFamily="34" charset="-122"/>
                <a:cs typeface="BIZ UDPGothic" pitchFamily="34" charset="-120"/>
              </a:rPr>
              <a:t>升</a:t>
            </a:r>
            <a:endParaRPr lang="en-US" sz="3200" dirty="0"/>
          </a:p>
        </p:txBody>
      </p:sp>
      <p:sp>
        <p:nvSpPr>
          <p:cNvPr id="15" name="Text 13"/>
          <p:cNvSpPr/>
          <p:nvPr/>
        </p:nvSpPr>
        <p:spPr>
          <a:xfrm>
            <a:off x="1508760" y="1261872"/>
            <a:ext cx="1920240" cy="274320"/>
          </a:xfrm>
          <a:prstGeom prst="rect">
            <a:avLst/>
          </a:prstGeom>
          <a:noFill/>
          <a:ln/>
        </p:spPr>
        <p:txBody>
          <a:bodyPr wrap="square" lIns="0" tIns="0" rIns="0" bIns="0" rtlCol="0" anchor="t"/>
          <a:lstStyle/>
          <a:p>
            <a:pPr indent="0" marL="0">
              <a:buNone/>
            </a:pPr>
            <a:r>
              <a:rPr lang="en-US" sz="1000" dirty="0">
                <a:solidFill>
                  <a:srgbClr val="C9D3D9"/>
                </a:solidFill>
                <a:latin typeface="BIZ UDPGothic" pitchFamily="34" charset="0"/>
                <a:ea typeface="BIZ UDPGothic" pitchFamily="34" charset="-122"/>
                <a:cs typeface="BIZ UDPGothic" pitchFamily="34" charset="-120"/>
              </a:rPr>
              <a:t>第46卦　地風升</a:t>
            </a:r>
            <a:endParaRPr lang="en-US" sz="1000" dirty="0"/>
          </a:p>
        </p:txBody>
      </p:sp>
      <p:sp>
        <p:nvSpPr>
          <p:cNvPr id="16" name="Text 14"/>
          <p:cNvSpPr/>
          <p:nvPr/>
        </p:nvSpPr>
        <p:spPr>
          <a:xfrm>
            <a:off x="411480" y="1737360"/>
            <a:ext cx="3017520" cy="457200"/>
          </a:xfrm>
          <a:prstGeom prst="rect">
            <a:avLst/>
          </a:prstGeom>
          <a:noFill/>
          <a:ln/>
        </p:spPr>
        <p:txBody>
          <a:bodyPr wrap="square" lIns="0" tIns="0" rIns="0" bIns="0" rtlCol="0" anchor="ctr"/>
          <a:lstStyle/>
          <a:p>
            <a:pPr indent="0" marL="0">
              <a:buNone/>
            </a:pPr>
            <a:r>
              <a:rPr lang="en-US" sz="2200" b="1" dirty="0">
                <a:solidFill>
                  <a:srgbClr val="F5F1E8"/>
                </a:solidFill>
                <a:latin typeface="Georgia" pitchFamily="34" charset="0"/>
                <a:ea typeface="Georgia" pitchFamily="34" charset="-122"/>
                <a:cs typeface="Georgia" pitchFamily="34" charset="-120"/>
              </a:rPr>
              <a:t>SHO Composer</a:t>
            </a:r>
            <a:endParaRPr lang="en-US" sz="2200" dirty="0"/>
          </a:p>
        </p:txBody>
      </p:sp>
      <p:sp>
        <p:nvSpPr>
          <p:cNvPr id="17" name="Text 15"/>
          <p:cNvSpPr/>
          <p:nvPr/>
        </p:nvSpPr>
        <p:spPr>
          <a:xfrm>
            <a:off x="411480" y="2194560"/>
            <a:ext cx="2926080" cy="274320"/>
          </a:xfrm>
          <a:prstGeom prst="rect">
            <a:avLst/>
          </a:prstGeom>
          <a:noFill/>
          <a:ln/>
        </p:spPr>
        <p:txBody>
          <a:bodyPr wrap="square" lIns="0" tIns="0" rIns="0" bIns="0" rtlCol="0" anchor="t"/>
          <a:lstStyle/>
          <a:p>
            <a:pPr indent="0" marL="0">
              <a:buNone/>
            </a:pPr>
            <a:r>
              <a:rPr lang="en-US" sz="1200" b="1" dirty="0">
                <a:solidFill>
                  <a:srgbClr val="C4A06D"/>
                </a:solidFill>
                <a:latin typeface="BIZ UDPGothic" pitchFamily="34" charset="0"/>
                <a:ea typeface="BIZ UDPGothic" pitchFamily="34" charset="-122"/>
                <a:cs typeface="BIZ UDPGothic" pitchFamily="34" charset="-120"/>
              </a:rPr>
              <a:t>文書と出典</a:t>
            </a:r>
            <a:endParaRPr lang="en-US" sz="1200" dirty="0"/>
          </a:p>
        </p:txBody>
      </p:sp>
      <p:sp>
        <p:nvSpPr>
          <p:cNvPr id="18" name="Text 16"/>
          <p:cNvSpPr/>
          <p:nvPr/>
        </p:nvSpPr>
        <p:spPr>
          <a:xfrm>
            <a:off x="411480" y="2606040"/>
            <a:ext cx="2743200" cy="201168"/>
          </a:xfrm>
          <a:prstGeom prst="rect">
            <a:avLst/>
          </a:prstGeom>
          <a:noFill/>
          <a:ln/>
        </p:spPr>
        <p:txBody>
          <a:bodyPr wrap="square" lIns="0" tIns="0" rIns="0" bIns="0" rtlCol="0" anchor="t"/>
          <a:lstStyle/>
          <a:p>
            <a:pPr indent="0" marL="0">
              <a:buNone/>
            </a:pPr>
            <a:r>
              <a:rPr lang="en-US" sz="900" b="1" dirty="0">
                <a:solidFill>
                  <a:srgbClr val="A7B7A7"/>
                </a:solidFill>
                <a:latin typeface="BIZ UDPGothic" pitchFamily="34" charset="0"/>
                <a:ea typeface="BIZ UDPGothic" pitchFamily="34" charset="-122"/>
                <a:cs typeface="BIZ UDPGothic" pitchFamily="34" charset="-120"/>
              </a:rPr>
              <a:t>役割</a:t>
            </a:r>
            <a:endParaRPr lang="en-US" sz="900" dirty="0"/>
          </a:p>
        </p:txBody>
      </p:sp>
      <p:sp>
        <p:nvSpPr>
          <p:cNvPr id="19" name="Text 17"/>
          <p:cNvSpPr/>
          <p:nvPr/>
        </p:nvSpPr>
        <p:spPr>
          <a:xfrm>
            <a:off x="411480" y="2807208"/>
            <a:ext cx="2788920" cy="384048"/>
          </a:xfrm>
          <a:prstGeom prst="rect">
            <a:avLst/>
          </a:prstGeom>
          <a:noFill/>
          <a:ln/>
        </p:spPr>
        <p:txBody>
          <a:bodyPr wrap="square" lIns="0" tIns="0" rIns="0" bIns="0" rtlCol="0" anchor="t"/>
          <a:lstStyle/>
          <a:p>
            <a:pPr indent="0" marL="0">
              <a:buNone/>
            </a:pPr>
            <a:r>
              <a:rPr lang="en-US" sz="1050" dirty="0">
                <a:solidFill>
                  <a:srgbClr val="F5F1E8"/>
                </a:solidFill>
                <a:latin typeface="BIZ UDPGothic" pitchFamily="34" charset="0"/>
                <a:ea typeface="BIZ UDPGothic" pitchFamily="34" charset="-122"/>
                <a:cs typeface="BIZ UDPGothic" pitchFamily="34" charset="-120"/>
              </a:rPr>
              <a:t>文書の作成・参照と、出典をたどれる成果物</a:t>
            </a:r>
            <a:endParaRPr lang="en-US" sz="1050" dirty="0"/>
          </a:p>
        </p:txBody>
      </p:sp>
      <p:sp>
        <p:nvSpPr>
          <p:cNvPr id="20" name="Text 18"/>
          <p:cNvSpPr/>
          <p:nvPr/>
        </p:nvSpPr>
        <p:spPr>
          <a:xfrm>
            <a:off x="411480" y="3273552"/>
            <a:ext cx="2743200" cy="201168"/>
          </a:xfrm>
          <a:prstGeom prst="rect">
            <a:avLst/>
          </a:prstGeom>
          <a:noFill/>
          <a:ln/>
        </p:spPr>
        <p:txBody>
          <a:bodyPr wrap="square" lIns="0" tIns="0" rIns="0" bIns="0" rtlCol="0" anchor="t"/>
          <a:lstStyle/>
          <a:p>
            <a:pPr indent="0" marL="0">
              <a:buNone/>
            </a:pPr>
            <a:r>
              <a:rPr lang="en-US" sz="900" b="1" dirty="0">
                <a:solidFill>
                  <a:srgbClr val="A7B7A7"/>
                </a:solidFill>
                <a:latin typeface="BIZ UDPGothic" pitchFamily="34" charset="0"/>
                <a:ea typeface="BIZ UDPGothic" pitchFamily="34" charset="-122"/>
                <a:cs typeface="BIZ UDPGothic" pitchFamily="34" charset="-120"/>
              </a:rPr>
              <a:t>現在の検証用製品</a:t>
            </a:r>
            <a:endParaRPr lang="en-US" sz="900" dirty="0"/>
          </a:p>
        </p:txBody>
      </p:sp>
      <p:sp>
        <p:nvSpPr>
          <p:cNvPr id="21" name="Text 19"/>
          <p:cNvSpPr/>
          <p:nvPr/>
        </p:nvSpPr>
        <p:spPr>
          <a:xfrm>
            <a:off x="411480" y="3474720"/>
            <a:ext cx="2788920" cy="384048"/>
          </a:xfrm>
          <a:prstGeom prst="rect">
            <a:avLst/>
          </a:prstGeom>
          <a:noFill/>
          <a:ln/>
        </p:spPr>
        <p:txBody>
          <a:bodyPr wrap="square" lIns="0" tIns="0" rIns="0" bIns="0" rtlCol="0" anchor="t"/>
          <a:lstStyle/>
          <a:p>
            <a:pPr indent="0" marL="0">
              <a:buNone/>
            </a:pPr>
            <a:r>
              <a:rPr lang="en-US" sz="1050" dirty="0">
                <a:solidFill>
                  <a:srgbClr val="F5F1E8"/>
                </a:solidFill>
                <a:latin typeface="BIZ UDPGothic" pitchFamily="34" charset="0"/>
                <a:ea typeface="BIZ UDPGothic" pitchFamily="34" charset="-122"/>
                <a:cs typeface="BIZ UDPGothic" pitchFamily="34" charset="-120"/>
              </a:rPr>
              <a:t>MMI。表を元ファイルのまま文書に表示する</a:t>
            </a:r>
            <a:endParaRPr lang="en-US" sz="1050" dirty="0"/>
          </a:p>
        </p:txBody>
      </p:sp>
      <p:sp>
        <p:nvSpPr>
          <p:cNvPr id="22" name="Text 20"/>
          <p:cNvSpPr/>
          <p:nvPr/>
        </p:nvSpPr>
        <p:spPr>
          <a:xfrm>
            <a:off x="411480" y="3941064"/>
            <a:ext cx="2743200" cy="201168"/>
          </a:xfrm>
          <a:prstGeom prst="rect">
            <a:avLst/>
          </a:prstGeom>
          <a:noFill/>
          <a:ln/>
        </p:spPr>
        <p:txBody>
          <a:bodyPr wrap="square" lIns="0" tIns="0" rIns="0" bIns="0" rtlCol="0" anchor="t"/>
          <a:lstStyle/>
          <a:p>
            <a:pPr indent="0" marL="0">
              <a:buNone/>
            </a:pPr>
            <a:r>
              <a:rPr lang="en-US" sz="900" b="1" dirty="0">
                <a:solidFill>
                  <a:srgbClr val="A7B7A7"/>
                </a:solidFill>
                <a:latin typeface="BIZ UDPGothic" pitchFamily="34" charset="0"/>
                <a:ea typeface="BIZ UDPGothic" pitchFamily="34" charset="-122"/>
                <a:cs typeface="BIZ UDPGothic" pitchFamily="34" charset="-120"/>
              </a:rPr>
              <a:t>卦の像</a:t>
            </a:r>
            <a:endParaRPr lang="en-US" sz="900" dirty="0"/>
          </a:p>
        </p:txBody>
      </p:sp>
      <p:sp>
        <p:nvSpPr>
          <p:cNvPr id="23" name="Text 21"/>
          <p:cNvSpPr/>
          <p:nvPr/>
        </p:nvSpPr>
        <p:spPr>
          <a:xfrm>
            <a:off x="411480" y="4142232"/>
            <a:ext cx="2788920" cy="548640"/>
          </a:xfrm>
          <a:prstGeom prst="rect">
            <a:avLst/>
          </a:prstGeom>
          <a:noFill/>
          <a:ln/>
        </p:spPr>
        <p:txBody>
          <a:bodyPr wrap="square" lIns="0" tIns="0" rIns="0" bIns="0" rtlCol="0" anchor="t"/>
          <a:lstStyle/>
          <a:p>
            <a:pPr indent="0" marL="0">
              <a:buNone/>
            </a:pPr>
            <a:r>
              <a:rPr lang="en-US" sz="1050" dirty="0">
                <a:solidFill>
                  <a:srgbClr val="F5F1E8"/>
                </a:solidFill>
                <a:latin typeface="BIZ UDPGothic" pitchFamily="34" charset="0"/>
                <a:ea typeface="BIZ UDPGothic" pitchFamily="34" charset="-122"/>
                <a:cs typeface="BIZ UDPGothic" pitchFamily="34" charset="-120"/>
              </a:rPr>
              <a:t>升は地中の木が少しずつ伸びる像。資料から成果へ段階的に積み上げる</a:t>
            </a:r>
            <a:endParaRPr lang="en-US" sz="1050" dirty="0"/>
          </a:p>
        </p:txBody>
      </p:sp>
      <p:sp>
        <p:nvSpPr>
          <p:cNvPr id="24" name="Shape 22"/>
          <p:cNvSpPr/>
          <p:nvPr/>
        </p:nvSpPr>
        <p:spPr>
          <a:xfrm>
            <a:off x="320040" y="5029200"/>
            <a:ext cx="2880360" cy="1600200"/>
          </a:xfrm>
          <a:prstGeom prst="rect">
            <a:avLst/>
          </a:prstGeom>
          <a:solidFill>
            <a:srgbClr val="000000">
              <a:alpha val="22000"/>
            </a:srgbClr>
          </a:solidFill>
          <a:ln/>
        </p:spPr>
      </p:sp>
      <p:sp>
        <p:nvSpPr>
          <p:cNvPr id="25" name="Text 23"/>
          <p:cNvSpPr/>
          <p:nvPr/>
        </p:nvSpPr>
        <p:spPr>
          <a:xfrm>
            <a:off x="457200" y="5120640"/>
            <a:ext cx="2651760" cy="201168"/>
          </a:xfrm>
          <a:prstGeom prst="rect">
            <a:avLst/>
          </a:prstGeom>
          <a:noFill/>
          <a:ln/>
        </p:spPr>
        <p:txBody>
          <a:bodyPr wrap="square" lIns="0" tIns="0" rIns="0" bIns="0" rtlCol="0" anchor="t"/>
          <a:lstStyle/>
          <a:p>
            <a:pPr indent="0" marL="0">
              <a:buNone/>
            </a:pPr>
            <a:r>
              <a:rPr lang="en-US" sz="900" b="1" dirty="0">
                <a:solidFill>
                  <a:srgbClr val="C4A06D"/>
                </a:solidFill>
                <a:latin typeface="BIZ UDPGothic" pitchFamily="34" charset="0"/>
                <a:ea typeface="BIZ UDPGothic" pitchFamily="34" charset="-122"/>
                <a:cs typeface="BIZ UDPGothic" pitchFamily="34" charset="-120"/>
              </a:rPr>
              <a:t>確認できていること</a:t>
            </a:r>
            <a:endParaRPr lang="en-US" sz="900" dirty="0"/>
          </a:p>
        </p:txBody>
      </p:sp>
      <p:sp>
        <p:nvSpPr>
          <p:cNvPr id="26" name="Text 24"/>
          <p:cNvSpPr/>
          <p:nvPr/>
        </p:nvSpPr>
        <p:spPr>
          <a:xfrm>
            <a:off x="457200" y="5321808"/>
            <a:ext cx="2651760" cy="566928"/>
          </a:xfrm>
          <a:prstGeom prst="rect">
            <a:avLst/>
          </a:prstGeom>
          <a:noFill/>
          <a:ln/>
        </p:spPr>
        <p:txBody>
          <a:bodyPr wrap="square" lIns="0" tIns="0" rIns="0" bIns="0" rtlCol="0" anchor="t"/>
          <a:lstStyle/>
          <a:p>
            <a:pPr indent="0" marL="0">
              <a:buNone/>
            </a:pPr>
            <a:r>
              <a:rPr lang="en-US" sz="1000" dirty="0">
                <a:solidFill>
                  <a:srgbClr val="F5F1E8"/>
                </a:solidFill>
                <a:latin typeface="BIZ UDPGothic" pitchFamily="34" charset="0"/>
                <a:ea typeface="BIZ UDPGothic" pitchFamily="34" charset="-122"/>
                <a:cs typeface="BIZ UDPGothic" pitchFamily="34" charset="-120"/>
              </a:rPr>
              <a:t>MMIの試験公開版0.2.0（VS Code拡張と命令行ツール）。TAIから開発用文書を読み取り専用で参照</a:t>
            </a:r>
            <a:endParaRPr lang="en-US" sz="1000" dirty="0"/>
          </a:p>
        </p:txBody>
      </p:sp>
      <p:sp>
        <p:nvSpPr>
          <p:cNvPr id="27" name="Text 25"/>
          <p:cNvSpPr/>
          <p:nvPr/>
        </p:nvSpPr>
        <p:spPr>
          <a:xfrm>
            <a:off x="457200" y="5907024"/>
            <a:ext cx="2651760" cy="201168"/>
          </a:xfrm>
          <a:prstGeom prst="rect">
            <a:avLst/>
          </a:prstGeom>
          <a:noFill/>
          <a:ln/>
        </p:spPr>
        <p:txBody>
          <a:bodyPr wrap="square" lIns="0" tIns="0" rIns="0" bIns="0" rtlCol="0" anchor="t"/>
          <a:lstStyle/>
          <a:p>
            <a:pPr indent="0" marL="0">
              <a:buNone/>
            </a:pPr>
            <a:r>
              <a:rPr lang="en-US" sz="900" b="1" dirty="0">
                <a:solidFill>
                  <a:srgbClr val="E0A890"/>
                </a:solidFill>
                <a:latin typeface="BIZ UDPGothic" pitchFamily="34" charset="0"/>
                <a:ea typeface="BIZ UDPGothic" pitchFamily="34" charset="-122"/>
                <a:cs typeface="BIZ UDPGothic" pitchFamily="34" charset="-120"/>
              </a:rPr>
              <a:t>まだ確認していないこと</a:t>
            </a:r>
            <a:endParaRPr lang="en-US" sz="900" dirty="0"/>
          </a:p>
        </p:txBody>
      </p:sp>
      <p:sp>
        <p:nvSpPr>
          <p:cNvPr id="28" name="Text 26"/>
          <p:cNvSpPr/>
          <p:nvPr/>
        </p:nvSpPr>
        <p:spPr>
          <a:xfrm>
            <a:off x="457200" y="6108192"/>
            <a:ext cx="2651760" cy="475488"/>
          </a:xfrm>
          <a:prstGeom prst="rect">
            <a:avLst/>
          </a:prstGeom>
          <a:noFill/>
          <a:ln/>
        </p:spPr>
        <p:txBody>
          <a:bodyPr wrap="square" lIns="0" tIns="0" rIns="0" bIns="0" rtlCol="0" anchor="t"/>
          <a:lstStyle/>
          <a:p>
            <a:pPr indent="0" marL="0">
              <a:buNone/>
            </a:pPr>
            <a:r>
              <a:rPr lang="en-US" sz="1000" dirty="0">
                <a:solidFill>
                  <a:srgbClr val="F5F1E8"/>
                </a:solidFill>
                <a:latin typeface="BIZ UDPGothic" pitchFamily="34" charset="0"/>
                <a:ea typeface="BIZ UDPGothic" pitchFamily="34" charset="-122"/>
                <a:cs typeface="BIZ UDPGothic" pitchFamily="34" charset="-120"/>
              </a:rPr>
              <a:t>SHOとしての独立した製品定義。周囲の文章の正しさ</a:t>
            </a:r>
            <a:endParaRPr lang="en-US" sz="1000" dirty="0"/>
          </a:p>
        </p:txBody>
      </p:sp>
      <p:sp>
        <p:nvSpPr>
          <p:cNvPr id="29" name="Text 27"/>
          <p:cNvSpPr/>
          <p:nvPr/>
        </p:nvSpPr>
        <p:spPr>
          <a:xfrm>
            <a:off x="3886200" y="274320"/>
            <a:ext cx="780257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a:t>
            </a:r>
            <a:endParaRPr lang="en-US" sz="950" dirty="0"/>
          </a:p>
        </p:txBody>
      </p:sp>
      <p:sp>
        <p:nvSpPr>
          <p:cNvPr id="30" name="Text 28"/>
          <p:cNvSpPr/>
          <p:nvPr/>
        </p:nvSpPr>
        <p:spPr>
          <a:xfrm>
            <a:off x="3886200" y="530352"/>
            <a:ext cx="780257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原本へ戻れる文書をつくる</a:t>
            </a:r>
            <a:endParaRPr lang="en-US" sz="2500" dirty="0"/>
          </a:p>
        </p:txBody>
      </p:sp>
      <p:sp>
        <p:nvSpPr>
          <p:cNvPr id="31" name="Text 29"/>
          <p:cNvSpPr/>
          <p:nvPr/>
        </p:nvSpPr>
        <p:spPr>
          <a:xfrm>
            <a:off x="3886200" y="1097280"/>
            <a:ext cx="780257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要件表や試験表を文書へ写し直すと、原本との食い違いや更新漏れが生まれる。原本を残したまま必要な範囲を示す。</a:t>
            </a:r>
            <a:endParaRPr lang="en-US" sz="1300" dirty="0"/>
          </a:p>
        </p:txBody>
      </p:sp>
      <p:sp>
        <p:nvSpPr>
          <p:cNvPr id="32" name="Text 30"/>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12</a:t>
            </a:r>
            <a:endParaRPr lang="en-US" sz="1000" dirty="0"/>
          </a:p>
        </p:txBody>
      </p:sp>
      <p:sp>
        <p:nvSpPr>
          <p:cNvPr id="33" name="Text 31"/>
          <p:cNvSpPr/>
          <p:nvPr/>
        </p:nvSpPr>
        <p:spPr>
          <a:xfrm>
            <a:off x="3886200" y="1600200"/>
            <a:ext cx="5486400" cy="256032"/>
          </a:xfrm>
          <a:prstGeom prst="rect">
            <a:avLst/>
          </a:prstGeom>
          <a:noFill/>
          <a:ln/>
        </p:spPr>
        <p:txBody>
          <a:bodyPr wrap="square" lIns="0" tIns="0" rIns="0" bIns="0" rtlCol="0" anchor="t"/>
          <a:lstStyle/>
          <a:p>
            <a:pPr indent="0" marL="0">
              <a:buNone/>
            </a:pPr>
            <a:r>
              <a:rPr lang="en-US" sz="1150" b="1" dirty="0">
                <a:solidFill>
                  <a:srgbClr val="8A6A35"/>
                </a:solidFill>
                <a:latin typeface="BIZ UDPGothic" pitchFamily="34" charset="0"/>
                <a:ea typeface="BIZ UDPGothic" pitchFamily="34" charset="-122"/>
                <a:cs typeface="BIZ UDPGothic" pitchFamily="34" charset="-120"/>
              </a:rPr>
              <a:t>MMIでできること（SHOへ組み込む前の検証用）</a:t>
            </a:r>
            <a:endParaRPr lang="en-US" sz="1150" dirty="0"/>
          </a:p>
        </p:txBody>
      </p:sp>
      <p:sp>
        <p:nvSpPr>
          <p:cNvPr id="34" name="Shape 32"/>
          <p:cNvSpPr/>
          <p:nvPr/>
        </p:nvSpPr>
        <p:spPr>
          <a:xfrm>
            <a:off x="3886200" y="1874520"/>
            <a:ext cx="1414211" cy="868680"/>
          </a:xfrm>
          <a:prstGeom prst="rect">
            <a:avLst/>
          </a:prstGeom>
          <a:solidFill>
            <a:srgbClr val="FFFFFF"/>
          </a:solidFill>
          <a:ln w="9525">
            <a:solidFill>
              <a:srgbClr val="DCD5C6"/>
            </a:solidFill>
            <a:prstDash val="solid"/>
          </a:ln>
        </p:spPr>
      </p:sp>
      <p:sp>
        <p:nvSpPr>
          <p:cNvPr id="35" name="Shape 33"/>
          <p:cNvSpPr/>
          <p:nvPr/>
        </p:nvSpPr>
        <p:spPr>
          <a:xfrm>
            <a:off x="3886200" y="1874520"/>
            <a:ext cx="1414211" cy="45720"/>
          </a:xfrm>
          <a:prstGeom prst="rect">
            <a:avLst/>
          </a:prstGeom>
          <a:solidFill>
            <a:srgbClr val="8A6A35"/>
          </a:solidFill>
          <a:ln/>
        </p:spPr>
      </p:sp>
      <p:sp>
        <p:nvSpPr>
          <p:cNvPr id="36" name="Text 34"/>
          <p:cNvSpPr/>
          <p:nvPr/>
        </p:nvSpPr>
        <p:spPr>
          <a:xfrm>
            <a:off x="3941064" y="1947672"/>
            <a:ext cx="1304483" cy="390906"/>
          </a:xfrm>
          <a:prstGeom prst="rect">
            <a:avLst/>
          </a:prstGeom>
          <a:noFill/>
          <a:ln/>
        </p:spPr>
        <p:txBody>
          <a:bodyPr wrap="square" lIns="0" tIns="0" rIns="0" bIns="0" rtlCol="0" anchor="ctr"/>
          <a:lstStyle/>
          <a:p>
            <a:pPr algn="ctr" indent="0" marL="0">
              <a:buNone/>
            </a:pPr>
            <a:r>
              <a:rPr lang="en-US" sz="1300" b="1" dirty="0">
                <a:solidFill>
                  <a:srgbClr val="243D54"/>
                </a:solidFill>
                <a:latin typeface="BIZ UDPGothic" pitchFamily="34" charset="0"/>
                <a:ea typeface="BIZ UDPGothic" pitchFamily="34" charset="-122"/>
                <a:cs typeface="BIZ UDPGothic" pitchFamily="34" charset="-120"/>
              </a:rPr>
              <a:t>範囲を指定</a:t>
            </a:r>
            <a:endParaRPr lang="en-US" sz="1300" dirty="0"/>
          </a:p>
        </p:txBody>
      </p:sp>
      <p:sp>
        <p:nvSpPr>
          <p:cNvPr id="37" name="Text 35"/>
          <p:cNvSpPr/>
          <p:nvPr/>
        </p:nvSpPr>
        <p:spPr>
          <a:xfrm>
            <a:off x="3941064" y="2308860"/>
            <a:ext cx="1304483" cy="399593"/>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ファイル・シート・セル</a:t>
            </a:r>
            <a:endParaRPr lang="en-US" sz="1000" dirty="0"/>
          </a:p>
        </p:txBody>
      </p:sp>
      <p:sp>
        <p:nvSpPr>
          <p:cNvPr id="38" name="Shape 36"/>
          <p:cNvSpPr/>
          <p:nvPr/>
        </p:nvSpPr>
        <p:spPr>
          <a:xfrm>
            <a:off x="5327843" y="2308860"/>
            <a:ext cx="128016" cy="0"/>
          </a:xfrm>
          <a:prstGeom prst="line">
            <a:avLst/>
          </a:prstGeom>
          <a:noFill/>
          <a:ln w="19050">
            <a:solidFill>
              <a:srgbClr val="8A6A35"/>
            </a:solidFill>
            <a:prstDash val="solid"/>
            <a:tailEnd type="triangle"/>
          </a:ln>
        </p:spPr>
      </p:sp>
      <p:sp>
        <p:nvSpPr>
          <p:cNvPr id="39" name="Shape 37"/>
          <p:cNvSpPr/>
          <p:nvPr/>
        </p:nvSpPr>
        <p:spPr>
          <a:xfrm>
            <a:off x="5483291" y="1874520"/>
            <a:ext cx="1414211" cy="868680"/>
          </a:xfrm>
          <a:prstGeom prst="rect">
            <a:avLst/>
          </a:prstGeom>
          <a:solidFill>
            <a:srgbClr val="FFFFFF"/>
          </a:solidFill>
          <a:ln w="9525">
            <a:solidFill>
              <a:srgbClr val="DCD5C6"/>
            </a:solidFill>
            <a:prstDash val="solid"/>
          </a:ln>
        </p:spPr>
      </p:sp>
      <p:sp>
        <p:nvSpPr>
          <p:cNvPr id="40" name="Shape 38"/>
          <p:cNvSpPr/>
          <p:nvPr/>
        </p:nvSpPr>
        <p:spPr>
          <a:xfrm>
            <a:off x="5483291" y="1874520"/>
            <a:ext cx="1414211" cy="45720"/>
          </a:xfrm>
          <a:prstGeom prst="rect">
            <a:avLst/>
          </a:prstGeom>
          <a:solidFill>
            <a:srgbClr val="8A6A35"/>
          </a:solidFill>
          <a:ln/>
        </p:spPr>
      </p:sp>
      <p:sp>
        <p:nvSpPr>
          <p:cNvPr id="41" name="Text 39"/>
          <p:cNvSpPr/>
          <p:nvPr/>
        </p:nvSpPr>
        <p:spPr>
          <a:xfrm>
            <a:off x="5538155" y="1947672"/>
            <a:ext cx="1304483" cy="390906"/>
          </a:xfrm>
          <a:prstGeom prst="rect">
            <a:avLst/>
          </a:prstGeom>
          <a:noFill/>
          <a:ln/>
        </p:spPr>
        <p:txBody>
          <a:bodyPr wrap="square" lIns="0" tIns="0" rIns="0" bIns="0" rtlCol="0" anchor="ctr"/>
          <a:lstStyle/>
          <a:p>
            <a:pPr algn="ctr" indent="0" marL="0">
              <a:buNone/>
            </a:pPr>
            <a:r>
              <a:rPr lang="en-US" sz="1300" b="1" dirty="0">
                <a:solidFill>
                  <a:srgbClr val="243D54"/>
                </a:solidFill>
                <a:latin typeface="BIZ UDPGothic" pitchFamily="34" charset="0"/>
                <a:ea typeface="BIZ UDPGothic" pitchFamily="34" charset="-122"/>
                <a:cs typeface="BIZ UDPGothic" pitchFamily="34" charset="-120"/>
              </a:rPr>
              <a:t>読み取り</a:t>
            </a:r>
            <a:endParaRPr lang="en-US" sz="1300" dirty="0"/>
          </a:p>
        </p:txBody>
      </p:sp>
      <p:sp>
        <p:nvSpPr>
          <p:cNvPr id="42" name="Text 40"/>
          <p:cNvSpPr/>
          <p:nvPr/>
        </p:nvSpPr>
        <p:spPr>
          <a:xfrm>
            <a:off x="5538155" y="2308860"/>
            <a:ext cx="1304483" cy="399593"/>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Excel・CSV・XML・Word</a:t>
            </a:r>
            <a:endParaRPr lang="en-US" sz="1000" dirty="0"/>
          </a:p>
        </p:txBody>
      </p:sp>
      <p:sp>
        <p:nvSpPr>
          <p:cNvPr id="43" name="Shape 41"/>
          <p:cNvSpPr/>
          <p:nvPr/>
        </p:nvSpPr>
        <p:spPr>
          <a:xfrm>
            <a:off x="6924934" y="2308860"/>
            <a:ext cx="128016" cy="0"/>
          </a:xfrm>
          <a:prstGeom prst="line">
            <a:avLst/>
          </a:prstGeom>
          <a:noFill/>
          <a:ln w="19050">
            <a:solidFill>
              <a:srgbClr val="8A6A35"/>
            </a:solidFill>
            <a:prstDash val="solid"/>
            <a:tailEnd type="triangle"/>
          </a:ln>
        </p:spPr>
      </p:sp>
      <p:sp>
        <p:nvSpPr>
          <p:cNvPr id="44" name="Shape 42"/>
          <p:cNvSpPr/>
          <p:nvPr/>
        </p:nvSpPr>
        <p:spPr>
          <a:xfrm>
            <a:off x="7080382" y="1874520"/>
            <a:ext cx="1414211" cy="868680"/>
          </a:xfrm>
          <a:prstGeom prst="rect">
            <a:avLst/>
          </a:prstGeom>
          <a:solidFill>
            <a:srgbClr val="FFFFFF"/>
          </a:solidFill>
          <a:ln w="9525">
            <a:solidFill>
              <a:srgbClr val="DCD5C6"/>
            </a:solidFill>
            <a:prstDash val="solid"/>
          </a:ln>
        </p:spPr>
      </p:sp>
      <p:sp>
        <p:nvSpPr>
          <p:cNvPr id="45" name="Shape 43"/>
          <p:cNvSpPr/>
          <p:nvPr/>
        </p:nvSpPr>
        <p:spPr>
          <a:xfrm>
            <a:off x="7080382" y="1874520"/>
            <a:ext cx="1414211" cy="45720"/>
          </a:xfrm>
          <a:prstGeom prst="rect">
            <a:avLst/>
          </a:prstGeom>
          <a:solidFill>
            <a:srgbClr val="8A6A35"/>
          </a:solidFill>
          <a:ln/>
        </p:spPr>
      </p:sp>
      <p:sp>
        <p:nvSpPr>
          <p:cNvPr id="46" name="Text 44"/>
          <p:cNvSpPr/>
          <p:nvPr/>
        </p:nvSpPr>
        <p:spPr>
          <a:xfrm>
            <a:off x="7135246" y="1947672"/>
            <a:ext cx="1304483" cy="390906"/>
          </a:xfrm>
          <a:prstGeom prst="rect">
            <a:avLst/>
          </a:prstGeom>
          <a:noFill/>
          <a:ln/>
        </p:spPr>
        <p:txBody>
          <a:bodyPr wrap="square" lIns="0" tIns="0" rIns="0" bIns="0" rtlCol="0" anchor="ctr"/>
          <a:lstStyle/>
          <a:p>
            <a:pPr algn="ctr" indent="0" marL="0">
              <a:buNone/>
            </a:pPr>
            <a:r>
              <a:rPr lang="en-US" sz="1300" b="1" dirty="0">
                <a:solidFill>
                  <a:srgbClr val="243D54"/>
                </a:solidFill>
                <a:latin typeface="BIZ UDPGothic" pitchFamily="34" charset="0"/>
                <a:ea typeface="BIZ UDPGothic" pitchFamily="34" charset="-122"/>
                <a:cs typeface="BIZ UDPGothic" pitchFamily="34" charset="-120"/>
              </a:rPr>
              <a:t>文書に表示</a:t>
            </a:r>
            <a:endParaRPr lang="en-US" sz="1300" dirty="0"/>
          </a:p>
        </p:txBody>
      </p:sp>
      <p:sp>
        <p:nvSpPr>
          <p:cNvPr id="47" name="Text 45"/>
          <p:cNvSpPr/>
          <p:nvPr/>
        </p:nvSpPr>
        <p:spPr>
          <a:xfrm>
            <a:off x="7135246" y="2308860"/>
            <a:ext cx="1304483" cy="399593"/>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必要な行と列だけ</a:t>
            </a:r>
            <a:endParaRPr lang="en-US" sz="1000" dirty="0"/>
          </a:p>
        </p:txBody>
      </p:sp>
      <p:sp>
        <p:nvSpPr>
          <p:cNvPr id="48" name="Shape 46"/>
          <p:cNvSpPr/>
          <p:nvPr/>
        </p:nvSpPr>
        <p:spPr>
          <a:xfrm>
            <a:off x="8522025" y="2308860"/>
            <a:ext cx="128016" cy="0"/>
          </a:xfrm>
          <a:prstGeom prst="line">
            <a:avLst/>
          </a:prstGeom>
          <a:noFill/>
          <a:ln w="19050">
            <a:solidFill>
              <a:srgbClr val="8A6A35"/>
            </a:solidFill>
            <a:prstDash val="solid"/>
            <a:tailEnd type="triangle"/>
          </a:ln>
        </p:spPr>
      </p:sp>
      <p:sp>
        <p:nvSpPr>
          <p:cNvPr id="49" name="Shape 47"/>
          <p:cNvSpPr/>
          <p:nvPr/>
        </p:nvSpPr>
        <p:spPr>
          <a:xfrm>
            <a:off x="8677473" y="1874520"/>
            <a:ext cx="1414211" cy="868680"/>
          </a:xfrm>
          <a:prstGeom prst="rect">
            <a:avLst/>
          </a:prstGeom>
          <a:solidFill>
            <a:srgbClr val="FFFFFF"/>
          </a:solidFill>
          <a:ln w="9525">
            <a:solidFill>
              <a:srgbClr val="DCD5C6"/>
            </a:solidFill>
            <a:prstDash val="solid"/>
          </a:ln>
        </p:spPr>
      </p:sp>
      <p:sp>
        <p:nvSpPr>
          <p:cNvPr id="50" name="Shape 48"/>
          <p:cNvSpPr/>
          <p:nvPr/>
        </p:nvSpPr>
        <p:spPr>
          <a:xfrm>
            <a:off x="8677473" y="1874520"/>
            <a:ext cx="1414211" cy="45720"/>
          </a:xfrm>
          <a:prstGeom prst="rect">
            <a:avLst/>
          </a:prstGeom>
          <a:solidFill>
            <a:srgbClr val="8A6A35"/>
          </a:solidFill>
          <a:ln/>
        </p:spPr>
      </p:sp>
      <p:sp>
        <p:nvSpPr>
          <p:cNvPr id="51" name="Text 49"/>
          <p:cNvSpPr/>
          <p:nvPr/>
        </p:nvSpPr>
        <p:spPr>
          <a:xfrm>
            <a:off x="8732337" y="1947672"/>
            <a:ext cx="1304483" cy="390906"/>
          </a:xfrm>
          <a:prstGeom prst="rect">
            <a:avLst/>
          </a:prstGeom>
          <a:noFill/>
          <a:ln/>
        </p:spPr>
        <p:txBody>
          <a:bodyPr wrap="square" lIns="0" tIns="0" rIns="0" bIns="0" rtlCol="0" anchor="ctr"/>
          <a:lstStyle/>
          <a:p>
            <a:pPr algn="ctr" indent="0" marL="0">
              <a:buNone/>
            </a:pPr>
            <a:r>
              <a:rPr lang="en-US" sz="1300" b="1" dirty="0">
                <a:solidFill>
                  <a:srgbClr val="243D54"/>
                </a:solidFill>
                <a:latin typeface="BIZ UDPGothic" pitchFamily="34" charset="0"/>
                <a:ea typeface="BIZ UDPGothic" pitchFamily="34" charset="-122"/>
                <a:cs typeface="BIZ UDPGothic" pitchFamily="34" charset="-120"/>
              </a:rPr>
              <a:t>出典を報告</a:t>
            </a:r>
            <a:endParaRPr lang="en-US" sz="1300" dirty="0"/>
          </a:p>
        </p:txBody>
      </p:sp>
      <p:sp>
        <p:nvSpPr>
          <p:cNvPr id="52" name="Text 50"/>
          <p:cNvSpPr/>
          <p:nvPr/>
        </p:nvSpPr>
        <p:spPr>
          <a:xfrm>
            <a:off x="8732337" y="2308860"/>
            <a:ext cx="1304483" cy="399593"/>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何を参照・取り込んだか</a:t>
            </a:r>
            <a:endParaRPr lang="en-US" sz="1000" dirty="0"/>
          </a:p>
        </p:txBody>
      </p:sp>
      <p:sp>
        <p:nvSpPr>
          <p:cNvPr id="53" name="Shape 51"/>
          <p:cNvSpPr/>
          <p:nvPr/>
        </p:nvSpPr>
        <p:spPr>
          <a:xfrm>
            <a:off x="10119116" y="2308860"/>
            <a:ext cx="128016" cy="0"/>
          </a:xfrm>
          <a:prstGeom prst="line">
            <a:avLst/>
          </a:prstGeom>
          <a:noFill/>
          <a:ln w="19050">
            <a:solidFill>
              <a:srgbClr val="8A6A35"/>
            </a:solidFill>
            <a:prstDash val="solid"/>
            <a:tailEnd type="triangle"/>
          </a:ln>
        </p:spPr>
      </p:sp>
      <p:sp>
        <p:nvSpPr>
          <p:cNvPr id="54" name="Shape 52"/>
          <p:cNvSpPr/>
          <p:nvPr/>
        </p:nvSpPr>
        <p:spPr>
          <a:xfrm>
            <a:off x="10274564" y="1874520"/>
            <a:ext cx="1414211" cy="868680"/>
          </a:xfrm>
          <a:prstGeom prst="rect">
            <a:avLst/>
          </a:prstGeom>
          <a:solidFill>
            <a:srgbClr val="FFFFFF"/>
          </a:solidFill>
          <a:ln w="9525">
            <a:solidFill>
              <a:srgbClr val="DCD5C6"/>
            </a:solidFill>
            <a:prstDash val="solid"/>
          </a:ln>
        </p:spPr>
      </p:sp>
      <p:sp>
        <p:nvSpPr>
          <p:cNvPr id="55" name="Shape 53"/>
          <p:cNvSpPr/>
          <p:nvPr/>
        </p:nvSpPr>
        <p:spPr>
          <a:xfrm>
            <a:off x="10274564" y="1874520"/>
            <a:ext cx="1414211" cy="45720"/>
          </a:xfrm>
          <a:prstGeom prst="rect">
            <a:avLst/>
          </a:prstGeom>
          <a:solidFill>
            <a:srgbClr val="8A6A35"/>
          </a:solidFill>
          <a:ln/>
        </p:spPr>
      </p:sp>
      <p:sp>
        <p:nvSpPr>
          <p:cNvPr id="56" name="Text 54"/>
          <p:cNvSpPr/>
          <p:nvPr/>
        </p:nvSpPr>
        <p:spPr>
          <a:xfrm>
            <a:off x="10329428" y="1947672"/>
            <a:ext cx="1304483" cy="390906"/>
          </a:xfrm>
          <a:prstGeom prst="rect">
            <a:avLst/>
          </a:prstGeom>
          <a:noFill/>
          <a:ln/>
        </p:spPr>
        <p:txBody>
          <a:bodyPr wrap="square" lIns="0" tIns="0" rIns="0" bIns="0" rtlCol="0" anchor="ctr"/>
          <a:lstStyle/>
          <a:p>
            <a:pPr algn="ctr" indent="0" marL="0">
              <a:buNone/>
            </a:pPr>
            <a:r>
              <a:rPr lang="en-US" sz="1300" b="1" dirty="0">
                <a:solidFill>
                  <a:srgbClr val="243D54"/>
                </a:solidFill>
                <a:latin typeface="BIZ UDPGothic" pitchFamily="34" charset="0"/>
                <a:ea typeface="BIZ UDPGothic" pitchFamily="34" charset="-122"/>
                <a:cs typeface="BIZ UDPGothic" pitchFamily="34" charset="-120"/>
              </a:rPr>
              <a:t>原本から外す</a:t>
            </a:r>
            <a:endParaRPr lang="en-US" sz="1300" dirty="0"/>
          </a:p>
        </p:txBody>
      </p:sp>
      <p:sp>
        <p:nvSpPr>
          <p:cNvPr id="57" name="Text 55"/>
          <p:cNvSpPr/>
          <p:nvPr/>
        </p:nvSpPr>
        <p:spPr>
          <a:xfrm>
            <a:off x="10329428" y="2308860"/>
            <a:ext cx="1304483" cy="399593"/>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通常の文書と添付へ移す</a:t>
            </a:r>
            <a:endParaRPr lang="en-US" sz="1000" dirty="0"/>
          </a:p>
        </p:txBody>
      </p:sp>
      <p:sp>
        <p:nvSpPr>
          <p:cNvPr id="58" name="Text 56"/>
          <p:cNvSpPr/>
          <p:nvPr/>
        </p:nvSpPr>
        <p:spPr>
          <a:xfrm>
            <a:off x="3886200" y="2944368"/>
            <a:ext cx="3786988" cy="256032"/>
          </a:xfrm>
          <a:prstGeom prst="rect">
            <a:avLst/>
          </a:prstGeom>
          <a:noFill/>
          <a:ln/>
        </p:spPr>
        <p:txBody>
          <a:bodyPr wrap="square" lIns="0" tIns="0" rIns="0" bIns="0" rtlCol="0" anchor="t"/>
          <a:lstStyle/>
          <a:p>
            <a:pPr indent="0" marL="0">
              <a:buNone/>
            </a:pPr>
            <a:r>
              <a:rPr lang="en-US" sz="1150" b="1" dirty="0">
                <a:solidFill>
                  <a:srgbClr val="56636E"/>
                </a:solidFill>
                <a:latin typeface="BIZ UDPGothic" pitchFamily="34" charset="0"/>
                <a:ea typeface="BIZ UDPGothic" pitchFamily="34" charset="-122"/>
                <a:cs typeface="BIZ UDPGothic" pitchFamily="34" charset="-120"/>
              </a:rPr>
              <a:t>実務での使い方（実務サンプル12本を公開）</a:t>
            </a:r>
            <a:endParaRPr lang="en-US" sz="1150" dirty="0"/>
          </a:p>
        </p:txBody>
      </p:sp>
      <p:sp>
        <p:nvSpPr>
          <p:cNvPr id="59" name="Text 57"/>
          <p:cNvSpPr/>
          <p:nvPr/>
        </p:nvSpPr>
        <p:spPr>
          <a:xfrm>
            <a:off x="3886200" y="3246120"/>
            <a:ext cx="1188720" cy="457200"/>
          </a:xfrm>
          <a:prstGeom prst="rect">
            <a:avLst/>
          </a:prstGeom>
          <a:noFill/>
          <a:ln/>
        </p:spPr>
        <p:txBody>
          <a:bodyPr wrap="square" lIns="0" tIns="0" rIns="0" bIns="0" rtlCol="0" anchor="ctr"/>
          <a:lstStyle/>
          <a:p>
            <a:pPr indent="0" marL="0">
              <a:buNone/>
            </a:pPr>
            <a:r>
              <a:rPr lang="en-US" sz="1200" b="1" dirty="0">
                <a:solidFill>
                  <a:srgbClr val="8A6A35"/>
                </a:solidFill>
                <a:latin typeface="BIZ UDPGothic" pitchFamily="34" charset="0"/>
                <a:ea typeface="BIZ UDPGothic" pitchFamily="34" charset="-122"/>
                <a:cs typeface="BIZ UDPGothic" pitchFamily="34" charset="-120"/>
              </a:rPr>
              <a:t>要件の確認</a:t>
            </a:r>
            <a:endParaRPr lang="en-US" sz="1200" dirty="0"/>
          </a:p>
        </p:txBody>
      </p:sp>
      <p:sp>
        <p:nvSpPr>
          <p:cNvPr id="60" name="Text 58"/>
          <p:cNvSpPr/>
          <p:nvPr/>
        </p:nvSpPr>
        <p:spPr>
          <a:xfrm>
            <a:off x="5074920" y="3246120"/>
            <a:ext cx="2598268" cy="457200"/>
          </a:xfrm>
          <a:prstGeom prst="rect">
            <a:avLst/>
          </a:prstGeom>
          <a:noFill/>
          <a:ln/>
        </p:spPr>
        <p:txBody>
          <a:bodyPr wrap="square" lIns="0" tIns="0" rIns="0" bIns="0" rtlCol="0" anchor="ctr"/>
          <a:lstStyle/>
          <a:p>
            <a:pPr indent="0" marL="0">
              <a:buNone/>
            </a:pPr>
            <a:r>
              <a:rPr lang="en-US" sz="1100" dirty="0">
                <a:solidFill>
                  <a:srgbClr val="243D54"/>
                </a:solidFill>
                <a:latin typeface="BIZ UDPGothic" pitchFamily="34" charset="0"/>
                <a:ea typeface="BIZ UDPGothic" pitchFamily="34" charset="-122"/>
                <a:cs typeface="BIZ UDPGothic" pitchFamily="34" charset="-120"/>
              </a:rPr>
              <a:t>24件の要件から担当や「要確認」の行を選んで表示</a:t>
            </a:r>
            <a:endParaRPr lang="en-US" sz="1100" dirty="0"/>
          </a:p>
        </p:txBody>
      </p:sp>
      <p:sp>
        <p:nvSpPr>
          <p:cNvPr id="61" name="Text 59"/>
          <p:cNvSpPr/>
          <p:nvPr/>
        </p:nvSpPr>
        <p:spPr>
          <a:xfrm>
            <a:off x="3886200" y="3758184"/>
            <a:ext cx="1188720" cy="457200"/>
          </a:xfrm>
          <a:prstGeom prst="rect">
            <a:avLst/>
          </a:prstGeom>
          <a:noFill/>
          <a:ln/>
        </p:spPr>
        <p:txBody>
          <a:bodyPr wrap="square" lIns="0" tIns="0" rIns="0" bIns="0" rtlCol="0" anchor="ctr"/>
          <a:lstStyle/>
          <a:p>
            <a:pPr indent="0" marL="0">
              <a:buNone/>
            </a:pPr>
            <a:r>
              <a:rPr lang="en-US" sz="1200" b="1" dirty="0">
                <a:solidFill>
                  <a:srgbClr val="8A6A35"/>
                </a:solidFill>
                <a:latin typeface="BIZ UDPGothic" pitchFamily="34" charset="0"/>
                <a:ea typeface="BIZ UDPGothic" pitchFamily="34" charset="-122"/>
                <a:cs typeface="BIZ UDPGothic" pitchFamily="34" charset="-120"/>
              </a:rPr>
              <a:t>業務設計</a:t>
            </a:r>
            <a:endParaRPr lang="en-US" sz="1200" dirty="0"/>
          </a:p>
        </p:txBody>
      </p:sp>
      <p:sp>
        <p:nvSpPr>
          <p:cNvPr id="62" name="Text 60"/>
          <p:cNvSpPr/>
          <p:nvPr/>
        </p:nvSpPr>
        <p:spPr>
          <a:xfrm>
            <a:off x="5074920" y="3758184"/>
            <a:ext cx="2598268" cy="457200"/>
          </a:xfrm>
          <a:prstGeom prst="rect">
            <a:avLst/>
          </a:prstGeom>
          <a:noFill/>
          <a:ln/>
        </p:spPr>
        <p:txBody>
          <a:bodyPr wrap="square" lIns="0" tIns="0" rIns="0" bIns="0" rtlCol="0" anchor="ctr"/>
          <a:lstStyle/>
          <a:p>
            <a:pPr indent="0" marL="0">
              <a:buNone/>
            </a:pPr>
            <a:r>
              <a:rPr lang="en-US" sz="1100" dirty="0">
                <a:solidFill>
                  <a:srgbClr val="243D54"/>
                </a:solidFill>
                <a:latin typeface="BIZ UDPGothic" pitchFamily="34" charset="0"/>
                <a:ea typeface="BIZ UDPGothic" pitchFamily="34" charset="-122"/>
                <a:cs typeface="BIZ UDPGothic" pitchFamily="34" charset="-120"/>
              </a:rPr>
              <a:t>状態の遷移表や役割別の権限表を設計書で参照</a:t>
            </a:r>
            <a:endParaRPr lang="en-US" sz="1100" dirty="0"/>
          </a:p>
        </p:txBody>
      </p:sp>
      <p:sp>
        <p:nvSpPr>
          <p:cNvPr id="63" name="Text 61"/>
          <p:cNvSpPr/>
          <p:nvPr/>
        </p:nvSpPr>
        <p:spPr>
          <a:xfrm>
            <a:off x="3886200" y="4270248"/>
            <a:ext cx="1188720" cy="457200"/>
          </a:xfrm>
          <a:prstGeom prst="rect">
            <a:avLst/>
          </a:prstGeom>
          <a:noFill/>
          <a:ln/>
        </p:spPr>
        <p:txBody>
          <a:bodyPr wrap="square" lIns="0" tIns="0" rIns="0" bIns="0" rtlCol="0" anchor="ctr"/>
          <a:lstStyle/>
          <a:p>
            <a:pPr indent="0" marL="0">
              <a:buNone/>
            </a:pPr>
            <a:r>
              <a:rPr lang="en-US" sz="1200" b="1" dirty="0">
                <a:solidFill>
                  <a:srgbClr val="8A6A35"/>
                </a:solidFill>
                <a:latin typeface="BIZ UDPGothic" pitchFamily="34" charset="0"/>
                <a:ea typeface="BIZ UDPGothic" pitchFamily="34" charset="-122"/>
                <a:cs typeface="BIZ UDPGothic" pitchFamily="34" charset="-120"/>
              </a:rPr>
              <a:t>試験と引継ぎ</a:t>
            </a:r>
            <a:endParaRPr lang="en-US" sz="1200" dirty="0"/>
          </a:p>
        </p:txBody>
      </p:sp>
      <p:sp>
        <p:nvSpPr>
          <p:cNvPr id="64" name="Text 62"/>
          <p:cNvSpPr/>
          <p:nvPr/>
        </p:nvSpPr>
        <p:spPr>
          <a:xfrm>
            <a:off x="5074920" y="4270248"/>
            <a:ext cx="2598268" cy="457200"/>
          </a:xfrm>
          <a:prstGeom prst="rect">
            <a:avLst/>
          </a:prstGeom>
          <a:noFill/>
          <a:ln/>
        </p:spPr>
        <p:txBody>
          <a:bodyPr wrap="square" lIns="0" tIns="0" rIns="0" bIns="0" rtlCol="0" anchor="ctr"/>
          <a:lstStyle/>
          <a:p>
            <a:pPr indent="0" marL="0">
              <a:buNone/>
            </a:pPr>
            <a:r>
              <a:rPr lang="en-US" sz="1100" dirty="0">
                <a:solidFill>
                  <a:srgbClr val="243D54"/>
                </a:solidFill>
                <a:latin typeface="BIZ UDPGothic" pitchFamily="34" charset="0"/>
                <a:ea typeface="BIZ UDPGothic" pitchFamily="34" charset="-122"/>
                <a:cs typeface="BIZ UDPGothic" pitchFamily="34" charset="-120"/>
              </a:rPr>
              <a:t>未実施の試験や障害対応の手順を参照</a:t>
            </a:r>
            <a:endParaRPr lang="en-US" sz="1100" dirty="0"/>
          </a:p>
        </p:txBody>
      </p:sp>
      <p:sp>
        <p:nvSpPr>
          <p:cNvPr id="65" name="Text 63"/>
          <p:cNvSpPr/>
          <p:nvPr/>
        </p:nvSpPr>
        <p:spPr>
          <a:xfrm>
            <a:off x="3886200" y="4782312"/>
            <a:ext cx="1188720" cy="457200"/>
          </a:xfrm>
          <a:prstGeom prst="rect">
            <a:avLst/>
          </a:prstGeom>
          <a:noFill/>
          <a:ln/>
        </p:spPr>
        <p:txBody>
          <a:bodyPr wrap="square" lIns="0" tIns="0" rIns="0" bIns="0" rtlCol="0" anchor="ctr"/>
          <a:lstStyle/>
          <a:p>
            <a:pPr indent="0" marL="0">
              <a:buNone/>
            </a:pPr>
            <a:r>
              <a:rPr lang="en-US" sz="1200" b="1" dirty="0">
                <a:solidFill>
                  <a:srgbClr val="8A6A35"/>
                </a:solidFill>
                <a:latin typeface="BIZ UDPGothic" pitchFamily="34" charset="0"/>
                <a:ea typeface="BIZ UDPGothic" pitchFamily="34" charset="-122"/>
                <a:cs typeface="BIZ UDPGothic" pitchFamily="34" charset="-120"/>
              </a:rPr>
              <a:t>納品準備</a:t>
            </a:r>
            <a:endParaRPr lang="en-US" sz="1200" dirty="0"/>
          </a:p>
        </p:txBody>
      </p:sp>
      <p:sp>
        <p:nvSpPr>
          <p:cNvPr id="66" name="Text 64"/>
          <p:cNvSpPr/>
          <p:nvPr/>
        </p:nvSpPr>
        <p:spPr>
          <a:xfrm>
            <a:off x="5074920" y="4782312"/>
            <a:ext cx="2598268" cy="457200"/>
          </a:xfrm>
          <a:prstGeom prst="rect">
            <a:avLst/>
          </a:prstGeom>
          <a:noFill/>
          <a:ln/>
        </p:spPr>
        <p:txBody>
          <a:bodyPr wrap="square" lIns="0" tIns="0" rIns="0" bIns="0" rtlCol="0" anchor="ctr"/>
          <a:lstStyle/>
          <a:p>
            <a:pPr indent="0" marL="0">
              <a:buNone/>
            </a:pPr>
            <a:r>
              <a:rPr lang="en-US" sz="1100" dirty="0">
                <a:solidFill>
                  <a:srgbClr val="243D54"/>
                </a:solidFill>
                <a:latin typeface="BIZ UDPGothic" pitchFamily="34" charset="0"/>
                <a:ea typeface="BIZ UDPGothic" pitchFamily="34" charset="-122"/>
                <a:cs typeface="BIZ UDPGothic" pitchFamily="34" charset="-120"/>
              </a:rPr>
              <a:t>大きな表を別紙にし、同梱するファイルの一覧を作る</a:t>
            </a:r>
            <a:endParaRPr lang="en-US" sz="1100" dirty="0"/>
          </a:p>
        </p:txBody>
      </p:sp>
      <p:sp>
        <p:nvSpPr>
          <p:cNvPr id="67" name="Shape 65"/>
          <p:cNvSpPr/>
          <p:nvPr/>
        </p:nvSpPr>
        <p:spPr>
          <a:xfrm>
            <a:off x="7901788" y="2944368"/>
            <a:ext cx="3786988" cy="2286000"/>
          </a:xfrm>
          <a:prstGeom prst="rect">
            <a:avLst/>
          </a:prstGeom>
          <a:solidFill>
            <a:srgbClr val="FFFFFF"/>
          </a:solidFill>
          <a:ln w="9525">
            <a:solidFill>
              <a:srgbClr val="DCD5C6"/>
            </a:solidFill>
            <a:prstDash val="solid"/>
          </a:ln>
        </p:spPr>
      </p:sp>
      <p:sp>
        <p:nvSpPr>
          <p:cNvPr id="68" name="Text 66"/>
          <p:cNvSpPr/>
          <p:nvPr/>
        </p:nvSpPr>
        <p:spPr>
          <a:xfrm>
            <a:off x="8084668" y="3035808"/>
            <a:ext cx="3512668" cy="256032"/>
          </a:xfrm>
          <a:prstGeom prst="rect">
            <a:avLst/>
          </a:prstGeom>
          <a:noFill/>
          <a:ln/>
        </p:spPr>
        <p:txBody>
          <a:bodyPr wrap="square" lIns="0" tIns="0" rIns="0" bIns="0" rtlCol="0" anchor="t"/>
          <a:lstStyle/>
          <a:p>
            <a:pPr indent="0" marL="0">
              <a:buNone/>
            </a:pPr>
            <a:r>
              <a:rPr lang="en-US" sz="1200" b="1" dirty="0">
                <a:solidFill>
                  <a:srgbClr val="8A6A35"/>
                </a:solidFill>
                <a:latin typeface="BIZ UDPGothic" pitchFamily="34" charset="0"/>
                <a:ea typeface="BIZ UDPGothic" pitchFamily="34" charset="-122"/>
                <a:cs typeface="BIZ UDPGothic" pitchFamily="34" charset="-120"/>
              </a:rPr>
              <a:t>AIとの関係</a:t>
            </a:r>
            <a:endParaRPr lang="en-US" sz="1200" dirty="0"/>
          </a:p>
        </p:txBody>
      </p:sp>
      <p:sp>
        <p:nvSpPr>
          <p:cNvPr id="69" name="Text 67"/>
          <p:cNvSpPr/>
          <p:nvPr/>
        </p:nvSpPr>
        <p:spPr>
          <a:xfrm>
            <a:off x="8084668" y="3346704"/>
            <a:ext cx="3466948" cy="182880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43D54"/>
                </a:solidFill>
                <a:latin typeface="BIZ UDPGothic" pitchFamily="34" charset="0"/>
                <a:ea typeface="BIZ UDPGothic" pitchFamily="34" charset="-122"/>
                <a:cs typeface="BIZ UDPGothic" pitchFamily="34" charset="-120"/>
              </a:rPr>
              <a:t>AIエージェントから、読み取りと検証だけを呼び出せる接続口を用意</a:t>
            </a:r>
            <a:endParaRPr lang="en-US" sz="1100" dirty="0"/>
          </a:p>
          <a:p>
            <a:pPr marL="342900" indent="-342900">
              <a:spcAft>
                <a:spcPts val="500"/>
              </a:spcAft>
              <a:buSzPct val="100000"/>
              <a:buChar char="•"/>
            </a:pPr>
            <a:r>
              <a:rPr lang="en-US" sz="1100" dirty="0">
                <a:solidFill>
                  <a:srgbClr val="243D54"/>
                </a:solidFill>
                <a:latin typeface="BIZ UDPGothic" pitchFamily="34" charset="0"/>
                <a:ea typeface="BIZ UDPGothic" pitchFamily="34" charset="-122"/>
                <a:cs typeface="BIZ UDPGothic" pitchFamily="34" charset="-120"/>
              </a:rPr>
              <a:t>根拠になった表の範囲を指定でき、参照の失敗を隠さず示す</a:t>
            </a:r>
            <a:endParaRPr lang="en-US" sz="1100" dirty="0"/>
          </a:p>
          <a:p>
            <a:pPr marL="342900" indent="-342900">
              <a:spcAft>
                <a:spcPts val="500"/>
              </a:spcAft>
              <a:buSzPct val="100000"/>
              <a:buChar char="•"/>
            </a:pPr>
            <a:r>
              <a:rPr lang="en-US" sz="1100" dirty="0">
                <a:solidFill>
                  <a:srgbClr val="243D54"/>
                </a:solidFill>
                <a:latin typeface="BIZ UDPGothic" pitchFamily="34" charset="0"/>
                <a:ea typeface="BIZ UDPGothic" pitchFamily="34" charset="-122"/>
                <a:cs typeface="BIZ UDPGothic" pitchFamily="34" charset="-120"/>
              </a:rPr>
              <a:t>表が変わっても、周囲の説明文は自動で書き換えない</a:t>
            </a:r>
            <a:endParaRPr lang="en-US" sz="1100" dirty="0"/>
          </a:p>
          <a:p>
            <a:pPr marL="342900" indent="-342900">
              <a:spcAft>
                <a:spcPts val="500"/>
              </a:spcAft>
              <a:buSzPct val="100000"/>
              <a:buChar char="•"/>
            </a:pPr>
            <a:r>
              <a:rPr lang="en-US" sz="1100" dirty="0">
                <a:solidFill>
                  <a:srgbClr val="243D54"/>
                </a:solidFill>
                <a:latin typeface="BIZ UDPGothic" pitchFamily="34" charset="0"/>
                <a:ea typeface="BIZ UDPGothic" pitchFamily="34" charset="-122"/>
                <a:cs typeface="BIZ UDPGothic" pitchFamily="34" charset="-120"/>
              </a:rPr>
              <a:t>AIの要約が妥当か、公開してよい出典かは人が確かめる</a:t>
            </a:r>
            <a:endParaRPr lang="en-US" sz="1100" dirty="0"/>
          </a:p>
        </p:txBody>
      </p:sp>
      <p:sp>
        <p:nvSpPr>
          <p:cNvPr id="70" name="Shape 68"/>
          <p:cNvSpPr/>
          <p:nvPr/>
        </p:nvSpPr>
        <p:spPr>
          <a:xfrm>
            <a:off x="3886200" y="5440680"/>
            <a:ext cx="7802575" cy="548640"/>
          </a:xfrm>
          <a:prstGeom prst="rect">
            <a:avLst/>
          </a:prstGeom>
          <a:solidFill>
            <a:srgbClr val="243D54"/>
          </a:solidFill>
          <a:ln/>
        </p:spPr>
      </p:sp>
      <p:sp>
        <p:nvSpPr>
          <p:cNvPr id="71" name="Shape 69"/>
          <p:cNvSpPr/>
          <p:nvPr/>
        </p:nvSpPr>
        <p:spPr>
          <a:xfrm>
            <a:off x="3886200" y="5440680"/>
            <a:ext cx="64008" cy="548640"/>
          </a:xfrm>
          <a:prstGeom prst="rect">
            <a:avLst/>
          </a:prstGeom>
          <a:solidFill>
            <a:srgbClr val="C4A06D"/>
          </a:solidFill>
          <a:ln/>
        </p:spPr>
      </p:sp>
      <p:sp>
        <p:nvSpPr>
          <p:cNvPr id="72" name="Text 70"/>
          <p:cNvSpPr/>
          <p:nvPr/>
        </p:nvSpPr>
        <p:spPr>
          <a:xfrm>
            <a:off x="4114800" y="5440680"/>
            <a:ext cx="7482535" cy="548640"/>
          </a:xfrm>
          <a:prstGeom prst="rect">
            <a:avLst/>
          </a:prstGeom>
          <a:noFill/>
          <a:ln/>
        </p:spPr>
        <p:txBody>
          <a:bodyPr wrap="square" lIns="0" tIns="0" rIns="0" bIns="0" rtlCol="0" anchor="ctr"/>
          <a:lstStyle/>
          <a:p>
            <a:pPr indent="0" marL="0">
              <a:buNone/>
            </a:pPr>
            <a:r>
              <a:rPr lang="en-US" sz="1300" b="1" dirty="0">
                <a:solidFill>
                  <a:srgbClr val="F5F1E8"/>
                </a:solidFill>
                <a:latin typeface="BIZ UDPGothic" pitchFamily="34" charset="0"/>
                <a:ea typeface="BIZ UDPGothic" pitchFamily="34" charset="-122"/>
                <a:cs typeface="BIZ UDPGothic" pitchFamily="34" charset="-120"/>
              </a:rPr>
              <a:t>SHOの構想：表に加えて画像や階層構造も扱い、出典を確かめながら文書と添付へ段階的に移す。</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0" y="0"/>
            <a:ext cx="3520440" cy="6858000"/>
          </a:xfrm>
          <a:prstGeom prst="rect">
            <a:avLst/>
          </a:prstGeom>
          <a:solidFill>
            <a:srgbClr val="2B4834"/>
          </a:solidFill>
          <a:ln/>
        </p:spPr>
      </p:sp>
      <p:sp>
        <p:nvSpPr>
          <p:cNvPr id="3" name="Text 1"/>
          <p:cNvSpPr/>
          <p:nvPr/>
        </p:nvSpPr>
        <p:spPr>
          <a:xfrm>
            <a:off x="411480" y="292608"/>
            <a:ext cx="2743200" cy="228600"/>
          </a:xfrm>
          <a:prstGeom prst="rect">
            <a:avLst/>
          </a:prstGeom>
          <a:noFill/>
          <a:ln/>
        </p:spPr>
        <p:txBody>
          <a:bodyPr wrap="square" lIns="0" tIns="0" rIns="0" bIns="0" rtlCol="0" anchor="t"/>
          <a:lstStyle/>
          <a:p>
            <a:pPr indent="0" marL="0">
              <a:buNone/>
            </a:pPr>
            <a:r>
              <a:rPr lang="en-US" sz="950" b="1" dirty="0">
                <a:solidFill>
                  <a:srgbClr val="C4A06D"/>
                </a:solidFill>
                <a:latin typeface="BIZ UDPGothic" pitchFamily="34" charset="0"/>
                <a:ea typeface="BIZ UDPGothic" pitchFamily="34" charset="-122"/>
                <a:cs typeface="BIZ UDPGothic" pitchFamily="34" charset="-120"/>
              </a:rPr>
              <a:t>製品  </a:t>
            </a:r>
            <a:pPr indent="0" marL="0">
              <a:buNone/>
            </a:pPr>
            <a:r>
              <a:rPr lang="en-US" sz="950" dirty="0">
                <a:solidFill>
                  <a:srgbClr val="C9D3D9"/>
                </a:solidFill>
                <a:latin typeface="Georgia" pitchFamily="34" charset="0"/>
                <a:ea typeface="Georgia" pitchFamily="34" charset="-122"/>
                <a:cs typeface="Georgia" pitchFamily="34" charset="-120"/>
              </a:rPr>
              <a:t>2 / 6</a:t>
            </a:r>
            <a:endParaRPr lang="en-US" sz="950" dirty="0"/>
          </a:p>
        </p:txBody>
      </p:sp>
      <p:sp>
        <p:nvSpPr>
          <p:cNvPr id="4" name="Shape 2"/>
          <p:cNvSpPr/>
          <p:nvPr/>
        </p:nvSpPr>
        <p:spPr>
          <a:xfrm>
            <a:off x="411480" y="1481328"/>
            <a:ext cx="373532" cy="73152"/>
          </a:xfrm>
          <a:prstGeom prst="rect">
            <a:avLst/>
          </a:prstGeom>
          <a:solidFill>
            <a:srgbClr val="C4A06D"/>
          </a:solidFill>
          <a:ln/>
        </p:spPr>
      </p:sp>
      <p:sp>
        <p:nvSpPr>
          <p:cNvPr id="5" name="Shape 3"/>
          <p:cNvSpPr/>
          <p:nvPr/>
        </p:nvSpPr>
        <p:spPr>
          <a:xfrm>
            <a:off x="906628" y="1481328"/>
            <a:ext cx="373532" cy="73152"/>
          </a:xfrm>
          <a:prstGeom prst="rect">
            <a:avLst/>
          </a:prstGeom>
          <a:solidFill>
            <a:srgbClr val="C4A06D"/>
          </a:solidFill>
          <a:ln/>
        </p:spPr>
      </p:sp>
      <p:sp>
        <p:nvSpPr>
          <p:cNvPr id="6" name="Shape 4"/>
          <p:cNvSpPr/>
          <p:nvPr/>
        </p:nvSpPr>
        <p:spPr>
          <a:xfrm>
            <a:off x="411480" y="1335024"/>
            <a:ext cx="373532" cy="73152"/>
          </a:xfrm>
          <a:prstGeom prst="rect">
            <a:avLst/>
          </a:prstGeom>
          <a:solidFill>
            <a:srgbClr val="C4A06D"/>
          </a:solidFill>
          <a:ln/>
        </p:spPr>
      </p:sp>
      <p:sp>
        <p:nvSpPr>
          <p:cNvPr id="7" name="Shape 5"/>
          <p:cNvSpPr/>
          <p:nvPr/>
        </p:nvSpPr>
        <p:spPr>
          <a:xfrm>
            <a:off x="906628" y="1335024"/>
            <a:ext cx="373532" cy="73152"/>
          </a:xfrm>
          <a:prstGeom prst="rect">
            <a:avLst/>
          </a:prstGeom>
          <a:solidFill>
            <a:srgbClr val="C4A06D"/>
          </a:solidFill>
          <a:ln/>
        </p:spPr>
      </p:sp>
      <p:sp>
        <p:nvSpPr>
          <p:cNvPr id="8" name="Shape 6"/>
          <p:cNvSpPr/>
          <p:nvPr/>
        </p:nvSpPr>
        <p:spPr>
          <a:xfrm>
            <a:off x="411480" y="1188720"/>
            <a:ext cx="373532" cy="73152"/>
          </a:xfrm>
          <a:prstGeom prst="rect">
            <a:avLst/>
          </a:prstGeom>
          <a:solidFill>
            <a:srgbClr val="C4A06D"/>
          </a:solidFill>
          <a:ln/>
        </p:spPr>
      </p:sp>
      <p:sp>
        <p:nvSpPr>
          <p:cNvPr id="9" name="Shape 7"/>
          <p:cNvSpPr/>
          <p:nvPr/>
        </p:nvSpPr>
        <p:spPr>
          <a:xfrm>
            <a:off x="906628" y="1188720"/>
            <a:ext cx="373532" cy="73152"/>
          </a:xfrm>
          <a:prstGeom prst="rect">
            <a:avLst/>
          </a:prstGeom>
          <a:solidFill>
            <a:srgbClr val="C4A06D"/>
          </a:solidFill>
          <a:ln/>
        </p:spPr>
      </p:sp>
      <p:sp>
        <p:nvSpPr>
          <p:cNvPr id="10" name="Shape 8"/>
          <p:cNvSpPr/>
          <p:nvPr/>
        </p:nvSpPr>
        <p:spPr>
          <a:xfrm>
            <a:off x="411480" y="1042416"/>
            <a:ext cx="868680" cy="73152"/>
          </a:xfrm>
          <a:prstGeom prst="rect">
            <a:avLst/>
          </a:prstGeom>
          <a:solidFill>
            <a:srgbClr val="C4A06D"/>
          </a:solidFill>
          <a:ln/>
        </p:spPr>
      </p:sp>
      <p:sp>
        <p:nvSpPr>
          <p:cNvPr id="11" name="Shape 9"/>
          <p:cNvSpPr/>
          <p:nvPr/>
        </p:nvSpPr>
        <p:spPr>
          <a:xfrm>
            <a:off x="411480" y="896112"/>
            <a:ext cx="868680" cy="73152"/>
          </a:xfrm>
          <a:prstGeom prst="rect">
            <a:avLst/>
          </a:prstGeom>
          <a:solidFill>
            <a:srgbClr val="C4A06D"/>
          </a:solidFill>
          <a:ln/>
        </p:spPr>
      </p:sp>
      <p:sp>
        <p:nvSpPr>
          <p:cNvPr id="12" name="Shape 10"/>
          <p:cNvSpPr/>
          <p:nvPr/>
        </p:nvSpPr>
        <p:spPr>
          <a:xfrm>
            <a:off x="411480" y="749808"/>
            <a:ext cx="373532" cy="73152"/>
          </a:xfrm>
          <a:prstGeom prst="rect">
            <a:avLst/>
          </a:prstGeom>
          <a:solidFill>
            <a:srgbClr val="C4A06D"/>
          </a:solidFill>
          <a:ln/>
        </p:spPr>
      </p:sp>
      <p:sp>
        <p:nvSpPr>
          <p:cNvPr id="13" name="Shape 11"/>
          <p:cNvSpPr/>
          <p:nvPr/>
        </p:nvSpPr>
        <p:spPr>
          <a:xfrm>
            <a:off x="906628" y="749808"/>
            <a:ext cx="373532" cy="73152"/>
          </a:xfrm>
          <a:prstGeom prst="rect">
            <a:avLst/>
          </a:prstGeom>
          <a:solidFill>
            <a:srgbClr val="C4A06D"/>
          </a:solidFill>
          <a:ln/>
        </p:spPr>
      </p:sp>
      <p:sp>
        <p:nvSpPr>
          <p:cNvPr id="14" name="Text 12"/>
          <p:cNvSpPr/>
          <p:nvPr/>
        </p:nvSpPr>
        <p:spPr>
          <a:xfrm>
            <a:off x="1508760" y="694944"/>
            <a:ext cx="731520" cy="548640"/>
          </a:xfrm>
          <a:prstGeom prst="rect">
            <a:avLst/>
          </a:prstGeom>
          <a:noFill/>
          <a:ln/>
        </p:spPr>
        <p:txBody>
          <a:bodyPr wrap="square" lIns="0" tIns="0" rIns="0" bIns="0" rtlCol="0" anchor="ctr"/>
          <a:lstStyle/>
          <a:p>
            <a:pPr indent="0" marL="0">
              <a:buNone/>
            </a:pPr>
            <a:r>
              <a:rPr lang="en-US" sz="3200" b="1" dirty="0">
                <a:solidFill>
                  <a:srgbClr val="F5F1E8"/>
                </a:solidFill>
                <a:latin typeface="BIZ UDPGothic" pitchFamily="34" charset="0"/>
                <a:ea typeface="BIZ UDPGothic" pitchFamily="34" charset="-122"/>
                <a:cs typeface="BIZ UDPGothic" pitchFamily="34" charset="-120"/>
              </a:rPr>
              <a:t>萃</a:t>
            </a:r>
            <a:endParaRPr lang="en-US" sz="3200" dirty="0"/>
          </a:p>
        </p:txBody>
      </p:sp>
      <p:sp>
        <p:nvSpPr>
          <p:cNvPr id="15" name="Text 13"/>
          <p:cNvSpPr/>
          <p:nvPr/>
        </p:nvSpPr>
        <p:spPr>
          <a:xfrm>
            <a:off x="1508760" y="1261872"/>
            <a:ext cx="1920240" cy="274320"/>
          </a:xfrm>
          <a:prstGeom prst="rect">
            <a:avLst/>
          </a:prstGeom>
          <a:noFill/>
          <a:ln/>
        </p:spPr>
        <p:txBody>
          <a:bodyPr wrap="square" lIns="0" tIns="0" rIns="0" bIns="0" rtlCol="0" anchor="t"/>
          <a:lstStyle/>
          <a:p>
            <a:pPr indent="0" marL="0">
              <a:buNone/>
            </a:pPr>
            <a:r>
              <a:rPr lang="en-US" sz="1000" dirty="0">
                <a:solidFill>
                  <a:srgbClr val="C9D3D9"/>
                </a:solidFill>
                <a:latin typeface="BIZ UDPGothic" pitchFamily="34" charset="0"/>
                <a:ea typeface="BIZ UDPGothic" pitchFamily="34" charset="-122"/>
                <a:cs typeface="BIZ UDPGothic" pitchFamily="34" charset="-120"/>
              </a:rPr>
              <a:t>第45卦　沢地萃</a:t>
            </a:r>
            <a:endParaRPr lang="en-US" sz="1000" dirty="0"/>
          </a:p>
        </p:txBody>
      </p:sp>
      <p:sp>
        <p:nvSpPr>
          <p:cNvPr id="16" name="Text 14"/>
          <p:cNvSpPr/>
          <p:nvPr/>
        </p:nvSpPr>
        <p:spPr>
          <a:xfrm>
            <a:off x="411480" y="1737360"/>
            <a:ext cx="3017520" cy="457200"/>
          </a:xfrm>
          <a:prstGeom prst="rect">
            <a:avLst/>
          </a:prstGeom>
          <a:noFill/>
          <a:ln/>
        </p:spPr>
        <p:txBody>
          <a:bodyPr wrap="square" lIns="0" tIns="0" rIns="0" bIns="0" rtlCol="0" anchor="ctr"/>
          <a:lstStyle/>
          <a:p>
            <a:pPr indent="0" marL="0">
              <a:buNone/>
            </a:pPr>
            <a:r>
              <a:rPr lang="en-US" sz="2200" b="1" dirty="0">
                <a:solidFill>
                  <a:srgbClr val="F5F1E8"/>
                </a:solidFill>
                <a:latin typeface="Georgia" pitchFamily="34" charset="0"/>
                <a:ea typeface="Georgia" pitchFamily="34" charset="-122"/>
                <a:cs typeface="Georgia" pitchFamily="34" charset="-120"/>
              </a:rPr>
              <a:t>SUI Sensemaking</a:t>
            </a:r>
            <a:endParaRPr lang="en-US" sz="2200" dirty="0"/>
          </a:p>
        </p:txBody>
      </p:sp>
      <p:sp>
        <p:nvSpPr>
          <p:cNvPr id="17" name="Text 15"/>
          <p:cNvSpPr/>
          <p:nvPr/>
        </p:nvSpPr>
        <p:spPr>
          <a:xfrm>
            <a:off x="411480" y="2194560"/>
            <a:ext cx="2926080" cy="274320"/>
          </a:xfrm>
          <a:prstGeom prst="rect">
            <a:avLst/>
          </a:prstGeom>
          <a:noFill/>
          <a:ln/>
        </p:spPr>
        <p:txBody>
          <a:bodyPr wrap="square" lIns="0" tIns="0" rIns="0" bIns="0" rtlCol="0" anchor="t"/>
          <a:lstStyle/>
          <a:p>
            <a:pPr indent="0" marL="0">
              <a:buNone/>
            </a:pPr>
            <a:r>
              <a:rPr lang="en-US" sz="1200" b="1" dirty="0">
                <a:solidFill>
                  <a:srgbClr val="C4A06D"/>
                </a:solidFill>
                <a:latin typeface="BIZ UDPGothic" pitchFamily="34" charset="0"/>
                <a:ea typeface="BIZ UDPGothic" pitchFamily="34" charset="-122"/>
                <a:cs typeface="BIZ UDPGothic" pitchFamily="34" charset="-120"/>
              </a:rPr>
              <a:t>意味の探索</a:t>
            </a:r>
            <a:endParaRPr lang="en-US" sz="1200" dirty="0"/>
          </a:p>
        </p:txBody>
      </p:sp>
      <p:sp>
        <p:nvSpPr>
          <p:cNvPr id="18" name="Text 16"/>
          <p:cNvSpPr/>
          <p:nvPr/>
        </p:nvSpPr>
        <p:spPr>
          <a:xfrm>
            <a:off x="411480" y="2606040"/>
            <a:ext cx="2743200" cy="201168"/>
          </a:xfrm>
          <a:prstGeom prst="rect">
            <a:avLst/>
          </a:prstGeom>
          <a:noFill/>
          <a:ln/>
        </p:spPr>
        <p:txBody>
          <a:bodyPr wrap="square" lIns="0" tIns="0" rIns="0" bIns="0" rtlCol="0" anchor="t"/>
          <a:lstStyle/>
          <a:p>
            <a:pPr indent="0" marL="0">
              <a:buNone/>
            </a:pPr>
            <a:r>
              <a:rPr lang="en-US" sz="900" b="1" dirty="0">
                <a:solidFill>
                  <a:srgbClr val="A7B7A7"/>
                </a:solidFill>
                <a:latin typeface="BIZ UDPGothic" pitchFamily="34" charset="0"/>
                <a:ea typeface="BIZ UDPGothic" pitchFamily="34" charset="-122"/>
                <a:cs typeface="BIZ UDPGothic" pitchFamily="34" charset="-120"/>
              </a:rPr>
              <a:t>目的</a:t>
            </a:r>
            <a:endParaRPr lang="en-US" sz="900" dirty="0"/>
          </a:p>
        </p:txBody>
      </p:sp>
      <p:sp>
        <p:nvSpPr>
          <p:cNvPr id="19" name="Text 17"/>
          <p:cNvSpPr/>
          <p:nvPr/>
        </p:nvSpPr>
        <p:spPr>
          <a:xfrm>
            <a:off x="411480" y="2807208"/>
            <a:ext cx="2788920" cy="384048"/>
          </a:xfrm>
          <a:prstGeom prst="rect">
            <a:avLst/>
          </a:prstGeom>
          <a:noFill/>
          <a:ln/>
        </p:spPr>
        <p:txBody>
          <a:bodyPr wrap="square" lIns="0" tIns="0" rIns="0" bIns="0" rtlCol="0" anchor="t"/>
          <a:lstStyle/>
          <a:p>
            <a:pPr indent="0" marL="0">
              <a:buNone/>
            </a:pPr>
            <a:r>
              <a:rPr lang="en-US" sz="1050" dirty="0">
                <a:solidFill>
                  <a:srgbClr val="F5F1E8"/>
                </a:solidFill>
                <a:latin typeface="BIZ UDPGothic" pitchFamily="34" charset="0"/>
                <a:ea typeface="BIZ UDPGothic" pitchFamily="34" charset="-122"/>
                <a:cs typeface="BIZ UDPGothic" pitchFamily="34" charset="-120"/>
              </a:rPr>
              <a:t>未整理の情報から、関係・仮説・構造を形成し、その過程を保つ</a:t>
            </a:r>
            <a:endParaRPr lang="en-US" sz="1050" dirty="0"/>
          </a:p>
        </p:txBody>
      </p:sp>
      <p:sp>
        <p:nvSpPr>
          <p:cNvPr id="20" name="Text 18"/>
          <p:cNvSpPr/>
          <p:nvPr/>
        </p:nvSpPr>
        <p:spPr>
          <a:xfrm>
            <a:off x="411480" y="3273552"/>
            <a:ext cx="2743200" cy="201168"/>
          </a:xfrm>
          <a:prstGeom prst="rect">
            <a:avLst/>
          </a:prstGeom>
          <a:noFill/>
          <a:ln/>
        </p:spPr>
        <p:txBody>
          <a:bodyPr wrap="square" lIns="0" tIns="0" rIns="0" bIns="0" rtlCol="0" anchor="t"/>
          <a:lstStyle/>
          <a:p>
            <a:pPr indent="0" marL="0">
              <a:buNone/>
            </a:pPr>
            <a:r>
              <a:rPr lang="en-US" sz="900" b="1" dirty="0">
                <a:solidFill>
                  <a:srgbClr val="A7B7A7"/>
                </a:solidFill>
                <a:latin typeface="BIZ UDPGothic" pitchFamily="34" charset="0"/>
                <a:ea typeface="BIZ UDPGothic" pitchFamily="34" charset="-122"/>
                <a:cs typeface="BIZ UDPGothic" pitchFamily="34" charset="-120"/>
              </a:rPr>
              <a:t>方法の背景</a:t>
            </a:r>
            <a:endParaRPr lang="en-US" sz="900" dirty="0"/>
          </a:p>
        </p:txBody>
      </p:sp>
      <p:sp>
        <p:nvSpPr>
          <p:cNvPr id="21" name="Text 19"/>
          <p:cNvSpPr/>
          <p:nvPr/>
        </p:nvSpPr>
        <p:spPr>
          <a:xfrm>
            <a:off x="411480" y="3474720"/>
            <a:ext cx="2788920" cy="548640"/>
          </a:xfrm>
          <a:prstGeom prst="rect">
            <a:avLst/>
          </a:prstGeom>
          <a:noFill/>
          <a:ln/>
        </p:spPr>
        <p:txBody>
          <a:bodyPr wrap="square" lIns="0" tIns="0" rIns="0" bIns="0" rtlCol="0" anchor="t"/>
          <a:lstStyle/>
          <a:p>
            <a:pPr indent="0" marL="0">
              <a:buNone/>
            </a:pPr>
            <a:r>
              <a:rPr lang="en-US" sz="1050" dirty="0">
                <a:solidFill>
                  <a:srgbClr val="F5F1E8"/>
                </a:solidFill>
                <a:latin typeface="BIZ UDPGothic" pitchFamily="34" charset="0"/>
                <a:ea typeface="BIZ UDPGothic" pitchFamily="34" charset="-122"/>
                <a:cs typeface="BIZ UDPGothic" pitchFamily="34" charset="-120"/>
              </a:rPr>
              <a:t>川喜田二郎『発想法』（1967）の、断片を下から統合し早すぎる収束を避ける考え方</a:t>
            </a:r>
            <a:endParaRPr lang="en-US" sz="1050" dirty="0"/>
          </a:p>
        </p:txBody>
      </p:sp>
      <p:sp>
        <p:nvSpPr>
          <p:cNvPr id="22" name="Text 20"/>
          <p:cNvSpPr/>
          <p:nvPr/>
        </p:nvSpPr>
        <p:spPr>
          <a:xfrm>
            <a:off x="411480" y="4105656"/>
            <a:ext cx="2743200" cy="201168"/>
          </a:xfrm>
          <a:prstGeom prst="rect">
            <a:avLst/>
          </a:prstGeom>
          <a:noFill/>
          <a:ln/>
        </p:spPr>
        <p:txBody>
          <a:bodyPr wrap="square" lIns="0" tIns="0" rIns="0" bIns="0" rtlCol="0" anchor="t"/>
          <a:lstStyle/>
          <a:p>
            <a:pPr indent="0" marL="0">
              <a:buNone/>
            </a:pPr>
            <a:r>
              <a:rPr lang="en-US" sz="900" b="1" dirty="0">
                <a:solidFill>
                  <a:srgbClr val="A7B7A7"/>
                </a:solidFill>
                <a:latin typeface="BIZ UDPGothic" pitchFamily="34" charset="0"/>
                <a:ea typeface="BIZ UDPGothic" pitchFamily="34" charset="-122"/>
                <a:cs typeface="BIZ UDPGothic" pitchFamily="34" charset="-120"/>
              </a:rPr>
              <a:t>卦の像</a:t>
            </a:r>
            <a:endParaRPr lang="en-US" sz="900" dirty="0"/>
          </a:p>
        </p:txBody>
      </p:sp>
      <p:sp>
        <p:nvSpPr>
          <p:cNvPr id="23" name="Text 21"/>
          <p:cNvSpPr/>
          <p:nvPr/>
        </p:nvSpPr>
        <p:spPr>
          <a:xfrm>
            <a:off x="411480" y="4306824"/>
            <a:ext cx="2788920" cy="384048"/>
          </a:xfrm>
          <a:prstGeom prst="rect">
            <a:avLst/>
          </a:prstGeom>
          <a:noFill/>
          <a:ln/>
        </p:spPr>
        <p:txBody>
          <a:bodyPr wrap="square" lIns="0" tIns="0" rIns="0" bIns="0" rtlCol="0" anchor="t"/>
          <a:lstStyle/>
          <a:p>
            <a:pPr indent="0" marL="0">
              <a:buNone/>
            </a:pPr>
            <a:r>
              <a:rPr lang="en-US" sz="1050" dirty="0">
                <a:solidFill>
                  <a:srgbClr val="F5F1E8"/>
                </a:solidFill>
                <a:latin typeface="BIZ UDPGothic" pitchFamily="34" charset="0"/>
                <a:ea typeface="BIZ UDPGothic" pitchFamily="34" charset="-122"/>
                <a:cs typeface="BIZ UDPGothic" pitchFamily="34" charset="-120"/>
              </a:rPr>
              <a:t>萃は人や物が集まる像。散らばった観測を寄せ集め、意味の島を生む</a:t>
            </a:r>
            <a:endParaRPr lang="en-US" sz="1050" dirty="0"/>
          </a:p>
        </p:txBody>
      </p:sp>
      <p:sp>
        <p:nvSpPr>
          <p:cNvPr id="24" name="Shape 22"/>
          <p:cNvSpPr/>
          <p:nvPr/>
        </p:nvSpPr>
        <p:spPr>
          <a:xfrm>
            <a:off x="320040" y="5029200"/>
            <a:ext cx="2880360" cy="1600200"/>
          </a:xfrm>
          <a:prstGeom prst="rect">
            <a:avLst/>
          </a:prstGeom>
          <a:solidFill>
            <a:srgbClr val="000000">
              <a:alpha val="22000"/>
            </a:srgbClr>
          </a:solidFill>
          <a:ln/>
        </p:spPr>
      </p:sp>
      <p:sp>
        <p:nvSpPr>
          <p:cNvPr id="25" name="Text 23"/>
          <p:cNvSpPr/>
          <p:nvPr/>
        </p:nvSpPr>
        <p:spPr>
          <a:xfrm>
            <a:off x="457200" y="5120640"/>
            <a:ext cx="2651760" cy="201168"/>
          </a:xfrm>
          <a:prstGeom prst="rect">
            <a:avLst/>
          </a:prstGeom>
          <a:noFill/>
          <a:ln/>
        </p:spPr>
        <p:txBody>
          <a:bodyPr wrap="square" lIns="0" tIns="0" rIns="0" bIns="0" rtlCol="0" anchor="t"/>
          <a:lstStyle/>
          <a:p>
            <a:pPr indent="0" marL="0">
              <a:buNone/>
            </a:pPr>
            <a:r>
              <a:rPr lang="en-US" sz="900" b="1" dirty="0">
                <a:solidFill>
                  <a:srgbClr val="C4A06D"/>
                </a:solidFill>
                <a:latin typeface="BIZ UDPGothic" pitchFamily="34" charset="0"/>
                <a:ea typeface="BIZ UDPGothic" pitchFamily="34" charset="-122"/>
                <a:cs typeface="BIZ UDPGothic" pitchFamily="34" charset="-120"/>
              </a:rPr>
              <a:t>確認できていること</a:t>
            </a:r>
            <a:endParaRPr lang="en-US" sz="900" dirty="0"/>
          </a:p>
        </p:txBody>
      </p:sp>
      <p:sp>
        <p:nvSpPr>
          <p:cNvPr id="26" name="Text 24"/>
          <p:cNvSpPr/>
          <p:nvPr/>
        </p:nvSpPr>
        <p:spPr>
          <a:xfrm>
            <a:off x="457200" y="5321808"/>
            <a:ext cx="2651760" cy="566928"/>
          </a:xfrm>
          <a:prstGeom prst="rect">
            <a:avLst/>
          </a:prstGeom>
          <a:noFill/>
          <a:ln/>
        </p:spPr>
        <p:txBody>
          <a:bodyPr wrap="square" lIns="0" tIns="0" rIns="0" bIns="0" rtlCol="0" anchor="t"/>
          <a:lstStyle/>
          <a:p>
            <a:pPr indent="0" marL="0">
              <a:buNone/>
            </a:pPr>
            <a:r>
              <a:rPr lang="en-US" sz="1000" dirty="0">
                <a:solidFill>
                  <a:srgbClr val="F5F1E8"/>
                </a:solidFill>
                <a:latin typeface="BIZ UDPGothic" pitchFamily="34" charset="0"/>
                <a:ea typeface="BIZ UDPGothic" pitchFamily="34" charset="-122"/>
                <a:cs typeface="BIZ UDPGothic" pitchFamily="34" charset="-120"/>
              </a:rPr>
              <a:t>カード・島・保留の印・まとめた理由・元のカードへ戻る経路。TAIで観測本文との対応を照合</a:t>
            </a:r>
            <a:endParaRPr lang="en-US" sz="1000" dirty="0"/>
          </a:p>
        </p:txBody>
      </p:sp>
      <p:sp>
        <p:nvSpPr>
          <p:cNvPr id="27" name="Text 25"/>
          <p:cNvSpPr/>
          <p:nvPr/>
        </p:nvSpPr>
        <p:spPr>
          <a:xfrm>
            <a:off x="457200" y="5907024"/>
            <a:ext cx="2651760" cy="201168"/>
          </a:xfrm>
          <a:prstGeom prst="rect">
            <a:avLst/>
          </a:prstGeom>
          <a:noFill/>
          <a:ln/>
        </p:spPr>
        <p:txBody>
          <a:bodyPr wrap="square" lIns="0" tIns="0" rIns="0" bIns="0" rtlCol="0" anchor="t"/>
          <a:lstStyle/>
          <a:p>
            <a:pPr indent="0" marL="0">
              <a:buNone/>
            </a:pPr>
            <a:r>
              <a:rPr lang="en-US" sz="900" b="1" dirty="0">
                <a:solidFill>
                  <a:srgbClr val="E0A890"/>
                </a:solidFill>
                <a:latin typeface="BIZ UDPGothic" pitchFamily="34" charset="0"/>
                <a:ea typeface="BIZ UDPGothic" pitchFamily="34" charset="-122"/>
                <a:cs typeface="BIZ UDPGothic" pitchFamily="34" charset="-120"/>
              </a:rPr>
              <a:t>まだ確認していないこと</a:t>
            </a:r>
            <a:endParaRPr lang="en-US" sz="900" dirty="0"/>
          </a:p>
        </p:txBody>
      </p:sp>
      <p:sp>
        <p:nvSpPr>
          <p:cNvPr id="28" name="Text 26"/>
          <p:cNvSpPr/>
          <p:nvPr/>
        </p:nvSpPr>
        <p:spPr>
          <a:xfrm>
            <a:off x="457200" y="6108192"/>
            <a:ext cx="2651760" cy="475488"/>
          </a:xfrm>
          <a:prstGeom prst="rect">
            <a:avLst/>
          </a:prstGeom>
          <a:noFill/>
          <a:ln/>
        </p:spPr>
        <p:txBody>
          <a:bodyPr wrap="square" lIns="0" tIns="0" rIns="0" bIns="0" rtlCol="0" anchor="t"/>
          <a:lstStyle/>
          <a:p>
            <a:pPr indent="0" marL="0">
              <a:buNone/>
            </a:pPr>
            <a:r>
              <a:rPr lang="en-US" sz="1000" dirty="0">
                <a:solidFill>
                  <a:srgbClr val="F5F1E8"/>
                </a:solidFill>
                <a:latin typeface="BIZ UDPGothic" pitchFamily="34" charset="0"/>
                <a:ea typeface="BIZ UDPGothic" pitchFamily="34" charset="-122"/>
                <a:cs typeface="BIZ UDPGothic" pitchFamily="34" charset="-120"/>
              </a:rPr>
              <a:t>外部利用者による検証と、人による意味の受理</a:t>
            </a:r>
            <a:endParaRPr lang="en-US" sz="1000" dirty="0"/>
          </a:p>
        </p:txBody>
      </p:sp>
      <p:sp>
        <p:nvSpPr>
          <p:cNvPr id="29" name="Text 27"/>
          <p:cNvSpPr/>
          <p:nvPr/>
        </p:nvSpPr>
        <p:spPr>
          <a:xfrm>
            <a:off x="3886200" y="274320"/>
            <a:ext cx="780257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a:t>
            </a:r>
            <a:endParaRPr lang="en-US" sz="950" dirty="0"/>
          </a:p>
        </p:txBody>
      </p:sp>
      <p:sp>
        <p:nvSpPr>
          <p:cNvPr id="30" name="Text 28"/>
          <p:cNvSpPr/>
          <p:nvPr/>
        </p:nvSpPr>
        <p:spPr>
          <a:xfrm>
            <a:off x="3886200" y="530352"/>
            <a:ext cx="780257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分からないことを、分からないまま扱う</a:t>
            </a:r>
            <a:endParaRPr lang="en-US" sz="2500" dirty="0"/>
          </a:p>
        </p:txBody>
      </p:sp>
      <p:sp>
        <p:nvSpPr>
          <p:cNvPr id="31" name="Text 29"/>
          <p:cNvSpPr/>
          <p:nvPr/>
        </p:nvSpPr>
        <p:spPr>
          <a:xfrm>
            <a:off x="3886200" y="1097280"/>
            <a:ext cx="780257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一つの正解へ早く収束すること自体を目的にしない。違和感や反証を失わず、形成された意味を後から辿り、組み替える。</a:t>
            </a:r>
            <a:endParaRPr lang="en-US" sz="1300" dirty="0"/>
          </a:p>
        </p:txBody>
      </p:sp>
      <p:sp>
        <p:nvSpPr>
          <p:cNvPr id="32" name="Text 30"/>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13</a:t>
            </a:r>
            <a:endParaRPr lang="en-US" sz="1000" dirty="0"/>
          </a:p>
        </p:txBody>
      </p:sp>
      <p:sp>
        <p:nvSpPr>
          <p:cNvPr id="33" name="Shape 31"/>
          <p:cNvSpPr/>
          <p:nvPr/>
        </p:nvSpPr>
        <p:spPr>
          <a:xfrm>
            <a:off x="3886200" y="1600200"/>
            <a:ext cx="3657600" cy="2331720"/>
          </a:xfrm>
          <a:prstGeom prst="rect">
            <a:avLst/>
          </a:prstGeom>
          <a:solidFill>
            <a:srgbClr val="FFFFFF"/>
          </a:solidFill>
          <a:ln w="9525">
            <a:solidFill>
              <a:srgbClr val="DCD5C6"/>
            </a:solidFill>
            <a:prstDash val="solid"/>
          </a:ln>
        </p:spPr>
      </p:sp>
      <p:sp>
        <p:nvSpPr>
          <p:cNvPr id="34" name="Shape 32"/>
          <p:cNvSpPr/>
          <p:nvPr/>
        </p:nvSpPr>
        <p:spPr>
          <a:xfrm>
            <a:off x="4069080" y="1801368"/>
            <a:ext cx="1737360" cy="1051560"/>
          </a:xfrm>
          <a:prstGeom prst="ellipse">
            <a:avLst/>
          </a:prstGeom>
          <a:solidFill>
            <a:srgbClr val="E6EEE6"/>
          </a:solidFill>
          <a:ln w="9525">
            <a:solidFill>
              <a:srgbClr val="4F7A5C"/>
            </a:solidFill>
            <a:prstDash val="dash"/>
          </a:ln>
        </p:spPr>
      </p:sp>
      <p:sp>
        <p:nvSpPr>
          <p:cNvPr id="35" name="Shape 33"/>
          <p:cNvSpPr/>
          <p:nvPr/>
        </p:nvSpPr>
        <p:spPr>
          <a:xfrm>
            <a:off x="4343400" y="2075688"/>
            <a:ext cx="420624" cy="246888"/>
          </a:xfrm>
          <a:prstGeom prst="rect">
            <a:avLst/>
          </a:prstGeom>
          <a:solidFill>
            <a:srgbClr val="FFFFFF"/>
          </a:solidFill>
          <a:ln w="9525">
            <a:solidFill>
              <a:srgbClr val="9BB09F"/>
            </a:solidFill>
            <a:prstDash val="solid"/>
          </a:ln>
        </p:spPr>
      </p:sp>
      <p:sp>
        <p:nvSpPr>
          <p:cNvPr id="36" name="Shape 34"/>
          <p:cNvSpPr/>
          <p:nvPr/>
        </p:nvSpPr>
        <p:spPr>
          <a:xfrm>
            <a:off x="4937760" y="2258568"/>
            <a:ext cx="420624" cy="246888"/>
          </a:xfrm>
          <a:prstGeom prst="rect">
            <a:avLst/>
          </a:prstGeom>
          <a:solidFill>
            <a:srgbClr val="FFFFFF"/>
          </a:solidFill>
          <a:ln w="9525">
            <a:solidFill>
              <a:srgbClr val="9BB09F"/>
            </a:solidFill>
            <a:prstDash val="solid"/>
          </a:ln>
        </p:spPr>
      </p:sp>
      <p:sp>
        <p:nvSpPr>
          <p:cNvPr id="37" name="Shape 35"/>
          <p:cNvSpPr/>
          <p:nvPr/>
        </p:nvSpPr>
        <p:spPr>
          <a:xfrm>
            <a:off x="4526280" y="2395728"/>
            <a:ext cx="420624" cy="246888"/>
          </a:xfrm>
          <a:prstGeom prst="rect">
            <a:avLst/>
          </a:prstGeom>
          <a:solidFill>
            <a:srgbClr val="FFFFFF"/>
          </a:solidFill>
          <a:ln w="9525">
            <a:solidFill>
              <a:srgbClr val="9BB09F"/>
            </a:solidFill>
            <a:prstDash val="solid"/>
          </a:ln>
        </p:spPr>
      </p:sp>
      <p:sp>
        <p:nvSpPr>
          <p:cNvPr id="38" name="Shape 36"/>
          <p:cNvSpPr/>
          <p:nvPr/>
        </p:nvSpPr>
        <p:spPr>
          <a:xfrm>
            <a:off x="5806440" y="1892808"/>
            <a:ext cx="1600200" cy="960120"/>
          </a:xfrm>
          <a:prstGeom prst="ellipse">
            <a:avLst/>
          </a:prstGeom>
          <a:solidFill>
            <a:srgbClr val="E6EEE6"/>
          </a:solidFill>
          <a:ln w="9525">
            <a:solidFill>
              <a:srgbClr val="4F7A5C"/>
            </a:solidFill>
            <a:prstDash val="dash"/>
          </a:ln>
        </p:spPr>
      </p:sp>
      <p:sp>
        <p:nvSpPr>
          <p:cNvPr id="39" name="Shape 37"/>
          <p:cNvSpPr/>
          <p:nvPr/>
        </p:nvSpPr>
        <p:spPr>
          <a:xfrm>
            <a:off x="6080760" y="2167128"/>
            <a:ext cx="420624" cy="246888"/>
          </a:xfrm>
          <a:prstGeom prst="rect">
            <a:avLst/>
          </a:prstGeom>
          <a:solidFill>
            <a:srgbClr val="FFFFFF"/>
          </a:solidFill>
          <a:ln w="9525">
            <a:solidFill>
              <a:srgbClr val="9BB09F"/>
            </a:solidFill>
            <a:prstDash val="solid"/>
          </a:ln>
        </p:spPr>
      </p:sp>
      <p:sp>
        <p:nvSpPr>
          <p:cNvPr id="40" name="Shape 38"/>
          <p:cNvSpPr/>
          <p:nvPr/>
        </p:nvSpPr>
        <p:spPr>
          <a:xfrm>
            <a:off x="6675120" y="2350008"/>
            <a:ext cx="420624" cy="246888"/>
          </a:xfrm>
          <a:prstGeom prst="rect">
            <a:avLst/>
          </a:prstGeom>
          <a:solidFill>
            <a:srgbClr val="FFFFFF"/>
          </a:solidFill>
          <a:ln w="9525">
            <a:solidFill>
              <a:srgbClr val="9BB09F"/>
            </a:solidFill>
            <a:prstDash val="solid"/>
          </a:ln>
        </p:spPr>
      </p:sp>
      <p:sp>
        <p:nvSpPr>
          <p:cNvPr id="41" name="Shape 39"/>
          <p:cNvSpPr/>
          <p:nvPr/>
        </p:nvSpPr>
        <p:spPr>
          <a:xfrm>
            <a:off x="6263640" y="2487168"/>
            <a:ext cx="420624" cy="246888"/>
          </a:xfrm>
          <a:prstGeom prst="rect">
            <a:avLst/>
          </a:prstGeom>
          <a:solidFill>
            <a:srgbClr val="FFFFFF"/>
          </a:solidFill>
          <a:ln w="9525">
            <a:solidFill>
              <a:srgbClr val="9BB09F"/>
            </a:solidFill>
            <a:prstDash val="solid"/>
          </a:ln>
        </p:spPr>
      </p:sp>
      <p:sp>
        <p:nvSpPr>
          <p:cNvPr id="42" name="Shape 40"/>
          <p:cNvSpPr/>
          <p:nvPr/>
        </p:nvSpPr>
        <p:spPr>
          <a:xfrm>
            <a:off x="4343400" y="2898648"/>
            <a:ext cx="1737360" cy="914400"/>
          </a:xfrm>
          <a:prstGeom prst="ellipse">
            <a:avLst/>
          </a:prstGeom>
          <a:solidFill>
            <a:srgbClr val="E6EEE6"/>
          </a:solidFill>
          <a:ln w="9525">
            <a:solidFill>
              <a:srgbClr val="4F7A5C"/>
            </a:solidFill>
            <a:prstDash val="dash"/>
          </a:ln>
        </p:spPr>
      </p:sp>
      <p:sp>
        <p:nvSpPr>
          <p:cNvPr id="43" name="Shape 41"/>
          <p:cNvSpPr/>
          <p:nvPr/>
        </p:nvSpPr>
        <p:spPr>
          <a:xfrm>
            <a:off x="4617720" y="3172968"/>
            <a:ext cx="420624" cy="246888"/>
          </a:xfrm>
          <a:prstGeom prst="rect">
            <a:avLst/>
          </a:prstGeom>
          <a:solidFill>
            <a:srgbClr val="FFFFFF"/>
          </a:solidFill>
          <a:ln w="9525">
            <a:solidFill>
              <a:srgbClr val="9BB09F"/>
            </a:solidFill>
            <a:prstDash val="solid"/>
          </a:ln>
        </p:spPr>
      </p:sp>
      <p:sp>
        <p:nvSpPr>
          <p:cNvPr id="44" name="Shape 42"/>
          <p:cNvSpPr/>
          <p:nvPr/>
        </p:nvSpPr>
        <p:spPr>
          <a:xfrm>
            <a:off x="5212080" y="3355848"/>
            <a:ext cx="420624" cy="246888"/>
          </a:xfrm>
          <a:prstGeom prst="rect">
            <a:avLst/>
          </a:prstGeom>
          <a:solidFill>
            <a:srgbClr val="FFFFFF"/>
          </a:solidFill>
          <a:ln w="9525">
            <a:solidFill>
              <a:srgbClr val="9BB09F"/>
            </a:solidFill>
            <a:prstDash val="solid"/>
          </a:ln>
        </p:spPr>
      </p:sp>
      <p:sp>
        <p:nvSpPr>
          <p:cNvPr id="45" name="Shape 43"/>
          <p:cNvSpPr/>
          <p:nvPr/>
        </p:nvSpPr>
        <p:spPr>
          <a:xfrm>
            <a:off x="4800600" y="3493008"/>
            <a:ext cx="420624" cy="246888"/>
          </a:xfrm>
          <a:prstGeom prst="rect">
            <a:avLst/>
          </a:prstGeom>
          <a:solidFill>
            <a:srgbClr val="FFFFFF"/>
          </a:solidFill>
          <a:ln w="9525">
            <a:solidFill>
              <a:srgbClr val="9BB09F"/>
            </a:solidFill>
            <a:prstDash val="solid"/>
          </a:ln>
        </p:spPr>
      </p:sp>
      <p:sp>
        <p:nvSpPr>
          <p:cNvPr id="46" name="Shape 44"/>
          <p:cNvSpPr/>
          <p:nvPr/>
        </p:nvSpPr>
        <p:spPr>
          <a:xfrm>
            <a:off x="6675120" y="3246120"/>
            <a:ext cx="457200" cy="274320"/>
          </a:xfrm>
          <a:prstGeom prst="rect">
            <a:avLst/>
          </a:prstGeom>
          <a:solidFill>
            <a:srgbClr val="FFFFFF"/>
          </a:solidFill>
          <a:ln w="19050">
            <a:solidFill>
              <a:srgbClr val="C4A06D"/>
            </a:solidFill>
            <a:prstDash val="solid"/>
          </a:ln>
        </p:spPr>
      </p:sp>
      <p:sp>
        <p:nvSpPr>
          <p:cNvPr id="47" name="Text 45"/>
          <p:cNvSpPr/>
          <p:nvPr/>
        </p:nvSpPr>
        <p:spPr>
          <a:xfrm>
            <a:off x="6446520" y="3538728"/>
            <a:ext cx="914400" cy="347472"/>
          </a:xfrm>
          <a:prstGeom prst="rect">
            <a:avLst/>
          </a:prstGeom>
          <a:noFill/>
          <a:ln/>
        </p:spPr>
        <p:txBody>
          <a:bodyPr wrap="square" lIns="0" tIns="0" rIns="0" bIns="0" rtlCol="0" anchor="t"/>
          <a:lstStyle/>
          <a:p>
            <a:pPr algn="ctr" indent="0" marL="0">
              <a:buNone/>
            </a:pPr>
            <a:r>
              <a:rPr lang="en-US" sz="900" b="1" dirty="0">
                <a:solidFill>
                  <a:srgbClr val="8A6A35"/>
                </a:solidFill>
                <a:latin typeface="BIZ UDPGothic" pitchFamily="34" charset="0"/>
                <a:ea typeface="BIZ UDPGothic" pitchFamily="34" charset="-122"/>
                <a:cs typeface="BIZ UDPGothic" pitchFamily="34" charset="-120"/>
              </a:rPr>
              <a:t>ひとりの</a:t>
            </a:r>
            <a:endParaRPr lang="en-US" sz="900" dirty="0"/>
          </a:p>
          <a:p>
            <a:pPr algn="ctr" indent="0" marL="0">
              <a:buNone/>
            </a:pPr>
            <a:r>
              <a:rPr lang="en-US" sz="900" b="1" dirty="0">
                <a:solidFill>
                  <a:srgbClr val="8A6A35"/>
                </a:solidFill>
                <a:latin typeface="BIZ UDPGothic" pitchFamily="34" charset="0"/>
                <a:ea typeface="BIZ UDPGothic" pitchFamily="34" charset="-122"/>
                <a:cs typeface="BIZ UDPGothic" pitchFamily="34" charset="-120"/>
              </a:rPr>
              <a:t>カード</a:t>
            </a:r>
            <a:endParaRPr lang="en-US" sz="900" dirty="0"/>
          </a:p>
        </p:txBody>
      </p:sp>
      <p:sp>
        <p:nvSpPr>
          <p:cNvPr id="48" name="Text 46"/>
          <p:cNvSpPr/>
          <p:nvPr/>
        </p:nvSpPr>
        <p:spPr>
          <a:xfrm>
            <a:off x="7772400" y="1600200"/>
            <a:ext cx="3916375" cy="256032"/>
          </a:xfrm>
          <a:prstGeom prst="rect">
            <a:avLst/>
          </a:prstGeom>
          <a:noFill/>
          <a:ln/>
        </p:spPr>
        <p:txBody>
          <a:bodyPr wrap="square" lIns="0" tIns="0" rIns="0" bIns="0" rtlCol="0" anchor="t"/>
          <a:lstStyle/>
          <a:p>
            <a:pPr indent="0" marL="0">
              <a:buNone/>
            </a:pPr>
            <a:r>
              <a:rPr lang="en-US" sz="1150" b="1" dirty="0">
                <a:solidFill>
                  <a:srgbClr val="4F7A5C"/>
                </a:solidFill>
                <a:latin typeface="BIZ UDPGothic" pitchFamily="34" charset="0"/>
                <a:ea typeface="BIZ UDPGothic" pitchFamily="34" charset="-122"/>
                <a:cs typeface="BIZ UDPGothic" pitchFamily="34" charset="-120"/>
              </a:rPr>
              <a:t>入れるもの・出てくるもの</a:t>
            </a:r>
            <a:endParaRPr lang="en-US" sz="1150" dirty="0"/>
          </a:p>
        </p:txBody>
      </p:sp>
      <p:sp>
        <p:nvSpPr>
          <p:cNvPr id="49" name="Text 47"/>
          <p:cNvSpPr/>
          <p:nvPr/>
        </p:nvSpPr>
        <p:spPr>
          <a:xfrm>
            <a:off x="7772400" y="1920240"/>
            <a:ext cx="731520" cy="457200"/>
          </a:xfrm>
          <a:prstGeom prst="rect">
            <a:avLst/>
          </a:prstGeom>
          <a:noFill/>
          <a:ln/>
        </p:spPr>
        <p:txBody>
          <a:bodyPr wrap="square" lIns="0" tIns="0" rIns="0" bIns="0" rtlCol="0" anchor="ctr"/>
          <a:lstStyle/>
          <a:p>
            <a:pPr indent="0" marL="0">
              <a:buNone/>
            </a:pPr>
            <a:r>
              <a:rPr lang="en-US" sz="1150" b="1" dirty="0">
                <a:solidFill>
                  <a:srgbClr val="4F7A5C"/>
                </a:solidFill>
                <a:latin typeface="BIZ UDPGothic" pitchFamily="34" charset="0"/>
                <a:ea typeface="BIZ UDPGothic" pitchFamily="34" charset="-122"/>
                <a:cs typeface="BIZ UDPGothic" pitchFamily="34" charset="-120"/>
              </a:rPr>
              <a:t>入れる</a:t>
            </a:r>
            <a:endParaRPr lang="en-US" sz="1150" dirty="0"/>
          </a:p>
        </p:txBody>
      </p:sp>
      <p:sp>
        <p:nvSpPr>
          <p:cNvPr id="50" name="Text 48"/>
          <p:cNvSpPr/>
          <p:nvPr/>
        </p:nvSpPr>
        <p:spPr>
          <a:xfrm>
            <a:off x="8503920" y="1920240"/>
            <a:ext cx="3184855" cy="457200"/>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インタビューの発言、観察メモ、自由記述を一件ずつカードに</a:t>
            </a:r>
            <a:endParaRPr lang="en-US" sz="1050" dirty="0"/>
          </a:p>
        </p:txBody>
      </p:sp>
      <p:sp>
        <p:nvSpPr>
          <p:cNvPr id="51" name="Text 49"/>
          <p:cNvSpPr/>
          <p:nvPr/>
        </p:nvSpPr>
        <p:spPr>
          <a:xfrm>
            <a:off x="7772400" y="2423160"/>
            <a:ext cx="731520" cy="457200"/>
          </a:xfrm>
          <a:prstGeom prst="rect">
            <a:avLst/>
          </a:prstGeom>
          <a:noFill/>
          <a:ln/>
        </p:spPr>
        <p:txBody>
          <a:bodyPr wrap="square" lIns="0" tIns="0" rIns="0" bIns="0" rtlCol="0" anchor="ctr"/>
          <a:lstStyle/>
          <a:p>
            <a:pPr indent="0" marL="0">
              <a:buNone/>
            </a:pPr>
            <a:r>
              <a:rPr lang="en-US" sz="1150" b="1" dirty="0">
                <a:solidFill>
                  <a:srgbClr val="4F7A5C"/>
                </a:solidFill>
                <a:latin typeface="BIZ UDPGothic" pitchFamily="34" charset="0"/>
                <a:ea typeface="BIZ UDPGothic" pitchFamily="34" charset="-122"/>
                <a:cs typeface="BIZ UDPGothic" pitchFamily="34" charset="-120"/>
              </a:rPr>
              <a:t>出てくる</a:t>
            </a:r>
            <a:endParaRPr lang="en-US" sz="1150" dirty="0"/>
          </a:p>
        </p:txBody>
      </p:sp>
      <p:sp>
        <p:nvSpPr>
          <p:cNvPr id="52" name="Text 50"/>
          <p:cNvSpPr/>
          <p:nvPr/>
        </p:nvSpPr>
        <p:spPr>
          <a:xfrm>
            <a:off x="8503920" y="2423160"/>
            <a:ext cx="3184855" cy="457200"/>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近いカードの島、保留・違和感の印、まとめた理由、元のカードへの経路</a:t>
            </a:r>
            <a:endParaRPr lang="en-US" sz="1050" dirty="0"/>
          </a:p>
        </p:txBody>
      </p:sp>
      <p:sp>
        <p:nvSpPr>
          <p:cNvPr id="53" name="Text 51"/>
          <p:cNvSpPr/>
          <p:nvPr/>
        </p:nvSpPr>
        <p:spPr>
          <a:xfrm>
            <a:off x="7772400" y="2926080"/>
            <a:ext cx="731520" cy="457200"/>
          </a:xfrm>
          <a:prstGeom prst="rect">
            <a:avLst/>
          </a:prstGeom>
          <a:noFill/>
          <a:ln/>
        </p:spPr>
        <p:txBody>
          <a:bodyPr wrap="square" lIns="0" tIns="0" rIns="0" bIns="0" rtlCol="0" anchor="ctr"/>
          <a:lstStyle/>
          <a:p>
            <a:pPr indent="0" marL="0">
              <a:buNone/>
            </a:pPr>
            <a:r>
              <a:rPr lang="en-US" sz="1150" b="1" dirty="0">
                <a:solidFill>
                  <a:srgbClr val="4F7A5C"/>
                </a:solidFill>
                <a:latin typeface="BIZ UDPGothic" pitchFamily="34" charset="0"/>
                <a:ea typeface="BIZ UDPGothic" pitchFamily="34" charset="-122"/>
                <a:cs typeface="BIZ UDPGothic" pitchFamily="34" charset="-120"/>
              </a:rPr>
              <a:t>共有</a:t>
            </a:r>
            <a:endParaRPr lang="en-US" sz="1150" dirty="0"/>
          </a:p>
        </p:txBody>
      </p:sp>
      <p:sp>
        <p:nvSpPr>
          <p:cNvPr id="54" name="Text 52"/>
          <p:cNvSpPr/>
          <p:nvPr/>
        </p:nvSpPr>
        <p:spPr>
          <a:xfrm>
            <a:off x="8503920" y="2926080"/>
            <a:ext cx="3184855" cy="457200"/>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安全な共有の確認を通し、未レビューの本文を出さずに書き出す</a:t>
            </a:r>
            <a:endParaRPr lang="en-US" sz="1050" dirty="0"/>
          </a:p>
        </p:txBody>
      </p:sp>
      <p:sp>
        <p:nvSpPr>
          <p:cNvPr id="55" name="Text 53"/>
          <p:cNvSpPr/>
          <p:nvPr/>
        </p:nvSpPr>
        <p:spPr>
          <a:xfrm>
            <a:off x="7772400" y="3429000"/>
            <a:ext cx="731520" cy="457200"/>
          </a:xfrm>
          <a:prstGeom prst="rect">
            <a:avLst/>
          </a:prstGeom>
          <a:noFill/>
          <a:ln/>
        </p:spPr>
        <p:txBody>
          <a:bodyPr wrap="square" lIns="0" tIns="0" rIns="0" bIns="0" rtlCol="0" anchor="ctr"/>
          <a:lstStyle/>
          <a:p>
            <a:pPr indent="0" marL="0">
              <a:buNone/>
            </a:pPr>
            <a:r>
              <a:rPr lang="en-US" sz="1150" b="1" dirty="0">
                <a:solidFill>
                  <a:srgbClr val="4F7A5C"/>
                </a:solidFill>
                <a:latin typeface="BIZ UDPGothic" pitchFamily="34" charset="0"/>
                <a:ea typeface="BIZ UDPGothic" pitchFamily="34" charset="-122"/>
                <a:cs typeface="BIZ UDPGothic" pitchFamily="34" charset="-120"/>
              </a:rPr>
              <a:t>守る</a:t>
            </a:r>
            <a:endParaRPr lang="en-US" sz="1150" dirty="0"/>
          </a:p>
        </p:txBody>
      </p:sp>
      <p:sp>
        <p:nvSpPr>
          <p:cNvPr id="56" name="Text 54"/>
          <p:cNvSpPr/>
          <p:nvPr/>
        </p:nvSpPr>
        <p:spPr>
          <a:xfrm>
            <a:off x="8503920" y="3429000"/>
            <a:ext cx="3184855" cy="457200"/>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孤立したカードや小さな島を、数の多さで押し流さない</a:t>
            </a:r>
            <a:endParaRPr lang="en-US" sz="1050" dirty="0"/>
          </a:p>
        </p:txBody>
      </p:sp>
      <p:sp>
        <p:nvSpPr>
          <p:cNvPr id="57" name="Text 55"/>
          <p:cNvSpPr/>
          <p:nvPr/>
        </p:nvSpPr>
        <p:spPr>
          <a:xfrm>
            <a:off x="3886200" y="4114800"/>
            <a:ext cx="4572000" cy="256032"/>
          </a:xfrm>
          <a:prstGeom prst="rect">
            <a:avLst/>
          </a:prstGeom>
          <a:noFill/>
          <a:ln/>
        </p:spPr>
        <p:txBody>
          <a:bodyPr wrap="square" lIns="0" tIns="0" rIns="0" bIns="0" rtlCol="0" anchor="t"/>
          <a:lstStyle/>
          <a:p>
            <a:pPr indent="0" marL="0">
              <a:buNone/>
            </a:pPr>
            <a:r>
              <a:rPr lang="en-US" sz="1150" b="1" dirty="0">
                <a:solidFill>
                  <a:srgbClr val="56636E"/>
                </a:solidFill>
                <a:latin typeface="BIZ UDPGothic" pitchFamily="34" charset="0"/>
                <a:ea typeface="BIZ UDPGothic" pitchFamily="34" charset="-122"/>
                <a:cs typeface="BIZ UDPGothic" pitchFamily="34" charset="-120"/>
              </a:rPr>
              <a:t>人とAIの関わり方（長期の射程）</a:t>
            </a:r>
            <a:endParaRPr lang="en-US" sz="1150" dirty="0"/>
          </a:p>
        </p:txBody>
      </p:sp>
      <p:sp>
        <p:nvSpPr>
          <p:cNvPr id="58" name="Shape 56"/>
          <p:cNvSpPr/>
          <p:nvPr/>
        </p:nvSpPr>
        <p:spPr>
          <a:xfrm>
            <a:off x="3886200" y="4407408"/>
            <a:ext cx="1779194" cy="822960"/>
          </a:xfrm>
          <a:prstGeom prst="rect">
            <a:avLst/>
          </a:prstGeom>
          <a:solidFill>
            <a:srgbClr val="2B4834"/>
          </a:solidFill>
          <a:ln/>
        </p:spPr>
      </p:sp>
      <p:sp>
        <p:nvSpPr>
          <p:cNvPr id="59" name="Shape 57"/>
          <p:cNvSpPr/>
          <p:nvPr/>
        </p:nvSpPr>
        <p:spPr>
          <a:xfrm>
            <a:off x="3886200" y="4407408"/>
            <a:ext cx="1779194" cy="45720"/>
          </a:xfrm>
          <a:prstGeom prst="rect">
            <a:avLst/>
          </a:prstGeom>
          <a:solidFill>
            <a:srgbClr val="4F7A5C"/>
          </a:solidFill>
          <a:ln/>
        </p:spPr>
      </p:sp>
      <p:sp>
        <p:nvSpPr>
          <p:cNvPr id="60" name="Text 58"/>
          <p:cNvSpPr/>
          <p:nvPr/>
        </p:nvSpPr>
        <p:spPr>
          <a:xfrm>
            <a:off x="3941064" y="4480560"/>
            <a:ext cx="1669466" cy="370332"/>
          </a:xfrm>
          <a:prstGeom prst="rect">
            <a:avLst/>
          </a:prstGeom>
          <a:noFill/>
          <a:ln/>
        </p:spPr>
        <p:txBody>
          <a:bodyPr wrap="square" lIns="0" tIns="0" rIns="0" bIns="0" rtlCol="0" anchor="ctr"/>
          <a:lstStyle/>
          <a:p>
            <a:pPr algn="ctr" indent="0" marL="0">
              <a:buNone/>
            </a:pPr>
            <a:r>
              <a:rPr lang="en-US" sz="1300" b="1" dirty="0">
                <a:solidFill>
                  <a:srgbClr val="F5F1E8"/>
                </a:solidFill>
                <a:latin typeface="BIZ UDPGothic" pitchFamily="34" charset="0"/>
                <a:ea typeface="BIZ UDPGothic" pitchFamily="34" charset="-122"/>
                <a:cs typeface="BIZ UDPGothic" pitchFamily="34" charset="-120"/>
              </a:rPr>
              <a:t>人間主導</a:t>
            </a:r>
            <a:endParaRPr lang="en-US" sz="1300" dirty="0"/>
          </a:p>
        </p:txBody>
      </p:sp>
      <p:sp>
        <p:nvSpPr>
          <p:cNvPr id="61" name="Text 59"/>
          <p:cNvSpPr/>
          <p:nvPr/>
        </p:nvSpPr>
        <p:spPr>
          <a:xfrm>
            <a:off x="3941064" y="4818888"/>
            <a:ext cx="1669466" cy="378562"/>
          </a:xfrm>
          <a:prstGeom prst="rect">
            <a:avLst/>
          </a:prstGeom>
          <a:noFill/>
          <a:ln/>
        </p:spPr>
        <p:txBody>
          <a:bodyPr wrap="square" lIns="0" tIns="0" rIns="0" bIns="0" rtlCol="0" anchor="t"/>
          <a:lstStyle/>
          <a:p>
            <a:pPr algn="ctr" indent="0" marL="0">
              <a:buNone/>
            </a:pPr>
            <a:r>
              <a:rPr lang="en-US" sz="1000" dirty="0">
                <a:solidFill>
                  <a:srgbClr val="C9D3D9"/>
                </a:solidFill>
                <a:latin typeface="BIZ UDPGothic" pitchFamily="34" charset="0"/>
                <a:ea typeface="BIZ UDPGothic" pitchFamily="34" charset="-122"/>
                <a:cs typeface="BIZ UDPGothic" pitchFamily="34" charset="-120"/>
              </a:rPr>
              <a:t>現在の基本。AIは既定で使わない</a:t>
            </a:r>
            <a:endParaRPr lang="en-US" sz="1000" dirty="0"/>
          </a:p>
        </p:txBody>
      </p:sp>
      <p:sp>
        <p:nvSpPr>
          <p:cNvPr id="62" name="Shape 60"/>
          <p:cNvSpPr/>
          <p:nvPr/>
        </p:nvSpPr>
        <p:spPr>
          <a:xfrm>
            <a:off x="5692826" y="4818888"/>
            <a:ext cx="173736" cy="0"/>
          </a:xfrm>
          <a:prstGeom prst="line">
            <a:avLst/>
          </a:prstGeom>
          <a:noFill/>
          <a:ln w="19050">
            <a:solidFill>
              <a:srgbClr val="4F7A5C"/>
            </a:solidFill>
            <a:prstDash val="solid"/>
            <a:tailEnd type="triangle"/>
          </a:ln>
        </p:spPr>
      </p:sp>
      <p:sp>
        <p:nvSpPr>
          <p:cNvPr id="63" name="Shape 61"/>
          <p:cNvSpPr/>
          <p:nvPr/>
        </p:nvSpPr>
        <p:spPr>
          <a:xfrm>
            <a:off x="5893994" y="4407408"/>
            <a:ext cx="1779194" cy="822960"/>
          </a:xfrm>
          <a:prstGeom prst="rect">
            <a:avLst/>
          </a:prstGeom>
          <a:solidFill>
            <a:srgbClr val="FFFFFF"/>
          </a:solidFill>
          <a:ln w="9525">
            <a:solidFill>
              <a:srgbClr val="DCD5C6"/>
            </a:solidFill>
            <a:prstDash val="solid"/>
          </a:ln>
        </p:spPr>
      </p:sp>
      <p:sp>
        <p:nvSpPr>
          <p:cNvPr id="64" name="Shape 62"/>
          <p:cNvSpPr/>
          <p:nvPr/>
        </p:nvSpPr>
        <p:spPr>
          <a:xfrm>
            <a:off x="5893994" y="4407408"/>
            <a:ext cx="1779194" cy="45720"/>
          </a:xfrm>
          <a:prstGeom prst="rect">
            <a:avLst/>
          </a:prstGeom>
          <a:solidFill>
            <a:srgbClr val="4F7A5C"/>
          </a:solidFill>
          <a:ln/>
        </p:spPr>
      </p:sp>
      <p:sp>
        <p:nvSpPr>
          <p:cNvPr id="65" name="Text 63"/>
          <p:cNvSpPr/>
          <p:nvPr/>
        </p:nvSpPr>
        <p:spPr>
          <a:xfrm>
            <a:off x="5948858" y="4480560"/>
            <a:ext cx="1669466" cy="370332"/>
          </a:xfrm>
          <a:prstGeom prst="rect">
            <a:avLst/>
          </a:prstGeom>
          <a:noFill/>
          <a:ln/>
        </p:spPr>
        <p:txBody>
          <a:bodyPr wrap="square" lIns="0" tIns="0" rIns="0" bIns="0" rtlCol="0" anchor="ctr"/>
          <a:lstStyle/>
          <a:p>
            <a:pPr algn="ctr" indent="0" marL="0">
              <a:buNone/>
            </a:pPr>
            <a:r>
              <a:rPr lang="en-US" sz="1300" b="1" dirty="0">
                <a:solidFill>
                  <a:srgbClr val="243D54"/>
                </a:solidFill>
                <a:latin typeface="BIZ UDPGothic" pitchFamily="34" charset="0"/>
                <a:ea typeface="BIZ UDPGothic" pitchFamily="34" charset="-122"/>
                <a:cs typeface="BIZ UDPGothic" pitchFamily="34" charset="-120"/>
              </a:rPr>
              <a:t>協働</a:t>
            </a:r>
            <a:endParaRPr lang="en-US" sz="1300" dirty="0"/>
          </a:p>
        </p:txBody>
      </p:sp>
      <p:sp>
        <p:nvSpPr>
          <p:cNvPr id="66" name="Text 64"/>
          <p:cNvSpPr/>
          <p:nvPr/>
        </p:nvSpPr>
        <p:spPr>
          <a:xfrm>
            <a:off x="5948858" y="4818888"/>
            <a:ext cx="1669466" cy="378562"/>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AIの提案は候補。採否は人</a:t>
            </a:r>
            <a:endParaRPr lang="en-US" sz="1000" dirty="0"/>
          </a:p>
        </p:txBody>
      </p:sp>
      <p:sp>
        <p:nvSpPr>
          <p:cNvPr id="67" name="Shape 65"/>
          <p:cNvSpPr/>
          <p:nvPr/>
        </p:nvSpPr>
        <p:spPr>
          <a:xfrm>
            <a:off x="7700620" y="4818888"/>
            <a:ext cx="173736" cy="0"/>
          </a:xfrm>
          <a:prstGeom prst="line">
            <a:avLst/>
          </a:prstGeom>
          <a:noFill/>
          <a:ln w="19050">
            <a:solidFill>
              <a:srgbClr val="4F7A5C"/>
            </a:solidFill>
            <a:prstDash val="solid"/>
            <a:tailEnd type="triangle"/>
          </a:ln>
        </p:spPr>
      </p:sp>
      <p:sp>
        <p:nvSpPr>
          <p:cNvPr id="68" name="Shape 66"/>
          <p:cNvSpPr/>
          <p:nvPr/>
        </p:nvSpPr>
        <p:spPr>
          <a:xfrm>
            <a:off x="7901788" y="4407408"/>
            <a:ext cx="1779194" cy="822960"/>
          </a:xfrm>
          <a:prstGeom prst="rect">
            <a:avLst/>
          </a:prstGeom>
          <a:solidFill>
            <a:srgbClr val="FFFFFF"/>
          </a:solidFill>
          <a:ln w="9525">
            <a:solidFill>
              <a:srgbClr val="DCD5C6"/>
            </a:solidFill>
            <a:prstDash val="solid"/>
          </a:ln>
        </p:spPr>
      </p:sp>
      <p:sp>
        <p:nvSpPr>
          <p:cNvPr id="69" name="Shape 67"/>
          <p:cNvSpPr/>
          <p:nvPr/>
        </p:nvSpPr>
        <p:spPr>
          <a:xfrm>
            <a:off x="7901788" y="4407408"/>
            <a:ext cx="1779194" cy="45720"/>
          </a:xfrm>
          <a:prstGeom prst="rect">
            <a:avLst/>
          </a:prstGeom>
          <a:solidFill>
            <a:srgbClr val="4F7A5C"/>
          </a:solidFill>
          <a:ln/>
        </p:spPr>
      </p:sp>
      <p:sp>
        <p:nvSpPr>
          <p:cNvPr id="70" name="Text 68"/>
          <p:cNvSpPr/>
          <p:nvPr/>
        </p:nvSpPr>
        <p:spPr>
          <a:xfrm>
            <a:off x="7956652" y="4480560"/>
            <a:ext cx="1669466" cy="370332"/>
          </a:xfrm>
          <a:prstGeom prst="rect">
            <a:avLst/>
          </a:prstGeom>
          <a:noFill/>
          <a:ln/>
        </p:spPr>
        <p:txBody>
          <a:bodyPr wrap="square" lIns="0" tIns="0" rIns="0" bIns="0" rtlCol="0" anchor="ctr"/>
          <a:lstStyle/>
          <a:p>
            <a:pPr algn="ctr" indent="0" marL="0">
              <a:buNone/>
            </a:pPr>
            <a:r>
              <a:rPr lang="en-US" sz="1300" b="1" dirty="0">
                <a:solidFill>
                  <a:srgbClr val="243D54"/>
                </a:solidFill>
                <a:latin typeface="BIZ UDPGothic" pitchFamily="34" charset="0"/>
                <a:ea typeface="BIZ UDPGothic" pitchFamily="34" charset="-122"/>
                <a:cs typeface="BIZ UDPGothic" pitchFamily="34" charset="-120"/>
              </a:rPr>
              <a:t>委任</a:t>
            </a:r>
            <a:endParaRPr lang="en-US" sz="1300" dirty="0"/>
          </a:p>
        </p:txBody>
      </p:sp>
      <p:sp>
        <p:nvSpPr>
          <p:cNvPr id="71" name="Text 69"/>
          <p:cNvSpPr/>
          <p:nvPr/>
        </p:nvSpPr>
        <p:spPr>
          <a:xfrm>
            <a:off x="7956652" y="4818888"/>
            <a:ext cx="1669466" cy="378562"/>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探索や構造化の区間をAIへ</a:t>
            </a:r>
            <a:endParaRPr lang="en-US" sz="1000" dirty="0"/>
          </a:p>
        </p:txBody>
      </p:sp>
      <p:sp>
        <p:nvSpPr>
          <p:cNvPr id="72" name="Shape 70"/>
          <p:cNvSpPr/>
          <p:nvPr/>
        </p:nvSpPr>
        <p:spPr>
          <a:xfrm>
            <a:off x="9708413" y="4818888"/>
            <a:ext cx="173736" cy="0"/>
          </a:xfrm>
          <a:prstGeom prst="line">
            <a:avLst/>
          </a:prstGeom>
          <a:noFill/>
          <a:ln w="19050">
            <a:solidFill>
              <a:srgbClr val="4F7A5C"/>
            </a:solidFill>
            <a:prstDash val="solid"/>
            <a:tailEnd type="triangle"/>
          </a:ln>
        </p:spPr>
      </p:sp>
      <p:sp>
        <p:nvSpPr>
          <p:cNvPr id="73" name="Shape 71"/>
          <p:cNvSpPr/>
          <p:nvPr/>
        </p:nvSpPr>
        <p:spPr>
          <a:xfrm>
            <a:off x="9909581" y="4407408"/>
            <a:ext cx="1779194" cy="822960"/>
          </a:xfrm>
          <a:prstGeom prst="rect">
            <a:avLst/>
          </a:prstGeom>
          <a:solidFill>
            <a:srgbClr val="FFFFFF"/>
          </a:solidFill>
          <a:ln w="9525">
            <a:solidFill>
              <a:srgbClr val="DCD5C6"/>
            </a:solidFill>
            <a:prstDash val="solid"/>
          </a:ln>
        </p:spPr>
      </p:sp>
      <p:sp>
        <p:nvSpPr>
          <p:cNvPr id="74" name="Shape 72"/>
          <p:cNvSpPr/>
          <p:nvPr/>
        </p:nvSpPr>
        <p:spPr>
          <a:xfrm>
            <a:off x="9909581" y="4407408"/>
            <a:ext cx="1779194" cy="45720"/>
          </a:xfrm>
          <a:prstGeom prst="rect">
            <a:avLst/>
          </a:prstGeom>
          <a:solidFill>
            <a:srgbClr val="4F7A5C"/>
          </a:solidFill>
          <a:ln/>
        </p:spPr>
      </p:sp>
      <p:sp>
        <p:nvSpPr>
          <p:cNvPr id="75" name="Text 73"/>
          <p:cNvSpPr/>
          <p:nvPr/>
        </p:nvSpPr>
        <p:spPr>
          <a:xfrm>
            <a:off x="9964445" y="4480560"/>
            <a:ext cx="1669466" cy="370332"/>
          </a:xfrm>
          <a:prstGeom prst="rect">
            <a:avLst/>
          </a:prstGeom>
          <a:noFill/>
          <a:ln/>
        </p:spPr>
        <p:txBody>
          <a:bodyPr wrap="square" lIns="0" tIns="0" rIns="0" bIns="0" rtlCol="0" anchor="ctr"/>
          <a:lstStyle/>
          <a:p>
            <a:pPr algn="ctr" indent="0" marL="0">
              <a:buNone/>
            </a:pPr>
            <a:r>
              <a:rPr lang="en-US" sz="1300" b="1" dirty="0">
                <a:solidFill>
                  <a:srgbClr val="243D54"/>
                </a:solidFill>
                <a:latin typeface="BIZ UDPGothic" pitchFamily="34" charset="0"/>
                <a:ea typeface="BIZ UDPGothic" pitchFamily="34" charset="-122"/>
                <a:cs typeface="BIZ UDPGothic" pitchFamily="34" charset="-120"/>
              </a:rPr>
              <a:t>監督付きの自律</a:t>
            </a:r>
            <a:endParaRPr lang="en-US" sz="1300" dirty="0"/>
          </a:p>
        </p:txBody>
      </p:sp>
      <p:sp>
        <p:nvSpPr>
          <p:cNvPr id="76" name="Text 74"/>
          <p:cNvSpPr/>
          <p:nvPr/>
        </p:nvSpPr>
        <p:spPr>
          <a:xfrm>
            <a:off x="9964445" y="4818888"/>
            <a:ext cx="1669466" cy="378562"/>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人は方向づけ・異議・承認へ</a:t>
            </a:r>
            <a:endParaRPr lang="en-US" sz="1000" dirty="0"/>
          </a:p>
        </p:txBody>
      </p:sp>
      <p:sp>
        <p:nvSpPr>
          <p:cNvPr id="77" name="Text 75"/>
          <p:cNvSpPr/>
          <p:nvPr/>
        </p:nvSpPr>
        <p:spPr>
          <a:xfrm>
            <a:off x="3886200" y="5440680"/>
            <a:ext cx="7802575" cy="548640"/>
          </a:xfrm>
          <a:prstGeom prst="rect">
            <a:avLst/>
          </a:prstGeom>
          <a:noFill/>
          <a:ln/>
        </p:spPr>
        <p:txBody>
          <a:bodyPr wrap="square" lIns="0" tIns="0" rIns="0" bIns="0" rtlCol="0" anchor="ctr"/>
          <a:lstStyle/>
          <a:p>
            <a:pPr indent="0" marL="0">
              <a:buNone/>
            </a:pPr>
            <a:r>
              <a:rPr lang="en-US" sz="1100" b="1" dirty="0">
                <a:solidFill>
                  <a:srgbClr val="4F7A5C"/>
                </a:solidFill>
                <a:latin typeface="BIZ UDPGothic" pitchFamily="34" charset="0"/>
                <a:ea typeface="BIZ UDPGothic" pitchFamily="34" charset="-122"/>
                <a:cs typeface="BIZ UDPGothic" pitchFamily="34" charset="-120"/>
              </a:rPr>
              <a:t>向くもの  </a:t>
            </a:r>
            <a:pPr indent="0" marL="0">
              <a:buNone/>
            </a:pPr>
            <a:r>
              <a:rPr lang="en-US" sz="1100" dirty="0">
                <a:solidFill>
                  <a:srgbClr val="243D54"/>
                </a:solidFill>
                <a:latin typeface="BIZ UDPGothic" pitchFamily="34" charset="0"/>
                <a:ea typeface="BIZ UDPGothic" pitchFamily="34" charset="-122"/>
                <a:cs typeface="BIZ UDPGothic" pitchFamily="34" charset="-120"/>
              </a:rPr>
              <a:t>論点が固まる前の探索、定性情報の整理、研究・企画・政策の前段　　</a:t>
            </a:r>
            <a:pPr indent="0" marL="0">
              <a:buNone/>
            </a:pPr>
            <a:r>
              <a:rPr lang="en-US" sz="1100" b="1" dirty="0">
                <a:solidFill>
                  <a:srgbClr val="8C5A44"/>
                </a:solidFill>
                <a:latin typeface="BIZ UDPGothic" pitchFamily="34" charset="0"/>
                <a:ea typeface="BIZ UDPGothic" pitchFamily="34" charset="-122"/>
                <a:cs typeface="BIZ UDPGothic" pitchFamily="34" charset="-120"/>
              </a:rPr>
              <a:t>向かないもの  </a:t>
            </a:r>
            <a:pPr indent="0" marL="0">
              <a:buNone/>
            </a:pPr>
            <a:r>
              <a:rPr lang="en-US" sz="1100" dirty="0">
                <a:solidFill>
                  <a:srgbClr val="243D54"/>
                </a:solidFill>
                <a:latin typeface="BIZ UDPGothic" pitchFamily="34" charset="0"/>
                <a:ea typeface="BIZ UDPGothic" pitchFamily="34" charset="-122"/>
                <a:cs typeface="BIZ UDPGothic" pitchFamily="34" charset="-120"/>
              </a:rPr>
              <a:t>件数の集計、短納期の自動要約、人の判断を省く自動化</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0" y="0"/>
            <a:ext cx="3520440" cy="6858000"/>
          </a:xfrm>
          <a:prstGeom prst="rect">
            <a:avLst/>
          </a:prstGeom>
          <a:solidFill>
            <a:srgbClr val="1F3A50"/>
          </a:solidFill>
          <a:ln/>
        </p:spPr>
      </p:sp>
      <p:sp>
        <p:nvSpPr>
          <p:cNvPr id="3" name="Text 1"/>
          <p:cNvSpPr/>
          <p:nvPr/>
        </p:nvSpPr>
        <p:spPr>
          <a:xfrm>
            <a:off x="411480" y="292608"/>
            <a:ext cx="2743200" cy="228600"/>
          </a:xfrm>
          <a:prstGeom prst="rect">
            <a:avLst/>
          </a:prstGeom>
          <a:noFill/>
          <a:ln/>
        </p:spPr>
        <p:txBody>
          <a:bodyPr wrap="square" lIns="0" tIns="0" rIns="0" bIns="0" rtlCol="0" anchor="t"/>
          <a:lstStyle/>
          <a:p>
            <a:pPr indent="0" marL="0">
              <a:buNone/>
            </a:pPr>
            <a:r>
              <a:rPr lang="en-US" sz="950" b="1" dirty="0">
                <a:solidFill>
                  <a:srgbClr val="C4A06D"/>
                </a:solidFill>
                <a:latin typeface="BIZ UDPGothic" pitchFamily="34" charset="0"/>
                <a:ea typeface="BIZ UDPGothic" pitchFamily="34" charset="-122"/>
                <a:cs typeface="BIZ UDPGothic" pitchFamily="34" charset="-120"/>
              </a:rPr>
              <a:t>製品  </a:t>
            </a:r>
            <a:pPr indent="0" marL="0">
              <a:buNone/>
            </a:pPr>
            <a:r>
              <a:rPr lang="en-US" sz="950" dirty="0">
                <a:solidFill>
                  <a:srgbClr val="C9D3D9"/>
                </a:solidFill>
                <a:latin typeface="Georgia" pitchFamily="34" charset="0"/>
                <a:ea typeface="Georgia" pitchFamily="34" charset="-122"/>
                <a:cs typeface="Georgia" pitchFamily="34" charset="-120"/>
              </a:rPr>
              <a:t>3 / 6</a:t>
            </a:r>
            <a:endParaRPr lang="en-US" sz="950" dirty="0"/>
          </a:p>
        </p:txBody>
      </p:sp>
      <p:sp>
        <p:nvSpPr>
          <p:cNvPr id="4" name="Shape 2"/>
          <p:cNvSpPr/>
          <p:nvPr/>
        </p:nvSpPr>
        <p:spPr>
          <a:xfrm>
            <a:off x="411480" y="1481328"/>
            <a:ext cx="373532" cy="73152"/>
          </a:xfrm>
          <a:prstGeom prst="rect">
            <a:avLst/>
          </a:prstGeom>
          <a:solidFill>
            <a:srgbClr val="C4A06D"/>
          </a:solidFill>
          <a:ln/>
        </p:spPr>
      </p:sp>
      <p:sp>
        <p:nvSpPr>
          <p:cNvPr id="5" name="Shape 3"/>
          <p:cNvSpPr/>
          <p:nvPr/>
        </p:nvSpPr>
        <p:spPr>
          <a:xfrm>
            <a:off x="906628" y="1481328"/>
            <a:ext cx="373532" cy="73152"/>
          </a:xfrm>
          <a:prstGeom prst="rect">
            <a:avLst/>
          </a:prstGeom>
          <a:solidFill>
            <a:srgbClr val="C4A06D"/>
          </a:solidFill>
          <a:ln/>
        </p:spPr>
      </p:sp>
      <p:sp>
        <p:nvSpPr>
          <p:cNvPr id="6" name="Shape 4"/>
          <p:cNvSpPr/>
          <p:nvPr/>
        </p:nvSpPr>
        <p:spPr>
          <a:xfrm>
            <a:off x="411480" y="1335024"/>
            <a:ext cx="868680" cy="73152"/>
          </a:xfrm>
          <a:prstGeom prst="rect">
            <a:avLst/>
          </a:prstGeom>
          <a:solidFill>
            <a:srgbClr val="C4A06D"/>
          </a:solidFill>
          <a:ln/>
        </p:spPr>
      </p:sp>
      <p:sp>
        <p:nvSpPr>
          <p:cNvPr id="7" name="Shape 5"/>
          <p:cNvSpPr/>
          <p:nvPr/>
        </p:nvSpPr>
        <p:spPr>
          <a:xfrm>
            <a:off x="411480" y="1188720"/>
            <a:ext cx="868680" cy="73152"/>
          </a:xfrm>
          <a:prstGeom prst="rect">
            <a:avLst/>
          </a:prstGeom>
          <a:solidFill>
            <a:srgbClr val="C4A06D"/>
          </a:solidFill>
          <a:ln/>
        </p:spPr>
      </p:sp>
      <p:sp>
        <p:nvSpPr>
          <p:cNvPr id="8" name="Shape 6"/>
          <p:cNvSpPr/>
          <p:nvPr/>
        </p:nvSpPr>
        <p:spPr>
          <a:xfrm>
            <a:off x="411480" y="1042416"/>
            <a:ext cx="373532" cy="73152"/>
          </a:xfrm>
          <a:prstGeom prst="rect">
            <a:avLst/>
          </a:prstGeom>
          <a:solidFill>
            <a:srgbClr val="C4A06D"/>
          </a:solidFill>
          <a:ln/>
        </p:spPr>
      </p:sp>
      <p:sp>
        <p:nvSpPr>
          <p:cNvPr id="9" name="Shape 7"/>
          <p:cNvSpPr/>
          <p:nvPr/>
        </p:nvSpPr>
        <p:spPr>
          <a:xfrm>
            <a:off x="906628" y="1042416"/>
            <a:ext cx="373532" cy="73152"/>
          </a:xfrm>
          <a:prstGeom prst="rect">
            <a:avLst/>
          </a:prstGeom>
          <a:solidFill>
            <a:srgbClr val="C4A06D"/>
          </a:solidFill>
          <a:ln/>
        </p:spPr>
      </p:sp>
      <p:sp>
        <p:nvSpPr>
          <p:cNvPr id="10" name="Shape 8"/>
          <p:cNvSpPr/>
          <p:nvPr/>
        </p:nvSpPr>
        <p:spPr>
          <a:xfrm>
            <a:off x="411480" y="896112"/>
            <a:ext cx="868680" cy="73152"/>
          </a:xfrm>
          <a:prstGeom prst="rect">
            <a:avLst/>
          </a:prstGeom>
          <a:solidFill>
            <a:srgbClr val="C4A06D"/>
          </a:solidFill>
          <a:ln/>
        </p:spPr>
      </p:sp>
      <p:sp>
        <p:nvSpPr>
          <p:cNvPr id="11" name="Shape 9"/>
          <p:cNvSpPr/>
          <p:nvPr/>
        </p:nvSpPr>
        <p:spPr>
          <a:xfrm>
            <a:off x="411480" y="749808"/>
            <a:ext cx="373532" cy="73152"/>
          </a:xfrm>
          <a:prstGeom prst="rect">
            <a:avLst/>
          </a:prstGeom>
          <a:solidFill>
            <a:srgbClr val="C4A06D"/>
          </a:solidFill>
          <a:ln/>
        </p:spPr>
      </p:sp>
      <p:sp>
        <p:nvSpPr>
          <p:cNvPr id="12" name="Shape 10"/>
          <p:cNvSpPr/>
          <p:nvPr/>
        </p:nvSpPr>
        <p:spPr>
          <a:xfrm>
            <a:off x="906628" y="749808"/>
            <a:ext cx="373532" cy="73152"/>
          </a:xfrm>
          <a:prstGeom prst="rect">
            <a:avLst/>
          </a:prstGeom>
          <a:solidFill>
            <a:srgbClr val="C4A06D"/>
          </a:solidFill>
          <a:ln/>
        </p:spPr>
      </p:sp>
      <p:sp>
        <p:nvSpPr>
          <p:cNvPr id="13" name="Text 11"/>
          <p:cNvSpPr/>
          <p:nvPr/>
        </p:nvSpPr>
        <p:spPr>
          <a:xfrm>
            <a:off x="1508760" y="694944"/>
            <a:ext cx="731520" cy="548640"/>
          </a:xfrm>
          <a:prstGeom prst="rect">
            <a:avLst/>
          </a:prstGeom>
          <a:noFill/>
          <a:ln/>
        </p:spPr>
        <p:txBody>
          <a:bodyPr wrap="square" lIns="0" tIns="0" rIns="0" bIns="0" rtlCol="0" anchor="ctr"/>
          <a:lstStyle/>
          <a:p>
            <a:pPr indent="0" marL="0">
              <a:buNone/>
            </a:pPr>
            <a:r>
              <a:rPr lang="en-US" sz="3200" b="1" dirty="0">
                <a:solidFill>
                  <a:srgbClr val="F5F1E8"/>
                </a:solidFill>
                <a:latin typeface="BIZ UDPGothic" pitchFamily="34" charset="0"/>
                <a:ea typeface="BIZ UDPGothic" pitchFamily="34" charset="-122"/>
                <a:cs typeface="BIZ UDPGothic" pitchFamily="34" charset="-120"/>
              </a:rPr>
              <a:t>井</a:t>
            </a:r>
            <a:endParaRPr lang="en-US" sz="3200" dirty="0"/>
          </a:p>
        </p:txBody>
      </p:sp>
      <p:sp>
        <p:nvSpPr>
          <p:cNvPr id="14" name="Text 12"/>
          <p:cNvSpPr/>
          <p:nvPr/>
        </p:nvSpPr>
        <p:spPr>
          <a:xfrm>
            <a:off x="1508760" y="1261872"/>
            <a:ext cx="1920240" cy="274320"/>
          </a:xfrm>
          <a:prstGeom prst="rect">
            <a:avLst/>
          </a:prstGeom>
          <a:noFill/>
          <a:ln/>
        </p:spPr>
        <p:txBody>
          <a:bodyPr wrap="square" lIns="0" tIns="0" rIns="0" bIns="0" rtlCol="0" anchor="t"/>
          <a:lstStyle/>
          <a:p>
            <a:pPr indent="0" marL="0">
              <a:buNone/>
            </a:pPr>
            <a:r>
              <a:rPr lang="en-US" sz="1000" dirty="0">
                <a:solidFill>
                  <a:srgbClr val="C9D3D9"/>
                </a:solidFill>
                <a:latin typeface="BIZ UDPGothic" pitchFamily="34" charset="0"/>
                <a:ea typeface="BIZ UDPGothic" pitchFamily="34" charset="-122"/>
                <a:cs typeface="BIZ UDPGothic" pitchFamily="34" charset="-120"/>
              </a:rPr>
              <a:t>第48卦　水風井</a:t>
            </a:r>
            <a:endParaRPr lang="en-US" sz="1000" dirty="0"/>
          </a:p>
        </p:txBody>
      </p:sp>
      <p:sp>
        <p:nvSpPr>
          <p:cNvPr id="15" name="Text 13"/>
          <p:cNvSpPr/>
          <p:nvPr/>
        </p:nvSpPr>
        <p:spPr>
          <a:xfrm>
            <a:off x="411480" y="1737360"/>
            <a:ext cx="3017520" cy="457200"/>
          </a:xfrm>
          <a:prstGeom prst="rect">
            <a:avLst/>
          </a:prstGeom>
          <a:noFill/>
          <a:ln/>
        </p:spPr>
        <p:txBody>
          <a:bodyPr wrap="square" lIns="0" tIns="0" rIns="0" bIns="0" rtlCol="0" anchor="ctr"/>
          <a:lstStyle/>
          <a:p>
            <a:pPr indent="0" marL="0">
              <a:buNone/>
            </a:pPr>
            <a:r>
              <a:rPr lang="en-US" sz="2200" b="1" dirty="0">
                <a:solidFill>
                  <a:srgbClr val="F5F1E8"/>
                </a:solidFill>
                <a:latin typeface="Georgia" pitchFamily="34" charset="0"/>
                <a:ea typeface="Georgia" pitchFamily="34" charset="-122"/>
                <a:cs typeface="Georgia" pitchFamily="34" charset="-120"/>
              </a:rPr>
              <a:t>SEI Cognition</a:t>
            </a:r>
            <a:endParaRPr lang="en-US" sz="2200" dirty="0"/>
          </a:p>
        </p:txBody>
      </p:sp>
      <p:sp>
        <p:nvSpPr>
          <p:cNvPr id="16" name="Text 14"/>
          <p:cNvSpPr/>
          <p:nvPr/>
        </p:nvSpPr>
        <p:spPr>
          <a:xfrm>
            <a:off x="411480" y="2194560"/>
            <a:ext cx="2926080" cy="274320"/>
          </a:xfrm>
          <a:prstGeom prst="rect">
            <a:avLst/>
          </a:prstGeom>
          <a:noFill/>
          <a:ln/>
        </p:spPr>
        <p:txBody>
          <a:bodyPr wrap="square" lIns="0" tIns="0" rIns="0" bIns="0" rtlCol="0" anchor="t"/>
          <a:lstStyle/>
          <a:p>
            <a:pPr indent="0" marL="0">
              <a:buNone/>
            </a:pPr>
            <a:r>
              <a:rPr lang="en-US" sz="1200" b="1" dirty="0">
                <a:solidFill>
                  <a:srgbClr val="C4A06D"/>
                </a:solidFill>
                <a:latin typeface="BIZ UDPGothic" pitchFamily="34" charset="0"/>
                <a:ea typeface="BIZ UDPGothic" pitchFamily="34" charset="-122"/>
                <a:cs typeface="BIZ UDPGothic" pitchFamily="34" charset="-120"/>
              </a:rPr>
              <a:t>判断と来歴</a:t>
            </a:r>
            <a:endParaRPr lang="en-US" sz="1200" dirty="0"/>
          </a:p>
        </p:txBody>
      </p:sp>
      <p:sp>
        <p:nvSpPr>
          <p:cNvPr id="17" name="Text 15"/>
          <p:cNvSpPr/>
          <p:nvPr/>
        </p:nvSpPr>
        <p:spPr>
          <a:xfrm>
            <a:off x="411480" y="2606040"/>
            <a:ext cx="2743200" cy="201168"/>
          </a:xfrm>
          <a:prstGeom prst="rect">
            <a:avLst/>
          </a:prstGeom>
          <a:noFill/>
          <a:ln/>
        </p:spPr>
        <p:txBody>
          <a:bodyPr wrap="square" lIns="0" tIns="0" rIns="0" bIns="0" rtlCol="0" anchor="t"/>
          <a:lstStyle/>
          <a:p>
            <a:pPr indent="0" marL="0">
              <a:buNone/>
            </a:pPr>
            <a:r>
              <a:rPr lang="en-US" sz="900" b="1" dirty="0">
                <a:solidFill>
                  <a:srgbClr val="A7B7A7"/>
                </a:solidFill>
                <a:latin typeface="BIZ UDPGothic" pitchFamily="34" charset="0"/>
                <a:ea typeface="BIZ UDPGothic" pitchFamily="34" charset="-122"/>
                <a:cs typeface="BIZ UDPGothic" pitchFamily="34" charset="-120"/>
              </a:rPr>
              <a:t>目的</a:t>
            </a:r>
            <a:endParaRPr lang="en-US" sz="900" dirty="0"/>
          </a:p>
        </p:txBody>
      </p:sp>
      <p:sp>
        <p:nvSpPr>
          <p:cNvPr id="18" name="Text 16"/>
          <p:cNvSpPr/>
          <p:nvPr/>
        </p:nvSpPr>
        <p:spPr>
          <a:xfrm>
            <a:off x="411480" y="2807208"/>
            <a:ext cx="2788920" cy="548640"/>
          </a:xfrm>
          <a:prstGeom prst="rect">
            <a:avLst/>
          </a:prstGeom>
          <a:noFill/>
          <a:ln/>
        </p:spPr>
        <p:txBody>
          <a:bodyPr wrap="square" lIns="0" tIns="0" rIns="0" bIns="0" rtlCol="0" anchor="t"/>
          <a:lstStyle/>
          <a:p>
            <a:pPr indent="0" marL="0">
              <a:buNone/>
            </a:pPr>
            <a:r>
              <a:rPr lang="en-US" sz="1050" dirty="0">
                <a:solidFill>
                  <a:srgbClr val="F5F1E8"/>
                </a:solidFill>
                <a:latin typeface="BIZ UDPGothic" pitchFamily="34" charset="0"/>
                <a:ea typeface="BIZ UDPGothic" pitchFamily="34" charset="-122"/>
                <a:cs typeface="BIZ UDPGothic" pitchFamily="34" charset="-120"/>
              </a:rPr>
              <a:t>何を観測し、どう解釈し、何を根拠に判断したかを、後から確かめられるようにする</a:t>
            </a:r>
            <a:endParaRPr lang="en-US" sz="1050" dirty="0"/>
          </a:p>
        </p:txBody>
      </p:sp>
      <p:sp>
        <p:nvSpPr>
          <p:cNvPr id="19" name="Text 17"/>
          <p:cNvSpPr/>
          <p:nvPr/>
        </p:nvSpPr>
        <p:spPr>
          <a:xfrm>
            <a:off x="411480" y="3438144"/>
            <a:ext cx="2743200" cy="201168"/>
          </a:xfrm>
          <a:prstGeom prst="rect">
            <a:avLst/>
          </a:prstGeom>
          <a:noFill/>
          <a:ln/>
        </p:spPr>
        <p:txBody>
          <a:bodyPr wrap="square" lIns="0" tIns="0" rIns="0" bIns="0" rtlCol="0" anchor="t"/>
          <a:lstStyle/>
          <a:p>
            <a:pPr indent="0" marL="0">
              <a:buNone/>
            </a:pPr>
            <a:r>
              <a:rPr lang="en-US" sz="900" b="1" dirty="0">
                <a:solidFill>
                  <a:srgbClr val="A7B7A7"/>
                </a:solidFill>
                <a:latin typeface="BIZ UDPGothic" pitchFamily="34" charset="0"/>
                <a:ea typeface="BIZ UDPGothic" pitchFamily="34" charset="-122"/>
                <a:cs typeface="BIZ UDPGothic" pitchFamily="34" charset="-120"/>
              </a:rPr>
              <a:t>位置づけ</a:t>
            </a:r>
            <a:endParaRPr lang="en-US" sz="900" dirty="0"/>
          </a:p>
        </p:txBody>
      </p:sp>
      <p:sp>
        <p:nvSpPr>
          <p:cNvPr id="20" name="Text 18"/>
          <p:cNvSpPr/>
          <p:nvPr/>
        </p:nvSpPr>
        <p:spPr>
          <a:xfrm>
            <a:off x="411480" y="3639312"/>
            <a:ext cx="2788920" cy="274320"/>
          </a:xfrm>
          <a:prstGeom prst="rect">
            <a:avLst/>
          </a:prstGeom>
          <a:noFill/>
          <a:ln/>
        </p:spPr>
        <p:txBody>
          <a:bodyPr wrap="square" lIns="0" tIns="0" rIns="0" bIns="0" rtlCol="0" anchor="t"/>
          <a:lstStyle/>
          <a:p>
            <a:pPr indent="0" marL="0">
              <a:buNone/>
            </a:pPr>
            <a:r>
              <a:rPr lang="en-US" sz="1050" dirty="0">
                <a:solidFill>
                  <a:srgbClr val="F5F1E8"/>
                </a:solidFill>
                <a:latin typeface="BIZ UDPGothic" pitchFamily="34" charset="0"/>
                <a:ea typeface="BIZ UDPGothic" pitchFamily="34" charset="-122"/>
                <a:cs typeface="BIZ UDPGothic" pitchFamily="34" charset="-120"/>
              </a:rPr>
              <a:t>AIエージェントを動かす実行基盤ではない</a:t>
            </a:r>
            <a:endParaRPr lang="en-US" sz="1050" dirty="0"/>
          </a:p>
        </p:txBody>
      </p:sp>
      <p:sp>
        <p:nvSpPr>
          <p:cNvPr id="21" name="Text 19"/>
          <p:cNvSpPr/>
          <p:nvPr/>
        </p:nvSpPr>
        <p:spPr>
          <a:xfrm>
            <a:off x="411480" y="3995928"/>
            <a:ext cx="2743200" cy="201168"/>
          </a:xfrm>
          <a:prstGeom prst="rect">
            <a:avLst/>
          </a:prstGeom>
          <a:noFill/>
          <a:ln/>
        </p:spPr>
        <p:txBody>
          <a:bodyPr wrap="square" lIns="0" tIns="0" rIns="0" bIns="0" rtlCol="0" anchor="t"/>
          <a:lstStyle/>
          <a:p>
            <a:pPr indent="0" marL="0">
              <a:buNone/>
            </a:pPr>
            <a:r>
              <a:rPr lang="en-US" sz="900" b="1" dirty="0">
                <a:solidFill>
                  <a:srgbClr val="A7B7A7"/>
                </a:solidFill>
                <a:latin typeface="BIZ UDPGothic" pitchFamily="34" charset="0"/>
                <a:ea typeface="BIZ UDPGothic" pitchFamily="34" charset="-122"/>
                <a:cs typeface="BIZ UDPGothic" pitchFamily="34" charset="-120"/>
              </a:rPr>
              <a:t>卦の像</a:t>
            </a:r>
            <a:endParaRPr lang="en-US" sz="900" dirty="0"/>
          </a:p>
        </p:txBody>
      </p:sp>
      <p:sp>
        <p:nvSpPr>
          <p:cNvPr id="22" name="Text 20"/>
          <p:cNvSpPr/>
          <p:nvPr/>
        </p:nvSpPr>
        <p:spPr>
          <a:xfrm>
            <a:off x="411480" y="4197096"/>
            <a:ext cx="2788920" cy="548640"/>
          </a:xfrm>
          <a:prstGeom prst="rect">
            <a:avLst/>
          </a:prstGeom>
          <a:noFill/>
          <a:ln/>
        </p:spPr>
        <p:txBody>
          <a:bodyPr wrap="square" lIns="0" tIns="0" rIns="0" bIns="0" rtlCol="0" anchor="t"/>
          <a:lstStyle/>
          <a:p>
            <a:pPr indent="0" marL="0">
              <a:buNone/>
            </a:pPr>
            <a:r>
              <a:rPr lang="en-US" sz="1050" dirty="0">
                <a:solidFill>
                  <a:srgbClr val="F5F1E8"/>
                </a:solidFill>
                <a:latin typeface="BIZ UDPGothic" pitchFamily="34" charset="0"/>
                <a:ea typeface="BIZ UDPGothic" pitchFamily="34" charset="-122"/>
                <a:cs typeface="BIZ UDPGothic" pitchFamily="34" charset="-120"/>
              </a:rPr>
              <a:t>町や人の営みが変わっても井戸は残る。担い手や実行手段が変わっても判断の根拠を残す</a:t>
            </a:r>
            <a:endParaRPr lang="en-US" sz="1050" dirty="0"/>
          </a:p>
        </p:txBody>
      </p:sp>
      <p:sp>
        <p:nvSpPr>
          <p:cNvPr id="23" name="Shape 21"/>
          <p:cNvSpPr/>
          <p:nvPr/>
        </p:nvSpPr>
        <p:spPr>
          <a:xfrm>
            <a:off x="320040" y="5029200"/>
            <a:ext cx="2880360" cy="1600200"/>
          </a:xfrm>
          <a:prstGeom prst="rect">
            <a:avLst/>
          </a:prstGeom>
          <a:solidFill>
            <a:srgbClr val="000000">
              <a:alpha val="22000"/>
            </a:srgbClr>
          </a:solidFill>
          <a:ln/>
        </p:spPr>
      </p:sp>
      <p:sp>
        <p:nvSpPr>
          <p:cNvPr id="24" name="Text 22"/>
          <p:cNvSpPr/>
          <p:nvPr/>
        </p:nvSpPr>
        <p:spPr>
          <a:xfrm>
            <a:off x="457200" y="5120640"/>
            <a:ext cx="2651760" cy="201168"/>
          </a:xfrm>
          <a:prstGeom prst="rect">
            <a:avLst/>
          </a:prstGeom>
          <a:noFill/>
          <a:ln/>
        </p:spPr>
        <p:txBody>
          <a:bodyPr wrap="square" lIns="0" tIns="0" rIns="0" bIns="0" rtlCol="0" anchor="t"/>
          <a:lstStyle/>
          <a:p>
            <a:pPr indent="0" marL="0">
              <a:buNone/>
            </a:pPr>
            <a:r>
              <a:rPr lang="en-US" sz="900" b="1" dirty="0">
                <a:solidFill>
                  <a:srgbClr val="C4A06D"/>
                </a:solidFill>
                <a:latin typeface="BIZ UDPGothic" pitchFamily="34" charset="0"/>
                <a:ea typeface="BIZ UDPGothic" pitchFamily="34" charset="-122"/>
                <a:cs typeface="BIZ UDPGothic" pitchFamily="34" charset="-120"/>
              </a:rPr>
              <a:t>確認できていること</a:t>
            </a:r>
            <a:endParaRPr lang="en-US" sz="900" dirty="0"/>
          </a:p>
        </p:txBody>
      </p:sp>
      <p:sp>
        <p:nvSpPr>
          <p:cNvPr id="25" name="Text 23"/>
          <p:cNvSpPr/>
          <p:nvPr/>
        </p:nvSpPr>
        <p:spPr>
          <a:xfrm>
            <a:off x="457200" y="5321808"/>
            <a:ext cx="2651760" cy="566928"/>
          </a:xfrm>
          <a:prstGeom prst="rect">
            <a:avLst/>
          </a:prstGeom>
          <a:noFill/>
          <a:ln/>
        </p:spPr>
        <p:txBody>
          <a:bodyPr wrap="square" lIns="0" tIns="0" rIns="0" bIns="0" rtlCol="0" anchor="t"/>
          <a:lstStyle/>
          <a:p>
            <a:pPr indent="0" marL="0">
              <a:buNone/>
            </a:pPr>
            <a:r>
              <a:rPr lang="en-US" sz="1000" dirty="0">
                <a:solidFill>
                  <a:srgbClr val="F5F1E8"/>
                </a:solidFill>
                <a:latin typeface="BIZ UDPGothic" pitchFamily="34" charset="0"/>
                <a:ea typeface="BIZ UDPGothic" pitchFamily="34" charset="-122"/>
                <a:cs typeface="BIZ UDPGothic" pitchFamily="34" charset="-120"/>
              </a:rPr>
              <a:t>公開版0.2.0（手元で動く参照製品の基準版）。TAIから合成した判断記録の保存と再参照</a:t>
            </a:r>
            <a:endParaRPr lang="en-US" sz="1000" dirty="0"/>
          </a:p>
        </p:txBody>
      </p:sp>
      <p:sp>
        <p:nvSpPr>
          <p:cNvPr id="26" name="Text 24"/>
          <p:cNvSpPr/>
          <p:nvPr/>
        </p:nvSpPr>
        <p:spPr>
          <a:xfrm>
            <a:off x="457200" y="5907024"/>
            <a:ext cx="2651760" cy="201168"/>
          </a:xfrm>
          <a:prstGeom prst="rect">
            <a:avLst/>
          </a:prstGeom>
          <a:noFill/>
          <a:ln/>
        </p:spPr>
        <p:txBody>
          <a:bodyPr wrap="square" lIns="0" tIns="0" rIns="0" bIns="0" rtlCol="0" anchor="t"/>
          <a:lstStyle/>
          <a:p>
            <a:pPr indent="0" marL="0">
              <a:buNone/>
            </a:pPr>
            <a:r>
              <a:rPr lang="en-US" sz="900" b="1" dirty="0">
                <a:solidFill>
                  <a:srgbClr val="E0A890"/>
                </a:solidFill>
                <a:latin typeface="BIZ UDPGothic" pitchFamily="34" charset="0"/>
                <a:ea typeface="BIZ UDPGothic" pitchFamily="34" charset="-122"/>
                <a:cs typeface="BIZ UDPGothic" pitchFamily="34" charset="-120"/>
              </a:rPr>
              <a:t>まだ確認していないこと</a:t>
            </a:r>
            <a:endParaRPr lang="en-US" sz="900" dirty="0"/>
          </a:p>
        </p:txBody>
      </p:sp>
      <p:sp>
        <p:nvSpPr>
          <p:cNvPr id="27" name="Text 25"/>
          <p:cNvSpPr/>
          <p:nvPr/>
        </p:nvSpPr>
        <p:spPr>
          <a:xfrm>
            <a:off x="457200" y="6108192"/>
            <a:ext cx="2651760" cy="475488"/>
          </a:xfrm>
          <a:prstGeom prst="rect">
            <a:avLst/>
          </a:prstGeom>
          <a:noFill/>
          <a:ln/>
        </p:spPr>
        <p:txBody>
          <a:bodyPr wrap="square" lIns="0" tIns="0" rIns="0" bIns="0" rtlCol="0" anchor="t"/>
          <a:lstStyle/>
          <a:p>
            <a:pPr indent="0" marL="0">
              <a:buNone/>
            </a:pPr>
            <a:r>
              <a:rPr lang="en-US" sz="1000" dirty="0">
                <a:solidFill>
                  <a:srgbClr val="F5F1E8"/>
                </a:solidFill>
                <a:latin typeface="BIZ UDPGothic" pitchFamily="34" charset="0"/>
                <a:ea typeface="BIZ UDPGothic" pitchFamily="34" charset="-122"/>
                <a:cs typeface="BIZ UDPGothic" pitchFamily="34" charset="-120"/>
              </a:rPr>
              <a:t>実運用での権限・永続性・長期の品質</a:t>
            </a:r>
            <a:endParaRPr lang="en-US" sz="1000" dirty="0"/>
          </a:p>
        </p:txBody>
      </p:sp>
      <p:sp>
        <p:nvSpPr>
          <p:cNvPr id="28" name="Text 26"/>
          <p:cNvSpPr/>
          <p:nvPr/>
        </p:nvSpPr>
        <p:spPr>
          <a:xfrm>
            <a:off x="3886200" y="274320"/>
            <a:ext cx="780257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a:t>
            </a:r>
            <a:endParaRPr lang="en-US" sz="950" dirty="0"/>
          </a:p>
        </p:txBody>
      </p:sp>
      <p:sp>
        <p:nvSpPr>
          <p:cNvPr id="29" name="Text 27"/>
          <p:cNvSpPr/>
          <p:nvPr/>
        </p:nvSpPr>
        <p:spPr>
          <a:xfrm>
            <a:off x="3886200" y="530352"/>
            <a:ext cx="780257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人とAIが替わっても、判断の続きを扱う</a:t>
            </a:r>
            <a:endParaRPr lang="en-US" sz="2500" dirty="0"/>
          </a:p>
        </p:txBody>
      </p:sp>
      <p:sp>
        <p:nvSpPr>
          <p:cNvPr id="30" name="Text 28"/>
          <p:cNvSpPr/>
          <p:nvPr/>
        </p:nvSpPr>
        <p:spPr>
          <a:xfrm>
            <a:off x="3886200" y="1097280"/>
            <a:ext cx="780257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AIが「変更した方がよい」と提案しても、採用・許可・実行・成果はそれぞれ別に確かめる必要がある。</a:t>
            </a:r>
            <a:endParaRPr lang="en-US" sz="1300" dirty="0"/>
          </a:p>
        </p:txBody>
      </p:sp>
      <p:sp>
        <p:nvSpPr>
          <p:cNvPr id="31" name="Text 29"/>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14</a:t>
            </a:r>
            <a:endParaRPr lang="en-US" sz="1000" dirty="0"/>
          </a:p>
        </p:txBody>
      </p:sp>
      <p:sp>
        <p:nvSpPr>
          <p:cNvPr id="32" name="Text 30"/>
          <p:cNvSpPr/>
          <p:nvPr/>
        </p:nvSpPr>
        <p:spPr>
          <a:xfrm>
            <a:off x="3886200" y="1600200"/>
            <a:ext cx="4572000" cy="256032"/>
          </a:xfrm>
          <a:prstGeom prst="rect">
            <a:avLst/>
          </a:prstGeom>
          <a:noFill/>
          <a:ln/>
        </p:spPr>
        <p:txBody>
          <a:bodyPr wrap="square" lIns="0" tIns="0" rIns="0" bIns="0" rtlCol="0" anchor="t"/>
          <a:lstStyle/>
          <a:p>
            <a:pPr indent="0" marL="0">
              <a:buNone/>
            </a:pPr>
            <a:r>
              <a:rPr lang="en-US" sz="1150" b="1" dirty="0">
                <a:solidFill>
                  <a:srgbClr val="3C6684"/>
                </a:solidFill>
                <a:latin typeface="BIZ UDPGothic" pitchFamily="34" charset="0"/>
                <a:ea typeface="BIZ UDPGothic" pitchFamily="34" charset="-122"/>
                <a:cs typeface="BIZ UDPGothic" pitchFamily="34" charset="-120"/>
              </a:rPr>
              <a:t>取り違えないための区別</a:t>
            </a:r>
            <a:endParaRPr lang="en-US" sz="1150" dirty="0"/>
          </a:p>
        </p:txBody>
      </p:sp>
      <p:sp>
        <p:nvSpPr>
          <p:cNvPr id="33" name="Shape 31"/>
          <p:cNvSpPr/>
          <p:nvPr/>
        </p:nvSpPr>
        <p:spPr>
          <a:xfrm>
            <a:off x="3886200" y="1901952"/>
            <a:ext cx="3809848" cy="384048"/>
          </a:xfrm>
          <a:prstGeom prst="rect">
            <a:avLst/>
          </a:prstGeom>
          <a:solidFill>
            <a:srgbClr val="FFFFFF"/>
          </a:solidFill>
          <a:ln w="9525">
            <a:solidFill>
              <a:srgbClr val="DCD5C6"/>
            </a:solidFill>
            <a:prstDash val="solid"/>
          </a:ln>
        </p:spPr>
      </p:sp>
      <p:sp>
        <p:nvSpPr>
          <p:cNvPr id="34" name="Text 32"/>
          <p:cNvSpPr/>
          <p:nvPr/>
        </p:nvSpPr>
        <p:spPr>
          <a:xfrm>
            <a:off x="4023360" y="1901952"/>
            <a:ext cx="1676324" cy="384048"/>
          </a:xfrm>
          <a:prstGeom prst="rect">
            <a:avLst/>
          </a:prstGeom>
          <a:noFill/>
          <a:ln/>
        </p:spPr>
        <p:txBody>
          <a:bodyPr wrap="square" lIns="0" tIns="0" rIns="0" bIns="0" rtlCol="0" anchor="ctr"/>
          <a:lstStyle/>
          <a:p>
            <a:pPr algn="r" indent="0" marL="0">
              <a:buNone/>
            </a:pPr>
            <a:r>
              <a:rPr lang="en-US" sz="1100" dirty="0">
                <a:solidFill>
                  <a:srgbClr val="243D54"/>
                </a:solidFill>
                <a:latin typeface="BIZ UDPGothic" pitchFamily="34" charset="0"/>
                <a:ea typeface="BIZ UDPGothic" pitchFamily="34" charset="-122"/>
                <a:cs typeface="BIZ UDPGothic" pitchFamily="34" charset="-120"/>
              </a:rPr>
              <a:t>分からない</a:t>
            </a:r>
            <a:endParaRPr lang="en-US" sz="1100" dirty="0"/>
          </a:p>
        </p:txBody>
      </p:sp>
      <p:sp>
        <p:nvSpPr>
          <p:cNvPr id="35" name="Text 33"/>
          <p:cNvSpPr/>
          <p:nvPr/>
        </p:nvSpPr>
        <p:spPr>
          <a:xfrm>
            <a:off x="5653964" y="1901952"/>
            <a:ext cx="274320" cy="384048"/>
          </a:xfrm>
          <a:prstGeom prst="rect">
            <a:avLst/>
          </a:prstGeom>
          <a:noFill/>
          <a:ln/>
        </p:spPr>
        <p:txBody>
          <a:bodyPr wrap="square" lIns="0" tIns="0" rIns="0" bIns="0" rtlCol="0" anchor="ctr"/>
          <a:lstStyle/>
          <a:p>
            <a:pPr algn="ctr" indent="0" marL="0">
              <a:buNone/>
            </a:pPr>
            <a:r>
              <a:rPr lang="en-US" sz="1300" b="1" dirty="0">
                <a:solidFill>
                  <a:srgbClr val="3C6684"/>
                </a:solidFill>
                <a:latin typeface="BIZ UDPGothic" pitchFamily="34" charset="0"/>
                <a:ea typeface="BIZ UDPGothic" pitchFamily="34" charset="-122"/>
                <a:cs typeface="BIZ UDPGothic" pitchFamily="34" charset="-120"/>
              </a:rPr>
              <a:t>≠</a:t>
            </a:r>
            <a:endParaRPr lang="en-US" sz="1300" dirty="0"/>
          </a:p>
        </p:txBody>
      </p:sp>
      <p:sp>
        <p:nvSpPr>
          <p:cNvPr id="36" name="Text 34"/>
          <p:cNvSpPr/>
          <p:nvPr/>
        </p:nvSpPr>
        <p:spPr>
          <a:xfrm>
            <a:off x="5928284" y="1901952"/>
            <a:ext cx="1676324" cy="384048"/>
          </a:xfrm>
          <a:prstGeom prst="rect">
            <a:avLst/>
          </a:prstGeom>
          <a:noFill/>
          <a:ln/>
        </p:spPr>
        <p:txBody>
          <a:bodyPr wrap="square" lIns="0" tIns="0" rIns="0" bIns="0" rtlCol="0" anchor="ctr"/>
          <a:lstStyle/>
          <a:p>
            <a:pPr indent="0" marL="0">
              <a:buNone/>
            </a:pPr>
            <a:r>
              <a:rPr lang="en-US" sz="1100" b="1" dirty="0">
                <a:solidFill>
                  <a:srgbClr val="243D54"/>
                </a:solidFill>
                <a:latin typeface="BIZ UDPGothic" pitchFamily="34" charset="0"/>
                <a:ea typeface="BIZ UDPGothic" pitchFamily="34" charset="-122"/>
                <a:cs typeface="BIZ UDPGothic" pitchFamily="34" charset="-120"/>
              </a:rPr>
              <a:t>否定された</a:t>
            </a:r>
            <a:endParaRPr lang="en-US" sz="1100" dirty="0"/>
          </a:p>
        </p:txBody>
      </p:sp>
      <p:sp>
        <p:nvSpPr>
          <p:cNvPr id="37" name="Shape 35"/>
          <p:cNvSpPr/>
          <p:nvPr/>
        </p:nvSpPr>
        <p:spPr>
          <a:xfrm>
            <a:off x="7878928" y="1901952"/>
            <a:ext cx="3809848" cy="384048"/>
          </a:xfrm>
          <a:prstGeom prst="rect">
            <a:avLst/>
          </a:prstGeom>
          <a:solidFill>
            <a:srgbClr val="FFFFFF"/>
          </a:solidFill>
          <a:ln w="9525">
            <a:solidFill>
              <a:srgbClr val="DCD5C6"/>
            </a:solidFill>
            <a:prstDash val="solid"/>
          </a:ln>
        </p:spPr>
      </p:sp>
      <p:sp>
        <p:nvSpPr>
          <p:cNvPr id="38" name="Text 36"/>
          <p:cNvSpPr/>
          <p:nvPr/>
        </p:nvSpPr>
        <p:spPr>
          <a:xfrm>
            <a:off x="8016088" y="1901952"/>
            <a:ext cx="1676324" cy="384048"/>
          </a:xfrm>
          <a:prstGeom prst="rect">
            <a:avLst/>
          </a:prstGeom>
          <a:noFill/>
          <a:ln/>
        </p:spPr>
        <p:txBody>
          <a:bodyPr wrap="square" lIns="0" tIns="0" rIns="0" bIns="0" rtlCol="0" anchor="ctr"/>
          <a:lstStyle/>
          <a:p>
            <a:pPr algn="r" indent="0" marL="0">
              <a:buNone/>
            </a:pPr>
            <a:r>
              <a:rPr lang="en-US" sz="1100" dirty="0">
                <a:solidFill>
                  <a:srgbClr val="243D54"/>
                </a:solidFill>
                <a:latin typeface="BIZ UDPGothic" pitchFamily="34" charset="0"/>
                <a:ea typeface="BIZ UDPGothic" pitchFamily="34" charset="-122"/>
                <a:cs typeface="BIZ UDPGothic" pitchFamily="34" charset="-120"/>
              </a:rPr>
              <a:t>まだ観測していない</a:t>
            </a:r>
            <a:endParaRPr lang="en-US" sz="1100" dirty="0"/>
          </a:p>
        </p:txBody>
      </p:sp>
      <p:sp>
        <p:nvSpPr>
          <p:cNvPr id="39" name="Text 37"/>
          <p:cNvSpPr/>
          <p:nvPr/>
        </p:nvSpPr>
        <p:spPr>
          <a:xfrm>
            <a:off x="9646691" y="1901952"/>
            <a:ext cx="274320" cy="384048"/>
          </a:xfrm>
          <a:prstGeom prst="rect">
            <a:avLst/>
          </a:prstGeom>
          <a:noFill/>
          <a:ln/>
        </p:spPr>
        <p:txBody>
          <a:bodyPr wrap="square" lIns="0" tIns="0" rIns="0" bIns="0" rtlCol="0" anchor="ctr"/>
          <a:lstStyle/>
          <a:p>
            <a:pPr algn="ctr" indent="0" marL="0">
              <a:buNone/>
            </a:pPr>
            <a:r>
              <a:rPr lang="en-US" sz="1300" b="1" dirty="0">
                <a:solidFill>
                  <a:srgbClr val="3C6684"/>
                </a:solidFill>
                <a:latin typeface="BIZ UDPGothic" pitchFamily="34" charset="0"/>
                <a:ea typeface="BIZ UDPGothic" pitchFamily="34" charset="-122"/>
                <a:cs typeface="BIZ UDPGothic" pitchFamily="34" charset="-120"/>
              </a:rPr>
              <a:t>≠</a:t>
            </a:r>
            <a:endParaRPr lang="en-US" sz="1300" dirty="0"/>
          </a:p>
        </p:txBody>
      </p:sp>
      <p:sp>
        <p:nvSpPr>
          <p:cNvPr id="40" name="Text 38"/>
          <p:cNvSpPr/>
          <p:nvPr/>
        </p:nvSpPr>
        <p:spPr>
          <a:xfrm>
            <a:off x="9921011" y="1901952"/>
            <a:ext cx="1676324" cy="384048"/>
          </a:xfrm>
          <a:prstGeom prst="rect">
            <a:avLst/>
          </a:prstGeom>
          <a:noFill/>
          <a:ln/>
        </p:spPr>
        <p:txBody>
          <a:bodyPr wrap="square" lIns="0" tIns="0" rIns="0" bIns="0" rtlCol="0" anchor="ctr"/>
          <a:lstStyle/>
          <a:p>
            <a:pPr indent="0" marL="0">
              <a:buNone/>
            </a:pPr>
            <a:r>
              <a:rPr lang="en-US" sz="1100" b="1" dirty="0">
                <a:solidFill>
                  <a:srgbClr val="243D54"/>
                </a:solidFill>
                <a:latin typeface="BIZ UDPGothic" pitchFamily="34" charset="0"/>
                <a:ea typeface="BIZ UDPGothic" pitchFamily="34" charset="-122"/>
                <a:cs typeface="BIZ UDPGothic" pitchFamily="34" charset="-120"/>
              </a:rPr>
              <a:t>利用できない</a:t>
            </a:r>
            <a:endParaRPr lang="en-US" sz="1100" dirty="0"/>
          </a:p>
        </p:txBody>
      </p:sp>
      <p:sp>
        <p:nvSpPr>
          <p:cNvPr id="41" name="Shape 39"/>
          <p:cNvSpPr/>
          <p:nvPr/>
        </p:nvSpPr>
        <p:spPr>
          <a:xfrm>
            <a:off x="3886200" y="2359152"/>
            <a:ext cx="3809848" cy="384048"/>
          </a:xfrm>
          <a:prstGeom prst="rect">
            <a:avLst/>
          </a:prstGeom>
          <a:solidFill>
            <a:srgbClr val="FFFFFF"/>
          </a:solidFill>
          <a:ln w="9525">
            <a:solidFill>
              <a:srgbClr val="DCD5C6"/>
            </a:solidFill>
            <a:prstDash val="solid"/>
          </a:ln>
        </p:spPr>
      </p:sp>
      <p:sp>
        <p:nvSpPr>
          <p:cNvPr id="42" name="Text 40"/>
          <p:cNvSpPr/>
          <p:nvPr/>
        </p:nvSpPr>
        <p:spPr>
          <a:xfrm>
            <a:off x="4023360" y="2359152"/>
            <a:ext cx="1676324" cy="384048"/>
          </a:xfrm>
          <a:prstGeom prst="rect">
            <a:avLst/>
          </a:prstGeom>
          <a:noFill/>
          <a:ln/>
        </p:spPr>
        <p:txBody>
          <a:bodyPr wrap="square" lIns="0" tIns="0" rIns="0" bIns="0" rtlCol="0" anchor="ctr"/>
          <a:lstStyle/>
          <a:p>
            <a:pPr algn="r" indent="0" marL="0">
              <a:buNone/>
            </a:pPr>
            <a:r>
              <a:rPr lang="en-US" sz="1100" dirty="0">
                <a:solidFill>
                  <a:srgbClr val="243D54"/>
                </a:solidFill>
                <a:latin typeface="BIZ UDPGothic" pitchFamily="34" charset="0"/>
                <a:ea typeface="BIZ UDPGothic" pitchFamily="34" charset="-122"/>
                <a:cs typeface="BIZ UDPGothic" pitchFamily="34" charset="-120"/>
              </a:rPr>
              <a:t>まだ検証していない</a:t>
            </a:r>
            <a:endParaRPr lang="en-US" sz="1100" dirty="0"/>
          </a:p>
        </p:txBody>
      </p:sp>
      <p:sp>
        <p:nvSpPr>
          <p:cNvPr id="43" name="Text 41"/>
          <p:cNvSpPr/>
          <p:nvPr/>
        </p:nvSpPr>
        <p:spPr>
          <a:xfrm>
            <a:off x="5653964" y="2359152"/>
            <a:ext cx="274320" cy="384048"/>
          </a:xfrm>
          <a:prstGeom prst="rect">
            <a:avLst/>
          </a:prstGeom>
          <a:noFill/>
          <a:ln/>
        </p:spPr>
        <p:txBody>
          <a:bodyPr wrap="square" lIns="0" tIns="0" rIns="0" bIns="0" rtlCol="0" anchor="ctr"/>
          <a:lstStyle/>
          <a:p>
            <a:pPr algn="ctr" indent="0" marL="0">
              <a:buNone/>
            </a:pPr>
            <a:r>
              <a:rPr lang="en-US" sz="1300" b="1" dirty="0">
                <a:solidFill>
                  <a:srgbClr val="3C6684"/>
                </a:solidFill>
                <a:latin typeface="BIZ UDPGothic" pitchFamily="34" charset="0"/>
                <a:ea typeface="BIZ UDPGothic" pitchFamily="34" charset="-122"/>
                <a:cs typeface="BIZ UDPGothic" pitchFamily="34" charset="-120"/>
              </a:rPr>
              <a:t>≠</a:t>
            </a:r>
            <a:endParaRPr lang="en-US" sz="1300" dirty="0"/>
          </a:p>
        </p:txBody>
      </p:sp>
      <p:sp>
        <p:nvSpPr>
          <p:cNvPr id="44" name="Text 42"/>
          <p:cNvSpPr/>
          <p:nvPr/>
        </p:nvSpPr>
        <p:spPr>
          <a:xfrm>
            <a:off x="5928284" y="2359152"/>
            <a:ext cx="1676324" cy="384048"/>
          </a:xfrm>
          <a:prstGeom prst="rect">
            <a:avLst/>
          </a:prstGeom>
          <a:noFill/>
          <a:ln/>
        </p:spPr>
        <p:txBody>
          <a:bodyPr wrap="square" lIns="0" tIns="0" rIns="0" bIns="0" rtlCol="0" anchor="ctr"/>
          <a:lstStyle/>
          <a:p>
            <a:pPr indent="0" marL="0">
              <a:buNone/>
            </a:pPr>
            <a:r>
              <a:rPr lang="en-US" sz="1100" b="1" dirty="0">
                <a:solidFill>
                  <a:srgbClr val="243D54"/>
                </a:solidFill>
                <a:latin typeface="BIZ UDPGothic" pitchFamily="34" charset="0"/>
                <a:ea typeface="BIZ UDPGothic" pitchFamily="34" charset="-122"/>
                <a:cs typeface="BIZ UDPGothic" pitchFamily="34" charset="-120"/>
              </a:rPr>
              <a:t>検証で不合格</a:t>
            </a:r>
            <a:endParaRPr lang="en-US" sz="1100" dirty="0"/>
          </a:p>
        </p:txBody>
      </p:sp>
      <p:sp>
        <p:nvSpPr>
          <p:cNvPr id="45" name="Shape 43"/>
          <p:cNvSpPr/>
          <p:nvPr/>
        </p:nvSpPr>
        <p:spPr>
          <a:xfrm>
            <a:off x="7878928" y="2359152"/>
            <a:ext cx="3809848" cy="384048"/>
          </a:xfrm>
          <a:prstGeom prst="rect">
            <a:avLst/>
          </a:prstGeom>
          <a:solidFill>
            <a:srgbClr val="FFFFFF"/>
          </a:solidFill>
          <a:ln w="9525">
            <a:solidFill>
              <a:srgbClr val="DCD5C6"/>
            </a:solidFill>
            <a:prstDash val="solid"/>
          </a:ln>
        </p:spPr>
      </p:sp>
      <p:sp>
        <p:nvSpPr>
          <p:cNvPr id="46" name="Text 44"/>
          <p:cNvSpPr/>
          <p:nvPr/>
        </p:nvSpPr>
        <p:spPr>
          <a:xfrm>
            <a:off x="8016088" y="2359152"/>
            <a:ext cx="1676324" cy="384048"/>
          </a:xfrm>
          <a:prstGeom prst="rect">
            <a:avLst/>
          </a:prstGeom>
          <a:noFill/>
          <a:ln/>
        </p:spPr>
        <p:txBody>
          <a:bodyPr wrap="square" lIns="0" tIns="0" rIns="0" bIns="0" rtlCol="0" anchor="ctr"/>
          <a:lstStyle/>
          <a:p>
            <a:pPr algn="r" indent="0" marL="0">
              <a:buNone/>
            </a:pPr>
            <a:r>
              <a:rPr lang="en-US" sz="1100" dirty="0">
                <a:solidFill>
                  <a:srgbClr val="243D54"/>
                </a:solidFill>
                <a:latin typeface="BIZ UDPGothic" pitchFamily="34" charset="0"/>
                <a:ea typeface="BIZ UDPGothic" pitchFamily="34" charset="-122"/>
                <a:cs typeface="BIZ UDPGothic" pitchFamily="34" charset="-120"/>
              </a:rPr>
              <a:t>新しい資料がある</a:t>
            </a:r>
            <a:endParaRPr lang="en-US" sz="1100" dirty="0"/>
          </a:p>
        </p:txBody>
      </p:sp>
      <p:sp>
        <p:nvSpPr>
          <p:cNvPr id="47" name="Text 45"/>
          <p:cNvSpPr/>
          <p:nvPr/>
        </p:nvSpPr>
        <p:spPr>
          <a:xfrm>
            <a:off x="9646691" y="2359152"/>
            <a:ext cx="274320" cy="384048"/>
          </a:xfrm>
          <a:prstGeom prst="rect">
            <a:avLst/>
          </a:prstGeom>
          <a:noFill/>
          <a:ln/>
        </p:spPr>
        <p:txBody>
          <a:bodyPr wrap="square" lIns="0" tIns="0" rIns="0" bIns="0" rtlCol="0" anchor="ctr"/>
          <a:lstStyle/>
          <a:p>
            <a:pPr algn="ctr" indent="0" marL="0">
              <a:buNone/>
            </a:pPr>
            <a:r>
              <a:rPr lang="en-US" sz="1300" b="1" dirty="0">
                <a:solidFill>
                  <a:srgbClr val="3C6684"/>
                </a:solidFill>
                <a:latin typeface="BIZ UDPGothic" pitchFamily="34" charset="0"/>
                <a:ea typeface="BIZ UDPGothic" pitchFamily="34" charset="-122"/>
                <a:cs typeface="BIZ UDPGothic" pitchFamily="34" charset="-120"/>
              </a:rPr>
              <a:t>≠</a:t>
            </a:r>
            <a:endParaRPr lang="en-US" sz="1300" dirty="0"/>
          </a:p>
        </p:txBody>
      </p:sp>
      <p:sp>
        <p:nvSpPr>
          <p:cNvPr id="48" name="Text 46"/>
          <p:cNvSpPr/>
          <p:nvPr/>
        </p:nvSpPr>
        <p:spPr>
          <a:xfrm>
            <a:off x="9921011" y="2359152"/>
            <a:ext cx="1676324" cy="384048"/>
          </a:xfrm>
          <a:prstGeom prst="rect">
            <a:avLst/>
          </a:prstGeom>
          <a:noFill/>
          <a:ln/>
        </p:spPr>
        <p:txBody>
          <a:bodyPr wrap="square" lIns="0" tIns="0" rIns="0" bIns="0" rtlCol="0" anchor="ctr"/>
          <a:lstStyle/>
          <a:p>
            <a:pPr indent="0" marL="0">
              <a:buNone/>
            </a:pPr>
            <a:r>
              <a:rPr lang="en-US" sz="1100" b="1" dirty="0">
                <a:solidFill>
                  <a:srgbClr val="243D54"/>
                </a:solidFill>
                <a:latin typeface="BIZ UDPGothic" pitchFamily="34" charset="0"/>
                <a:ea typeface="BIZ UDPGothic" pitchFamily="34" charset="-122"/>
                <a:cs typeface="BIZ UDPGothic" pitchFamily="34" charset="-120"/>
              </a:rPr>
              <a:t>食い違いが解消した</a:t>
            </a:r>
            <a:endParaRPr lang="en-US" sz="1100" dirty="0"/>
          </a:p>
        </p:txBody>
      </p:sp>
      <p:sp>
        <p:nvSpPr>
          <p:cNvPr id="49" name="Shape 47"/>
          <p:cNvSpPr/>
          <p:nvPr/>
        </p:nvSpPr>
        <p:spPr>
          <a:xfrm>
            <a:off x="3886200" y="2816352"/>
            <a:ext cx="3809848" cy="384048"/>
          </a:xfrm>
          <a:prstGeom prst="rect">
            <a:avLst/>
          </a:prstGeom>
          <a:solidFill>
            <a:srgbClr val="FFFFFF"/>
          </a:solidFill>
          <a:ln w="9525">
            <a:solidFill>
              <a:srgbClr val="DCD5C6"/>
            </a:solidFill>
            <a:prstDash val="solid"/>
          </a:ln>
        </p:spPr>
      </p:sp>
      <p:sp>
        <p:nvSpPr>
          <p:cNvPr id="50" name="Text 48"/>
          <p:cNvSpPr/>
          <p:nvPr/>
        </p:nvSpPr>
        <p:spPr>
          <a:xfrm>
            <a:off x="4023360" y="2816352"/>
            <a:ext cx="1676324" cy="384048"/>
          </a:xfrm>
          <a:prstGeom prst="rect">
            <a:avLst/>
          </a:prstGeom>
          <a:noFill/>
          <a:ln/>
        </p:spPr>
        <p:txBody>
          <a:bodyPr wrap="square" lIns="0" tIns="0" rIns="0" bIns="0" rtlCol="0" anchor="ctr"/>
          <a:lstStyle/>
          <a:p>
            <a:pPr algn="r" indent="0" marL="0">
              <a:buNone/>
            </a:pPr>
            <a:r>
              <a:rPr lang="en-US" sz="1100" dirty="0">
                <a:solidFill>
                  <a:srgbClr val="243D54"/>
                </a:solidFill>
                <a:latin typeface="BIZ UDPGothic" pitchFamily="34" charset="0"/>
                <a:ea typeface="BIZ UDPGothic" pitchFamily="34" charset="-122"/>
                <a:cs typeface="BIZ UDPGothic" pitchFamily="34" charset="-120"/>
              </a:rPr>
              <a:t>候補が一致した</a:t>
            </a:r>
            <a:endParaRPr lang="en-US" sz="1100" dirty="0"/>
          </a:p>
        </p:txBody>
      </p:sp>
      <p:sp>
        <p:nvSpPr>
          <p:cNvPr id="51" name="Text 49"/>
          <p:cNvSpPr/>
          <p:nvPr/>
        </p:nvSpPr>
        <p:spPr>
          <a:xfrm>
            <a:off x="5653964" y="2816352"/>
            <a:ext cx="274320" cy="384048"/>
          </a:xfrm>
          <a:prstGeom prst="rect">
            <a:avLst/>
          </a:prstGeom>
          <a:noFill/>
          <a:ln/>
        </p:spPr>
        <p:txBody>
          <a:bodyPr wrap="square" lIns="0" tIns="0" rIns="0" bIns="0" rtlCol="0" anchor="ctr"/>
          <a:lstStyle/>
          <a:p>
            <a:pPr algn="ctr" indent="0" marL="0">
              <a:buNone/>
            </a:pPr>
            <a:r>
              <a:rPr lang="en-US" sz="1300" b="1" dirty="0">
                <a:solidFill>
                  <a:srgbClr val="3C6684"/>
                </a:solidFill>
                <a:latin typeface="BIZ UDPGothic" pitchFamily="34" charset="0"/>
                <a:ea typeface="BIZ UDPGothic" pitchFamily="34" charset="-122"/>
                <a:cs typeface="BIZ UDPGothic" pitchFamily="34" charset="-120"/>
              </a:rPr>
              <a:t>≠</a:t>
            </a:r>
            <a:endParaRPr lang="en-US" sz="1300" dirty="0"/>
          </a:p>
        </p:txBody>
      </p:sp>
      <p:sp>
        <p:nvSpPr>
          <p:cNvPr id="52" name="Text 50"/>
          <p:cNvSpPr/>
          <p:nvPr/>
        </p:nvSpPr>
        <p:spPr>
          <a:xfrm>
            <a:off x="5928284" y="2816352"/>
            <a:ext cx="1676324" cy="384048"/>
          </a:xfrm>
          <a:prstGeom prst="rect">
            <a:avLst/>
          </a:prstGeom>
          <a:noFill/>
          <a:ln/>
        </p:spPr>
        <p:txBody>
          <a:bodyPr wrap="square" lIns="0" tIns="0" rIns="0" bIns="0" rtlCol="0" anchor="ctr"/>
          <a:lstStyle/>
          <a:p>
            <a:pPr indent="0" marL="0">
              <a:buNone/>
            </a:pPr>
            <a:r>
              <a:rPr lang="en-US" sz="1100" b="1" dirty="0">
                <a:solidFill>
                  <a:srgbClr val="243D54"/>
                </a:solidFill>
                <a:latin typeface="BIZ UDPGothic" pitchFamily="34" charset="0"/>
                <a:ea typeface="BIZ UDPGothic" pitchFamily="34" charset="-122"/>
                <a:cs typeface="BIZ UDPGothic" pitchFamily="34" charset="-120"/>
              </a:rPr>
              <a:t>意思決定した</a:t>
            </a:r>
            <a:endParaRPr lang="en-US" sz="1100" dirty="0"/>
          </a:p>
        </p:txBody>
      </p:sp>
      <p:sp>
        <p:nvSpPr>
          <p:cNvPr id="53" name="Shape 51"/>
          <p:cNvSpPr/>
          <p:nvPr/>
        </p:nvSpPr>
        <p:spPr>
          <a:xfrm>
            <a:off x="7878928" y="2816352"/>
            <a:ext cx="3809848" cy="384048"/>
          </a:xfrm>
          <a:prstGeom prst="rect">
            <a:avLst/>
          </a:prstGeom>
          <a:solidFill>
            <a:srgbClr val="FFFFFF"/>
          </a:solidFill>
          <a:ln w="9525">
            <a:solidFill>
              <a:srgbClr val="DCD5C6"/>
            </a:solidFill>
            <a:prstDash val="solid"/>
          </a:ln>
        </p:spPr>
      </p:sp>
      <p:sp>
        <p:nvSpPr>
          <p:cNvPr id="54" name="Text 52"/>
          <p:cNvSpPr/>
          <p:nvPr/>
        </p:nvSpPr>
        <p:spPr>
          <a:xfrm>
            <a:off x="8016088" y="2816352"/>
            <a:ext cx="1676324" cy="384048"/>
          </a:xfrm>
          <a:prstGeom prst="rect">
            <a:avLst/>
          </a:prstGeom>
          <a:noFill/>
          <a:ln/>
        </p:spPr>
        <p:txBody>
          <a:bodyPr wrap="square" lIns="0" tIns="0" rIns="0" bIns="0" rtlCol="0" anchor="ctr"/>
          <a:lstStyle/>
          <a:p>
            <a:pPr algn="r" indent="0" marL="0">
              <a:buNone/>
            </a:pPr>
            <a:r>
              <a:rPr lang="en-US" sz="1100" dirty="0">
                <a:solidFill>
                  <a:srgbClr val="243D54"/>
                </a:solidFill>
                <a:latin typeface="BIZ UDPGothic" pitchFamily="34" charset="0"/>
                <a:ea typeface="BIZ UDPGothic" pitchFamily="34" charset="-122"/>
                <a:cs typeface="BIZ UDPGothic" pitchFamily="34" charset="-120"/>
              </a:rPr>
              <a:t>能力の定義</a:t>
            </a:r>
            <a:endParaRPr lang="en-US" sz="1100" dirty="0"/>
          </a:p>
        </p:txBody>
      </p:sp>
      <p:sp>
        <p:nvSpPr>
          <p:cNvPr id="55" name="Text 53"/>
          <p:cNvSpPr/>
          <p:nvPr/>
        </p:nvSpPr>
        <p:spPr>
          <a:xfrm>
            <a:off x="9646691" y="2816352"/>
            <a:ext cx="274320" cy="384048"/>
          </a:xfrm>
          <a:prstGeom prst="rect">
            <a:avLst/>
          </a:prstGeom>
          <a:noFill/>
          <a:ln/>
        </p:spPr>
        <p:txBody>
          <a:bodyPr wrap="square" lIns="0" tIns="0" rIns="0" bIns="0" rtlCol="0" anchor="ctr"/>
          <a:lstStyle/>
          <a:p>
            <a:pPr algn="ctr" indent="0" marL="0">
              <a:buNone/>
            </a:pPr>
            <a:r>
              <a:rPr lang="en-US" sz="1300" b="1" dirty="0">
                <a:solidFill>
                  <a:srgbClr val="3C6684"/>
                </a:solidFill>
                <a:latin typeface="BIZ UDPGothic" pitchFamily="34" charset="0"/>
                <a:ea typeface="BIZ UDPGothic" pitchFamily="34" charset="-122"/>
                <a:cs typeface="BIZ UDPGothic" pitchFamily="34" charset="-120"/>
              </a:rPr>
              <a:t>≠</a:t>
            </a:r>
            <a:endParaRPr lang="en-US" sz="1300" dirty="0"/>
          </a:p>
        </p:txBody>
      </p:sp>
      <p:sp>
        <p:nvSpPr>
          <p:cNvPr id="56" name="Text 54"/>
          <p:cNvSpPr/>
          <p:nvPr/>
        </p:nvSpPr>
        <p:spPr>
          <a:xfrm>
            <a:off x="9921011" y="2816352"/>
            <a:ext cx="1676324" cy="384048"/>
          </a:xfrm>
          <a:prstGeom prst="rect">
            <a:avLst/>
          </a:prstGeom>
          <a:noFill/>
          <a:ln/>
        </p:spPr>
        <p:txBody>
          <a:bodyPr wrap="square" lIns="0" tIns="0" rIns="0" bIns="0" rtlCol="0" anchor="ctr"/>
          <a:lstStyle/>
          <a:p>
            <a:pPr indent="0" marL="0">
              <a:buNone/>
            </a:pPr>
            <a:r>
              <a:rPr lang="en-US" sz="1100" b="1" dirty="0">
                <a:solidFill>
                  <a:srgbClr val="243D54"/>
                </a:solidFill>
                <a:latin typeface="BIZ UDPGothic" pitchFamily="34" charset="0"/>
                <a:ea typeface="BIZ UDPGothic" pitchFamily="34" charset="-122"/>
                <a:cs typeface="BIZ UDPGothic" pitchFamily="34" charset="-120"/>
              </a:rPr>
              <a:t>実際の状態の観測</a:t>
            </a:r>
            <a:endParaRPr lang="en-US" sz="1100" dirty="0"/>
          </a:p>
        </p:txBody>
      </p:sp>
      <p:sp>
        <p:nvSpPr>
          <p:cNvPr id="57" name="Shape 55"/>
          <p:cNvSpPr/>
          <p:nvPr/>
        </p:nvSpPr>
        <p:spPr>
          <a:xfrm>
            <a:off x="3886200" y="3273552"/>
            <a:ext cx="3809848" cy="384048"/>
          </a:xfrm>
          <a:prstGeom prst="rect">
            <a:avLst/>
          </a:prstGeom>
          <a:solidFill>
            <a:srgbClr val="FFFFFF"/>
          </a:solidFill>
          <a:ln w="9525">
            <a:solidFill>
              <a:srgbClr val="DCD5C6"/>
            </a:solidFill>
            <a:prstDash val="solid"/>
          </a:ln>
        </p:spPr>
      </p:sp>
      <p:sp>
        <p:nvSpPr>
          <p:cNvPr id="58" name="Text 56"/>
          <p:cNvSpPr/>
          <p:nvPr/>
        </p:nvSpPr>
        <p:spPr>
          <a:xfrm>
            <a:off x="4023360" y="3273552"/>
            <a:ext cx="1676324" cy="384048"/>
          </a:xfrm>
          <a:prstGeom prst="rect">
            <a:avLst/>
          </a:prstGeom>
          <a:noFill/>
          <a:ln/>
        </p:spPr>
        <p:txBody>
          <a:bodyPr wrap="square" lIns="0" tIns="0" rIns="0" bIns="0" rtlCol="0" anchor="ctr"/>
          <a:lstStyle/>
          <a:p>
            <a:pPr algn="r" indent="0" marL="0">
              <a:buNone/>
            </a:pPr>
            <a:r>
              <a:rPr lang="en-US" sz="1100" dirty="0">
                <a:solidFill>
                  <a:srgbClr val="243D54"/>
                </a:solidFill>
                <a:latin typeface="BIZ UDPGothic" pitchFamily="34" charset="0"/>
                <a:ea typeface="BIZ UDPGothic" pitchFamily="34" charset="-122"/>
                <a:cs typeface="BIZ UDPGothic" pitchFamily="34" charset="-120"/>
              </a:rPr>
              <a:t>方法を適用した</a:t>
            </a:r>
            <a:endParaRPr lang="en-US" sz="1100" dirty="0"/>
          </a:p>
        </p:txBody>
      </p:sp>
      <p:sp>
        <p:nvSpPr>
          <p:cNvPr id="59" name="Text 57"/>
          <p:cNvSpPr/>
          <p:nvPr/>
        </p:nvSpPr>
        <p:spPr>
          <a:xfrm>
            <a:off x="5653964" y="3273552"/>
            <a:ext cx="274320" cy="384048"/>
          </a:xfrm>
          <a:prstGeom prst="rect">
            <a:avLst/>
          </a:prstGeom>
          <a:noFill/>
          <a:ln/>
        </p:spPr>
        <p:txBody>
          <a:bodyPr wrap="square" lIns="0" tIns="0" rIns="0" bIns="0" rtlCol="0" anchor="ctr"/>
          <a:lstStyle/>
          <a:p>
            <a:pPr algn="ctr" indent="0" marL="0">
              <a:buNone/>
            </a:pPr>
            <a:r>
              <a:rPr lang="en-US" sz="1300" b="1" dirty="0">
                <a:solidFill>
                  <a:srgbClr val="3C6684"/>
                </a:solidFill>
                <a:latin typeface="BIZ UDPGothic" pitchFamily="34" charset="0"/>
                <a:ea typeface="BIZ UDPGothic" pitchFamily="34" charset="-122"/>
                <a:cs typeface="BIZ UDPGothic" pitchFamily="34" charset="-120"/>
              </a:rPr>
              <a:t>≠</a:t>
            </a:r>
            <a:endParaRPr lang="en-US" sz="1300" dirty="0"/>
          </a:p>
        </p:txBody>
      </p:sp>
      <p:sp>
        <p:nvSpPr>
          <p:cNvPr id="60" name="Text 58"/>
          <p:cNvSpPr/>
          <p:nvPr/>
        </p:nvSpPr>
        <p:spPr>
          <a:xfrm>
            <a:off x="5928284" y="3273552"/>
            <a:ext cx="1676324" cy="384048"/>
          </a:xfrm>
          <a:prstGeom prst="rect">
            <a:avLst/>
          </a:prstGeom>
          <a:noFill/>
          <a:ln/>
        </p:spPr>
        <p:txBody>
          <a:bodyPr wrap="square" lIns="0" tIns="0" rIns="0" bIns="0" rtlCol="0" anchor="ctr"/>
          <a:lstStyle/>
          <a:p>
            <a:pPr indent="0" marL="0">
              <a:buNone/>
            </a:pPr>
            <a:r>
              <a:rPr lang="en-US" sz="1100" b="1" dirty="0">
                <a:solidFill>
                  <a:srgbClr val="243D54"/>
                </a:solidFill>
                <a:latin typeface="BIZ UDPGothic" pitchFamily="34" charset="0"/>
                <a:ea typeface="BIZ UDPGothic" pitchFamily="34" charset="-122"/>
                <a:cs typeface="BIZ UDPGothic" pitchFamily="34" charset="-120"/>
              </a:rPr>
              <a:t>品質を保証した</a:t>
            </a:r>
            <a:endParaRPr lang="en-US" sz="1100" dirty="0"/>
          </a:p>
        </p:txBody>
      </p:sp>
      <p:sp>
        <p:nvSpPr>
          <p:cNvPr id="61" name="Shape 59"/>
          <p:cNvSpPr/>
          <p:nvPr/>
        </p:nvSpPr>
        <p:spPr>
          <a:xfrm>
            <a:off x="7878928" y="3273552"/>
            <a:ext cx="3809848" cy="384048"/>
          </a:xfrm>
          <a:prstGeom prst="rect">
            <a:avLst/>
          </a:prstGeom>
          <a:solidFill>
            <a:srgbClr val="FFFFFF"/>
          </a:solidFill>
          <a:ln w="9525">
            <a:solidFill>
              <a:srgbClr val="DCD5C6"/>
            </a:solidFill>
            <a:prstDash val="solid"/>
          </a:ln>
        </p:spPr>
      </p:sp>
      <p:sp>
        <p:nvSpPr>
          <p:cNvPr id="62" name="Text 60"/>
          <p:cNvSpPr/>
          <p:nvPr/>
        </p:nvSpPr>
        <p:spPr>
          <a:xfrm>
            <a:off x="8016088" y="3273552"/>
            <a:ext cx="1676324" cy="384048"/>
          </a:xfrm>
          <a:prstGeom prst="rect">
            <a:avLst/>
          </a:prstGeom>
          <a:noFill/>
          <a:ln/>
        </p:spPr>
        <p:txBody>
          <a:bodyPr wrap="square" lIns="0" tIns="0" rIns="0" bIns="0" rtlCol="0" anchor="ctr"/>
          <a:lstStyle/>
          <a:p>
            <a:pPr algn="r" indent="0" marL="0">
              <a:buNone/>
            </a:pPr>
            <a:r>
              <a:rPr lang="en-US" sz="1100" dirty="0">
                <a:solidFill>
                  <a:srgbClr val="243D54"/>
                </a:solidFill>
                <a:latin typeface="BIZ UDPGothic" pitchFamily="34" charset="0"/>
                <a:ea typeface="BIZ UDPGothic" pitchFamily="34" charset="-122"/>
                <a:cs typeface="BIZ UDPGothic" pitchFamily="34" charset="-120"/>
              </a:rPr>
              <a:t>論理上の参照</a:t>
            </a:r>
            <a:endParaRPr lang="en-US" sz="1100" dirty="0"/>
          </a:p>
        </p:txBody>
      </p:sp>
      <p:sp>
        <p:nvSpPr>
          <p:cNvPr id="63" name="Text 61"/>
          <p:cNvSpPr/>
          <p:nvPr/>
        </p:nvSpPr>
        <p:spPr>
          <a:xfrm>
            <a:off x="9646691" y="3273552"/>
            <a:ext cx="274320" cy="384048"/>
          </a:xfrm>
          <a:prstGeom prst="rect">
            <a:avLst/>
          </a:prstGeom>
          <a:noFill/>
          <a:ln/>
        </p:spPr>
        <p:txBody>
          <a:bodyPr wrap="square" lIns="0" tIns="0" rIns="0" bIns="0" rtlCol="0" anchor="ctr"/>
          <a:lstStyle/>
          <a:p>
            <a:pPr algn="ctr" indent="0" marL="0">
              <a:buNone/>
            </a:pPr>
            <a:r>
              <a:rPr lang="en-US" sz="1300" b="1" dirty="0">
                <a:solidFill>
                  <a:srgbClr val="3C6684"/>
                </a:solidFill>
                <a:latin typeface="BIZ UDPGothic" pitchFamily="34" charset="0"/>
                <a:ea typeface="BIZ UDPGothic" pitchFamily="34" charset="-122"/>
                <a:cs typeface="BIZ UDPGothic" pitchFamily="34" charset="-120"/>
              </a:rPr>
              <a:t>≠</a:t>
            </a:r>
            <a:endParaRPr lang="en-US" sz="1300" dirty="0"/>
          </a:p>
        </p:txBody>
      </p:sp>
      <p:sp>
        <p:nvSpPr>
          <p:cNvPr id="64" name="Text 62"/>
          <p:cNvSpPr/>
          <p:nvPr/>
        </p:nvSpPr>
        <p:spPr>
          <a:xfrm>
            <a:off x="9921011" y="3273552"/>
            <a:ext cx="1676324" cy="384048"/>
          </a:xfrm>
          <a:prstGeom prst="rect">
            <a:avLst/>
          </a:prstGeom>
          <a:noFill/>
          <a:ln/>
        </p:spPr>
        <p:txBody>
          <a:bodyPr wrap="square" lIns="0" tIns="0" rIns="0" bIns="0" rtlCol="0" anchor="ctr"/>
          <a:lstStyle/>
          <a:p>
            <a:pPr indent="0" marL="0">
              <a:buNone/>
            </a:pPr>
            <a:r>
              <a:rPr lang="en-US" sz="1100" b="1" dirty="0">
                <a:solidFill>
                  <a:srgbClr val="243D54"/>
                </a:solidFill>
                <a:latin typeface="BIZ UDPGothic" pitchFamily="34" charset="0"/>
                <a:ea typeface="BIZ UDPGothic" pitchFamily="34" charset="-122"/>
                <a:cs typeface="BIZ UDPGothic" pitchFamily="34" charset="-120"/>
              </a:rPr>
              <a:t>特定の版への対応</a:t>
            </a:r>
            <a:endParaRPr lang="en-US" sz="1100" dirty="0"/>
          </a:p>
        </p:txBody>
      </p:sp>
      <p:sp>
        <p:nvSpPr>
          <p:cNvPr id="65" name="Shape 63"/>
          <p:cNvSpPr/>
          <p:nvPr/>
        </p:nvSpPr>
        <p:spPr>
          <a:xfrm>
            <a:off x="3886200" y="3730752"/>
            <a:ext cx="3809848" cy="384048"/>
          </a:xfrm>
          <a:prstGeom prst="rect">
            <a:avLst/>
          </a:prstGeom>
          <a:solidFill>
            <a:srgbClr val="FFFFFF"/>
          </a:solidFill>
          <a:ln w="9525">
            <a:solidFill>
              <a:srgbClr val="DCD5C6"/>
            </a:solidFill>
            <a:prstDash val="solid"/>
          </a:ln>
        </p:spPr>
      </p:sp>
      <p:sp>
        <p:nvSpPr>
          <p:cNvPr id="66" name="Text 64"/>
          <p:cNvSpPr/>
          <p:nvPr/>
        </p:nvSpPr>
        <p:spPr>
          <a:xfrm>
            <a:off x="4023360" y="3730752"/>
            <a:ext cx="1676324" cy="384048"/>
          </a:xfrm>
          <a:prstGeom prst="rect">
            <a:avLst/>
          </a:prstGeom>
          <a:noFill/>
          <a:ln/>
        </p:spPr>
        <p:txBody>
          <a:bodyPr wrap="square" lIns="0" tIns="0" rIns="0" bIns="0" rtlCol="0" anchor="ctr"/>
          <a:lstStyle/>
          <a:p>
            <a:pPr algn="r" indent="0" marL="0">
              <a:buNone/>
            </a:pPr>
            <a:r>
              <a:rPr lang="en-US" sz="1100" dirty="0">
                <a:solidFill>
                  <a:srgbClr val="243D54"/>
                </a:solidFill>
                <a:latin typeface="BIZ UDPGothic" pitchFamily="34" charset="0"/>
                <a:ea typeface="BIZ UDPGothic" pitchFamily="34" charset="-122"/>
                <a:cs typeface="BIZ UDPGothic" pitchFamily="34" charset="-120"/>
              </a:rPr>
              <a:t>読みやすい表示</a:t>
            </a:r>
            <a:endParaRPr lang="en-US" sz="1100" dirty="0"/>
          </a:p>
        </p:txBody>
      </p:sp>
      <p:sp>
        <p:nvSpPr>
          <p:cNvPr id="67" name="Text 65"/>
          <p:cNvSpPr/>
          <p:nvPr/>
        </p:nvSpPr>
        <p:spPr>
          <a:xfrm>
            <a:off x="5653964" y="3730752"/>
            <a:ext cx="274320" cy="384048"/>
          </a:xfrm>
          <a:prstGeom prst="rect">
            <a:avLst/>
          </a:prstGeom>
          <a:noFill/>
          <a:ln/>
        </p:spPr>
        <p:txBody>
          <a:bodyPr wrap="square" lIns="0" tIns="0" rIns="0" bIns="0" rtlCol="0" anchor="ctr"/>
          <a:lstStyle/>
          <a:p>
            <a:pPr algn="ctr" indent="0" marL="0">
              <a:buNone/>
            </a:pPr>
            <a:r>
              <a:rPr lang="en-US" sz="1300" b="1" dirty="0">
                <a:solidFill>
                  <a:srgbClr val="3C6684"/>
                </a:solidFill>
                <a:latin typeface="BIZ UDPGothic" pitchFamily="34" charset="0"/>
                <a:ea typeface="BIZ UDPGothic" pitchFamily="34" charset="-122"/>
                <a:cs typeface="BIZ UDPGothic" pitchFamily="34" charset="-120"/>
              </a:rPr>
              <a:t>≠</a:t>
            </a:r>
            <a:endParaRPr lang="en-US" sz="1300" dirty="0"/>
          </a:p>
        </p:txBody>
      </p:sp>
      <p:sp>
        <p:nvSpPr>
          <p:cNvPr id="68" name="Text 66"/>
          <p:cNvSpPr/>
          <p:nvPr/>
        </p:nvSpPr>
        <p:spPr>
          <a:xfrm>
            <a:off x="5928284" y="3730752"/>
            <a:ext cx="1676324" cy="384048"/>
          </a:xfrm>
          <a:prstGeom prst="rect">
            <a:avLst/>
          </a:prstGeom>
          <a:noFill/>
          <a:ln/>
        </p:spPr>
        <p:txBody>
          <a:bodyPr wrap="square" lIns="0" tIns="0" rIns="0" bIns="0" rtlCol="0" anchor="ctr"/>
          <a:lstStyle/>
          <a:p>
            <a:pPr indent="0" marL="0">
              <a:buNone/>
            </a:pPr>
            <a:r>
              <a:rPr lang="en-US" sz="1100" b="1" dirty="0">
                <a:solidFill>
                  <a:srgbClr val="243D54"/>
                </a:solidFill>
                <a:latin typeface="BIZ UDPGothic" pitchFamily="34" charset="0"/>
                <a:ea typeface="BIZ UDPGothic" pitchFamily="34" charset="-122"/>
                <a:cs typeface="BIZ UDPGothic" pitchFamily="34" charset="-120"/>
              </a:rPr>
              <a:t>意味の正本</a:t>
            </a:r>
            <a:endParaRPr lang="en-US" sz="1100" dirty="0"/>
          </a:p>
        </p:txBody>
      </p:sp>
      <p:sp>
        <p:nvSpPr>
          <p:cNvPr id="69" name="Shape 67"/>
          <p:cNvSpPr/>
          <p:nvPr/>
        </p:nvSpPr>
        <p:spPr>
          <a:xfrm>
            <a:off x="7878928" y="3730752"/>
            <a:ext cx="3809848" cy="384048"/>
          </a:xfrm>
          <a:prstGeom prst="rect">
            <a:avLst/>
          </a:prstGeom>
          <a:solidFill>
            <a:srgbClr val="FFFFFF"/>
          </a:solidFill>
          <a:ln w="9525">
            <a:solidFill>
              <a:srgbClr val="DCD5C6"/>
            </a:solidFill>
            <a:prstDash val="solid"/>
          </a:ln>
        </p:spPr>
      </p:sp>
      <p:sp>
        <p:nvSpPr>
          <p:cNvPr id="70" name="Text 68"/>
          <p:cNvSpPr/>
          <p:nvPr/>
        </p:nvSpPr>
        <p:spPr>
          <a:xfrm>
            <a:off x="8016088" y="3730752"/>
            <a:ext cx="1676324" cy="384048"/>
          </a:xfrm>
          <a:prstGeom prst="rect">
            <a:avLst/>
          </a:prstGeom>
          <a:noFill/>
          <a:ln/>
        </p:spPr>
        <p:txBody>
          <a:bodyPr wrap="square" lIns="0" tIns="0" rIns="0" bIns="0" rtlCol="0" anchor="ctr"/>
          <a:lstStyle/>
          <a:p>
            <a:pPr algn="r" indent="0" marL="0">
              <a:buNone/>
            </a:pPr>
            <a:r>
              <a:rPr lang="en-US" sz="1100" dirty="0">
                <a:solidFill>
                  <a:srgbClr val="243D54"/>
                </a:solidFill>
                <a:latin typeface="BIZ UDPGothic" pitchFamily="34" charset="0"/>
                <a:ea typeface="BIZ UDPGothic" pitchFamily="34" charset="-122"/>
                <a:cs typeface="BIZ UDPGothic" pitchFamily="34" charset="-120"/>
              </a:rPr>
              <a:t>製品を操作できる</a:t>
            </a:r>
            <a:endParaRPr lang="en-US" sz="1100" dirty="0"/>
          </a:p>
        </p:txBody>
      </p:sp>
      <p:sp>
        <p:nvSpPr>
          <p:cNvPr id="71" name="Text 69"/>
          <p:cNvSpPr/>
          <p:nvPr/>
        </p:nvSpPr>
        <p:spPr>
          <a:xfrm>
            <a:off x="9646691" y="3730752"/>
            <a:ext cx="274320" cy="384048"/>
          </a:xfrm>
          <a:prstGeom prst="rect">
            <a:avLst/>
          </a:prstGeom>
          <a:noFill/>
          <a:ln/>
        </p:spPr>
        <p:txBody>
          <a:bodyPr wrap="square" lIns="0" tIns="0" rIns="0" bIns="0" rtlCol="0" anchor="ctr"/>
          <a:lstStyle/>
          <a:p>
            <a:pPr algn="ctr" indent="0" marL="0">
              <a:buNone/>
            </a:pPr>
            <a:r>
              <a:rPr lang="en-US" sz="1300" b="1" dirty="0">
                <a:solidFill>
                  <a:srgbClr val="3C6684"/>
                </a:solidFill>
                <a:latin typeface="BIZ UDPGothic" pitchFamily="34" charset="0"/>
                <a:ea typeface="BIZ UDPGothic" pitchFamily="34" charset="-122"/>
                <a:cs typeface="BIZ UDPGothic" pitchFamily="34" charset="-120"/>
              </a:rPr>
              <a:t>≠</a:t>
            </a:r>
            <a:endParaRPr lang="en-US" sz="1300" dirty="0"/>
          </a:p>
        </p:txBody>
      </p:sp>
      <p:sp>
        <p:nvSpPr>
          <p:cNvPr id="72" name="Text 70"/>
          <p:cNvSpPr/>
          <p:nvPr/>
        </p:nvSpPr>
        <p:spPr>
          <a:xfrm>
            <a:off x="9921011" y="3730752"/>
            <a:ext cx="1676324" cy="384048"/>
          </a:xfrm>
          <a:prstGeom prst="rect">
            <a:avLst/>
          </a:prstGeom>
          <a:noFill/>
          <a:ln/>
        </p:spPr>
        <p:txBody>
          <a:bodyPr wrap="square" lIns="0" tIns="0" rIns="0" bIns="0" rtlCol="0" anchor="ctr"/>
          <a:lstStyle/>
          <a:p>
            <a:pPr indent="0" marL="0">
              <a:buNone/>
            </a:pPr>
            <a:r>
              <a:rPr lang="en-US" sz="1100" b="1" dirty="0">
                <a:solidFill>
                  <a:srgbClr val="243D54"/>
                </a:solidFill>
                <a:latin typeface="BIZ UDPGothic" pitchFamily="34" charset="0"/>
                <a:ea typeface="BIZ UDPGothic" pitchFamily="34" charset="-122"/>
                <a:cs typeface="BIZ UDPGothic" pitchFamily="34" charset="-120"/>
              </a:rPr>
              <a:t>意味上の責任と権限</a:t>
            </a:r>
            <a:endParaRPr lang="en-US" sz="1100" dirty="0"/>
          </a:p>
        </p:txBody>
      </p:sp>
      <p:sp>
        <p:nvSpPr>
          <p:cNvPr id="73" name="Text 71"/>
          <p:cNvSpPr/>
          <p:nvPr/>
        </p:nvSpPr>
        <p:spPr>
          <a:xfrm>
            <a:off x="3886200" y="4270248"/>
            <a:ext cx="4572000" cy="256032"/>
          </a:xfrm>
          <a:prstGeom prst="rect">
            <a:avLst/>
          </a:prstGeom>
          <a:noFill/>
          <a:ln/>
        </p:spPr>
        <p:txBody>
          <a:bodyPr wrap="square" lIns="0" tIns="0" rIns="0" bIns="0" rtlCol="0" anchor="t"/>
          <a:lstStyle/>
          <a:p>
            <a:pPr indent="0" marL="0">
              <a:buNone/>
            </a:pPr>
            <a:r>
              <a:rPr lang="en-US" sz="1150" b="1" dirty="0">
                <a:solidFill>
                  <a:srgbClr val="3C6684"/>
                </a:solidFill>
                <a:latin typeface="BIZ UDPGothic" pitchFamily="34" charset="0"/>
                <a:ea typeface="BIZ UDPGothic" pitchFamily="34" charset="-122"/>
                <a:cs typeface="BIZ UDPGothic" pitchFamily="34" charset="-120"/>
              </a:rPr>
              <a:t>製品の価値を測る八つの観点</a:t>
            </a:r>
            <a:endParaRPr lang="en-US" sz="1150" dirty="0"/>
          </a:p>
        </p:txBody>
      </p:sp>
      <p:sp>
        <p:nvSpPr>
          <p:cNvPr id="74" name="Shape 72"/>
          <p:cNvSpPr/>
          <p:nvPr/>
        </p:nvSpPr>
        <p:spPr>
          <a:xfrm>
            <a:off x="3886200" y="4572000"/>
            <a:ext cx="1847774" cy="777240"/>
          </a:xfrm>
          <a:prstGeom prst="rect">
            <a:avLst/>
          </a:prstGeom>
          <a:solidFill>
            <a:srgbClr val="1F3A50"/>
          </a:solidFill>
          <a:ln/>
        </p:spPr>
      </p:sp>
      <p:sp>
        <p:nvSpPr>
          <p:cNvPr id="75" name="Text 73"/>
          <p:cNvSpPr/>
          <p:nvPr/>
        </p:nvSpPr>
        <p:spPr>
          <a:xfrm>
            <a:off x="3995928" y="4645152"/>
            <a:ext cx="1664894" cy="274320"/>
          </a:xfrm>
          <a:prstGeom prst="rect">
            <a:avLst/>
          </a:prstGeom>
          <a:noFill/>
          <a:ln/>
        </p:spPr>
        <p:txBody>
          <a:bodyPr wrap="square" lIns="0" tIns="0" rIns="0" bIns="0" rtlCol="0" anchor="t"/>
          <a:lstStyle/>
          <a:p>
            <a:pPr indent="0" marL="0">
              <a:buNone/>
            </a:pPr>
            <a:r>
              <a:rPr lang="en-US" sz="1150" b="1" dirty="0">
                <a:solidFill>
                  <a:srgbClr val="F5F1E8"/>
                </a:solidFill>
                <a:latin typeface="BIZ UDPGothic" pitchFamily="34" charset="0"/>
                <a:ea typeface="BIZ UDPGothic" pitchFamily="34" charset="-122"/>
                <a:cs typeface="BIZ UDPGothic" pitchFamily="34" charset="-120"/>
              </a:rPr>
              <a:t>過去の判断を再構成</a:t>
            </a:r>
            <a:endParaRPr lang="en-US" sz="1150" dirty="0"/>
          </a:p>
        </p:txBody>
      </p:sp>
      <p:sp>
        <p:nvSpPr>
          <p:cNvPr id="76" name="Text 74"/>
          <p:cNvSpPr/>
          <p:nvPr/>
        </p:nvSpPr>
        <p:spPr>
          <a:xfrm>
            <a:off x="3995928" y="4937760"/>
            <a:ext cx="1664894" cy="384048"/>
          </a:xfrm>
          <a:prstGeom prst="rect">
            <a:avLst/>
          </a:prstGeom>
          <a:noFill/>
          <a:ln/>
        </p:spPr>
        <p:txBody>
          <a:bodyPr wrap="square" lIns="0" tIns="0" rIns="0" bIns="0" rtlCol="0" anchor="t"/>
          <a:lstStyle/>
          <a:p>
            <a:pPr indent="0" marL="0">
              <a:buNone/>
            </a:pPr>
            <a:r>
              <a:rPr lang="en-US" sz="950" dirty="0">
                <a:solidFill>
                  <a:srgbClr val="C9D3D9"/>
                </a:solidFill>
                <a:latin typeface="BIZ UDPGothic" pitchFamily="34" charset="0"/>
                <a:ea typeface="BIZ UDPGothic" pitchFamily="34" charset="-122"/>
                <a:cs typeface="BIZ UDPGothic" pitchFamily="34" charset="-120"/>
              </a:rPr>
              <a:t>当時の根拠へ戻れるか</a:t>
            </a:r>
            <a:endParaRPr lang="en-US" sz="950" dirty="0"/>
          </a:p>
        </p:txBody>
      </p:sp>
      <p:sp>
        <p:nvSpPr>
          <p:cNvPr id="77" name="Shape 75"/>
          <p:cNvSpPr/>
          <p:nvPr/>
        </p:nvSpPr>
        <p:spPr>
          <a:xfrm>
            <a:off x="5871134" y="4572000"/>
            <a:ext cx="1847774" cy="777240"/>
          </a:xfrm>
          <a:prstGeom prst="rect">
            <a:avLst/>
          </a:prstGeom>
          <a:solidFill>
            <a:srgbClr val="1F3A50"/>
          </a:solidFill>
          <a:ln/>
        </p:spPr>
      </p:sp>
      <p:sp>
        <p:nvSpPr>
          <p:cNvPr id="78" name="Text 76"/>
          <p:cNvSpPr/>
          <p:nvPr/>
        </p:nvSpPr>
        <p:spPr>
          <a:xfrm>
            <a:off x="5980862" y="4645152"/>
            <a:ext cx="1664894" cy="274320"/>
          </a:xfrm>
          <a:prstGeom prst="rect">
            <a:avLst/>
          </a:prstGeom>
          <a:noFill/>
          <a:ln/>
        </p:spPr>
        <p:txBody>
          <a:bodyPr wrap="square" lIns="0" tIns="0" rIns="0" bIns="0" rtlCol="0" anchor="t"/>
          <a:lstStyle/>
          <a:p>
            <a:pPr indent="0" marL="0">
              <a:buNone/>
            </a:pPr>
            <a:r>
              <a:rPr lang="en-US" sz="1150" b="1" dirty="0">
                <a:solidFill>
                  <a:srgbClr val="F5F1E8"/>
                </a:solidFill>
                <a:latin typeface="BIZ UDPGothic" pitchFamily="34" charset="0"/>
                <a:ea typeface="BIZ UDPGothic" pitchFamily="34" charset="-122"/>
                <a:cs typeface="BIZ UDPGothic" pitchFamily="34" charset="-120"/>
              </a:rPr>
              <a:t>意味を分ける</a:t>
            </a:r>
            <a:endParaRPr lang="en-US" sz="1150" dirty="0"/>
          </a:p>
        </p:txBody>
      </p:sp>
      <p:sp>
        <p:nvSpPr>
          <p:cNvPr id="79" name="Text 77"/>
          <p:cNvSpPr/>
          <p:nvPr/>
        </p:nvSpPr>
        <p:spPr>
          <a:xfrm>
            <a:off x="5980862" y="4937760"/>
            <a:ext cx="1664894" cy="384048"/>
          </a:xfrm>
          <a:prstGeom prst="rect">
            <a:avLst/>
          </a:prstGeom>
          <a:noFill/>
          <a:ln/>
        </p:spPr>
        <p:txBody>
          <a:bodyPr wrap="square" lIns="0" tIns="0" rIns="0" bIns="0" rtlCol="0" anchor="t"/>
          <a:lstStyle/>
          <a:p>
            <a:pPr indent="0" marL="0">
              <a:buNone/>
            </a:pPr>
            <a:r>
              <a:rPr lang="en-US" sz="950" dirty="0">
                <a:solidFill>
                  <a:srgbClr val="C9D3D9"/>
                </a:solidFill>
                <a:latin typeface="BIZ UDPGothic" pitchFamily="34" charset="0"/>
                <a:ea typeface="BIZ UDPGothic" pitchFamily="34" charset="-122"/>
                <a:cs typeface="BIZ UDPGothic" pitchFamily="34" charset="-120"/>
              </a:rPr>
              <a:t>推奨・決定・権限を取り違えないか</a:t>
            </a:r>
            <a:endParaRPr lang="en-US" sz="950" dirty="0"/>
          </a:p>
        </p:txBody>
      </p:sp>
      <p:sp>
        <p:nvSpPr>
          <p:cNvPr id="80" name="Shape 78"/>
          <p:cNvSpPr/>
          <p:nvPr/>
        </p:nvSpPr>
        <p:spPr>
          <a:xfrm>
            <a:off x="7856068" y="4572000"/>
            <a:ext cx="1847774" cy="777240"/>
          </a:xfrm>
          <a:prstGeom prst="rect">
            <a:avLst/>
          </a:prstGeom>
          <a:solidFill>
            <a:srgbClr val="1F3A50"/>
          </a:solidFill>
          <a:ln/>
        </p:spPr>
      </p:sp>
      <p:sp>
        <p:nvSpPr>
          <p:cNvPr id="81" name="Text 79"/>
          <p:cNvSpPr/>
          <p:nvPr/>
        </p:nvSpPr>
        <p:spPr>
          <a:xfrm>
            <a:off x="7965796" y="4645152"/>
            <a:ext cx="1664894" cy="274320"/>
          </a:xfrm>
          <a:prstGeom prst="rect">
            <a:avLst/>
          </a:prstGeom>
          <a:noFill/>
          <a:ln/>
        </p:spPr>
        <p:txBody>
          <a:bodyPr wrap="square" lIns="0" tIns="0" rIns="0" bIns="0" rtlCol="0" anchor="t"/>
          <a:lstStyle/>
          <a:p>
            <a:pPr indent="0" marL="0">
              <a:buNone/>
            </a:pPr>
            <a:r>
              <a:rPr lang="en-US" sz="1150" b="1" dirty="0">
                <a:solidFill>
                  <a:srgbClr val="F5F1E8"/>
                </a:solidFill>
                <a:latin typeface="BIZ UDPGothic" pitchFamily="34" charset="0"/>
                <a:ea typeface="BIZ UDPGothic" pitchFamily="34" charset="-122"/>
                <a:cs typeface="BIZ UDPGothic" pitchFamily="34" charset="-120"/>
              </a:rPr>
              <a:t>改訂の整合性</a:t>
            </a:r>
            <a:endParaRPr lang="en-US" sz="1150" dirty="0"/>
          </a:p>
        </p:txBody>
      </p:sp>
      <p:sp>
        <p:nvSpPr>
          <p:cNvPr id="82" name="Text 80"/>
          <p:cNvSpPr/>
          <p:nvPr/>
        </p:nvSpPr>
        <p:spPr>
          <a:xfrm>
            <a:off x="7965796" y="4937760"/>
            <a:ext cx="1664894" cy="384048"/>
          </a:xfrm>
          <a:prstGeom prst="rect">
            <a:avLst/>
          </a:prstGeom>
          <a:noFill/>
          <a:ln/>
        </p:spPr>
        <p:txBody>
          <a:bodyPr wrap="square" lIns="0" tIns="0" rIns="0" bIns="0" rtlCol="0" anchor="t"/>
          <a:lstStyle/>
          <a:p>
            <a:pPr indent="0" marL="0">
              <a:buNone/>
            </a:pPr>
            <a:r>
              <a:rPr lang="en-US" sz="950" dirty="0">
                <a:solidFill>
                  <a:srgbClr val="C9D3D9"/>
                </a:solidFill>
                <a:latin typeface="BIZ UDPGothic" pitchFamily="34" charset="0"/>
                <a:ea typeface="BIZ UDPGothic" pitchFamily="34" charset="-122"/>
                <a:cs typeface="BIZ UDPGothic" pitchFamily="34" charset="-120"/>
              </a:rPr>
              <a:t>新情報で過去を書き換えないか</a:t>
            </a:r>
            <a:endParaRPr lang="en-US" sz="950" dirty="0"/>
          </a:p>
        </p:txBody>
      </p:sp>
      <p:sp>
        <p:nvSpPr>
          <p:cNvPr id="83" name="Shape 81"/>
          <p:cNvSpPr/>
          <p:nvPr/>
        </p:nvSpPr>
        <p:spPr>
          <a:xfrm>
            <a:off x="9841001" y="4572000"/>
            <a:ext cx="1847774" cy="777240"/>
          </a:xfrm>
          <a:prstGeom prst="rect">
            <a:avLst/>
          </a:prstGeom>
          <a:solidFill>
            <a:srgbClr val="1F3A50"/>
          </a:solidFill>
          <a:ln/>
        </p:spPr>
      </p:sp>
      <p:sp>
        <p:nvSpPr>
          <p:cNvPr id="84" name="Text 82"/>
          <p:cNvSpPr/>
          <p:nvPr/>
        </p:nvSpPr>
        <p:spPr>
          <a:xfrm>
            <a:off x="9950729" y="4645152"/>
            <a:ext cx="1664894" cy="274320"/>
          </a:xfrm>
          <a:prstGeom prst="rect">
            <a:avLst/>
          </a:prstGeom>
          <a:noFill/>
          <a:ln/>
        </p:spPr>
        <p:txBody>
          <a:bodyPr wrap="square" lIns="0" tIns="0" rIns="0" bIns="0" rtlCol="0" anchor="t"/>
          <a:lstStyle/>
          <a:p>
            <a:pPr indent="0" marL="0">
              <a:buNone/>
            </a:pPr>
            <a:r>
              <a:rPr lang="en-US" sz="1150" b="1" dirty="0">
                <a:solidFill>
                  <a:srgbClr val="F5F1E8"/>
                </a:solidFill>
                <a:latin typeface="BIZ UDPGothic" pitchFamily="34" charset="0"/>
                <a:ea typeface="BIZ UDPGothic" pitchFamily="34" charset="-122"/>
                <a:cs typeface="BIZ UDPGothic" pitchFamily="34" charset="-120"/>
              </a:rPr>
              <a:t>提供元からの独立</a:t>
            </a:r>
            <a:endParaRPr lang="en-US" sz="1150" dirty="0"/>
          </a:p>
        </p:txBody>
      </p:sp>
      <p:sp>
        <p:nvSpPr>
          <p:cNvPr id="85" name="Text 83"/>
          <p:cNvSpPr/>
          <p:nvPr/>
        </p:nvSpPr>
        <p:spPr>
          <a:xfrm>
            <a:off x="9950729" y="4937760"/>
            <a:ext cx="1664894" cy="384048"/>
          </a:xfrm>
          <a:prstGeom prst="rect">
            <a:avLst/>
          </a:prstGeom>
          <a:noFill/>
          <a:ln/>
        </p:spPr>
        <p:txBody>
          <a:bodyPr wrap="square" lIns="0" tIns="0" rIns="0" bIns="0" rtlCol="0" anchor="t"/>
          <a:lstStyle/>
          <a:p>
            <a:pPr indent="0" marL="0">
              <a:buNone/>
            </a:pPr>
            <a:r>
              <a:rPr lang="en-US" sz="950" dirty="0">
                <a:solidFill>
                  <a:srgbClr val="C9D3D9"/>
                </a:solidFill>
                <a:latin typeface="BIZ UDPGothic" pitchFamily="34" charset="0"/>
                <a:ea typeface="BIZ UDPGothic" pitchFamily="34" charset="-122"/>
                <a:cs typeface="BIZ UDPGothic" pitchFamily="34" charset="-120"/>
              </a:rPr>
              <a:t>特定の提供元に意味が依存しないか</a:t>
            </a:r>
            <a:endParaRPr lang="en-US" sz="950" dirty="0"/>
          </a:p>
        </p:txBody>
      </p:sp>
      <p:sp>
        <p:nvSpPr>
          <p:cNvPr id="86" name="Shape 84"/>
          <p:cNvSpPr/>
          <p:nvPr/>
        </p:nvSpPr>
        <p:spPr>
          <a:xfrm>
            <a:off x="3886200" y="5440680"/>
            <a:ext cx="1847774" cy="777240"/>
          </a:xfrm>
          <a:prstGeom prst="rect">
            <a:avLst/>
          </a:prstGeom>
          <a:solidFill>
            <a:srgbClr val="FFFFFF"/>
          </a:solidFill>
          <a:ln w="9525">
            <a:solidFill>
              <a:srgbClr val="DCD5C6"/>
            </a:solidFill>
            <a:prstDash val="solid"/>
          </a:ln>
        </p:spPr>
      </p:sp>
      <p:sp>
        <p:nvSpPr>
          <p:cNvPr id="87" name="Text 85"/>
          <p:cNvSpPr/>
          <p:nvPr/>
        </p:nvSpPr>
        <p:spPr>
          <a:xfrm>
            <a:off x="3995928" y="5513832"/>
            <a:ext cx="1664894" cy="274320"/>
          </a:xfrm>
          <a:prstGeom prst="rect">
            <a:avLst/>
          </a:prstGeom>
          <a:noFill/>
          <a:ln/>
        </p:spPr>
        <p:txBody>
          <a:bodyPr wrap="square" lIns="0" tIns="0" rIns="0" bIns="0" rtlCol="0" anchor="t"/>
          <a:lstStyle/>
          <a:p>
            <a:pPr indent="0" marL="0">
              <a:buNone/>
            </a:pPr>
            <a:r>
              <a:rPr lang="en-US" sz="1150" b="1" dirty="0">
                <a:solidFill>
                  <a:srgbClr val="3C6684"/>
                </a:solidFill>
                <a:latin typeface="BIZ UDPGothic" pitchFamily="34" charset="0"/>
                <a:ea typeface="BIZ UDPGothic" pitchFamily="34" charset="-122"/>
                <a:cs typeface="BIZ UDPGothic" pitchFamily="34" charset="-120"/>
              </a:rPr>
              <a:t>不確実性の保持</a:t>
            </a:r>
            <a:endParaRPr lang="en-US" sz="1150" dirty="0"/>
          </a:p>
        </p:txBody>
      </p:sp>
      <p:sp>
        <p:nvSpPr>
          <p:cNvPr id="88" name="Text 86"/>
          <p:cNvSpPr/>
          <p:nvPr/>
        </p:nvSpPr>
        <p:spPr>
          <a:xfrm>
            <a:off x="3995928" y="5806440"/>
            <a:ext cx="1664894" cy="384048"/>
          </a:xfrm>
          <a:prstGeom prst="rect">
            <a:avLst/>
          </a:prstGeom>
          <a:noFill/>
          <a:ln/>
        </p:spPr>
        <p:txBody>
          <a:bodyPr wrap="square" lIns="0" tIns="0" rIns="0" bIns="0" rtlCol="0" anchor="t"/>
          <a:lstStyle/>
          <a:p>
            <a:pPr indent="0" marL="0">
              <a:buNone/>
            </a:pPr>
            <a:r>
              <a:rPr lang="en-US" sz="950" dirty="0">
                <a:solidFill>
                  <a:srgbClr val="56636E"/>
                </a:solidFill>
                <a:latin typeface="BIZ UDPGothic" pitchFamily="34" charset="0"/>
                <a:ea typeface="BIZ UDPGothic" pitchFamily="34" charset="-122"/>
                <a:cs typeface="BIZ UDPGothic" pitchFamily="34" charset="-120"/>
              </a:rPr>
              <a:t>未解決をそのまま次へ渡せるか</a:t>
            </a:r>
            <a:endParaRPr lang="en-US" sz="950" dirty="0"/>
          </a:p>
        </p:txBody>
      </p:sp>
      <p:sp>
        <p:nvSpPr>
          <p:cNvPr id="89" name="Shape 87"/>
          <p:cNvSpPr/>
          <p:nvPr/>
        </p:nvSpPr>
        <p:spPr>
          <a:xfrm>
            <a:off x="5871134" y="5440680"/>
            <a:ext cx="1847774" cy="777240"/>
          </a:xfrm>
          <a:prstGeom prst="rect">
            <a:avLst/>
          </a:prstGeom>
          <a:solidFill>
            <a:srgbClr val="FFFFFF"/>
          </a:solidFill>
          <a:ln w="9525">
            <a:solidFill>
              <a:srgbClr val="DCD5C6"/>
            </a:solidFill>
            <a:prstDash val="solid"/>
          </a:ln>
        </p:spPr>
      </p:sp>
      <p:sp>
        <p:nvSpPr>
          <p:cNvPr id="90" name="Text 88"/>
          <p:cNvSpPr/>
          <p:nvPr/>
        </p:nvSpPr>
        <p:spPr>
          <a:xfrm>
            <a:off x="5980862" y="5513832"/>
            <a:ext cx="1664894" cy="274320"/>
          </a:xfrm>
          <a:prstGeom prst="rect">
            <a:avLst/>
          </a:prstGeom>
          <a:noFill/>
          <a:ln/>
        </p:spPr>
        <p:txBody>
          <a:bodyPr wrap="square" lIns="0" tIns="0" rIns="0" bIns="0" rtlCol="0" anchor="t"/>
          <a:lstStyle/>
          <a:p>
            <a:pPr indent="0" marL="0">
              <a:buNone/>
            </a:pPr>
            <a:r>
              <a:rPr lang="en-US" sz="1150" b="1" dirty="0">
                <a:solidFill>
                  <a:srgbClr val="3C6684"/>
                </a:solidFill>
                <a:latin typeface="BIZ UDPGothic" pitchFamily="34" charset="0"/>
                <a:ea typeface="BIZ UDPGothic" pitchFamily="34" charset="-122"/>
                <a:cs typeface="BIZ UDPGothic" pitchFamily="34" charset="-120"/>
              </a:rPr>
              <a:t>人とAIの可読性</a:t>
            </a:r>
            <a:endParaRPr lang="en-US" sz="1150" dirty="0"/>
          </a:p>
        </p:txBody>
      </p:sp>
      <p:sp>
        <p:nvSpPr>
          <p:cNvPr id="91" name="Text 89"/>
          <p:cNvSpPr/>
          <p:nvPr/>
        </p:nvSpPr>
        <p:spPr>
          <a:xfrm>
            <a:off x="5980862" y="5806440"/>
            <a:ext cx="1664894" cy="384048"/>
          </a:xfrm>
          <a:prstGeom prst="rect">
            <a:avLst/>
          </a:prstGeom>
          <a:noFill/>
          <a:ln/>
        </p:spPr>
        <p:txBody>
          <a:bodyPr wrap="square" lIns="0" tIns="0" rIns="0" bIns="0" rtlCol="0" anchor="t"/>
          <a:lstStyle/>
          <a:p>
            <a:pPr indent="0" marL="0">
              <a:buNone/>
            </a:pPr>
            <a:r>
              <a:rPr lang="en-US" sz="950" dirty="0">
                <a:solidFill>
                  <a:srgbClr val="56636E"/>
                </a:solidFill>
                <a:latin typeface="BIZ UDPGothic" pitchFamily="34" charset="0"/>
                <a:ea typeface="BIZ UDPGothic" pitchFamily="34" charset="-122"/>
                <a:cs typeface="BIZ UDPGothic" pitchFamily="34" charset="-120"/>
              </a:rPr>
              <a:t>双方が同じ正本を読めるか</a:t>
            </a:r>
            <a:endParaRPr lang="en-US" sz="950" dirty="0"/>
          </a:p>
        </p:txBody>
      </p:sp>
      <p:sp>
        <p:nvSpPr>
          <p:cNvPr id="92" name="Shape 90"/>
          <p:cNvSpPr/>
          <p:nvPr/>
        </p:nvSpPr>
        <p:spPr>
          <a:xfrm>
            <a:off x="7856068" y="5440680"/>
            <a:ext cx="1847774" cy="777240"/>
          </a:xfrm>
          <a:prstGeom prst="rect">
            <a:avLst/>
          </a:prstGeom>
          <a:solidFill>
            <a:srgbClr val="FFFFFF"/>
          </a:solidFill>
          <a:ln w="9525">
            <a:solidFill>
              <a:srgbClr val="DCD5C6"/>
            </a:solidFill>
            <a:prstDash val="solid"/>
          </a:ln>
        </p:spPr>
      </p:sp>
      <p:sp>
        <p:nvSpPr>
          <p:cNvPr id="93" name="Text 91"/>
          <p:cNvSpPr/>
          <p:nvPr/>
        </p:nvSpPr>
        <p:spPr>
          <a:xfrm>
            <a:off x="7965796" y="5513832"/>
            <a:ext cx="1664894" cy="274320"/>
          </a:xfrm>
          <a:prstGeom prst="rect">
            <a:avLst/>
          </a:prstGeom>
          <a:noFill/>
          <a:ln/>
        </p:spPr>
        <p:txBody>
          <a:bodyPr wrap="square" lIns="0" tIns="0" rIns="0" bIns="0" rtlCol="0" anchor="t"/>
          <a:lstStyle/>
          <a:p>
            <a:pPr indent="0" marL="0">
              <a:buNone/>
            </a:pPr>
            <a:r>
              <a:rPr lang="en-US" sz="1150" b="1" dirty="0">
                <a:solidFill>
                  <a:srgbClr val="3C6684"/>
                </a:solidFill>
                <a:latin typeface="BIZ UDPGothic" pitchFamily="34" charset="0"/>
                <a:ea typeface="BIZ UDPGothic" pitchFamily="34" charset="-122"/>
                <a:cs typeface="BIZ UDPGothic" pitchFamily="34" charset="-120"/>
              </a:rPr>
              <a:t>段階的な明示化</a:t>
            </a:r>
            <a:endParaRPr lang="en-US" sz="1150" dirty="0"/>
          </a:p>
        </p:txBody>
      </p:sp>
      <p:sp>
        <p:nvSpPr>
          <p:cNvPr id="94" name="Text 92"/>
          <p:cNvSpPr/>
          <p:nvPr/>
        </p:nvSpPr>
        <p:spPr>
          <a:xfrm>
            <a:off x="7965796" y="5806440"/>
            <a:ext cx="1664894" cy="384048"/>
          </a:xfrm>
          <a:prstGeom prst="rect">
            <a:avLst/>
          </a:prstGeom>
          <a:noFill/>
          <a:ln/>
        </p:spPr>
        <p:txBody>
          <a:bodyPr wrap="square" lIns="0" tIns="0" rIns="0" bIns="0" rtlCol="0" anchor="t"/>
          <a:lstStyle/>
          <a:p>
            <a:pPr indent="0" marL="0">
              <a:buNone/>
            </a:pPr>
            <a:r>
              <a:rPr lang="en-US" sz="950" dirty="0">
                <a:solidFill>
                  <a:srgbClr val="56636E"/>
                </a:solidFill>
                <a:latin typeface="BIZ UDPGothic" pitchFamily="34" charset="0"/>
                <a:ea typeface="BIZ UDPGothic" pitchFamily="34" charset="-122"/>
                <a:cs typeface="BIZ UDPGothic" pitchFamily="34" charset="-120"/>
              </a:rPr>
              <a:t>必要に応じて詳しく記述できるか</a:t>
            </a:r>
            <a:endParaRPr lang="en-US" sz="950" dirty="0"/>
          </a:p>
        </p:txBody>
      </p:sp>
      <p:sp>
        <p:nvSpPr>
          <p:cNvPr id="95" name="Shape 93"/>
          <p:cNvSpPr/>
          <p:nvPr/>
        </p:nvSpPr>
        <p:spPr>
          <a:xfrm>
            <a:off x="9841001" y="5440680"/>
            <a:ext cx="1847774" cy="777240"/>
          </a:xfrm>
          <a:prstGeom prst="rect">
            <a:avLst/>
          </a:prstGeom>
          <a:solidFill>
            <a:srgbClr val="FFFFFF"/>
          </a:solidFill>
          <a:ln w="9525">
            <a:solidFill>
              <a:srgbClr val="DCD5C6"/>
            </a:solidFill>
            <a:prstDash val="solid"/>
          </a:ln>
        </p:spPr>
      </p:sp>
      <p:sp>
        <p:nvSpPr>
          <p:cNvPr id="96" name="Text 94"/>
          <p:cNvSpPr/>
          <p:nvPr/>
        </p:nvSpPr>
        <p:spPr>
          <a:xfrm>
            <a:off x="9950729" y="5513832"/>
            <a:ext cx="1664894" cy="274320"/>
          </a:xfrm>
          <a:prstGeom prst="rect">
            <a:avLst/>
          </a:prstGeom>
          <a:noFill/>
          <a:ln/>
        </p:spPr>
        <p:txBody>
          <a:bodyPr wrap="square" lIns="0" tIns="0" rIns="0" bIns="0" rtlCol="0" anchor="t"/>
          <a:lstStyle/>
          <a:p>
            <a:pPr indent="0" marL="0">
              <a:buNone/>
            </a:pPr>
            <a:r>
              <a:rPr lang="en-US" sz="1150" b="1" dirty="0">
                <a:solidFill>
                  <a:srgbClr val="3C6684"/>
                </a:solidFill>
                <a:latin typeface="BIZ UDPGothic" pitchFamily="34" charset="0"/>
                <a:ea typeface="BIZ UDPGothic" pitchFamily="34" charset="-122"/>
                <a:cs typeface="BIZ UDPGothic" pitchFamily="34" charset="-120"/>
              </a:rPr>
              <a:t>実行手段からの独立</a:t>
            </a:r>
            <a:endParaRPr lang="en-US" sz="1150" dirty="0"/>
          </a:p>
        </p:txBody>
      </p:sp>
      <p:sp>
        <p:nvSpPr>
          <p:cNvPr id="97" name="Text 95"/>
          <p:cNvSpPr/>
          <p:nvPr/>
        </p:nvSpPr>
        <p:spPr>
          <a:xfrm>
            <a:off x="9950729" y="5806440"/>
            <a:ext cx="1664894" cy="384048"/>
          </a:xfrm>
          <a:prstGeom prst="rect">
            <a:avLst/>
          </a:prstGeom>
          <a:noFill/>
          <a:ln/>
        </p:spPr>
        <p:txBody>
          <a:bodyPr wrap="square" lIns="0" tIns="0" rIns="0" bIns="0" rtlCol="0" anchor="t"/>
          <a:lstStyle/>
          <a:p>
            <a:pPr indent="0" marL="0">
              <a:buNone/>
            </a:pPr>
            <a:r>
              <a:rPr lang="en-US" sz="950" dirty="0">
                <a:solidFill>
                  <a:srgbClr val="56636E"/>
                </a:solidFill>
                <a:latin typeface="BIZ UDPGothic" pitchFamily="34" charset="0"/>
                <a:ea typeface="BIZ UDPGothic" pitchFamily="34" charset="-122"/>
                <a:cs typeface="BIZ UDPGothic" pitchFamily="34" charset="-120"/>
              </a:rPr>
              <a:t>手段を変えても意味が残るか</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274320"/>
            <a:ext cx="1118585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3C6684"/>
                </a:solidFill>
                <a:latin typeface="BIZ UDPGothic" pitchFamily="34" charset="0"/>
                <a:ea typeface="BIZ UDPGothic" pitchFamily="34" charset="-122"/>
                <a:cs typeface="BIZ UDPGothic" pitchFamily="34" charset="-120"/>
              </a:rPr>
              <a:t>   製品｜SEI Cognition</a:t>
            </a:r>
            <a:endParaRPr lang="en-US" sz="950" dirty="0"/>
          </a:p>
        </p:txBody>
      </p:sp>
      <p:sp>
        <p:nvSpPr>
          <p:cNvPr id="3" name="Text 1"/>
          <p:cNvSpPr/>
          <p:nvPr/>
        </p:nvSpPr>
        <p:spPr>
          <a:xfrm>
            <a:off x="502920" y="530352"/>
            <a:ext cx="1118585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同じ内容に戻っても、同じ判断ではない</a:t>
            </a:r>
            <a:endParaRPr lang="en-US" sz="2500" dirty="0"/>
          </a:p>
        </p:txBody>
      </p:sp>
      <p:sp>
        <p:nvSpPr>
          <p:cNvPr id="4" name="Text 2"/>
          <p:cNvSpPr/>
          <p:nvPr/>
        </p:nvSpPr>
        <p:spPr>
          <a:xfrm>
            <a:off x="502920" y="1097280"/>
            <a:ext cx="1118585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意味を交換する約束と、その表し方を分けて管理する。過去の承認を、内容の一致だけで復活させない。</a:t>
            </a:r>
            <a:endParaRPr lang="en-US" sz="1300" dirty="0"/>
          </a:p>
        </p:txBody>
      </p:sp>
      <p:sp>
        <p:nvSpPr>
          <p:cNvPr id="5" name="Text 3"/>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15</a:t>
            </a:r>
            <a:endParaRPr lang="en-US" sz="1000" dirty="0"/>
          </a:p>
        </p:txBody>
      </p:sp>
      <p:sp>
        <p:nvSpPr>
          <p:cNvPr id="6" name="Shape 4"/>
          <p:cNvSpPr/>
          <p:nvPr/>
        </p:nvSpPr>
        <p:spPr>
          <a:xfrm>
            <a:off x="502920" y="2148840"/>
            <a:ext cx="11185855" cy="0"/>
          </a:xfrm>
          <a:prstGeom prst="line">
            <a:avLst/>
          </a:prstGeom>
          <a:noFill/>
          <a:ln w="25400">
            <a:solidFill>
              <a:srgbClr val="3C6684"/>
            </a:solidFill>
            <a:prstDash val="solid"/>
          </a:ln>
        </p:spPr>
      </p:sp>
      <p:sp>
        <p:nvSpPr>
          <p:cNvPr id="7" name="Shape 5"/>
          <p:cNvSpPr/>
          <p:nvPr/>
        </p:nvSpPr>
        <p:spPr>
          <a:xfrm>
            <a:off x="640080" y="1984248"/>
            <a:ext cx="329184" cy="329184"/>
          </a:xfrm>
          <a:prstGeom prst="ellipse">
            <a:avLst/>
          </a:prstGeom>
          <a:solidFill>
            <a:srgbClr val="3C6684"/>
          </a:solidFill>
          <a:ln/>
        </p:spPr>
      </p:sp>
      <p:sp>
        <p:nvSpPr>
          <p:cNvPr id="8" name="Text 6"/>
          <p:cNvSpPr/>
          <p:nvPr/>
        </p:nvSpPr>
        <p:spPr>
          <a:xfrm>
            <a:off x="640080" y="1984248"/>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BIZ UDPGothic" pitchFamily="34" charset="0"/>
                <a:ea typeface="BIZ UDPGothic" pitchFamily="34" charset="-122"/>
                <a:cs typeface="BIZ UDPGothic" pitchFamily="34" charset="-120"/>
              </a:rPr>
              <a:t>A</a:t>
            </a:r>
            <a:endParaRPr lang="en-US" sz="1000" dirty="0"/>
          </a:p>
        </p:txBody>
      </p:sp>
      <p:sp>
        <p:nvSpPr>
          <p:cNvPr id="9" name="Text 7"/>
          <p:cNvSpPr/>
          <p:nvPr/>
        </p:nvSpPr>
        <p:spPr>
          <a:xfrm>
            <a:off x="1097280" y="1600200"/>
            <a:ext cx="1950644" cy="320040"/>
          </a:xfrm>
          <a:prstGeom prst="rect">
            <a:avLst/>
          </a:prstGeom>
          <a:noFill/>
          <a:ln/>
        </p:spPr>
        <p:txBody>
          <a:bodyPr wrap="square" lIns="0" tIns="0" rIns="0" bIns="0" rtlCol="0" anchor="t"/>
          <a:lstStyle/>
          <a:p>
            <a:pPr indent="0" marL="0">
              <a:buNone/>
            </a:pPr>
            <a:r>
              <a:rPr lang="en-US" sz="1350" b="1" dirty="0">
                <a:solidFill>
                  <a:srgbClr val="3C6684"/>
                </a:solidFill>
                <a:latin typeface="BIZ UDPGothic" pitchFamily="34" charset="0"/>
                <a:ea typeface="BIZ UDPGothic" pitchFamily="34" charset="-122"/>
                <a:cs typeface="BIZ UDPGothic" pitchFamily="34" charset="-120"/>
              </a:rPr>
              <a:t>時点1｜資料A</a:t>
            </a:r>
            <a:endParaRPr lang="en-US" sz="1350" dirty="0"/>
          </a:p>
        </p:txBody>
      </p:sp>
      <p:sp>
        <p:nvSpPr>
          <p:cNvPr id="10" name="Shape 8"/>
          <p:cNvSpPr/>
          <p:nvPr/>
        </p:nvSpPr>
        <p:spPr>
          <a:xfrm>
            <a:off x="502920" y="2468880"/>
            <a:ext cx="2590724" cy="777240"/>
          </a:xfrm>
          <a:prstGeom prst="rect">
            <a:avLst/>
          </a:prstGeom>
          <a:solidFill>
            <a:srgbClr val="FFFFFF"/>
          </a:solidFill>
          <a:ln w="9525">
            <a:solidFill>
              <a:srgbClr val="DCD5C6"/>
            </a:solidFill>
            <a:prstDash val="solid"/>
          </a:ln>
        </p:spPr>
      </p:sp>
      <p:sp>
        <p:nvSpPr>
          <p:cNvPr id="11" name="Text 9"/>
          <p:cNvSpPr/>
          <p:nvPr/>
        </p:nvSpPr>
        <p:spPr>
          <a:xfrm>
            <a:off x="667512" y="2468880"/>
            <a:ext cx="2316404" cy="777240"/>
          </a:xfrm>
          <a:prstGeom prst="rect">
            <a:avLst/>
          </a:prstGeom>
          <a:noFill/>
          <a:ln/>
        </p:spPr>
        <p:txBody>
          <a:bodyPr wrap="square" lIns="0" tIns="0" rIns="0" bIns="0" rtlCol="0" anchor="ctr"/>
          <a:lstStyle/>
          <a:p>
            <a:pPr indent="0" marL="0">
              <a:buNone/>
            </a:pPr>
            <a:r>
              <a:rPr lang="en-US" sz="1200" dirty="0">
                <a:solidFill>
                  <a:srgbClr val="243D54"/>
                </a:solidFill>
                <a:latin typeface="BIZ UDPGothic" pitchFamily="34" charset="0"/>
                <a:ea typeface="BIZ UDPGothic" pitchFamily="34" charset="-122"/>
                <a:cs typeface="BIZ UDPGothic" pitchFamily="34" charset="-120"/>
              </a:rPr>
              <a:t>根拠Aに対して判断1を受理</a:t>
            </a:r>
            <a:endParaRPr lang="en-US" sz="1200" dirty="0"/>
          </a:p>
        </p:txBody>
      </p:sp>
      <p:sp>
        <p:nvSpPr>
          <p:cNvPr id="12" name="Shape 10"/>
          <p:cNvSpPr/>
          <p:nvPr/>
        </p:nvSpPr>
        <p:spPr>
          <a:xfrm>
            <a:off x="3505124" y="1984248"/>
            <a:ext cx="329184" cy="329184"/>
          </a:xfrm>
          <a:prstGeom prst="ellipse">
            <a:avLst/>
          </a:prstGeom>
          <a:solidFill>
            <a:srgbClr val="3C6684"/>
          </a:solidFill>
          <a:ln/>
        </p:spPr>
      </p:sp>
      <p:sp>
        <p:nvSpPr>
          <p:cNvPr id="13" name="Text 11"/>
          <p:cNvSpPr/>
          <p:nvPr/>
        </p:nvSpPr>
        <p:spPr>
          <a:xfrm>
            <a:off x="3505124" y="1984248"/>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BIZ UDPGothic" pitchFamily="34" charset="0"/>
                <a:ea typeface="BIZ UDPGothic" pitchFamily="34" charset="-122"/>
                <a:cs typeface="BIZ UDPGothic" pitchFamily="34" charset="-120"/>
              </a:rPr>
              <a:t>B</a:t>
            </a:r>
            <a:endParaRPr lang="en-US" sz="1000" dirty="0"/>
          </a:p>
        </p:txBody>
      </p:sp>
      <p:sp>
        <p:nvSpPr>
          <p:cNvPr id="14" name="Text 12"/>
          <p:cNvSpPr/>
          <p:nvPr/>
        </p:nvSpPr>
        <p:spPr>
          <a:xfrm>
            <a:off x="3962324" y="1600200"/>
            <a:ext cx="1950644" cy="320040"/>
          </a:xfrm>
          <a:prstGeom prst="rect">
            <a:avLst/>
          </a:prstGeom>
          <a:noFill/>
          <a:ln/>
        </p:spPr>
        <p:txBody>
          <a:bodyPr wrap="square" lIns="0" tIns="0" rIns="0" bIns="0" rtlCol="0" anchor="t"/>
          <a:lstStyle/>
          <a:p>
            <a:pPr indent="0" marL="0">
              <a:buNone/>
            </a:pPr>
            <a:r>
              <a:rPr lang="en-US" sz="1350" b="1" dirty="0">
                <a:solidFill>
                  <a:srgbClr val="3C6684"/>
                </a:solidFill>
                <a:latin typeface="BIZ UDPGothic" pitchFamily="34" charset="0"/>
                <a:ea typeface="BIZ UDPGothic" pitchFamily="34" charset="-122"/>
                <a:cs typeface="BIZ UDPGothic" pitchFamily="34" charset="-120"/>
              </a:rPr>
              <a:t>時点2｜資料B</a:t>
            </a:r>
            <a:endParaRPr lang="en-US" sz="1350" dirty="0"/>
          </a:p>
        </p:txBody>
      </p:sp>
      <p:sp>
        <p:nvSpPr>
          <p:cNvPr id="15" name="Shape 13"/>
          <p:cNvSpPr/>
          <p:nvPr/>
        </p:nvSpPr>
        <p:spPr>
          <a:xfrm>
            <a:off x="3367964" y="2468880"/>
            <a:ext cx="2590724" cy="777240"/>
          </a:xfrm>
          <a:prstGeom prst="rect">
            <a:avLst/>
          </a:prstGeom>
          <a:solidFill>
            <a:srgbClr val="FFFFFF"/>
          </a:solidFill>
          <a:ln w="9525">
            <a:solidFill>
              <a:srgbClr val="DCD5C6"/>
            </a:solidFill>
            <a:prstDash val="solid"/>
          </a:ln>
        </p:spPr>
      </p:sp>
      <p:sp>
        <p:nvSpPr>
          <p:cNvPr id="16" name="Text 14"/>
          <p:cNvSpPr/>
          <p:nvPr/>
        </p:nvSpPr>
        <p:spPr>
          <a:xfrm>
            <a:off x="3532556" y="2468880"/>
            <a:ext cx="2316404" cy="777240"/>
          </a:xfrm>
          <a:prstGeom prst="rect">
            <a:avLst/>
          </a:prstGeom>
          <a:noFill/>
          <a:ln/>
        </p:spPr>
        <p:txBody>
          <a:bodyPr wrap="square" lIns="0" tIns="0" rIns="0" bIns="0" rtlCol="0" anchor="ctr"/>
          <a:lstStyle/>
          <a:p>
            <a:pPr indent="0" marL="0">
              <a:buNone/>
            </a:pPr>
            <a:r>
              <a:rPr lang="en-US" sz="1200" dirty="0">
                <a:solidFill>
                  <a:srgbClr val="243D54"/>
                </a:solidFill>
                <a:latin typeface="BIZ UDPGothic" pitchFamily="34" charset="0"/>
                <a:ea typeface="BIZ UDPGothic" pitchFamily="34" charset="-122"/>
                <a:cs typeface="BIZ UDPGothic" pitchFamily="34" charset="-120"/>
              </a:rPr>
              <a:t>対象と根拠が変わる。判断1の有効性を再評価</a:t>
            </a:r>
            <a:endParaRPr lang="en-US" sz="1200" dirty="0"/>
          </a:p>
        </p:txBody>
      </p:sp>
      <p:sp>
        <p:nvSpPr>
          <p:cNvPr id="17" name="Shape 15"/>
          <p:cNvSpPr/>
          <p:nvPr/>
        </p:nvSpPr>
        <p:spPr>
          <a:xfrm>
            <a:off x="6370168" y="1984248"/>
            <a:ext cx="329184" cy="329184"/>
          </a:xfrm>
          <a:prstGeom prst="ellipse">
            <a:avLst/>
          </a:prstGeom>
          <a:solidFill>
            <a:srgbClr val="3C6684"/>
          </a:solidFill>
          <a:ln/>
        </p:spPr>
      </p:sp>
      <p:sp>
        <p:nvSpPr>
          <p:cNvPr id="18" name="Text 16"/>
          <p:cNvSpPr/>
          <p:nvPr/>
        </p:nvSpPr>
        <p:spPr>
          <a:xfrm>
            <a:off x="6370168" y="1984248"/>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BIZ UDPGothic" pitchFamily="34" charset="0"/>
                <a:ea typeface="BIZ UDPGothic" pitchFamily="34" charset="-122"/>
                <a:cs typeface="BIZ UDPGothic" pitchFamily="34" charset="-120"/>
              </a:rPr>
              <a:t>A</a:t>
            </a:r>
            <a:endParaRPr lang="en-US" sz="1000" dirty="0"/>
          </a:p>
        </p:txBody>
      </p:sp>
      <p:sp>
        <p:nvSpPr>
          <p:cNvPr id="19" name="Text 17"/>
          <p:cNvSpPr/>
          <p:nvPr/>
        </p:nvSpPr>
        <p:spPr>
          <a:xfrm>
            <a:off x="6827368" y="1600200"/>
            <a:ext cx="1950644" cy="320040"/>
          </a:xfrm>
          <a:prstGeom prst="rect">
            <a:avLst/>
          </a:prstGeom>
          <a:noFill/>
          <a:ln/>
        </p:spPr>
        <p:txBody>
          <a:bodyPr wrap="square" lIns="0" tIns="0" rIns="0" bIns="0" rtlCol="0" anchor="t"/>
          <a:lstStyle/>
          <a:p>
            <a:pPr indent="0" marL="0">
              <a:buNone/>
            </a:pPr>
            <a:r>
              <a:rPr lang="en-US" sz="1350" b="1" dirty="0">
                <a:solidFill>
                  <a:srgbClr val="3C6684"/>
                </a:solidFill>
                <a:latin typeface="BIZ UDPGothic" pitchFamily="34" charset="0"/>
                <a:ea typeface="BIZ UDPGothic" pitchFamily="34" charset="-122"/>
                <a:cs typeface="BIZ UDPGothic" pitchFamily="34" charset="-120"/>
              </a:rPr>
              <a:t>時点3｜再び資料A</a:t>
            </a:r>
            <a:endParaRPr lang="en-US" sz="1350" dirty="0"/>
          </a:p>
        </p:txBody>
      </p:sp>
      <p:sp>
        <p:nvSpPr>
          <p:cNvPr id="20" name="Shape 18"/>
          <p:cNvSpPr/>
          <p:nvPr/>
        </p:nvSpPr>
        <p:spPr>
          <a:xfrm>
            <a:off x="6233008" y="2468880"/>
            <a:ext cx="2590724" cy="777240"/>
          </a:xfrm>
          <a:prstGeom prst="rect">
            <a:avLst/>
          </a:prstGeom>
          <a:solidFill>
            <a:srgbClr val="F6EAE4"/>
          </a:solidFill>
          <a:ln w="9525">
            <a:solidFill>
              <a:srgbClr val="8C5A44"/>
            </a:solidFill>
            <a:prstDash val="solid"/>
          </a:ln>
        </p:spPr>
      </p:sp>
      <p:sp>
        <p:nvSpPr>
          <p:cNvPr id="21" name="Text 19"/>
          <p:cNvSpPr/>
          <p:nvPr/>
        </p:nvSpPr>
        <p:spPr>
          <a:xfrm>
            <a:off x="6397600" y="2468880"/>
            <a:ext cx="2316404" cy="777240"/>
          </a:xfrm>
          <a:prstGeom prst="rect">
            <a:avLst/>
          </a:prstGeom>
          <a:noFill/>
          <a:ln/>
        </p:spPr>
        <p:txBody>
          <a:bodyPr wrap="square" lIns="0" tIns="0" rIns="0" bIns="0" rtlCol="0" anchor="ctr"/>
          <a:lstStyle/>
          <a:p>
            <a:pPr indent="0" marL="0">
              <a:buNone/>
            </a:pPr>
            <a:r>
              <a:rPr lang="en-US" sz="1200" b="1" dirty="0">
                <a:solidFill>
                  <a:srgbClr val="8C5A44"/>
                </a:solidFill>
                <a:latin typeface="BIZ UDPGothic" pitchFamily="34" charset="0"/>
                <a:ea typeface="BIZ UDPGothic" pitchFamily="34" charset="-122"/>
                <a:cs typeface="BIZ UDPGothic" pitchFamily="34" charset="-120"/>
              </a:rPr>
              <a:t>内容が一致しても判断1を再受理しない</a:t>
            </a:r>
            <a:endParaRPr lang="en-US" sz="1200" dirty="0"/>
          </a:p>
        </p:txBody>
      </p:sp>
      <p:sp>
        <p:nvSpPr>
          <p:cNvPr id="22" name="Shape 20"/>
          <p:cNvSpPr/>
          <p:nvPr/>
        </p:nvSpPr>
        <p:spPr>
          <a:xfrm>
            <a:off x="9235211" y="1984248"/>
            <a:ext cx="329184" cy="329184"/>
          </a:xfrm>
          <a:prstGeom prst="ellipse">
            <a:avLst/>
          </a:prstGeom>
          <a:solidFill>
            <a:srgbClr val="C4A06D"/>
          </a:solidFill>
          <a:ln/>
        </p:spPr>
      </p:sp>
      <p:sp>
        <p:nvSpPr>
          <p:cNvPr id="23" name="Text 21"/>
          <p:cNvSpPr/>
          <p:nvPr/>
        </p:nvSpPr>
        <p:spPr>
          <a:xfrm>
            <a:off x="9235211" y="1984248"/>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BIZ UDPGothic" pitchFamily="34" charset="0"/>
                <a:ea typeface="BIZ UDPGothic" pitchFamily="34" charset="-122"/>
                <a:cs typeface="BIZ UDPGothic" pitchFamily="34" charset="-120"/>
              </a:rPr>
              <a:t>新</a:t>
            </a:r>
            <a:endParaRPr lang="en-US" sz="1000" dirty="0"/>
          </a:p>
        </p:txBody>
      </p:sp>
      <p:sp>
        <p:nvSpPr>
          <p:cNvPr id="24" name="Text 22"/>
          <p:cNvSpPr/>
          <p:nvPr/>
        </p:nvSpPr>
        <p:spPr>
          <a:xfrm>
            <a:off x="9692411" y="1600200"/>
            <a:ext cx="1950644" cy="320040"/>
          </a:xfrm>
          <a:prstGeom prst="rect">
            <a:avLst/>
          </a:prstGeom>
          <a:noFill/>
          <a:ln/>
        </p:spPr>
        <p:txBody>
          <a:bodyPr wrap="square" lIns="0" tIns="0" rIns="0" bIns="0" rtlCol="0" anchor="t"/>
          <a:lstStyle/>
          <a:p>
            <a:pPr indent="0" marL="0">
              <a:buNone/>
            </a:pPr>
            <a:r>
              <a:rPr lang="en-US" sz="1350" b="1" dirty="0">
                <a:solidFill>
                  <a:srgbClr val="3C6684"/>
                </a:solidFill>
                <a:latin typeface="BIZ UDPGothic" pitchFamily="34" charset="0"/>
                <a:ea typeface="BIZ UDPGothic" pitchFamily="34" charset="-122"/>
                <a:cs typeface="BIZ UDPGothic" pitchFamily="34" charset="-120"/>
              </a:rPr>
              <a:t>再開時</a:t>
            </a:r>
            <a:endParaRPr lang="en-US" sz="1350" dirty="0"/>
          </a:p>
        </p:txBody>
      </p:sp>
      <p:sp>
        <p:nvSpPr>
          <p:cNvPr id="25" name="Shape 23"/>
          <p:cNvSpPr/>
          <p:nvPr/>
        </p:nvSpPr>
        <p:spPr>
          <a:xfrm>
            <a:off x="9098051" y="2468880"/>
            <a:ext cx="2590724" cy="777240"/>
          </a:xfrm>
          <a:prstGeom prst="rect">
            <a:avLst/>
          </a:prstGeom>
          <a:solidFill>
            <a:srgbClr val="FFFFFF"/>
          </a:solidFill>
          <a:ln w="9525">
            <a:solidFill>
              <a:srgbClr val="DCD5C6"/>
            </a:solidFill>
            <a:prstDash val="solid"/>
          </a:ln>
        </p:spPr>
      </p:sp>
      <p:sp>
        <p:nvSpPr>
          <p:cNvPr id="26" name="Text 24"/>
          <p:cNvSpPr/>
          <p:nvPr/>
        </p:nvSpPr>
        <p:spPr>
          <a:xfrm>
            <a:off x="9262643" y="2468880"/>
            <a:ext cx="2316404" cy="777240"/>
          </a:xfrm>
          <a:prstGeom prst="rect">
            <a:avLst/>
          </a:prstGeom>
          <a:noFill/>
          <a:ln/>
        </p:spPr>
        <p:txBody>
          <a:bodyPr wrap="square" lIns="0" tIns="0" rIns="0" bIns="0" rtlCol="0" anchor="ctr"/>
          <a:lstStyle/>
          <a:p>
            <a:pPr indent="0" marL="0">
              <a:buNone/>
            </a:pPr>
            <a:r>
              <a:rPr lang="en-US" sz="1200" dirty="0">
                <a:solidFill>
                  <a:srgbClr val="243D54"/>
                </a:solidFill>
                <a:latin typeface="BIZ UDPGothic" pitchFamily="34" charset="0"/>
                <a:ea typeface="BIZ UDPGothic" pitchFamily="34" charset="-122"/>
                <a:cs typeface="BIZ UDPGothic" pitchFamily="34" charset="-120"/>
              </a:rPr>
              <a:t>当時の版・責任・受理条件を確かめて決め直す</a:t>
            </a:r>
            <a:endParaRPr lang="en-US" sz="1200" dirty="0"/>
          </a:p>
        </p:txBody>
      </p:sp>
      <p:sp>
        <p:nvSpPr>
          <p:cNvPr id="27" name="Text 25"/>
          <p:cNvSpPr/>
          <p:nvPr/>
        </p:nvSpPr>
        <p:spPr>
          <a:xfrm>
            <a:off x="502920" y="3474720"/>
            <a:ext cx="4572000" cy="274320"/>
          </a:xfrm>
          <a:prstGeom prst="rect">
            <a:avLst/>
          </a:prstGeom>
          <a:noFill/>
          <a:ln/>
        </p:spPr>
        <p:txBody>
          <a:bodyPr wrap="square" lIns="0" tIns="0" rIns="0" bIns="0" rtlCol="0" anchor="t"/>
          <a:lstStyle/>
          <a:p>
            <a:pPr indent="0" marL="0">
              <a:buNone/>
            </a:pPr>
            <a:r>
              <a:rPr lang="en-US" sz="1200" b="1" dirty="0">
                <a:solidFill>
                  <a:srgbClr val="3C6684"/>
                </a:solidFill>
                <a:latin typeface="BIZ UDPGothic" pitchFamily="34" charset="0"/>
                <a:ea typeface="BIZ UDPGothic" pitchFamily="34" charset="-122"/>
                <a:cs typeface="BIZ UDPGothic" pitchFamily="34" charset="-120"/>
              </a:rPr>
              <a:t>意味の約束（五つ）</a:t>
            </a:r>
            <a:endParaRPr lang="en-US" sz="1200" dirty="0"/>
          </a:p>
        </p:txBody>
      </p:sp>
      <p:sp>
        <p:nvSpPr>
          <p:cNvPr id="28" name="Shape 26"/>
          <p:cNvSpPr/>
          <p:nvPr/>
        </p:nvSpPr>
        <p:spPr>
          <a:xfrm>
            <a:off x="502920" y="3776472"/>
            <a:ext cx="1737360" cy="384048"/>
          </a:xfrm>
          <a:prstGeom prst="rect">
            <a:avLst/>
          </a:prstGeom>
          <a:solidFill>
            <a:srgbClr val="1F3A50"/>
          </a:solidFill>
          <a:ln/>
        </p:spPr>
      </p:sp>
      <p:sp>
        <p:nvSpPr>
          <p:cNvPr id="29" name="Text 27"/>
          <p:cNvSpPr/>
          <p:nvPr/>
        </p:nvSpPr>
        <p:spPr>
          <a:xfrm>
            <a:off x="502920" y="3776472"/>
            <a:ext cx="1737360" cy="384048"/>
          </a:xfrm>
          <a:prstGeom prst="rect">
            <a:avLst/>
          </a:prstGeom>
          <a:noFill/>
          <a:ln/>
        </p:spPr>
        <p:txBody>
          <a:bodyPr wrap="square" lIns="0" tIns="0" rIns="0" bIns="0" rtlCol="0" anchor="ctr"/>
          <a:lstStyle/>
          <a:p>
            <a:pPr algn="ctr" indent="0" marL="0">
              <a:buNone/>
            </a:pPr>
            <a:r>
              <a:rPr lang="en-US" sz="1200" b="1" dirty="0">
                <a:solidFill>
                  <a:srgbClr val="F5F1E8"/>
                </a:solidFill>
                <a:latin typeface="BIZ UDPGothic" pitchFamily="34" charset="0"/>
                <a:ea typeface="BIZ UDPGothic" pitchFamily="34" charset="-122"/>
                <a:cs typeface="BIZ UDPGothic" pitchFamily="34" charset="-120"/>
              </a:rPr>
              <a:t>意味の参照</a:t>
            </a:r>
            <a:endParaRPr lang="en-US" sz="1200" dirty="0"/>
          </a:p>
        </p:txBody>
      </p:sp>
      <p:sp>
        <p:nvSpPr>
          <p:cNvPr id="30" name="Shape 28"/>
          <p:cNvSpPr/>
          <p:nvPr/>
        </p:nvSpPr>
        <p:spPr>
          <a:xfrm>
            <a:off x="2240280" y="3776472"/>
            <a:ext cx="3718408" cy="384048"/>
          </a:xfrm>
          <a:prstGeom prst="rect">
            <a:avLst/>
          </a:prstGeom>
          <a:solidFill>
            <a:srgbClr val="FFFFFF"/>
          </a:solidFill>
          <a:ln w="9525">
            <a:solidFill>
              <a:srgbClr val="DCD5C6"/>
            </a:solidFill>
            <a:prstDash val="solid"/>
          </a:ln>
        </p:spPr>
      </p:sp>
      <p:sp>
        <p:nvSpPr>
          <p:cNvPr id="31" name="Text 29"/>
          <p:cNvSpPr/>
          <p:nvPr/>
        </p:nvSpPr>
        <p:spPr>
          <a:xfrm>
            <a:off x="2377440" y="3776472"/>
            <a:ext cx="3535528" cy="384048"/>
          </a:xfrm>
          <a:prstGeom prst="rect">
            <a:avLst/>
          </a:prstGeom>
          <a:noFill/>
          <a:ln/>
        </p:spPr>
        <p:txBody>
          <a:bodyPr wrap="square" lIns="0" tIns="0" rIns="0" bIns="0" rtlCol="0" anchor="ct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何を指しているかを固定する</a:t>
            </a:r>
            <a:endParaRPr lang="en-US" sz="1150" dirty="0"/>
          </a:p>
        </p:txBody>
      </p:sp>
      <p:sp>
        <p:nvSpPr>
          <p:cNvPr id="32" name="Shape 30"/>
          <p:cNvSpPr/>
          <p:nvPr/>
        </p:nvSpPr>
        <p:spPr>
          <a:xfrm>
            <a:off x="502920" y="4233672"/>
            <a:ext cx="1737360" cy="384048"/>
          </a:xfrm>
          <a:prstGeom prst="rect">
            <a:avLst/>
          </a:prstGeom>
          <a:solidFill>
            <a:srgbClr val="1F3A50"/>
          </a:solidFill>
          <a:ln/>
        </p:spPr>
      </p:sp>
      <p:sp>
        <p:nvSpPr>
          <p:cNvPr id="33" name="Text 31"/>
          <p:cNvSpPr/>
          <p:nvPr/>
        </p:nvSpPr>
        <p:spPr>
          <a:xfrm>
            <a:off x="502920" y="4233672"/>
            <a:ext cx="1737360" cy="384048"/>
          </a:xfrm>
          <a:prstGeom prst="rect">
            <a:avLst/>
          </a:prstGeom>
          <a:noFill/>
          <a:ln/>
        </p:spPr>
        <p:txBody>
          <a:bodyPr wrap="square" lIns="0" tIns="0" rIns="0" bIns="0" rtlCol="0" anchor="ctr"/>
          <a:lstStyle/>
          <a:p>
            <a:pPr algn="ctr" indent="0" marL="0">
              <a:buNone/>
            </a:pPr>
            <a:r>
              <a:rPr lang="en-US" sz="1200" b="1" dirty="0">
                <a:solidFill>
                  <a:srgbClr val="F5F1E8"/>
                </a:solidFill>
                <a:latin typeface="BIZ UDPGothic" pitchFamily="34" charset="0"/>
                <a:ea typeface="BIZ UDPGothic" pitchFamily="34" charset="-122"/>
                <a:cs typeface="BIZ UDPGothic" pitchFamily="34" charset="-120"/>
              </a:rPr>
              <a:t>判断の記憶</a:t>
            </a:r>
            <a:endParaRPr lang="en-US" sz="1200" dirty="0"/>
          </a:p>
        </p:txBody>
      </p:sp>
      <p:sp>
        <p:nvSpPr>
          <p:cNvPr id="34" name="Shape 32"/>
          <p:cNvSpPr/>
          <p:nvPr/>
        </p:nvSpPr>
        <p:spPr>
          <a:xfrm>
            <a:off x="2240280" y="4233672"/>
            <a:ext cx="3718408" cy="384048"/>
          </a:xfrm>
          <a:prstGeom prst="rect">
            <a:avLst/>
          </a:prstGeom>
          <a:solidFill>
            <a:srgbClr val="FFFFFF"/>
          </a:solidFill>
          <a:ln w="9525">
            <a:solidFill>
              <a:srgbClr val="DCD5C6"/>
            </a:solidFill>
            <a:prstDash val="solid"/>
          </a:ln>
        </p:spPr>
      </p:sp>
      <p:sp>
        <p:nvSpPr>
          <p:cNvPr id="35" name="Text 33"/>
          <p:cNvSpPr/>
          <p:nvPr/>
        </p:nvSpPr>
        <p:spPr>
          <a:xfrm>
            <a:off x="2377440" y="4233672"/>
            <a:ext cx="3535528" cy="384048"/>
          </a:xfrm>
          <a:prstGeom prst="rect">
            <a:avLst/>
          </a:prstGeom>
          <a:noFill/>
          <a:ln/>
        </p:spPr>
        <p:txBody>
          <a:bodyPr wrap="square" lIns="0" tIns="0" rIns="0" bIns="0" rtlCol="0" anchor="ct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判断・根拠・未解決を保持する</a:t>
            </a:r>
            <a:endParaRPr lang="en-US" sz="1150" dirty="0"/>
          </a:p>
        </p:txBody>
      </p:sp>
      <p:sp>
        <p:nvSpPr>
          <p:cNvPr id="36" name="Shape 34"/>
          <p:cNvSpPr/>
          <p:nvPr/>
        </p:nvSpPr>
        <p:spPr>
          <a:xfrm>
            <a:off x="502920" y="4690872"/>
            <a:ext cx="1737360" cy="384048"/>
          </a:xfrm>
          <a:prstGeom prst="rect">
            <a:avLst/>
          </a:prstGeom>
          <a:solidFill>
            <a:srgbClr val="1F3A50"/>
          </a:solidFill>
          <a:ln/>
        </p:spPr>
      </p:sp>
      <p:sp>
        <p:nvSpPr>
          <p:cNvPr id="37" name="Text 35"/>
          <p:cNvSpPr/>
          <p:nvPr/>
        </p:nvSpPr>
        <p:spPr>
          <a:xfrm>
            <a:off x="502920" y="4690872"/>
            <a:ext cx="1737360" cy="384048"/>
          </a:xfrm>
          <a:prstGeom prst="rect">
            <a:avLst/>
          </a:prstGeom>
          <a:noFill/>
          <a:ln/>
        </p:spPr>
        <p:txBody>
          <a:bodyPr wrap="square" lIns="0" tIns="0" rIns="0" bIns="0" rtlCol="0" anchor="ctr"/>
          <a:lstStyle/>
          <a:p>
            <a:pPr algn="ctr" indent="0" marL="0">
              <a:buNone/>
            </a:pPr>
            <a:r>
              <a:rPr lang="en-US" sz="1200" b="1" dirty="0">
                <a:solidFill>
                  <a:srgbClr val="F5F1E8"/>
                </a:solidFill>
                <a:latin typeface="BIZ UDPGothic" pitchFamily="34" charset="0"/>
                <a:ea typeface="BIZ UDPGothic" pitchFamily="34" charset="-122"/>
                <a:cs typeface="BIZ UDPGothic" pitchFamily="34" charset="-120"/>
              </a:rPr>
              <a:t>能力の観測</a:t>
            </a:r>
            <a:endParaRPr lang="en-US" sz="1200" dirty="0"/>
          </a:p>
        </p:txBody>
      </p:sp>
      <p:sp>
        <p:nvSpPr>
          <p:cNvPr id="38" name="Shape 36"/>
          <p:cNvSpPr/>
          <p:nvPr/>
        </p:nvSpPr>
        <p:spPr>
          <a:xfrm>
            <a:off x="2240280" y="4690872"/>
            <a:ext cx="3718408" cy="384048"/>
          </a:xfrm>
          <a:prstGeom prst="rect">
            <a:avLst/>
          </a:prstGeom>
          <a:solidFill>
            <a:srgbClr val="FFFFFF"/>
          </a:solidFill>
          <a:ln w="9525">
            <a:solidFill>
              <a:srgbClr val="DCD5C6"/>
            </a:solidFill>
            <a:prstDash val="solid"/>
          </a:ln>
        </p:spPr>
      </p:sp>
      <p:sp>
        <p:nvSpPr>
          <p:cNvPr id="39" name="Text 37"/>
          <p:cNvSpPr/>
          <p:nvPr/>
        </p:nvSpPr>
        <p:spPr>
          <a:xfrm>
            <a:off x="2377440" y="4690872"/>
            <a:ext cx="3535528" cy="384048"/>
          </a:xfrm>
          <a:prstGeom prst="rect">
            <a:avLst/>
          </a:prstGeom>
          <a:noFill/>
          <a:ln/>
        </p:spPr>
        <p:txBody>
          <a:bodyPr wrap="square" lIns="0" tIns="0" rIns="0" bIns="0" rtlCol="0" anchor="ct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提供される能力と実際の状態を分ける</a:t>
            </a:r>
            <a:endParaRPr lang="en-US" sz="1150" dirty="0"/>
          </a:p>
        </p:txBody>
      </p:sp>
      <p:sp>
        <p:nvSpPr>
          <p:cNvPr id="40" name="Shape 38"/>
          <p:cNvSpPr/>
          <p:nvPr/>
        </p:nvSpPr>
        <p:spPr>
          <a:xfrm>
            <a:off x="502920" y="5148072"/>
            <a:ext cx="1737360" cy="384048"/>
          </a:xfrm>
          <a:prstGeom prst="rect">
            <a:avLst/>
          </a:prstGeom>
          <a:solidFill>
            <a:srgbClr val="1F3A50"/>
          </a:solidFill>
          <a:ln/>
        </p:spPr>
      </p:sp>
      <p:sp>
        <p:nvSpPr>
          <p:cNvPr id="41" name="Text 39"/>
          <p:cNvSpPr/>
          <p:nvPr/>
        </p:nvSpPr>
        <p:spPr>
          <a:xfrm>
            <a:off x="502920" y="5148072"/>
            <a:ext cx="1737360" cy="384048"/>
          </a:xfrm>
          <a:prstGeom prst="rect">
            <a:avLst/>
          </a:prstGeom>
          <a:noFill/>
          <a:ln/>
        </p:spPr>
        <p:txBody>
          <a:bodyPr wrap="square" lIns="0" tIns="0" rIns="0" bIns="0" rtlCol="0" anchor="ctr"/>
          <a:lstStyle/>
          <a:p>
            <a:pPr algn="ctr" indent="0" marL="0">
              <a:buNone/>
            </a:pPr>
            <a:r>
              <a:rPr lang="en-US" sz="1200" b="1" dirty="0">
                <a:solidFill>
                  <a:srgbClr val="F5F1E8"/>
                </a:solidFill>
                <a:latin typeface="BIZ UDPGothic" pitchFamily="34" charset="0"/>
                <a:ea typeface="BIZ UDPGothic" pitchFamily="34" charset="-122"/>
                <a:cs typeface="BIZ UDPGothic" pitchFamily="34" charset="-120"/>
              </a:rPr>
              <a:t>認知の方法</a:t>
            </a:r>
            <a:endParaRPr lang="en-US" sz="1200" dirty="0"/>
          </a:p>
        </p:txBody>
      </p:sp>
      <p:sp>
        <p:nvSpPr>
          <p:cNvPr id="42" name="Shape 40"/>
          <p:cNvSpPr/>
          <p:nvPr/>
        </p:nvSpPr>
        <p:spPr>
          <a:xfrm>
            <a:off x="2240280" y="5148072"/>
            <a:ext cx="3718408" cy="384048"/>
          </a:xfrm>
          <a:prstGeom prst="rect">
            <a:avLst/>
          </a:prstGeom>
          <a:solidFill>
            <a:srgbClr val="FFFFFF"/>
          </a:solidFill>
          <a:ln w="9525">
            <a:solidFill>
              <a:srgbClr val="DCD5C6"/>
            </a:solidFill>
            <a:prstDash val="solid"/>
          </a:ln>
        </p:spPr>
      </p:sp>
      <p:sp>
        <p:nvSpPr>
          <p:cNvPr id="43" name="Text 41"/>
          <p:cNvSpPr/>
          <p:nvPr/>
        </p:nvSpPr>
        <p:spPr>
          <a:xfrm>
            <a:off x="2377440" y="5148072"/>
            <a:ext cx="3535528" cy="384048"/>
          </a:xfrm>
          <a:prstGeom prst="rect">
            <a:avLst/>
          </a:prstGeom>
          <a:noFill/>
          <a:ln/>
        </p:spPr>
        <p:txBody>
          <a:bodyPr wrap="square" lIns="0" tIns="0" rIns="0" bIns="0" rtlCol="0" anchor="ct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見いだした型と、定めた手順を分ける</a:t>
            </a:r>
            <a:endParaRPr lang="en-US" sz="1150" dirty="0"/>
          </a:p>
        </p:txBody>
      </p:sp>
      <p:sp>
        <p:nvSpPr>
          <p:cNvPr id="44" name="Shape 42"/>
          <p:cNvSpPr/>
          <p:nvPr/>
        </p:nvSpPr>
        <p:spPr>
          <a:xfrm>
            <a:off x="502920" y="5605272"/>
            <a:ext cx="1737360" cy="384048"/>
          </a:xfrm>
          <a:prstGeom prst="rect">
            <a:avLst/>
          </a:prstGeom>
          <a:solidFill>
            <a:srgbClr val="1F3A50"/>
          </a:solidFill>
          <a:ln/>
        </p:spPr>
      </p:sp>
      <p:sp>
        <p:nvSpPr>
          <p:cNvPr id="45" name="Text 43"/>
          <p:cNvSpPr/>
          <p:nvPr/>
        </p:nvSpPr>
        <p:spPr>
          <a:xfrm>
            <a:off x="502920" y="5605272"/>
            <a:ext cx="1737360" cy="384048"/>
          </a:xfrm>
          <a:prstGeom prst="rect">
            <a:avLst/>
          </a:prstGeom>
          <a:noFill/>
          <a:ln/>
        </p:spPr>
        <p:txBody>
          <a:bodyPr wrap="square" lIns="0" tIns="0" rIns="0" bIns="0" rtlCol="0" anchor="ctr"/>
          <a:lstStyle/>
          <a:p>
            <a:pPr algn="ctr" indent="0" marL="0">
              <a:buNone/>
            </a:pPr>
            <a:r>
              <a:rPr lang="en-US" sz="1200" b="1" dirty="0">
                <a:solidFill>
                  <a:srgbClr val="F5F1E8"/>
                </a:solidFill>
                <a:latin typeface="BIZ UDPGothic" pitchFamily="34" charset="0"/>
                <a:ea typeface="BIZ UDPGothic" pitchFamily="34" charset="-122"/>
                <a:cs typeface="BIZ UDPGothic" pitchFamily="34" charset="-120"/>
              </a:rPr>
              <a:t>意味の交換</a:t>
            </a:r>
            <a:endParaRPr lang="en-US" sz="1200" dirty="0"/>
          </a:p>
        </p:txBody>
      </p:sp>
      <p:sp>
        <p:nvSpPr>
          <p:cNvPr id="46" name="Shape 44"/>
          <p:cNvSpPr/>
          <p:nvPr/>
        </p:nvSpPr>
        <p:spPr>
          <a:xfrm>
            <a:off x="2240280" y="5605272"/>
            <a:ext cx="3718408" cy="384048"/>
          </a:xfrm>
          <a:prstGeom prst="rect">
            <a:avLst/>
          </a:prstGeom>
          <a:solidFill>
            <a:srgbClr val="FFFFFF"/>
          </a:solidFill>
          <a:ln w="9525">
            <a:solidFill>
              <a:srgbClr val="DCD5C6"/>
            </a:solidFill>
            <a:prstDash val="solid"/>
          </a:ln>
        </p:spPr>
      </p:sp>
      <p:sp>
        <p:nvSpPr>
          <p:cNvPr id="47" name="Text 45"/>
          <p:cNvSpPr/>
          <p:nvPr/>
        </p:nvSpPr>
        <p:spPr>
          <a:xfrm>
            <a:off x="2377440" y="5605272"/>
            <a:ext cx="3535528" cy="384048"/>
          </a:xfrm>
          <a:prstGeom prst="rect">
            <a:avLst/>
          </a:prstGeom>
          <a:noFill/>
          <a:ln/>
        </p:spPr>
        <p:txBody>
          <a:bodyPr wrap="square" lIns="0" tIns="0" rIns="0" bIns="0" rtlCol="0" anchor="ct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異なるシステム間で同じ意味を受け渡す</a:t>
            </a:r>
            <a:endParaRPr lang="en-US" sz="1150" dirty="0"/>
          </a:p>
        </p:txBody>
      </p:sp>
      <p:sp>
        <p:nvSpPr>
          <p:cNvPr id="48" name="Shape 46"/>
          <p:cNvSpPr/>
          <p:nvPr/>
        </p:nvSpPr>
        <p:spPr>
          <a:xfrm>
            <a:off x="6233008" y="3474720"/>
            <a:ext cx="5455768" cy="2697480"/>
          </a:xfrm>
          <a:prstGeom prst="rect">
            <a:avLst/>
          </a:prstGeom>
          <a:solidFill>
            <a:srgbClr val="243D54"/>
          </a:solidFill>
          <a:ln/>
        </p:spPr>
      </p:sp>
      <p:sp>
        <p:nvSpPr>
          <p:cNvPr id="49" name="Text 47"/>
          <p:cNvSpPr/>
          <p:nvPr/>
        </p:nvSpPr>
        <p:spPr>
          <a:xfrm>
            <a:off x="6461608" y="3584448"/>
            <a:ext cx="5090008" cy="274320"/>
          </a:xfrm>
          <a:prstGeom prst="rect">
            <a:avLst/>
          </a:prstGeom>
          <a:noFill/>
          <a:ln/>
        </p:spPr>
        <p:txBody>
          <a:bodyPr wrap="square" lIns="0" tIns="0" rIns="0" bIns="0" rtlCol="0" anchor="t"/>
          <a:lstStyle/>
          <a:p>
            <a:pPr indent="0" marL="0">
              <a:buNone/>
            </a:pPr>
            <a:r>
              <a:rPr lang="en-US" sz="1250" b="1" dirty="0">
                <a:solidFill>
                  <a:srgbClr val="C4A06D"/>
                </a:solidFill>
                <a:latin typeface="BIZ UDPGothic" pitchFamily="34" charset="0"/>
                <a:ea typeface="BIZ UDPGothic" pitchFamily="34" charset="-122"/>
                <a:cs typeface="BIZ UDPGothic" pitchFamily="34" charset="-120"/>
              </a:rPr>
              <a:t>表し方は別に管理する</a:t>
            </a:r>
            <a:endParaRPr lang="en-US" sz="1250" dirty="0"/>
          </a:p>
        </p:txBody>
      </p:sp>
      <p:sp>
        <p:nvSpPr>
          <p:cNvPr id="50" name="Text 48"/>
          <p:cNvSpPr/>
          <p:nvPr/>
        </p:nvSpPr>
        <p:spPr>
          <a:xfrm>
            <a:off x="6461608" y="3931920"/>
            <a:ext cx="5044288" cy="14630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F5F1E8"/>
                </a:solidFill>
                <a:latin typeface="BIZ UDPGothic" pitchFamily="34" charset="0"/>
                <a:ea typeface="BIZ UDPGothic" pitchFamily="34" charset="-122"/>
                <a:cs typeface="BIZ UDPGothic" pitchFamily="34" charset="-120"/>
              </a:rPr>
              <a:t>意味の約束と、それをどのバイト列で表すかを分ける</a:t>
            </a:r>
            <a:endParaRPr lang="en-US" sz="1150" dirty="0"/>
          </a:p>
          <a:p>
            <a:pPr marL="342900" indent="-342900">
              <a:spcAft>
                <a:spcPts val="600"/>
              </a:spcAft>
              <a:buSzPct val="100000"/>
              <a:buChar char="•"/>
            </a:pPr>
            <a:r>
              <a:rPr lang="en-US" sz="1150" dirty="0">
                <a:solidFill>
                  <a:srgbClr val="F5F1E8"/>
                </a:solidFill>
                <a:latin typeface="BIZ UDPGothic" pitchFamily="34" charset="0"/>
                <a:ea typeface="BIZ UDPGothic" pitchFamily="34" charset="-122"/>
                <a:cs typeface="BIZ UDPGothic" pitchFamily="34" charset="-120"/>
              </a:rPr>
              <a:t>表し方は二種類：正規化した構造と、元のバイト列。どちらもハッシュ値で同一性を確かめる</a:t>
            </a:r>
            <a:endParaRPr lang="en-US" sz="1150" dirty="0"/>
          </a:p>
          <a:p>
            <a:pPr marL="342900" indent="-342900">
              <a:spcAft>
                <a:spcPts val="600"/>
              </a:spcAft>
              <a:buSzPct val="100000"/>
              <a:buChar char="•"/>
            </a:pPr>
            <a:r>
              <a:rPr lang="en-US" sz="1150" dirty="0">
                <a:solidFill>
                  <a:srgbClr val="F5F1E8"/>
                </a:solidFill>
                <a:latin typeface="BIZ UDPGothic" pitchFamily="34" charset="0"/>
                <a:ea typeface="BIZ UDPGothic" pitchFamily="34" charset="-122"/>
                <a:cs typeface="BIZ UDPGothic" pitchFamily="34" charset="-120"/>
              </a:rPr>
              <a:t>新しい概念が出るたびに約束を増やさない。実装や提供元をまたいで意味を固定する必要がある場合に限る</a:t>
            </a:r>
            <a:endParaRPr lang="en-US" sz="1150" dirty="0"/>
          </a:p>
        </p:txBody>
      </p:sp>
      <p:sp>
        <p:nvSpPr>
          <p:cNvPr id="51" name="Text 49"/>
          <p:cNvSpPr/>
          <p:nvPr/>
        </p:nvSpPr>
        <p:spPr>
          <a:xfrm>
            <a:off x="6461608" y="5440680"/>
            <a:ext cx="5044288" cy="640080"/>
          </a:xfrm>
          <a:prstGeom prst="rect">
            <a:avLst/>
          </a:prstGeom>
          <a:noFill/>
          <a:ln/>
        </p:spPr>
        <p:txBody>
          <a:bodyPr wrap="square" lIns="0" tIns="0" rIns="0" bIns="0" rtlCol="0" anchor="t"/>
          <a:lstStyle/>
          <a:p>
            <a:pPr indent="0" marL="0">
              <a:buNone/>
            </a:pPr>
            <a:r>
              <a:rPr lang="en-US" sz="1050" b="1" dirty="0">
                <a:solidFill>
                  <a:srgbClr val="C4A06D"/>
                </a:solidFill>
                <a:latin typeface="BIZ UDPGothic" pitchFamily="34" charset="0"/>
                <a:ea typeface="BIZ UDPGothic" pitchFamily="34" charset="-122"/>
                <a:cs typeface="BIZ UDPGothic" pitchFamily="34" charset="-120"/>
              </a:rPr>
              <a:t>研究中  </a:t>
            </a:r>
            <a:pPr indent="0" marL="0">
              <a:buNone/>
            </a:pPr>
            <a:r>
              <a:rPr lang="en-US" sz="1050" dirty="0">
                <a:solidFill>
                  <a:srgbClr val="C9D3D9"/>
                </a:solidFill>
                <a:latin typeface="BIZ UDPGothic" pitchFamily="34" charset="0"/>
                <a:ea typeface="BIZ UDPGothic" pitchFamily="34" charset="-122"/>
                <a:cs typeface="BIZ UDPGothic" pitchFamily="34" charset="-120"/>
              </a:rPr>
              <a:t>定型化した判断を軽量な局所モデルへ移し、強いAIや人が要る場面だけに絞れるかを検証</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0" y="0"/>
            <a:ext cx="3520440" cy="6858000"/>
          </a:xfrm>
          <a:prstGeom prst="rect">
            <a:avLst/>
          </a:prstGeom>
          <a:solidFill>
            <a:srgbClr val="33334F"/>
          </a:solidFill>
          <a:ln/>
        </p:spPr>
      </p:sp>
      <p:sp>
        <p:nvSpPr>
          <p:cNvPr id="3" name="Text 1"/>
          <p:cNvSpPr/>
          <p:nvPr/>
        </p:nvSpPr>
        <p:spPr>
          <a:xfrm>
            <a:off x="411480" y="292608"/>
            <a:ext cx="2743200" cy="228600"/>
          </a:xfrm>
          <a:prstGeom prst="rect">
            <a:avLst/>
          </a:prstGeom>
          <a:noFill/>
          <a:ln/>
        </p:spPr>
        <p:txBody>
          <a:bodyPr wrap="square" lIns="0" tIns="0" rIns="0" bIns="0" rtlCol="0" anchor="t"/>
          <a:lstStyle/>
          <a:p>
            <a:pPr indent="0" marL="0">
              <a:buNone/>
            </a:pPr>
            <a:r>
              <a:rPr lang="en-US" sz="950" b="1" dirty="0">
                <a:solidFill>
                  <a:srgbClr val="C4A06D"/>
                </a:solidFill>
                <a:latin typeface="BIZ UDPGothic" pitchFamily="34" charset="0"/>
                <a:ea typeface="BIZ UDPGothic" pitchFamily="34" charset="-122"/>
                <a:cs typeface="BIZ UDPGothic" pitchFamily="34" charset="-120"/>
              </a:rPr>
              <a:t>製品  </a:t>
            </a:r>
            <a:pPr indent="0" marL="0">
              <a:buNone/>
            </a:pPr>
            <a:r>
              <a:rPr lang="en-US" sz="950" dirty="0">
                <a:solidFill>
                  <a:srgbClr val="C9D3D9"/>
                </a:solidFill>
                <a:latin typeface="Georgia" pitchFamily="34" charset="0"/>
                <a:ea typeface="Georgia" pitchFamily="34" charset="-122"/>
                <a:cs typeface="Georgia" pitchFamily="34" charset="-120"/>
              </a:rPr>
              <a:t>4 / 6</a:t>
            </a:r>
            <a:endParaRPr lang="en-US" sz="950" dirty="0"/>
          </a:p>
        </p:txBody>
      </p:sp>
      <p:sp>
        <p:nvSpPr>
          <p:cNvPr id="4" name="Shape 2"/>
          <p:cNvSpPr/>
          <p:nvPr/>
        </p:nvSpPr>
        <p:spPr>
          <a:xfrm>
            <a:off x="411480" y="1481328"/>
            <a:ext cx="373532" cy="73152"/>
          </a:xfrm>
          <a:prstGeom prst="rect">
            <a:avLst/>
          </a:prstGeom>
          <a:solidFill>
            <a:srgbClr val="C4A06D"/>
          </a:solidFill>
          <a:ln/>
        </p:spPr>
      </p:sp>
      <p:sp>
        <p:nvSpPr>
          <p:cNvPr id="5" name="Shape 3"/>
          <p:cNvSpPr/>
          <p:nvPr/>
        </p:nvSpPr>
        <p:spPr>
          <a:xfrm>
            <a:off x="906628" y="1481328"/>
            <a:ext cx="373532" cy="73152"/>
          </a:xfrm>
          <a:prstGeom prst="rect">
            <a:avLst/>
          </a:prstGeom>
          <a:solidFill>
            <a:srgbClr val="C4A06D"/>
          </a:solidFill>
          <a:ln/>
        </p:spPr>
      </p:sp>
      <p:sp>
        <p:nvSpPr>
          <p:cNvPr id="6" name="Shape 4"/>
          <p:cNvSpPr/>
          <p:nvPr/>
        </p:nvSpPr>
        <p:spPr>
          <a:xfrm>
            <a:off x="411480" y="1335024"/>
            <a:ext cx="868680" cy="73152"/>
          </a:xfrm>
          <a:prstGeom prst="rect">
            <a:avLst/>
          </a:prstGeom>
          <a:solidFill>
            <a:srgbClr val="C4A06D"/>
          </a:solidFill>
          <a:ln/>
        </p:spPr>
      </p:sp>
      <p:sp>
        <p:nvSpPr>
          <p:cNvPr id="7" name="Shape 5"/>
          <p:cNvSpPr/>
          <p:nvPr/>
        </p:nvSpPr>
        <p:spPr>
          <a:xfrm>
            <a:off x="411480" y="1188720"/>
            <a:ext cx="868680" cy="73152"/>
          </a:xfrm>
          <a:prstGeom prst="rect">
            <a:avLst/>
          </a:prstGeom>
          <a:solidFill>
            <a:srgbClr val="C4A06D"/>
          </a:solidFill>
          <a:ln/>
        </p:spPr>
      </p:sp>
      <p:sp>
        <p:nvSpPr>
          <p:cNvPr id="8" name="Shape 6"/>
          <p:cNvSpPr/>
          <p:nvPr/>
        </p:nvSpPr>
        <p:spPr>
          <a:xfrm>
            <a:off x="411480" y="1042416"/>
            <a:ext cx="868680" cy="73152"/>
          </a:xfrm>
          <a:prstGeom prst="rect">
            <a:avLst/>
          </a:prstGeom>
          <a:solidFill>
            <a:srgbClr val="C4A06D"/>
          </a:solidFill>
          <a:ln/>
        </p:spPr>
      </p:sp>
      <p:sp>
        <p:nvSpPr>
          <p:cNvPr id="9" name="Shape 7"/>
          <p:cNvSpPr/>
          <p:nvPr/>
        </p:nvSpPr>
        <p:spPr>
          <a:xfrm>
            <a:off x="411480" y="896112"/>
            <a:ext cx="373532" cy="73152"/>
          </a:xfrm>
          <a:prstGeom prst="rect">
            <a:avLst/>
          </a:prstGeom>
          <a:solidFill>
            <a:srgbClr val="C4A06D"/>
          </a:solidFill>
          <a:ln/>
        </p:spPr>
      </p:sp>
      <p:sp>
        <p:nvSpPr>
          <p:cNvPr id="10" name="Shape 8"/>
          <p:cNvSpPr/>
          <p:nvPr/>
        </p:nvSpPr>
        <p:spPr>
          <a:xfrm>
            <a:off x="906628" y="896112"/>
            <a:ext cx="373532" cy="73152"/>
          </a:xfrm>
          <a:prstGeom prst="rect">
            <a:avLst/>
          </a:prstGeom>
          <a:solidFill>
            <a:srgbClr val="C4A06D"/>
          </a:solidFill>
          <a:ln/>
        </p:spPr>
      </p:sp>
      <p:sp>
        <p:nvSpPr>
          <p:cNvPr id="11" name="Shape 9"/>
          <p:cNvSpPr/>
          <p:nvPr/>
        </p:nvSpPr>
        <p:spPr>
          <a:xfrm>
            <a:off x="411480" y="749808"/>
            <a:ext cx="868680" cy="73152"/>
          </a:xfrm>
          <a:prstGeom prst="rect">
            <a:avLst/>
          </a:prstGeom>
          <a:solidFill>
            <a:srgbClr val="C4A06D"/>
          </a:solidFill>
          <a:ln/>
        </p:spPr>
      </p:sp>
      <p:sp>
        <p:nvSpPr>
          <p:cNvPr id="12" name="Text 10"/>
          <p:cNvSpPr/>
          <p:nvPr/>
        </p:nvSpPr>
        <p:spPr>
          <a:xfrm>
            <a:off x="1508760" y="694944"/>
            <a:ext cx="731520" cy="548640"/>
          </a:xfrm>
          <a:prstGeom prst="rect">
            <a:avLst/>
          </a:prstGeom>
          <a:noFill/>
          <a:ln/>
        </p:spPr>
        <p:txBody>
          <a:bodyPr wrap="square" lIns="0" tIns="0" rIns="0" bIns="0" rtlCol="0" anchor="ctr"/>
          <a:lstStyle/>
          <a:p>
            <a:pPr indent="0" marL="0">
              <a:buNone/>
            </a:pPr>
            <a:r>
              <a:rPr lang="en-US" sz="3200" b="1" dirty="0">
                <a:solidFill>
                  <a:srgbClr val="F5F1E8"/>
                </a:solidFill>
                <a:latin typeface="BIZ UDPGothic" pitchFamily="34" charset="0"/>
                <a:ea typeface="BIZ UDPGothic" pitchFamily="34" charset="-122"/>
                <a:cs typeface="BIZ UDPGothic" pitchFamily="34" charset="-120"/>
              </a:rPr>
              <a:t>鼎</a:t>
            </a:r>
            <a:endParaRPr lang="en-US" sz="3200" dirty="0"/>
          </a:p>
        </p:txBody>
      </p:sp>
      <p:sp>
        <p:nvSpPr>
          <p:cNvPr id="13" name="Text 11"/>
          <p:cNvSpPr/>
          <p:nvPr/>
        </p:nvSpPr>
        <p:spPr>
          <a:xfrm>
            <a:off x="1508760" y="1261872"/>
            <a:ext cx="1920240" cy="274320"/>
          </a:xfrm>
          <a:prstGeom prst="rect">
            <a:avLst/>
          </a:prstGeom>
          <a:noFill/>
          <a:ln/>
        </p:spPr>
        <p:txBody>
          <a:bodyPr wrap="square" lIns="0" tIns="0" rIns="0" bIns="0" rtlCol="0" anchor="t"/>
          <a:lstStyle/>
          <a:p>
            <a:pPr indent="0" marL="0">
              <a:buNone/>
            </a:pPr>
            <a:r>
              <a:rPr lang="en-US" sz="1000" dirty="0">
                <a:solidFill>
                  <a:srgbClr val="C9D3D9"/>
                </a:solidFill>
                <a:latin typeface="BIZ UDPGothic" pitchFamily="34" charset="0"/>
                <a:ea typeface="BIZ UDPGothic" pitchFamily="34" charset="-122"/>
                <a:cs typeface="BIZ UDPGothic" pitchFamily="34" charset="-120"/>
              </a:rPr>
              <a:t>第50卦　火風鼎</a:t>
            </a:r>
            <a:endParaRPr lang="en-US" sz="1000" dirty="0"/>
          </a:p>
        </p:txBody>
      </p:sp>
      <p:sp>
        <p:nvSpPr>
          <p:cNvPr id="14" name="Text 12"/>
          <p:cNvSpPr/>
          <p:nvPr/>
        </p:nvSpPr>
        <p:spPr>
          <a:xfrm>
            <a:off x="411480" y="1737360"/>
            <a:ext cx="3017520" cy="457200"/>
          </a:xfrm>
          <a:prstGeom prst="rect">
            <a:avLst/>
          </a:prstGeom>
          <a:noFill/>
          <a:ln/>
        </p:spPr>
        <p:txBody>
          <a:bodyPr wrap="square" lIns="0" tIns="0" rIns="0" bIns="0" rtlCol="0" anchor="ctr"/>
          <a:lstStyle/>
          <a:p>
            <a:pPr indent="0" marL="0">
              <a:buNone/>
            </a:pPr>
            <a:r>
              <a:rPr lang="en-US" sz="2200" b="1" dirty="0">
                <a:solidFill>
                  <a:srgbClr val="F5F1E8"/>
                </a:solidFill>
                <a:latin typeface="Georgia" pitchFamily="34" charset="0"/>
                <a:ea typeface="Georgia" pitchFamily="34" charset="-122"/>
                <a:cs typeface="Georgia" pitchFamily="34" charset="-120"/>
              </a:rPr>
              <a:t>TEI Platform</a:t>
            </a:r>
            <a:endParaRPr lang="en-US" sz="2200" dirty="0"/>
          </a:p>
        </p:txBody>
      </p:sp>
      <p:sp>
        <p:nvSpPr>
          <p:cNvPr id="15" name="Text 13"/>
          <p:cNvSpPr/>
          <p:nvPr/>
        </p:nvSpPr>
        <p:spPr>
          <a:xfrm>
            <a:off x="411480" y="2194560"/>
            <a:ext cx="2926080" cy="274320"/>
          </a:xfrm>
          <a:prstGeom prst="rect">
            <a:avLst/>
          </a:prstGeom>
          <a:noFill/>
          <a:ln/>
        </p:spPr>
        <p:txBody>
          <a:bodyPr wrap="square" lIns="0" tIns="0" rIns="0" bIns="0" rtlCol="0" anchor="t"/>
          <a:lstStyle/>
          <a:p>
            <a:pPr indent="0" marL="0">
              <a:buNone/>
            </a:pPr>
            <a:r>
              <a:rPr lang="en-US" sz="1200" b="1" dirty="0">
                <a:solidFill>
                  <a:srgbClr val="C4A06D"/>
                </a:solidFill>
                <a:latin typeface="BIZ UDPGothic" pitchFamily="34" charset="0"/>
                <a:ea typeface="BIZ UDPGothic" pitchFamily="34" charset="-122"/>
                <a:cs typeface="BIZ UDPGothic" pitchFamily="34" charset="-120"/>
              </a:rPr>
              <a:t>知識の実現</a:t>
            </a:r>
            <a:endParaRPr lang="en-US" sz="1200" dirty="0"/>
          </a:p>
        </p:txBody>
      </p:sp>
      <p:sp>
        <p:nvSpPr>
          <p:cNvPr id="16" name="Text 14"/>
          <p:cNvSpPr/>
          <p:nvPr/>
        </p:nvSpPr>
        <p:spPr>
          <a:xfrm>
            <a:off x="411480" y="2606040"/>
            <a:ext cx="2743200" cy="201168"/>
          </a:xfrm>
          <a:prstGeom prst="rect">
            <a:avLst/>
          </a:prstGeom>
          <a:noFill/>
          <a:ln/>
        </p:spPr>
        <p:txBody>
          <a:bodyPr wrap="square" lIns="0" tIns="0" rIns="0" bIns="0" rtlCol="0" anchor="t"/>
          <a:lstStyle/>
          <a:p>
            <a:pPr indent="0" marL="0">
              <a:buNone/>
            </a:pPr>
            <a:r>
              <a:rPr lang="en-US" sz="900" b="1" dirty="0">
                <a:solidFill>
                  <a:srgbClr val="A7B7A7"/>
                </a:solidFill>
                <a:latin typeface="BIZ UDPGothic" pitchFamily="34" charset="0"/>
                <a:ea typeface="BIZ UDPGothic" pitchFamily="34" charset="-122"/>
                <a:cs typeface="BIZ UDPGothic" pitchFamily="34" charset="-120"/>
              </a:rPr>
              <a:t>目指す姿</a:t>
            </a:r>
            <a:endParaRPr lang="en-US" sz="900" dirty="0"/>
          </a:p>
        </p:txBody>
      </p:sp>
      <p:sp>
        <p:nvSpPr>
          <p:cNvPr id="17" name="Text 15"/>
          <p:cNvSpPr/>
          <p:nvPr/>
        </p:nvSpPr>
        <p:spPr>
          <a:xfrm>
            <a:off x="411480" y="2807208"/>
            <a:ext cx="2788920" cy="548640"/>
          </a:xfrm>
          <a:prstGeom prst="rect">
            <a:avLst/>
          </a:prstGeom>
          <a:noFill/>
          <a:ln/>
        </p:spPr>
        <p:txBody>
          <a:bodyPr wrap="square" lIns="0" tIns="0" rIns="0" bIns="0" rtlCol="0" anchor="t"/>
          <a:lstStyle/>
          <a:p>
            <a:pPr indent="0" marL="0">
              <a:buNone/>
            </a:pPr>
            <a:r>
              <a:rPr lang="en-US" sz="1050" dirty="0">
                <a:solidFill>
                  <a:srgbClr val="F5F1E8"/>
                </a:solidFill>
                <a:latin typeface="BIZ UDPGothic" pitchFamily="34" charset="0"/>
                <a:ea typeface="BIZ UDPGothic" pitchFamily="34" charset="-122"/>
                <a:cs typeface="BIZ UDPGothic" pitchFamily="34" charset="-120"/>
              </a:rPr>
              <a:t>生成AI時代のローコード開発基盤。分野固有の知識を実装技術と分けて管理する</a:t>
            </a:r>
            <a:endParaRPr lang="en-US" sz="1050" dirty="0"/>
          </a:p>
        </p:txBody>
      </p:sp>
      <p:sp>
        <p:nvSpPr>
          <p:cNvPr id="18" name="Text 16"/>
          <p:cNvSpPr/>
          <p:nvPr/>
        </p:nvSpPr>
        <p:spPr>
          <a:xfrm>
            <a:off x="411480" y="3438144"/>
            <a:ext cx="2743200" cy="201168"/>
          </a:xfrm>
          <a:prstGeom prst="rect">
            <a:avLst/>
          </a:prstGeom>
          <a:noFill/>
          <a:ln/>
        </p:spPr>
        <p:txBody>
          <a:bodyPr wrap="square" lIns="0" tIns="0" rIns="0" bIns="0" rtlCol="0" anchor="t"/>
          <a:lstStyle/>
          <a:p>
            <a:pPr indent="0" marL="0">
              <a:buNone/>
            </a:pPr>
            <a:r>
              <a:rPr lang="en-US" sz="900" b="1" dirty="0">
                <a:solidFill>
                  <a:srgbClr val="A7B7A7"/>
                </a:solidFill>
                <a:latin typeface="BIZ UDPGothic" pitchFamily="34" charset="0"/>
                <a:ea typeface="BIZ UDPGothic" pitchFamily="34" charset="-122"/>
                <a:cs typeface="BIZ UDPGothic" pitchFamily="34" charset="-120"/>
              </a:rPr>
              <a:t>中核とプラグイン</a:t>
            </a:r>
            <a:endParaRPr lang="en-US" sz="900" dirty="0"/>
          </a:p>
        </p:txBody>
      </p:sp>
      <p:sp>
        <p:nvSpPr>
          <p:cNvPr id="19" name="Text 17"/>
          <p:cNvSpPr/>
          <p:nvPr/>
        </p:nvSpPr>
        <p:spPr>
          <a:xfrm>
            <a:off x="411480" y="3639312"/>
            <a:ext cx="2788920" cy="548640"/>
          </a:xfrm>
          <a:prstGeom prst="rect">
            <a:avLst/>
          </a:prstGeom>
          <a:noFill/>
          <a:ln/>
        </p:spPr>
        <p:txBody>
          <a:bodyPr wrap="square" lIns="0" tIns="0" rIns="0" bIns="0" rtlCol="0" anchor="t"/>
          <a:lstStyle/>
          <a:p>
            <a:pPr indent="0" marL="0">
              <a:buNone/>
            </a:pPr>
            <a:r>
              <a:rPr lang="en-US" sz="1050" dirty="0">
                <a:solidFill>
                  <a:srgbClr val="F5F1E8"/>
                </a:solidFill>
                <a:latin typeface="BIZ UDPGothic" pitchFamily="34" charset="0"/>
                <a:ea typeface="BIZ UDPGothic" pitchFamily="34" charset="-122"/>
                <a:cs typeface="BIZ UDPGothic" pitchFamily="34" charset="-120"/>
              </a:rPr>
              <a:t>中核は知識の識別・関係付け・検証。プラグインがデータベース・画面・実行先を担う</a:t>
            </a:r>
            <a:endParaRPr lang="en-US" sz="1050" dirty="0"/>
          </a:p>
        </p:txBody>
      </p:sp>
      <p:sp>
        <p:nvSpPr>
          <p:cNvPr id="20" name="Text 18"/>
          <p:cNvSpPr/>
          <p:nvPr/>
        </p:nvSpPr>
        <p:spPr>
          <a:xfrm>
            <a:off x="411480" y="4270248"/>
            <a:ext cx="2743200" cy="201168"/>
          </a:xfrm>
          <a:prstGeom prst="rect">
            <a:avLst/>
          </a:prstGeom>
          <a:noFill/>
          <a:ln/>
        </p:spPr>
        <p:txBody>
          <a:bodyPr wrap="square" lIns="0" tIns="0" rIns="0" bIns="0" rtlCol="0" anchor="t"/>
          <a:lstStyle/>
          <a:p>
            <a:pPr indent="0" marL="0">
              <a:buNone/>
            </a:pPr>
            <a:r>
              <a:rPr lang="en-US" sz="900" b="1" dirty="0">
                <a:solidFill>
                  <a:srgbClr val="A7B7A7"/>
                </a:solidFill>
                <a:latin typeface="BIZ UDPGothic" pitchFamily="34" charset="0"/>
                <a:ea typeface="BIZ UDPGothic" pitchFamily="34" charset="-122"/>
                <a:cs typeface="BIZ UDPGothic" pitchFamily="34" charset="-120"/>
              </a:rPr>
              <a:t>卦の像</a:t>
            </a:r>
            <a:endParaRPr lang="en-US" sz="900" dirty="0"/>
          </a:p>
        </p:txBody>
      </p:sp>
      <p:sp>
        <p:nvSpPr>
          <p:cNvPr id="21" name="Text 19"/>
          <p:cNvSpPr/>
          <p:nvPr/>
        </p:nvSpPr>
        <p:spPr>
          <a:xfrm>
            <a:off x="411480" y="4471416"/>
            <a:ext cx="2788920" cy="384048"/>
          </a:xfrm>
          <a:prstGeom prst="rect">
            <a:avLst/>
          </a:prstGeom>
          <a:noFill/>
          <a:ln/>
        </p:spPr>
        <p:txBody>
          <a:bodyPr wrap="square" lIns="0" tIns="0" rIns="0" bIns="0" rtlCol="0" anchor="t"/>
          <a:lstStyle/>
          <a:p>
            <a:pPr indent="0" marL="0">
              <a:buNone/>
            </a:pPr>
            <a:r>
              <a:rPr lang="en-US" sz="1050" dirty="0">
                <a:solidFill>
                  <a:srgbClr val="F5F1E8"/>
                </a:solidFill>
                <a:latin typeface="BIZ UDPGothic" pitchFamily="34" charset="0"/>
                <a:ea typeface="BIZ UDPGothic" pitchFamily="34" charset="-122"/>
                <a:cs typeface="BIZ UDPGothic" pitchFamily="34" charset="-120"/>
              </a:rPr>
              <a:t>鼎は食材を煮て新しい形に変える器。知識を形にする</a:t>
            </a:r>
            <a:endParaRPr lang="en-US" sz="1050" dirty="0"/>
          </a:p>
        </p:txBody>
      </p:sp>
      <p:sp>
        <p:nvSpPr>
          <p:cNvPr id="22" name="Shape 20"/>
          <p:cNvSpPr/>
          <p:nvPr/>
        </p:nvSpPr>
        <p:spPr>
          <a:xfrm>
            <a:off x="320040" y="5029200"/>
            <a:ext cx="2880360" cy="1600200"/>
          </a:xfrm>
          <a:prstGeom prst="rect">
            <a:avLst/>
          </a:prstGeom>
          <a:solidFill>
            <a:srgbClr val="000000">
              <a:alpha val="22000"/>
            </a:srgbClr>
          </a:solidFill>
          <a:ln/>
        </p:spPr>
      </p:sp>
      <p:sp>
        <p:nvSpPr>
          <p:cNvPr id="23" name="Text 21"/>
          <p:cNvSpPr/>
          <p:nvPr/>
        </p:nvSpPr>
        <p:spPr>
          <a:xfrm>
            <a:off x="457200" y="5120640"/>
            <a:ext cx="2651760" cy="201168"/>
          </a:xfrm>
          <a:prstGeom prst="rect">
            <a:avLst/>
          </a:prstGeom>
          <a:noFill/>
          <a:ln/>
        </p:spPr>
        <p:txBody>
          <a:bodyPr wrap="square" lIns="0" tIns="0" rIns="0" bIns="0" rtlCol="0" anchor="t"/>
          <a:lstStyle/>
          <a:p>
            <a:pPr indent="0" marL="0">
              <a:buNone/>
            </a:pPr>
            <a:r>
              <a:rPr lang="en-US" sz="900" b="1" dirty="0">
                <a:solidFill>
                  <a:srgbClr val="C4A06D"/>
                </a:solidFill>
                <a:latin typeface="BIZ UDPGothic" pitchFamily="34" charset="0"/>
                <a:ea typeface="BIZ UDPGothic" pitchFamily="34" charset="-122"/>
                <a:cs typeface="BIZ UDPGothic" pitchFamily="34" charset="-120"/>
              </a:rPr>
              <a:t>確認できていること</a:t>
            </a:r>
            <a:endParaRPr lang="en-US" sz="900" dirty="0"/>
          </a:p>
        </p:txBody>
      </p:sp>
      <p:sp>
        <p:nvSpPr>
          <p:cNvPr id="24" name="Text 22"/>
          <p:cNvSpPr/>
          <p:nvPr/>
        </p:nvSpPr>
        <p:spPr>
          <a:xfrm>
            <a:off x="457200" y="5321808"/>
            <a:ext cx="2651760" cy="566928"/>
          </a:xfrm>
          <a:prstGeom prst="rect">
            <a:avLst/>
          </a:prstGeom>
          <a:noFill/>
          <a:ln/>
        </p:spPr>
        <p:txBody>
          <a:bodyPr wrap="square" lIns="0" tIns="0" rIns="0" bIns="0" rtlCol="0" anchor="t"/>
          <a:lstStyle/>
          <a:p>
            <a:pPr indent="0" marL="0">
              <a:buNone/>
            </a:pPr>
            <a:r>
              <a:rPr lang="en-US" sz="1000" dirty="0">
                <a:solidFill>
                  <a:srgbClr val="F5F1E8"/>
                </a:solidFill>
                <a:latin typeface="BIZ UDPGothic" pitchFamily="34" charset="0"/>
                <a:ea typeface="BIZ UDPGothic" pitchFamily="34" charset="-122"/>
                <a:cs typeface="BIZ UDPGothic" pitchFamily="34" charset="-120"/>
              </a:rPr>
              <a:t>判定段階A・B・Cに合格（各時点の固定版）。全試験の自動検査が2026-10-12に成功</a:t>
            </a:r>
            <a:endParaRPr lang="en-US" sz="1000" dirty="0"/>
          </a:p>
        </p:txBody>
      </p:sp>
      <p:sp>
        <p:nvSpPr>
          <p:cNvPr id="25" name="Text 23"/>
          <p:cNvSpPr/>
          <p:nvPr/>
        </p:nvSpPr>
        <p:spPr>
          <a:xfrm>
            <a:off x="457200" y="5907024"/>
            <a:ext cx="2651760" cy="201168"/>
          </a:xfrm>
          <a:prstGeom prst="rect">
            <a:avLst/>
          </a:prstGeom>
          <a:noFill/>
          <a:ln/>
        </p:spPr>
        <p:txBody>
          <a:bodyPr wrap="square" lIns="0" tIns="0" rIns="0" bIns="0" rtlCol="0" anchor="t"/>
          <a:lstStyle/>
          <a:p>
            <a:pPr indent="0" marL="0">
              <a:buNone/>
            </a:pPr>
            <a:r>
              <a:rPr lang="en-US" sz="900" b="1" dirty="0">
                <a:solidFill>
                  <a:srgbClr val="E0A890"/>
                </a:solidFill>
                <a:latin typeface="BIZ UDPGothic" pitchFamily="34" charset="0"/>
                <a:ea typeface="BIZ UDPGothic" pitchFamily="34" charset="-122"/>
                <a:cs typeface="BIZ UDPGothic" pitchFamily="34" charset="-120"/>
              </a:rPr>
              <a:t>まだ確認していないこと</a:t>
            </a:r>
            <a:endParaRPr lang="en-US" sz="900" dirty="0"/>
          </a:p>
        </p:txBody>
      </p:sp>
      <p:sp>
        <p:nvSpPr>
          <p:cNvPr id="26" name="Text 24"/>
          <p:cNvSpPr/>
          <p:nvPr/>
        </p:nvSpPr>
        <p:spPr>
          <a:xfrm>
            <a:off x="457200" y="6108192"/>
            <a:ext cx="2651760" cy="475488"/>
          </a:xfrm>
          <a:prstGeom prst="rect">
            <a:avLst/>
          </a:prstGeom>
          <a:noFill/>
          <a:ln/>
        </p:spPr>
        <p:txBody>
          <a:bodyPr wrap="square" lIns="0" tIns="0" rIns="0" bIns="0" rtlCol="0" anchor="t"/>
          <a:lstStyle/>
          <a:p>
            <a:pPr indent="0" marL="0">
              <a:buNone/>
            </a:pPr>
            <a:r>
              <a:rPr lang="en-US" sz="1000" dirty="0">
                <a:solidFill>
                  <a:srgbClr val="F5F1E8"/>
                </a:solidFill>
                <a:latin typeface="BIZ UDPGothic" pitchFamily="34" charset="0"/>
                <a:ea typeface="BIZ UDPGothic" pitchFamily="34" charset="-122"/>
                <a:cs typeface="BIZ UDPGothic" pitchFamily="34" charset="-120"/>
              </a:rPr>
              <a:t>統合した編集環境、二つ目の実行先、実環境での外部接続</a:t>
            </a:r>
            <a:endParaRPr lang="en-US" sz="1000" dirty="0"/>
          </a:p>
        </p:txBody>
      </p:sp>
      <p:sp>
        <p:nvSpPr>
          <p:cNvPr id="27" name="Text 25"/>
          <p:cNvSpPr/>
          <p:nvPr/>
        </p:nvSpPr>
        <p:spPr>
          <a:xfrm>
            <a:off x="3886200" y="274320"/>
            <a:ext cx="780257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a:t>
            </a:r>
            <a:endParaRPr lang="en-US" sz="950" dirty="0"/>
          </a:p>
        </p:txBody>
      </p:sp>
      <p:sp>
        <p:nvSpPr>
          <p:cNvPr id="28" name="Text 26"/>
          <p:cNvSpPr/>
          <p:nvPr/>
        </p:nvSpPr>
        <p:spPr>
          <a:xfrm>
            <a:off x="3886200" y="530352"/>
            <a:ext cx="780257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分野の知識を、次の技術でも生かす</a:t>
            </a:r>
            <a:endParaRPr lang="en-US" sz="2500" dirty="0"/>
          </a:p>
        </p:txBody>
      </p:sp>
      <p:sp>
        <p:nvSpPr>
          <p:cNvPr id="29" name="Text 27"/>
          <p:cNvSpPr/>
          <p:nvPr/>
        </p:nvSpPr>
        <p:spPr>
          <a:xfrm>
            <a:off x="3886200" y="1097280"/>
            <a:ext cx="780257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業務の概念・関係・制約・例外・判断の理由を、画面やプログラムの都合で変えずに保つ。</a:t>
            </a:r>
            <a:endParaRPr lang="en-US" sz="1300" dirty="0"/>
          </a:p>
        </p:txBody>
      </p:sp>
      <p:sp>
        <p:nvSpPr>
          <p:cNvPr id="30" name="Text 28"/>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16</a:t>
            </a:r>
            <a:endParaRPr lang="en-US" sz="1000" dirty="0"/>
          </a:p>
        </p:txBody>
      </p:sp>
      <p:sp>
        <p:nvSpPr>
          <p:cNvPr id="31" name="Text 29"/>
          <p:cNvSpPr/>
          <p:nvPr/>
        </p:nvSpPr>
        <p:spPr>
          <a:xfrm>
            <a:off x="3886200" y="1600200"/>
            <a:ext cx="4572000" cy="256032"/>
          </a:xfrm>
          <a:prstGeom prst="rect">
            <a:avLst/>
          </a:prstGeom>
          <a:noFill/>
          <a:ln/>
        </p:spPr>
        <p:txBody>
          <a:bodyPr wrap="square" lIns="0" tIns="0" rIns="0" bIns="0" rtlCol="0" anchor="t"/>
          <a:lstStyle/>
          <a:p>
            <a:pPr indent="0" marL="0">
              <a:buNone/>
            </a:pPr>
            <a:r>
              <a:rPr lang="en-US" sz="1150" b="1" dirty="0">
                <a:solidFill>
                  <a:srgbClr val="5A5A86"/>
                </a:solidFill>
                <a:latin typeface="BIZ UDPGothic" pitchFamily="34" charset="0"/>
                <a:ea typeface="BIZ UDPGothic" pitchFamily="34" charset="-122"/>
                <a:cs typeface="BIZ UDPGothic" pitchFamily="34" charset="-120"/>
              </a:rPr>
              <a:t>TEIが大切にすること</a:t>
            </a:r>
            <a:endParaRPr lang="en-US" sz="1150" dirty="0"/>
          </a:p>
        </p:txBody>
      </p:sp>
      <p:sp>
        <p:nvSpPr>
          <p:cNvPr id="32" name="Shape 30"/>
          <p:cNvSpPr/>
          <p:nvPr/>
        </p:nvSpPr>
        <p:spPr>
          <a:xfrm>
            <a:off x="3886200" y="1901952"/>
            <a:ext cx="2478938" cy="777240"/>
          </a:xfrm>
          <a:prstGeom prst="rect">
            <a:avLst/>
          </a:prstGeom>
          <a:solidFill>
            <a:srgbClr val="FFFFFF"/>
          </a:solidFill>
          <a:ln w="9525">
            <a:solidFill>
              <a:srgbClr val="DCD5C6"/>
            </a:solidFill>
            <a:prstDash val="solid"/>
          </a:ln>
        </p:spPr>
      </p:sp>
      <p:sp>
        <p:nvSpPr>
          <p:cNvPr id="33" name="Text 31"/>
          <p:cNvSpPr/>
          <p:nvPr/>
        </p:nvSpPr>
        <p:spPr>
          <a:xfrm>
            <a:off x="4023360" y="1993392"/>
            <a:ext cx="2250338" cy="274320"/>
          </a:xfrm>
          <a:prstGeom prst="rect">
            <a:avLst/>
          </a:prstGeom>
          <a:noFill/>
          <a:ln/>
        </p:spPr>
        <p:txBody>
          <a:bodyPr wrap="square" lIns="0" tIns="0" rIns="0" bIns="0" rtlCol="0" anchor="t"/>
          <a:lstStyle/>
          <a:p>
            <a:pPr indent="0" marL="0">
              <a:buNone/>
            </a:pPr>
            <a:r>
              <a:rPr lang="en-US" sz="1250" b="1" dirty="0">
                <a:solidFill>
                  <a:srgbClr val="5A5A86"/>
                </a:solidFill>
                <a:latin typeface="BIZ UDPGothic" pitchFamily="34" charset="0"/>
                <a:ea typeface="BIZ UDPGothic" pitchFamily="34" charset="-122"/>
                <a:cs typeface="BIZ UDPGothic" pitchFamily="34" charset="-120"/>
              </a:rPr>
              <a:t>分野の知識を保つ</a:t>
            </a:r>
            <a:endParaRPr lang="en-US" sz="1250" dirty="0"/>
          </a:p>
        </p:txBody>
      </p:sp>
      <p:sp>
        <p:nvSpPr>
          <p:cNvPr id="34" name="Text 32"/>
          <p:cNvSpPr/>
          <p:nvPr/>
        </p:nvSpPr>
        <p:spPr>
          <a:xfrm>
            <a:off x="4023360" y="2304288"/>
            <a:ext cx="2250338" cy="320040"/>
          </a:xfrm>
          <a:prstGeom prst="rect">
            <a:avLst/>
          </a:prstGeom>
          <a:noFill/>
          <a:ln/>
        </p:spPr>
        <p:txBody>
          <a:bodyPr wrap="square" lIns="0" tIns="0" rIns="0" bIns="0" rtlCol="0" anchor="t"/>
          <a:lstStyle/>
          <a:p>
            <a:pPr indent="0" marL="0">
              <a:buNone/>
            </a:pPr>
            <a:r>
              <a:rPr lang="en-US" sz="1050" dirty="0">
                <a:solidFill>
                  <a:srgbClr val="56636E"/>
                </a:solidFill>
                <a:latin typeface="BIZ UDPGothic" pitchFamily="34" charset="0"/>
                <a:ea typeface="BIZ UDPGothic" pitchFamily="34" charset="-122"/>
                <a:cs typeface="BIZ UDPGothic" pitchFamily="34" charset="-120"/>
              </a:rPr>
              <a:t>案件固有のデータモデルも知識の一部</a:t>
            </a:r>
            <a:endParaRPr lang="en-US" sz="1050" dirty="0"/>
          </a:p>
        </p:txBody>
      </p:sp>
      <p:sp>
        <p:nvSpPr>
          <p:cNvPr id="35" name="Shape 33"/>
          <p:cNvSpPr/>
          <p:nvPr/>
        </p:nvSpPr>
        <p:spPr>
          <a:xfrm>
            <a:off x="6548018" y="1901952"/>
            <a:ext cx="2478938" cy="777240"/>
          </a:xfrm>
          <a:prstGeom prst="rect">
            <a:avLst/>
          </a:prstGeom>
          <a:solidFill>
            <a:srgbClr val="FFFFFF"/>
          </a:solidFill>
          <a:ln w="9525">
            <a:solidFill>
              <a:srgbClr val="DCD5C6"/>
            </a:solidFill>
            <a:prstDash val="solid"/>
          </a:ln>
        </p:spPr>
      </p:sp>
      <p:sp>
        <p:nvSpPr>
          <p:cNvPr id="36" name="Text 34"/>
          <p:cNvSpPr/>
          <p:nvPr/>
        </p:nvSpPr>
        <p:spPr>
          <a:xfrm>
            <a:off x="6685178" y="1993392"/>
            <a:ext cx="2250338" cy="274320"/>
          </a:xfrm>
          <a:prstGeom prst="rect">
            <a:avLst/>
          </a:prstGeom>
          <a:noFill/>
          <a:ln/>
        </p:spPr>
        <p:txBody>
          <a:bodyPr wrap="square" lIns="0" tIns="0" rIns="0" bIns="0" rtlCol="0" anchor="t"/>
          <a:lstStyle/>
          <a:p>
            <a:pPr indent="0" marL="0">
              <a:buNone/>
            </a:pPr>
            <a:r>
              <a:rPr lang="en-US" sz="1250" b="1" dirty="0">
                <a:solidFill>
                  <a:srgbClr val="5A5A86"/>
                </a:solidFill>
                <a:latin typeface="BIZ UDPGothic" pitchFamily="34" charset="0"/>
                <a:ea typeface="BIZ UDPGothic" pitchFamily="34" charset="-122"/>
                <a:cs typeface="BIZ UDPGothic" pitchFamily="34" charset="-120"/>
              </a:rPr>
              <a:t>一つの基準からたどる</a:t>
            </a:r>
            <a:endParaRPr lang="en-US" sz="1250" dirty="0"/>
          </a:p>
        </p:txBody>
      </p:sp>
      <p:sp>
        <p:nvSpPr>
          <p:cNvPr id="37" name="Text 35"/>
          <p:cNvSpPr/>
          <p:nvPr/>
        </p:nvSpPr>
        <p:spPr>
          <a:xfrm>
            <a:off x="6685178" y="2304288"/>
            <a:ext cx="2250338" cy="320040"/>
          </a:xfrm>
          <a:prstGeom prst="rect">
            <a:avLst/>
          </a:prstGeom>
          <a:noFill/>
          <a:ln/>
        </p:spPr>
        <p:txBody>
          <a:bodyPr wrap="square" lIns="0" tIns="0" rIns="0" bIns="0" rtlCol="0" anchor="t"/>
          <a:lstStyle/>
          <a:p>
            <a:pPr indent="0" marL="0">
              <a:buNone/>
            </a:pPr>
            <a:r>
              <a:rPr lang="en-US" sz="1050" dirty="0">
                <a:solidFill>
                  <a:srgbClr val="56636E"/>
                </a:solidFill>
                <a:latin typeface="BIZ UDPGothic" pitchFamily="34" charset="0"/>
                <a:ea typeface="BIZ UDPGothic" pitchFamily="34" charset="-122"/>
                <a:cs typeface="BIZ UDPGothic" pitchFamily="34" charset="-120"/>
              </a:rPr>
              <a:t>同じ関心事の意味は一つの正本に</a:t>
            </a:r>
            <a:endParaRPr lang="en-US" sz="1050" dirty="0"/>
          </a:p>
        </p:txBody>
      </p:sp>
      <p:sp>
        <p:nvSpPr>
          <p:cNvPr id="38" name="Shape 36"/>
          <p:cNvSpPr/>
          <p:nvPr/>
        </p:nvSpPr>
        <p:spPr>
          <a:xfrm>
            <a:off x="9209837" y="1901952"/>
            <a:ext cx="2478938" cy="777240"/>
          </a:xfrm>
          <a:prstGeom prst="rect">
            <a:avLst/>
          </a:prstGeom>
          <a:solidFill>
            <a:srgbClr val="FFFFFF"/>
          </a:solidFill>
          <a:ln w="9525">
            <a:solidFill>
              <a:srgbClr val="DCD5C6"/>
            </a:solidFill>
            <a:prstDash val="solid"/>
          </a:ln>
        </p:spPr>
      </p:sp>
      <p:sp>
        <p:nvSpPr>
          <p:cNvPr id="39" name="Text 37"/>
          <p:cNvSpPr/>
          <p:nvPr/>
        </p:nvSpPr>
        <p:spPr>
          <a:xfrm>
            <a:off x="9346997" y="1993392"/>
            <a:ext cx="2250338" cy="274320"/>
          </a:xfrm>
          <a:prstGeom prst="rect">
            <a:avLst/>
          </a:prstGeom>
          <a:noFill/>
          <a:ln/>
        </p:spPr>
        <p:txBody>
          <a:bodyPr wrap="square" lIns="0" tIns="0" rIns="0" bIns="0" rtlCol="0" anchor="t"/>
          <a:lstStyle/>
          <a:p>
            <a:pPr indent="0" marL="0">
              <a:buNone/>
            </a:pPr>
            <a:r>
              <a:rPr lang="en-US" sz="1250" b="1" dirty="0">
                <a:solidFill>
                  <a:srgbClr val="5A5A86"/>
                </a:solidFill>
                <a:latin typeface="BIZ UDPGothic" pitchFamily="34" charset="0"/>
                <a:ea typeface="BIZ UDPGothic" pitchFamily="34" charset="-122"/>
                <a:cs typeface="BIZ UDPGothic" pitchFamily="34" charset="-120"/>
              </a:rPr>
              <a:t>技術を選び直せる</a:t>
            </a:r>
            <a:endParaRPr lang="en-US" sz="1250" dirty="0"/>
          </a:p>
        </p:txBody>
      </p:sp>
      <p:sp>
        <p:nvSpPr>
          <p:cNvPr id="40" name="Text 38"/>
          <p:cNvSpPr/>
          <p:nvPr/>
        </p:nvSpPr>
        <p:spPr>
          <a:xfrm>
            <a:off x="9346997" y="2304288"/>
            <a:ext cx="2250338" cy="320040"/>
          </a:xfrm>
          <a:prstGeom prst="rect">
            <a:avLst/>
          </a:prstGeom>
          <a:noFill/>
          <a:ln/>
        </p:spPr>
        <p:txBody>
          <a:bodyPr wrap="square" lIns="0" tIns="0" rIns="0" bIns="0" rtlCol="0" anchor="t"/>
          <a:lstStyle/>
          <a:p>
            <a:pPr indent="0" marL="0">
              <a:buNone/>
            </a:pPr>
            <a:r>
              <a:rPr lang="en-US" sz="1050" dirty="0">
                <a:solidFill>
                  <a:srgbClr val="56636E"/>
                </a:solidFill>
                <a:latin typeface="BIZ UDPGothic" pitchFamily="34" charset="0"/>
                <a:ea typeface="BIZ UDPGothic" pitchFamily="34" charset="-122"/>
                <a:cs typeface="BIZ UDPGothic" pitchFamily="34" charset="-120"/>
              </a:rPr>
              <a:t>既存資産を生かして段階的に組み替え</a:t>
            </a:r>
            <a:endParaRPr lang="en-US" sz="1050" dirty="0"/>
          </a:p>
        </p:txBody>
      </p:sp>
      <p:sp>
        <p:nvSpPr>
          <p:cNvPr id="41" name="Shape 39"/>
          <p:cNvSpPr/>
          <p:nvPr/>
        </p:nvSpPr>
        <p:spPr>
          <a:xfrm>
            <a:off x="3886200" y="2770632"/>
            <a:ext cx="2478938" cy="777240"/>
          </a:xfrm>
          <a:prstGeom prst="rect">
            <a:avLst/>
          </a:prstGeom>
          <a:solidFill>
            <a:srgbClr val="5A5A86"/>
          </a:solidFill>
          <a:ln/>
        </p:spPr>
      </p:sp>
      <p:sp>
        <p:nvSpPr>
          <p:cNvPr id="42" name="Text 40"/>
          <p:cNvSpPr/>
          <p:nvPr/>
        </p:nvSpPr>
        <p:spPr>
          <a:xfrm>
            <a:off x="4023360" y="2862072"/>
            <a:ext cx="2250338" cy="274320"/>
          </a:xfrm>
          <a:prstGeom prst="rect">
            <a:avLst/>
          </a:prstGeom>
          <a:noFill/>
          <a:ln/>
        </p:spPr>
        <p:txBody>
          <a:bodyPr wrap="square" lIns="0" tIns="0" rIns="0" bIns="0" rtlCol="0" anchor="t"/>
          <a:lstStyle/>
          <a:p>
            <a:pPr indent="0" marL="0">
              <a:buNone/>
            </a:pPr>
            <a:r>
              <a:rPr lang="en-US" sz="1250" b="1" dirty="0">
                <a:solidFill>
                  <a:srgbClr val="F5F1E8"/>
                </a:solidFill>
                <a:latin typeface="BIZ UDPGothic" pitchFamily="34" charset="0"/>
                <a:ea typeface="BIZ UDPGothic" pitchFamily="34" charset="-122"/>
                <a:cs typeface="BIZ UDPGothic" pitchFamily="34" charset="-120"/>
              </a:rPr>
              <a:t>人とAIが共に設計する</a:t>
            </a:r>
            <a:endParaRPr lang="en-US" sz="1250" dirty="0"/>
          </a:p>
        </p:txBody>
      </p:sp>
      <p:sp>
        <p:nvSpPr>
          <p:cNvPr id="43" name="Text 41"/>
          <p:cNvSpPr/>
          <p:nvPr/>
        </p:nvSpPr>
        <p:spPr>
          <a:xfrm>
            <a:off x="4023360" y="3172968"/>
            <a:ext cx="2250338" cy="320040"/>
          </a:xfrm>
          <a:prstGeom prst="rect">
            <a:avLst/>
          </a:prstGeom>
          <a:noFill/>
          <a:ln/>
        </p:spPr>
        <p:txBody>
          <a:bodyPr wrap="square" lIns="0" tIns="0" rIns="0" bIns="0" rtlCol="0" anchor="t"/>
          <a:lstStyle/>
          <a:p>
            <a:pPr indent="0" marL="0">
              <a:buNone/>
            </a:pPr>
            <a:r>
              <a:rPr lang="en-US" sz="1050" dirty="0">
                <a:solidFill>
                  <a:srgbClr val="C9D3D9"/>
                </a:solidFill>
                <a:latin typeface="BIZ UDPGothic" pitchFamily="34" charset="0"/>
                <a:ea typeface="BIZ UDPGothic" pitchFamily="34" charset="-122"/>
                <a:cs typeface="BIZ UDPGothic" pitchFamily="34" charset="-120"/>
              </a:rPr>
              <a:t>人は意味と優先順位、AIは調査と変更案</a:t>
            </a:r>
            <a:endParaRPr lang="en-US" sz="1050" dirty="0"/>
          </a:p>
        </p:txBody>
      </p:sp>
      <p:sp>
        <p:nvSpPr>
          <p:cNvPr id="44" name="Shape 42"/>
          <p:cNvSpPr/>
          <p:nvPr/>
        </p:nvSpPr>
        <p:spPr>
          <a:xfrm>
            <a:off x="6548018" y="2770632"/>
            <a:ext cx="2478938" cy="777240"/>
          </a:xfrm>
          <a:prstGeom prst="rect">
            <a:avLst/>
          </a:prstGeom>
          <a:solidFill>
            <a:srgbClr val="FFFFFF"/>
          </a:solidFill>
          <a:ln w="9525">
            <a:solidFill>
              <a:srgbClr val="DCD5C6"/>
            </a:solidFill>
            <a:prstDash val="solid"/>
          </a:ln>
        </p:spPr>
      </p:sp>
      <p:sp>
        <p:nvSpPr>
          <p:cNvPr id="45" name="Text 43"/>
          <p:cNvSpPr/>
          <p:nvPr/>
        </p:nvSpPr>
        <p:spPr>
          <a:xfrm>
            <a:off x="6685178" y="2862072"/>
            <a:ext cx="2250338" cy="274320"/>
          </a:xfrm>
          <a:prstGeom prst="rect">
            <a:avLst/>
          </a:prstGeom>
          <a:noFill/>
          <a:ln/>
        </p:spPr>
        <p:txBody>
          <a:bodyPr wrap="square" lIns="0" tIns="0" rIns="0" bIns="0" rtlCol="0" anchor="t"/>
          <a:lstStyle/>
          <a:p>
            <a:pPr indent="0" marL="0">
              <a:buNone/>
            </a:pPr>
            <a:r>
              <a:rPr lang="en-US" sz="1250" b="1" dirty="0">
                <a:solidFill>
                  <a:srgbClr val="5A5A86"/>
                </a:solidFill>
                <a:latin typeface="BIZ UDPGothic" pitchFamily="34" charset="0"/>
                <a:ea typeface="BIZ UDPGothic" pitchFamily="34" charset="-122"/>
                <a:cs typeface="BIZ UDPGothic" pitchFamily="34" charset="-120"/>
              </a:rPr>
              <a:t>次の仕事へ生かす</a:t>
            </a:r>
            <a:endParaRPr lang="en-US" sz="1250" dirty="0"/>
          </a:p>
        </p:txBody>
      </p:sp>
      <p:sp>
        <p:nvSpPr>
          <p:cNvPr id="46" name="Text 44"/>
          <p:cNvSpPr/>
          <p:nvPr/>
        </p:nvSpPr>
        <p:spPr>
          <a:xfrm>
            <a:off x="6685178" y="3172968"/>
            <a:ext cx="2250338" cy="320040"/>
          </a:xfrm>
          <a:prstGeom prst="rect">
            <a:avLst/>
          </a:prstGeom>
          <a:noFill/>
          <a:ln/>
        </p:spPr>
        <p:txBody>
          <a:bodyPr wrap="square" lIns="0" tIns="0" rIns="0" bIns="0" rtlCol="0" anchor="t"/>
          <a:lstStyle/>
          <a:p>
            <a:pPr indent="0" marL="0">
              <a:buNone/>
            </a:pPr>
            <a:r>
              <a:rPr lang="en-US" sz="1050" dirty="0">
                <a:solidFill>
                  <a:srgbClr val="56636E"/>
                </a:solidFill>
                <a:latin typeface="BIZ UDPGothic" pitchFamily="34" charset="0"/>
                <a:ea typeface="BIZ UDPGothic" pitchFamily="34" charset="-122"/>
                <a:cs typeface="BIZ UDPGothic" pitchFamily="34" charset="-120"/>
              </a:rPr>
              <a:t>個人の経験を組織の資産へつなぐ</a:t>
            </a:r>
            <a:endParaRPr lang="en-US" sz="1050" dirty="0"/>
          </a:p>
        </p:txBody>
      </p:sp>
      <p:sp>
        <p:nvSpPr>
          <p:cNvPr id="47" name="Shape 45"/>
          <p:cNvSpPr/>
          <p:nvPr/>
        </p:nvSpPr>
        <p:spPr>
          <a:xfrm>
            <a:off x="9209837" y="2770632"/>
            <a:ext cx="2478938" cy="777240"/>
          </a:xfrm>
          <a:prstGeom prst="rect">
            <a:avLst/>
          </a:prstGeom>
          <a:solidFill>
            <a:srgbClr val="FFFFFF"/>
          </a:solidFill>
          <a:ln w="9525">
            <a:solidFill>
              <a:srgbClr val="DCD5C6"/>
            </a:solidFill>
            <a:prstDash val="solid"/>
          </a:ln>
        </p:spPr>
      </p:sp>
      <p:sp>
        <p:nvSpPr>
          <p:cNvPr id="48" name="Text 46"/>
          <p:cNvSpPr/>
          <p:nvPr/>
        </p:nvSpPr>
        <p:spPr>
          <a:xfrm>
            <a:off x="9346997" y="2862072"/>
            <a:ext cx="2250338" cy="274320"/>
          </a:xfrm>
          <a:prstGeom prst="rect">
            <a:avLst/>
          </a:prstGeom>
          <a:noFill/>
          <a:ln/>
        </p:spPr>
        <p:txBody>
          <a:bodyPr wrap="square" lIns="0" tIns="0" rIns="0" bIns="0" rtlCol="0" anchor="t"/>
          <a:lstStyle/>
          <a:p>
            <a:pPr indent="0" marL="0">
              <a:buNone/>
            </a:pPr>
            <a:r>
              <a:rPr lang="en-US" sz="1250" b="1" dirty="0">
                <a:solidFill>
                  <a:srgbClr val="5A5A86"/>
                </a:solidFill>
                <a:latin typeface="BIZ UDPGothic" pitchFamily="34" charset="0"/>
                <a:ea typeface="BIZ UDPGothic" pitchFamily="34" charset="-122"/>
                <a:cs typeface="BIZ UDPGothic" pitchFamily="34" charset="-120"/>
              </a:rPr>
              <a:t>実行と状態を結ぶ</a:t>
            </a:r>
            <a:endParaRPr lang="en-US" sz="1250" dirty="0"/>
          </a:p>
        </p:txBody>
      </p:sp>
      <p:sp>
        <p:nvSpPr>
          <p:cNvPr id="49" name="Text 47"/>
          <p:cNvSpPr/>
          <p:nvPr/>
        </p:nvSpPr>
        <p:spPr>
          <a:xfrm>
            <a:off x="9346997" y="3172968"/>
            <a:ext cx="2250338" cy="320040"/>
          </a:xfrm>
          <a:prstGeom prst="rect">
            <a:avLst/>
          </a:prstGeom>
          <a:noFill/>
          <a:ln/>
        </p:spPr>
        <p:txBody>
          <a:bodyPr wrap="square" lIns="0" tIns="0" rIns="0" bIns="0" rtlCol="0" anchor="t"/>
          <a:lstStyle/>
          <a:p>
            <a:pPr indent="0" marL="0">
              <a:buNone/>
            </a:pPr>
            <a:r>
              <a:rPr lang="en-US" sz="1050" dirty="0">
                <a:solidFill>
                  <a:srgbClr val="56636E"/>
                </a:solidFill>
                <a:latin typeface="BIZ UDPGothic" pitchFamily="34" charset="0"/>
                <a:ea typeface="BIZ UDPGothic" pitchFamily="34" charset="-122"/>
                <a:cs typeface="BIZ UDPGothic" pitchFamily="34" charset="-120"/>
              </a:rPr>
              <a:t>受付・処理結果・外部の状態を区別</a:t>
            </a:r>
            <a:endParaRPr lang="en-US" sz="1050" dirty="0"/>
          </a:p>
        </p:txBody>
      </p:sp>
      <p:sp>
        <p:nvSpPr>
          <p:cNvPr id="50" name="Text 48"/>
          <p:cNvSpPr/>
          <p:nvPr/>
        </p:nvSpPr>
        <p:spPr>
          <a:xfrm>
            <a:off x="3886200" y="3749040"/>
            <a:ext cx="4572000" cy="256032"/>
          </a:xfrm>
          <a:prstGeom prst="rect">
            <a:avLst/>
          </a:prstGeom>
          <a:noFill/>
          <a:ln/>
        </p:spPr>
        <p:txBody>
          <a:bodyPr wrap="square" lIns="0" tIns="0" rIns="0" bIns="0" rtlCol="0" anchor="t"/>
          <a:lstStyle/>
          <a:p>
            <a:pPr indent="0" marL="0">
              <a:buNone/>
            </a:pPr>
            <a:r>
              <a:rPr lang="en-US" sz="1150" b="1" dirty="0">
                <a:solidFill>
                  <a:srgbClr val="5A5A86"/>
                </a:solidFill>
                <a:latin typeface="BIZ UDPGothic" pitchFamily="34" charset="0"/>
                <a:ea typeface="BIZ UDPGothic" pitchFamily="34" charset="-122"/>
                <a:cs typeface="BIZ UDPGothic" pitchFamily="34" charset="-120"/>
              </a:rPr>
              <a:t>将来像の例｜長年使う受注システム</a:t>
            </a:r>
            <a:endParaRPr lang="en-US" sz="1150" dirty="0"/>
          </a:p>
        </p:txBody>
      </p:sp>
      <p:sp>
        <p:nvSpPr>
          <p:cNvPr id="51" name="Text 49"/>
          <p:cNvSpPr/>
          <p:nvPr/>
        </p:nvSpPr>
        <p:spPr>
          <a:xfrm>
            <a:off x="3886200" y="4023360"/>
            <a:ext cx="7802575" cy="274320"/>
          </a:xfrm>
          <a:prstGeom prst="rect">
            <a:avLst/>
          </a:prstGeom>
          <a:noFill/>
          <a:ln/>
        </p:spPr>
        <p:txBody>
          <a:bodyPr wrap="square" lIns="0" tIns="0" rIns="0" bIns="0" rtlCol="0" anchor="t"/>
          <a:lstStyle/>
          <a:p>
            <a:pPr indent="0" marL="0">
              <a:buNone/>
            </a:pPr>
            <a:r>
              <a:rPr lang="en-US" sz="1150" dirty="0">
                <a:solidFill>
                  <a:srgbClr val="56636E"/>
                </a:solidFill>
                <a:latin typeface="BIZ UDPGothic" pitchFamily="34" charset="0"/>
                <a:ea typeface="BIZ UDPGothic" pitchFamily="34" charset="-122"/>
                <a:cs typeface="BIZ UDPGothic" pitchFamily="34" charset="-120"/>
              </a:rPr>
              <a:t>業務を知る担当者が異動し、画面技術を刷新し、問い合わせの一部をAIエージェントへ任せる。</a:t>
            </a:r>
            <a:endParaRPr lang="en-US" sz="1150" dirty="0"/>
          </a:p>
        </p:txBody>
      </p:sp>
      <p:sp>
        <p:nvSpPr>
          <p:cNvPr id="52" name="Shape 50"/>
          <p:cNvSpPr/>
          <p:nvPr/>
        </p:nvSpPr>
        <p:spPr>
          <a:xfrm>
            <a:off x="3886200" y="4389120"/>
            <a:ext cx="822960" cy="384048"/>
          </a:xfrm>
          <a:prstGeom prst="rect">
            <a:avLst/>
          </a:prstGeom>
          <a:solidFill>
            <a:srgbClr val="789FB6"/>
          </a:solidFill>
          <a:ln/>
        </p:spPr>
      </p:sp>
      <p:sp>
        <p:nvSpPr>
          <p:cNvPr id="53" name="Text 51"/>
          <p:cNvSpPr/>
          <p:nvPr/>
        </p:nvSpPr>
        <p:spPr>
          <a:xfrm>
            <a:off x="3886200" y="4389120"/>
            <a:ext cx="8229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BIZ UDPGothic" pitchFamily="34" charset="0"/>
                <a:ea typeface="BIZ UDPGothic" pitchFamily="34" charset="-122"/>
                <a:cs typeface="BIZ UDPGothic" pitchFamily="34" charset="-120"/>
              </a:rPr>
              <a:t>個人</a:t>
            </a:r>
            <a:endParaRPr lang="en-US" sz="1200" dirty="0"/>
          </a:p>
        </p:txBody>
      </p:sp>
      <p:sp>
        <p:nvSpPr>
          <p:cNvPr id="54" name="Shape 52"/>
          <p:cNvSpPr/>
          <p:nvPr/>
        </p:nvSpPr>
        <p:spPr>
          <a:xfrm>
            <a:off x="4709160" y="4389120"/>
            <a:ext cx="6979615" cy="384048"/>
          </a:xfrm>
          <a:prstGeom prst="rect">
            <a:avLst/>
          </a:prstGeom>
          <a:solidFill>
            <a:srgbClr val="FFFFFF"/>
          </a:solidFill>
          <a:ln w="9525">
            <a:solidFill>
              <a:srgbClr val="DCD5C6"/>
            </a:solidFill>
            <a:prstDash val="solid"/>
          </a:ln>
        </p:spPr>
      </p:sp>
      <p:sp>
        <p:nvSpPr>
          <p:cNvPr id="55" name="Text 53"/>
          <p:cNvSpPr/>
          <p:nvPr/>
        </p:nvSpPr>
        <p:spPr>
          <a:xfrm>
            <a:off x="4846320" y="4389120"/>
            <a:ext cx="6751015" cy="384048"/>
          </a:xfrm>
          <a:prstGeom prst="rect">
            <a:avLst/>
          </a:prstGeom>
          <a:noFill/>
          <a:ln/>
        </p:spPr>
        <p:txBody>
          <a:bodyPr wrap="square" lIns="0" tIns="0" rIns="0" bIns="0" rtlCol="0" anchor="ct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後任者は判断の理由、例外、未解決の点を設計情報から確かめられる</a:t>
            </a:r>
            <a:endParaRPr lang="en-US" sz="1150" dirty="0"/>
          </a:p>
        </p:txBody>
      </p:sp>
      <p:sp>
        <p:nvSpPr>
          <p:cNvPr id="56" name="Shape 54"/>
          <p:cNvSpPr/>
          <p:nvPr/>
        </p:nvSpPr>
        <p:spPr>
          <a:xfrm>
            <a:off x="3886200" y="4846320"/>
            <a:ext cx="822960" cy="384048"/>
          </a:xfrm>
          <a:prstGeom prst="rect">
            <a:avLst/>
          </a:prstGeom>
          <a:solidFill>
            <a:srgbClr val="6E8670"/>
          </a:solidFill>
          <a:ln/>
        </p:spPr>
      </p:sp>
      <p:sp>
        <p:nvSpPr>
          <p:cNvPr id="57" name="Text 55"/>
          <p:cNvSpPr/>
          <p:nvPr/>
        </p:nvSpPr>
        <p:spPr>
          <a:xfrm>
            <a:off x="3886200" y="4846320"/>
            <a:ext cx="8229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BIZ UDPGothic" pitchFamily="34" charset="0"/>
                <a:ea typeface="BIZ UDPGothic" pitchFamily="34" charset="-122"/>
                <a:cs typeface="BIZ UDPGothic" pitchFamily="34" charset="-120"/>
              </a:rPr>
              <a:t>組織</a:t>
            </a:r>
            <a:endParaRPr lang="en-US" sz="1200" dirty="0"/>
          </a:p>
        </p:txBody>
      </p:sp>
      <p:sp>
        <p:nvSpPr>
          <p:cNvPr id="58" name="Shape 56"/>
          <p:cNvSpPr/>
          <p:nvPr/>
        </p:nvSpPr>
        <p:spPr>
          <a:xfrm>
            <a:off x="4709160" y="4846320"/>
            <a:ext cx="6979615" cy="384048"/>
          </a:xfrm>
          <a:prstGeom prst="rect">
            <a:avLst/>
          </a:prstGeom>
          <a:solidFill>
            <a:srgbClr val="FFFFFF"/>
          </a:solidFill>
          <a:ln w="9525">
            <a:solidFill>
              <a:srgbClr val="DCD5C6"/>
            </a:solidFill>
            <a:prstDash val="solid"/>
          </a:ln>
        </p:spPr>
      </p:sp>
      <p:sp>
        <p:nvSpPr>
          <p:cNvPr id="59" name="Text 57"/>
          <p:cNvSpPr/>
          <p:nvPr/>
        </p:nvSpPr>
        <p:spPr>
          <a:xfrm>
            <a:off x="4846320" y="4846320"/>
            <a:ext cx="6751015" cy="384048"/>
          </a:xfrm>
          <a:prstGeom prst="rect">
            <a:avLst/>
          </a:prstGeom>
          <a:noFill/>
          <a:ln/>
        </p:spPr>
        <p:txBody>
          <a:bodyPr wrap="square" lIns="0" tIns="0" rIns="0" bIns="0" rtlCol="0" anchor="ct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画面を刷新しても、同じ業務上の意味から新しい実行先を組み立てる</a:t>
            </a:r>
            <a:endParaRPr lang="en-US" sz="1150" dirty="0"/>
          </a:p>
        </p:txBody>
      </p:sp>
      <p:sp>
        <p:nvSpPr>
          <p:cNvPr id="60" name="Shape 58"/>
          <p:cNvSpPr/>
          <p:nvPr/>
        </p:nvSpPr>
        <p:spPr>
          <a:xfrm>
            <a:off x="3886200" y="5303520"/>
            <a:ext cx="822960" cy="384048"/>
          </a:xfrm>
          <a:prstGeom prst="rect">
            <a:avLst/>
          </a:prstGeom>
          <a:solidFill>
            <a:srgbClr val="C4A06D"/>
          </a:solidFill>
          <a:ln/>
        </p:spPr>
      </p:sp>
      <p:sp>
        <p:nvSpPr>
          <p:cNvPr id="61" name="Text 59"/>
          <p:cNvSpPr/>
          <p:nvPr/>
        </p:nvSpPr>
        <p:spPr>
          <a:xfrm>
            <a:off x="3886200" y="5303520"/>
            <a:ext cx="8229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BIZ UDPGothic" pitchFamily="34" charset="0"/>
                <a:ea typeface="BIZ UDPGothic" pitchFamily="34" charset="-122"/>
                <a:cs typeface="BIZ UDPGothic" pitchFamily="34" charset="-120"/>
              </a:rPr>
              <a:t>社会</a:t>
            </a:r>
            <a:endParaRPr lang="en-US" sz="1200" dirty="0"/>
          </a:p>
        </p:txBody>
      </p:sp>
      <p:sp>
        <p:nvSpPr>
          <p:cNvPr id="62" name="Shape 60"/>
          <p:cNvSpPr/>
          <p:nvPr/>
        </p:nvSpPr>
        <p:spPr>
          <a:xfrm>
            <a:off x="4709160" y="5303520"/>
            <a:ext cx="6979615" cy="384048"/>
          </a:xfrm>
          <a:prstGeom prst="rect">
            <a:avLst/>
          </a:prstGeom>
          <a:solidFill>
            <a:srgbClr val="FFFFFF"/>
          </a:solidFill>
          <a:ln w="9525">
            <a:solidFill>
              <a:srgbClr val="DCD5C6"/>
            </a:solidFill>
            <a:prstDash val="solid"/>
          </a:ln>
        </p:spPr>
      </p:sp>
      <p:sp>
        <p:nvSpPr>
          <p:cNvPr id="63" name="Text 61"/>
          <p:cNvSpPr/>
          <p:nvPr/>
        </p:nvSpPr>
        <p:spPr>
          <a:xfrm>
            <a:off x="4846320" y="5303520"/>
            <a:ext cx="6751015" cy="384048"/>
          </a:xfrm>
          <a:prstGeom prst="rect">
            <a:avLst/>
          </a:prstGeom>
          <a:noFill/>
          <a:ln/>
        </p:spPr>
        <p:txBody>
          <a:bodyPr wrap="square" lIns="0" tIns="0" rIns="0" bIns="0" rtlCol="0" anchor="ct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利用者や監査を担う人に、判断・承認・実行の根拠を示せる</a:t>
            </a:r>
            <a:endParaRPr lang="en-US" sz="1150" dirty="0"/>
          </a:p>
        </p:txBody>
      </p:sp>
      <p:sp>
        <p:nvSpPr>
          <p:cNvPr id="64" name="Shape 62"/>
          <p:cNvSpPr/>
          <p:nvPr/>
        </p:nvSpPr>
        <p:spPr>
          <a:xfrm>
            <a:off x="3886200" y="5852160"/>
            <a:ext cx="7802575" cy="457200"/>
          </a:xfrm>
          <a:prstGeom prst="rect">
            <a:avLst/>
          </a:prstGeom>
          <a:solidFill>
            <a:srgbClr val="243D54"/>
          </a:solidFill>
          <a:ln/>
        </p:spPr>
      </p:sp>
      <p:sp>
        <p:nvSpPr>
          <p:cNvPr id="65" name="Shape 63"/>
          <p:cNvSpPr/>
          <p:nvPr/>
        </p:nvSpPr>
        <p:spPr>
          <a:xfrm>
            <a:off x="3886200" y="5852160"/>
            <a:ext cx="64008" cy="457200"/>
          </a:xfrm>
          <a:prstGeom prst="rect">
            <a:avLst/>
          </a:prstGeom>
          <a:solidFill>
            <a:srgbClr val="C4A06D"/>
          </a:solidFill>
          <a:ln/>
        </p:spPr>
      </p:sp>
      <p:sp>
        <p:nvSpPr>
          <p:cNvPr id="66" name="Text 64"/>
          <p:cNvSpPr/>
          <p:nvPr/>
        </p:nvSpPr>
        <p:spPr>
          <a:xfrm>
            <a:off x="4114800" y="5852160"/>
            <a:ext cx="7482535" cy="457200"/>
          </a:xfrm>
          <a:prstGeom prst="rect">
            <a:avLst/>
          </a:prstGeom>
          <a:noFill/>
          <a:ln/>
        </p:spPr>
        <p:txBody>
          <a:bodyPr wrap="square" lIns="0" tIns="0" rIns="0" bIns="0" rtlCol="0" anchor="ctr"/>
          <a:lstStyle/>
          <a:p>
            <a:pPr indent="0" marL="0">
              <a:buNone/>
            </a:pPr>
            <a:r>
              <a:rPr lang="en-US" sz="1300" b="1" dirty="0">
                <a:solidFill>
                  <a:srgbClr val="F5F1E8"/>
                </a:solidFill>
                <a:latin typeface="BIZ UDPGothic" pitchFamily="34" charset="0"/>
                <a:ea typeface="BIZ UDPGothic" pitchFamily="34" charset="-122"/>
                <a:cs typeface="BIZ UDPGothic" pitchFamily="34" charset="-120"/>
              </a:rPr>
              <a:t>AIエージェントは明示された範囲の操作を担う。知識を読めることと、実行の権限は別に扱う。</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274320"/>
            <a:ext cx="1118585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5A5A86"/>
                </a:solidFill>
                <a:latin typeface="BIZ UDPGothic" pitchFamily="34" charset="0"/>
                <a:ea typeface="BIZ UDPGothic" pitchFamily="34" charset="-122"/>
                <a:cs typeface="BIZ UDPGothic" pitchFamily="34" charset="-120"/>
              </a:rPr>
              <a:t>   製品｜TEI Platform</a:t>
            </a:r>
            <a:endParaRPr lang="en-US" sz="950" dirty="0"/>
          </a:p>
        </p:txBody>
      </p:sp>
      <p:sp>
        <p:nvSpPr>
          <p:cNvPr id="3" name="Text 1"/>
          <p:cNvSpPr/>
          <p:nvPr/>
        </p:nvSpPr>
        <p:spPr>
          <a:xfrm>
            <a:off x="502920" y="530352"/>
            <a:ext cx="1118585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設計情報から、実装・実行・観測までをつなぐ</a:t>
            </a:r>
            <a:endParaRPr lang="en-US" sz="2500" dirty="0"/>
          </a:p>
        </p:txBody>
      </p:sp>
      <p:sp>
        <p:nvSpPr>
          <p:cNvPr id="4" name="Text 2"/>
          <p:cNvSpPr/>
          <p:nvPr/>
        </p:nvSpPr>
        <p:spPr>
          <a:xfrm>
            <a:off x="502920" y="1097280"/>
            <a:ext cx="1118585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人と生成AIが同じ設計情報を読み書きし、そこから画面・処理・検証・実行に必要なものを組み立てる。</a:t>
            </a:r>
            <a:endParaRPr lang="en-US" sz="1300" dirty="0"/>
          </a:p>
        </p:txBody>
      </p:sp>
      <p:sp>
        <p:nvSpPr>
          <p:cNvPr id="5" name="Text 3"/>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17</a:t>
            </a:r>
            <a:endParaRPr lang="en-US" sz="1000" dirty="0"/>
          </a:p>
        </p:txBody>
      </p:sp>
      <p:sp>
        <p:nvSpPr>
          <p:cNvPr id="6" name="Text 4"/>
          <p:cNvSpPr/>
          <p:nvPr/>
        </p:nvSpPr>
        <p:spPr>
          <a:xfrm>
            <a:off x="502920" y="1572768"/>
            <a:ext cx="5486400" cy="256032"/>
          </a:xfrm>
          <a:prstGeom prst="rect">
            <a:avLst/>
          </a:prstGeom>
          <a:noFill/>
          <a:ln/>
        </p:spPr>
        <p:txBody>
          <a:bodyPr wrap="square" lIns="0" tIns="0" rIns="0" bIns="0" rtlCol="0" anchor="t"/>
          <a:lstStyle/>
          <a:p>
            <a:pPr indent="0" marL="0">
              <a:buNone/>
            </a:pPr>
            <a:r>
              <a:rPr lang="en-US" sz="1150" b="1" dirty="0">
                <a:solidFill>
                  <a:srgbClr val="5A5A86"/>
                </a:solidFill>
                <a:latin typeface="BIZ UDPGothic" pitchFamily="34" charset="0"/>
                <a:ea typeface="BIZ UDPGothic" pitchFamily="34" charset="-122"/>
                <a:cs typeface="BIZ UDPGothic" pitchFamily="34" charset="-120"/>
              </a:rPr>
              <a:t>成熟したTEIでの開発の流れ（将来像）</a:t>
            </a:r>
            <a:endParaRPr lang="en-US" sz="1150" dirty="0"/>
          </a:p>
        </p:txBody>
      </p:sp>
      <p:sp>
        <p:nvSpPr>
          <p:cNvPr id="7" name="Shape 5"/>
          <p:cNvSpPr/>
          <p:nvPr/>
        </p:nvSpPr>
        <p:spPr>
          <a:xfrm>
            <a:off x="502920" y="1856232"/>
            <a:ext cx="1711909" cy="868680"/>
          </a:xfrm>
          <a:prstGeom prst="rect">
            <a:avLst/>
          </a:prstGeom>
          <a:solidFill>
            <a:srgbClr val="FFFFFF"/>
          </a:solidFill>
          <a:ln w="9525">
            <a:solidFill>
              <a:srgbClr val="DCD5C6"/>
            </a:solidFill>
            <a:prstDash val="solid"/>
          </a:ln>
        </p:spPr>
      </p:sp>
      <p:sp>
        <p:nvSpPr>
          <p:cNvPr id="8" name="Shape 6"/>
          <p:cNvSpPr/>
          <p:nvPr/>
        </p:nvSpPr>
        <p:spPr>
          <a:xfrm>
            <a:off x="502920" y="1856232"/>
            <a:ext cx="1711909" cy="45720"/>
          </a:xfrm>
          <a:prstGeom prst="rect">
            <a:avLst/>
          </a:prstGeom>
          <a:solidFill>
            <a:srgbClr val="5A5A86"/>
          </a:solidFill>
          <a:ln/>
        </p:spPr>
      </p:sp>
      <p:sp>
        <p:nvSpPr>
          <p:cNvPr id="9" name="Text 7"/>
          <p:cNvSpPr/>
          <p:nvPr/>
        </p:nvSpPr>
        <p:spPr>
          <a:xfrm>
            <a:off x="557784" y="1929384"/>
            <a:ext cx="1602181" cy="390906"/>
          </a:xfrm>
          <a:prstGeom prst="rect">
            <a:avLst/>
          </a:prstGeom>
          <a:noFill/>
          <a:ln/>
        </p:spPr>
        <p:txBody>
          <a:bodyPr wrap="square" lIns="0" tIns="0" rIns="0" bIns="0" rtlCol="0" anchor="ctr"/>
          <a:lstStyle/>
          <a:p>
            <a:pPr algn="ctr" indent="0" marL="0">
              <a:buNone/>
            </a:pPr>
            <a:r>
              <a:rPr lang="en-US" sz="1300" b="1" dirty="0">
                <a:solidFill>
                  <a:srgbClr val="243D54"/>
                </a:solidFill>
                <a:latin typeface="BIZ UDPGothic" pitchFamily="34" charset="0"/>
                <a:ea typeface="BIZ UDPGothic" pitchFamily="34" charset="-122"/>
                <a:cs typeface="BIZ UDPGothic" pitchFamily="34" charset="-120"/>
              </a:rPr>
              <a:t>知識を整理</a:t>
            </a:r>
            <a:endParaRPr lang="en-US" sz="1300" dirty="0"/>
          </a:p>
        </p:txBody>
      </p:sp>
      <p:sp>
        <p:nvSpPr>
          <p:cNvPr id="10" name="Text 8"/>
          <p:cNvSpPr/>
          <p:nvPr/>
        </p:nvSpPr>
        <p:spPr>
          <a:xfrm>
            <a:off x="557784" y="2290572"/>
            <a:ext cx="1602181" cy="399593"/>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要求や既存システムから</a:t>
            </a:r>
            <a:endParaRPr lang="en-US" sz="1000" dirty="0"/>
          </a:p>
        </p:txBody>
      </p:sp>
      <p:sp>
        <p:nvSpPr>
          <p:cNvPr id="11" name="Shape 9"/>
          <p:cNvSpPr/>
          <p:nvPr/>
        </p:nvSpPr>
        <p:spPr>
          <a:xfrm>
            <a:off x="2242261" y="2290572"/>
            <a:ext cx="128016" cy="0"/>
          </a:xfrm>
          <a:prstGeom prst="line">
            <a:avLst/>
          </a:prstGeom>
          <a:noFill/>
          <a:ln w="19050">
            <a:solidFill>
              <a:srgbClr val="5A5A86"/>
            </a:solidFill>
            <a:prstDash val="solid"/>
            <a:tailEnd type="triangle"/>
          </a:ln>
        </p:spPr>
      </p:sp>
      <p:sp>
        <p:nvSpPr>
          <p:cNvPr id="12" name="Shape 10"/>
          <p:cNvSpPr/>
          <p:nvPr/>
        </p:nvSpPr>
        <p:spPr>
          <a:xfrm>
            <a:off x="2397709" y="1856232"/>
            <a:ext cx="1711909" cy="868680"/>
          </a:xfrm>
          <a:prstGeom prst="rect">
            <a:avLst/>
          </a:prstGeom>
          <a:solidFill>
            <a:srgbClr val="FFFFFF"/>
          </a:solidFill>
          <a:ln w="9525">
            <a:solidFill>
              <a:srgbClr val="DCD5C6"/>
            </a:solidFill>
            <a:prstDash val="solid"/>
          </a:ln>
        </p:spPr>
      </p:sp>
      <p:sp>
        <p:nvSpPr>
          <p:cNvPr id="13" name="Shape 11"/>
          <p:cNvSpPr/>
          <p:nvPr/>
        </p:nvSpPr>
        <p:spPr>
          <a:xfrm>
            <a:off x="2397709" y="1856232"/>
            <a:ext cx="1711909" cy="45720"/>
          </a:xfrm>
          <a:prstGeom prst="rect">
            <a:avLst/>
          </a:prstGeom>
          <a:solidFill>
            <a:srgbClr val="5A5A86"/>
          </a:solidFill>
          <a:ln/>
        </p:spPr>
      </p:sp>
      <p:sp>
        <p:nvSpPr>
          <p:cNvPr id="14" name="Text 12"/>
          <p:cNvSpPr/>
          <p:nvPr/>
        </p:nvSpPr>
        <p:spPr>
          <a:xfrm>
            <a:off x="2452573" y="1929384"/>
            <a:ext cx="1602181" cy="390906"/>
          </a:xfrm>
          <a:prstGeom prst="rect">
            <a:avLst/>
          </a:prstGeom>
          <a:noFill/>
          <a:ln/>
        </p:spPr>
        <p:txBody>
          <a:bodyPr wrap="square" lIns="0" tIns="0" rIns="0" bIns="0" rtlCol="0" anchor="ctr"/>
          <a:lstStyle/>
          <a:p>
            <a:pPr algn="ctr" indent="0" marL="0">
              <a:buNone/>
            </a:pPr>
            <a:r>
              <a:rPr lang="en-US" sz="1300" b="1" dirty="0">
                <a:solidFill>
                  <a:srgbClr val="243D54"/>
                </a:solidFill>
                <a:latin typeface="BIZ UDPGothic" pitchFamily="34" charset="0"/>
                <a:ea typeface="BIZ UDPGothic" pitchFamily="34" charset="-122"/>
                <a:cs typeface="BIZ UDPGothic" pitchFamily="34" charset="-120"/>
              </a:rPr>
              <a:t>部品を再利用</a:t>
            </a:r>
            <a:endParaRPr lang="en-US" sz="1300" dirty="0"/>
          </a:p>
        </p:txBody>
      </p:sp>
      <p:sp>
        <p:nvSpPr>
          <p:cNvPr id="15" name="Text 13"/>
          <p:cNvSpPr/>
          <p:nvPr/>
        </p:nvSpPr>
        <p:spPr>
          <a:xfrm>
            <a:off x="2452573" y="2290572"/>
            <a:ext cx="1602181" cy="399593"/>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既存の型と設計</a:t>
            </a:r>
            <a:endParaRPr lang="en-US" sz="1000" dirty="0"/>
          </a:p>
        </p:txBody>
      </p:sp>
      <p:sp>
        <p:nvSpPr>
          <p:cNvPr id="16" name="Shape 14"/>
          <p:cNvSpPr/>
          <p:nvPr/>
        </p:nvSpPr>
        <p:spPr>
          <a:xfrm>
            <a:off x="4137050" y="2290572"/>
            <a:ext cx="128016" cy="0"/>
          </a:xfrm>
          <a:prstGeom prst="line">
            <a:avLst/>
          </a:prstGeom>
          <a:noFill/>
          <a:ln w="19050">
            <a:solidFill>
              <a:srgbClr val="5A5A86"/>
            </a:solidFill>
            <a:prstDash val="solid"/>
            <a:tailEnd type="triangle"/>
          </a:ln>
        </p:spPr>
      </p:sp>
      <p:sp>
        <p:nvSpPr>
          <p:cNvPr id="17" name="Shape 15"/>
          <p:cNvSpPr/>
          <p:nvPr/>
        </p:nvSpPr>
        <p:spPr>
          <a:xfrm>
            <a:off x="4292498" y="1856232"/>
            <a:ext cx="1711909" cy="868680"/>
          </a:xfrm>
          <a:prstGeom prst="rect">
            <a:avLst/>
          </a:prstGeom>
          <a:solidFill>
            <a:srgbClr val="FFFFFF"/>
          </a:solidFill>
          <a:ln w="9525">
            <a:solidFill>
              <a:srgbClr val="DCD5C6"/>
            </a:solidFill>
            <a:prstDash val="solid"/>
          </a:ln>
        </p:spPr>
      </p:sp>
      <p:sp>
        <p:nvSpPr>
          <p:cNvPr id="18" name="Shape 16"/>
          <p:cNvSpPr/>
          <p:nvPr/>
        </p:nvSpPr>
        <p:spPr>
          <a:xfrm>
            <a:off x="4292498" y="1856232"/>
            <a:ext cx="1711909" cy="45720"/>
          </a:xfrm>
          <a:prstGeom prst="rect">
            <a:avLst/>
          </a:prstGeom>
          <a:solidFill>
            <a:srgbClr val="5A5A86"/>
          </a:solidFill>
          <a:ln/>
        </p:spPr>
      </p:sp>
      <p:sp>
        <p:nvSpPr>
          <p:cNvPr id="19" name="Text 17"/>
          <p:cNvSpPr/>
          <p:nvPr/>
        </p:nvSpPr>
        <p:spPr>
          <a:xfrm>
            <a:off x="4347362" y="1929384"/>
            <a:ext cx="1602181" cy="390906"/>
          </a:xfrm>
          <a:prstGeom prst="rect">
            <a:avLst/>
          </a:prstGeom>
          <a:noFill/>
          <a:ln/>
        </p:spPr>
        <p:txBody>
          <a:bodyPr wrap="square" lIns="0" tIns="0" rIns="0" bIns="0" rtlCol="0" anchor="ctr"/>
          <a:lstStyle/>
          <a:p>
            <a:pPr algn="ctr" indent="0" marL="0">
              <a:buNone/>
            </a:pPr>
            <a:r>
              <a:rPr lang="en-US" sz="1300" b="1" dirty="0">
                <a:solidFill>
                  <a:srgbClr val="243D54"/>
                </a:solidFill>
                <a:latin typeface="BIZ UDPGothic" pitchFamily="34" charset="0"/>
                <a:ea typeface="BIZ UDPGothic" pitchFamily="34" charset="-122"/>
                <a:cs typeface="BIZ UDPGothic" pitchFamily="34" charset="-120"/>
              </a:rPr>
              <a:t>意味を確認</a:t>
            </a:r>
            <a:endParaRPr lang="en-US" sz="1300" dirty="0"/>
          </a:p>
        </p:txBody>
      </p:sp>
      <p:sp>
        <p:nvSpPr>
          <p:cNvPr id="20" name="Text 18"/>
          <p:cNvSpPr/>
          <p:nvPr/>
        </p:nvSpPr>
        <p:spPr>
          <a:xfrm>
            <a:off x="4347362" y="2290572"/>
            <a:ext cx="1602181" cy="399593"/>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図表や画面で人とAIが</a:t>
            </a:r>
            <a:endParaRPr lang="en-US" sz="1000" dirty="0"/>
          </a:p>
        </p:txBody>
      </p:sp>
      <p:sp>
        <p:nvSpPr>
          <p:cNvPr id="21" name="Shape 19"/>
          <p:cNvSpPr/>
          <p:nvPr/>
        </p:nvSpPr>
        <p:spPr>
          <a:xfrm>
            <a:off x="6031840" y="2290572"/>
            <a:ext cx="128016" cy="0"/>
          </a:xfrm>
          <a:prstGeom prst="line">
            <a:avLst/>
          </a:prstGeom>
          <a:noFill/>
          <a:ln w="19050">
            <a:solidFill>
              <a:srgbClr val="5A5A86"/>
            </a:solidFill>
            <a:prstDash val="solid"/>
            <a:tailEnd type="triangle"/>
          </a:ln>
        </p:spPr>
      </p:sp>
      <p:sp>
        <p:nvSpPr>
          <p:cNvPr id="22" name="Shape 20"/>
          <p:cNvSpPr/>
          <p:nvPr/>
        </p:nvSpPr>
        <p:spPr>
          <a:xfrm>
            <a:off x="6187288" y="1856232"/>
            <a:ext cx="1711909" cy="868680"/>
          </a:xfrm>
          <a:prstGeom prst="rect">
            <a:avLst/>
          </a:prstGeom>
          <a:solidFill>
            <a:srgbClr val="FFFFFF"/>
          </a:solidFill>
          <a:ln w="9525">
            <a:solidFill>
              <a:srgbClr val="DCD5C6"/>
            </a:solidFill>
            <a:prstDash val="solid"/>
          </a:ln>
        </p:spPr>
      </p:sp>
      <p:sp>
        <p:nvSpPr>
          <p:cNvPr id="23" name="Shape 21"/>
          <p:cNvSpPr/>
          <p:nvPr/>
        </p:nvSpPr>
        <p:spPr>
          <a:xfrm>
            <a:off x="6187288" y="1856232"/>
            <a:ext cx="1711909" cy="45720"/>
          </a:xfrm>
          <a:prstGeom prst="rect">
            <a:avLst/>
          </a:prstGeom>
          <a:solidFill>
            <a:srgbClr val="5A5A86"/>
          </a:solidFill>
          <a:ln/>
        </p:spPr>
      </p:sp>
      <p:sp>
        <p:nvSpPr>
          <p:cNvPr id="24" name="Text 22"/>
          <p:cNvSpPr/>
          <p:nvPr/>
        </p:nvSpPr>
        <p:spPr>
          <a:xfrm>
            <a:off x="6242152" y="1929384"/>
            <a:ext cx="1602181" cy="390906"/>
          </a:xfrm>
          <a:prstGeom prst="rect">
            <a:avLst/>
          </a:prstGeom>
          <a:noFill/>
          <a:ln/>
        </p:spPr>
        <p:txBody>
          <a:bodyPr wrap="square" lIns="0" tIns="0" rIns="0" bIns="0" rtlCol="0" anchor="ctr"/>
          <a:lstStyle/>
          <a:p>
            <a:pPr algn="ctr" indent="0" marL="0">
              <a:buNone/>
            </a:pPr>
            <a:r>
              <a:rPr lang="en-US" sz="1300" b="1" dirty="0">
                <a:solidFill>
                  <a:srgbClr val="243D54"/>
                </a:solidFill>
                <a:latin typeface="BIZ UDPGothic" pitchFamily="34" charset="0"/>
                <a:ea typeface="BIZ UDPGothic" pitchFamily="34" charset="-122"/>
                <a:cs typeface="BIZ UDPGothic" pitchFamily="34" charset="-120"/>
              </a:rPr>
              <a:t>抜けを発見</a:t>
            </a:r>
            <a:endParaRPr lang="en-US" sz="1300" dirty="0"/>
          </a:p>
        </p:txBody>
      </p:sp>
      <p:sp>
        <p:nvSpPr>
          <p:cNvPr id="25" name="Text 23"/>
          <p:cNvSpPr/>
          <p:nvPr/>
        </p:nvSpPr>
        <p:spPr>
          <a:xfrm>
            <a:off x="6242152" y="2290572"/>
            <a:ext cx="1602181" cy="399593"/>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AIが食い違いと変更案</a:t>
            </a:r>
            <a:endParaRPr lang="en-US" sz="1000" dirty="0"/>
          </a:p>
        </p:txBody>
      </p:sp>
      <p:sp>
        <p:nvSpPr>
          <p:cNvPr id="26" name="Shape 24"/>
          <p:cNvSpPr/>
          <p:nvPr/>
        </p:nvSpPr>
        <p:spPr>
          <a:xfrm>
            <a:off x="7926629" y="2290572"/>
            <a:ext cx="128016" cy="0"/>
          </a:xfrm>
          <a:prstGeom prst="line">
            <a:avLst/>
          </a:prstGeom>
          <a:noFill/>
          <a:ln w="19050">
            <a:solidFill>
              <a:srgbClr val="5A5A86"/>
            </a:solidFill>
            <a:prstDash val="solid"/>
            <a:tailEnd type="triangle"/>
          </a:ln>
        </p:spPr>
      </p:sp>
      <p:sp>
        <p:nvSpPr>
          <p:cNvPr id="27" name="Shape 25"/>
          <p:cNvSpPr/>
          <p:nvPr/>
        </p:nvSpPr>
        <p:spPr>
          <a:xfrm>
            <a:off x="8082077" y="1856232"/>
            <a:ext cx="1711909" cy="868680"/>
          </a:xfrm>
          <a:prstGeom prst="rect">
            <a:avLst/>
          </a:prstGeom>
          <a:solidFill>
            <a:srgbClr val="FFFFFF"/>
          </a:solidFill>
          <a:ln w="9525">
            <a:solidFill>
              <a:srgbClr val="DCD5C6"/>
            </a:solidFill>
            <a:prstDash val="solid"/>
          </a:ln>
        </p:spPr>
      </p:sp>
      <p:sp>
        <p:nvSpPr>
          <p:cNvPr id="28" name="Shape 26"/>
          <p:cNvSpPr/>
          <p:nvPr/>
        </p:nvSpPr>
        <p:spPr>
          <a:xfrm>
            <a:off x="8082077" y="1856232"/>
            <a:ext cx="1711909" cy="45720"/>
          </a:xfrm>
          <a:prstGeom prst="rect">
            <a:avLst/>
          </a:prstGeom>
          <a:solidFill>
            <a:srgbClr val="5A5A86"/>
          </a:solidFill>
          <a:ln/>
        </p:spPr>
      </p:sp>
      <p:sp>
        <p:nvSpPr>
          <p:cNvPr id="29" name="Text 27"/>
          <p:cNvSpPr/>
          <p:nvPr/>
        </p:nvSpPr>
        <p:spPr>
          <a:xfrm>
            <a:off x="8136941" y="1929384"/>
            <a:ext cx="1602181" cy="390906"/>
          </a:xfrm>
          <a:prstGeom prst="rect">
            <a:avLst/>
          </a:prstGeom>
          <a:noFill/>
          <a:ln/>
        </p:spPr>
        <p:txBody>
          <a:bodyPr wrap="square" lIns="0" tIns="0" rIns="0" bIns="0" rtlCol="0" anchor="ctr"/>
          <a:lstStyle/>
          <a:p>
            <a:pPr algn="ctr" indent="0" marL="0">
              <a:buNone/>
            </a:pPr>
            <a:r>
              <a:rPr lang="en-US" sz="1300" b="1" dirty="0">
                <a:solidFill>
                  <a:srgbClr val="243D54"/>
                </a:solidFill>
                <a:latin typeface="BIZ UDPGothic" pitchFamily="34" charset="0"/>
                <a:ea typeface="BIZ UDPGothic" pitchFamily="34" charset="-122"/>
                <a:cs typeface="BIZ UDPGothic" pitchFamily="34" charset="-120"/>
              </a:rPr>
              <a:t>組み立て実行</a:t>
            </a:r>
            <a:endParaRPr lang="en-US" sz="1300" dirty="0"/>
          </a:p>
        </p:txBody>
      </p:sp>
      <p:sp>
        <p:nvSpPr>
          <p:cNvPr id="30" name="Text 28"/>
          <p:cNvSpPr/>
          <p:nvPr/>
        </p:nvSpPr>
        <p:spPr>
          <a:xfrm>
            <a:off x="8136941" y="2290572"/>
            <a:ext cx="1602181" cy="399593"/>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設計情報から実装へ</a:t>
            </a:r>
            <a:endParaRPr lang="en-US" sz="1000" dirty="0"/>
          </a:p>
        </p:txBody>
      </p:sp>
      <p:sp>
        <p:nvSpPr>
          <p:cNvPr id="31" name="Shape 29"/>
          <p:cNvSpPr/>
          <p:nvPr/>
        </p:nvSpPr>
        <p:spPr>
          <a:xfrm>
            <a:off x="9821418" y="2290572"/>
            <a:ext cx="128016" cy="0"/>
          </a:xfrm>
          <a:prstGeom prst="line">
            <a:avLst/>
          </a:prstGeom>
          <a:noFill/>
          <a:ln w="19050">
            <a:solidFill>
              <a:srgbClr val="5A5A86"/>
            </a:solidFill>
            <a:prstDash val="solid"/>
            <a:tailEnd type="triangle"/>
          </a:ln>
        </p:spPr>
      </p:sp>
      <p:sp>
        <p:nvSpPr>
          <p:cNvPr id="32" name="Shape 30"/>
          <p:cNvSpPr/>
          <p:nvPr/>
        </p:nvSpPr>
        <p:spPr>
          <a:xfrm>
            <a:off x="9976866" y="1856232"/>
            <a:ext cx="1711909" cy="868680"/>
          </a:xfrm>
          <a:prstGeom prst="rect">
            <a:avLst/>
          </a:prstGeom>
          <a:solidFill>
            <a:srgbClr val="FFFFFF"/>
          </a:solidFill>
          <a:ln w="9525">
            <a:solidFill>
              <a:srgbClr val="DCD5C6"/>
            </a:solidFill>
            <a:prstDash val="solid"/>
          </a:ln>
        </p:spPr>
      </p:sp>
      <p:sp>
        <p:nvSpPr>
          <p:cNvPr id="33" name="Shape 31"/>
          <p:cNvSpPr/>
          <p:nvPr/>
        </p:nvSpPr>
        <p:spPr>
          <a:xfrm>
            <a:off x="9976866" y="1856232"/>
            <a:ext cx="1711909" cy="45720"/>
          </a:xfrm>
          <a:prstGeom prst="rect">
            <a:avLst/>
          </a:prstGeom>
          <a:solidFill>
            <a:srgbClr val="5A5A86"/>
          </a:solidFill>
          <a:ln/>
        </p:spPr>
      </p:sp>
      <p:sp>
        <p:nvSpPr>
          <p:cNvPr id="34" name="Text 32"/>
          <p:cNvSpPr/>
          <p:nvPr/>
        </p:nvSpPr>
        <p:spPr>
          <a:xfrm>
            <a:off x="10031730" y="1929384"/>
            <a:ext cx="1602181" cy="390906"/>
          </a:xfrm>
          <a:prstGeom prst="rect">
            <a:avLst/>
          </a:prstGeom>
          <a:noFill/>
          <a:ln/>
        </p:spPr>
        <p:txBody>
          <a:bodyPr wrap="square" lIns="0" tIns="0" rIns="0" bIns="0" rtlCol="0" anchor="ctr"/>
          <a:lstStyle/>
          <a:p>
            <a:pPr algn="ctr" indent="0" marL="0">
              <a:buNone/>
            </a:pPr>
            <a:r>
              <a:rPr lang="en-US" sz="1300" b="1" dirty="0">
                <a:solidFill>
                  <a:srgbClr val="243D54"/>
                </a:solidFill>
                <a:latin typeface="BIZ UDPGothic" pitchFamily="34" charset="0"/>
                <a:ea typeface="BIZ UDPGothic" pitchFamily="34" charset="-122"/>
                <a:cs typeface="BIZ UDPGothic" pitchFamily="34" charset="-120"/>
              </a:rPr>
              <a:t>状態を記録</a:t>
            </a:r>
            <a:endParaRPr lang="en-US" sz="1300" dirty="0"/>
          </a:p>
        </p:txBody>
      </p:sp>
      <p:sp>
        <p:nvSpPr>
          <p:cNvPr id="35" name="Text 33"/>
          <p:cNvSpPr/>
          <p:nvPr/>
        </p:nvSpPr>
        <p:spPr>
          <a:xfrm>
            <a:off x="10031730" y="2290572"/>
            <a:ext cx="1602181" cy="399593"/>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実行内容と外部の状態</a:t>
            </a:r>
            <a:endParaRPr lang="en-US" sz="1000" dirty="0"/>
          </a:p>
        </p:txBody>
      </p:sp>
      <p:sp>
        <p:nvSpPr>
          <p:cNvPr id="36" name="Text 34"/>
          <p:cNvSpPr/>
          <p:nvPr/>
        </p:nvSpPr>
        <p:spPr>
          <a:xfrm>
            <a:off x="502920" y="2926080"/>
            <a:ext cx="5486400" cy="256032"/>
          </a:xfrm>
          <a:prstGeom prst="rect">
            <a:avLst/>
          </a:prstGeom>
          <a:noFill/>
          <a:ln/>
        </p:spPr>
        <p:txBody>
          <a:bodyPr wrap="square" lIns="0" tIns="0" rIns="0" bIns="0" rtlCol="0" anchor="t"/>
          <a:lstStyle/>
          <a:p>
            <a:pPr indent="0" marL="0">
              <a:buNone/>
            </a:pPr>
            <a:r>
              <a:rPr lang="en-US" sz="1150" b="1" dirty="0">
                <a:solidFill>
                  <a:srgbClr val="5A5A86"/>
                </a:solidFill>
                <a:latin typeface="BIZ UDPGothic" pitchFamily="34" charset="0"/>
                <a:ea typeface="BIZ UDPGothic" pitchFamily="34" charset="-122"/>
                <a:cs typeface="BIZ UDPGothic" pitchFamily="34" charset="-120"/>
              </a:rPr>
              <a:t>現在の実装状況（2026-10-13時点の記録）</a:t>
            </a:r>
            <a:endParaRPr lang="en-US" sz="11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3218688"/>
          <a:ext cx="6949440" cy="914400"/>
        </p:xfrm>
        <a:graphic>
          <a:graphicData uri="http://schemas.openxmlformats.org/drawingml/2006/table">
            <a:tbl>
              <a:tblPr/>
              <a:tblGrid>
                <a:gridCol w="1554480"/>
                <a:gridCol w="5394960"/>
              </a:tblGrid>
              <a:tr h="457200">
                <a:tc>
                  <a:txBody>
                    <a:bodyPr/>
                    <a:lstStyle/>
                    <a:p>
                      <a:pPr indent="0" marL="0">
                        <a:buNone/>
                      </a:pPr>
                      <a:r>
                        <a:rPr lang="en-US" sz="1000" b="1" dirty="0">
                          <a:solidFill>
                            <a:srgbClr val="F5F1E8"/>
                          </a:solidFill>
                          <a:latin typeface="BIZ UDPGothic" pitchFamily="34" charset="0"/>
                          <a:ea typeface="BIZ UDPGothic" pitchFamily="34" charset="-122"/>
                          <a:cs typeface="BIZ UDPGothic" pitchFamily="34" charset="-120"/>
                        </a:rPr>
                        <a:t>領域</a:t>
                      </a:r>
                      <a:endParaRPr lang="en-US" sz="10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33334F"/>
                    </a:solidFill>
                  </a:tcPr>
                </a:tc>
                <a:tc>
                  <a:txBody>
                    <a:bodyPr/>
                    <a:lstStyle/>
                    <a:p>
                      <a:pPr indent="0" marL="0">
                        <a:buNone/>
                      </a:pPr>
                      <a:r>
                        <a:rPr lang="en-US" sz="1000" b="1" dirty="0">
                          <a:solidFill>
                            <a:srgbClr val="F5F1E8"/>
                          </a:solidFill>
                          <a:latin typeface="BIZ UDPGothic" pitchFamily="34" charset="0"/>
                          <a:ea typeface="BIZ UDPGothic" pitchFamily="34" charset="-122"/>
                          <a:cs typeface="BIZ UDPGothic" pitchFamily="34" charset="-120"/>
                        </a:rPr>
                        <a:t>確認できること</a:t>
                      </a:r>
                      <a:endParaRPr lang="en-US" sz="10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33334F"/>
                    </a:solidFill>
                  </a:tcPr>
                </a:tc>
              </a:tr>
              <a:tr h="457200">
                <a:tc>
                  <a:txBody>
                    <a:bodyPr/>
                    <a:lstStyle/>
                    <a:p>
                      <a:pPr indent="0" marL="0">
                        <a:buNone/>
                      </a:pPr>
                      <a:r>
                        <a:rPr lang="en-US" sz="1100" b="1" dirty="0">
                          <a:solidFill>
                            <a:srgbClr val="5A5A86"/>
                          </a:solidFill>
                          <a:latin typeface="BIZ UDPGothic" pitchFamily="34" charset="0"/>
                          <a:ea typeface="BIZ UDPGothic" pitchFamily="34" charset="-122"/>
                          <a:cs typeface="BIZ UDPGothic" pitchFamily="34" charset="-120"/>
                        </a:rPr>
                        <a:t>判定段階A</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100" dirty="0">
                          <a:solidFill>
                            <a:srgbClr val="243D54"/>
                          </a:solidFill>
                          <a:latin typeface="BIZ UDPGothic" pitchFamily="34" charset="0"/>
                          <a:ea typeface="BIZ UDPGothic" pitchFamily="34" charset="-122"/>
                          <a:cs typeface="BIZ UDPGothic" pitchFamily="34" charset="-120"/>
                        </a:rPr>
                        <a:t>アプリケーションの型からドライバーへ渡す意味上の境界を確認</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5A5A86"/>
                          </a:solidFill>
                          <a:latin typeface="BIZ UDPGothic" pitchFamily="34" charset="0"/>
                          <a:ea typeface="BIZ UDPGothic" pitchFamily="34" charset="-122"/>
                          <a:cs typeface="BIZ UDPGothic" pitchFamily="34" charset="-120"/>
                        </a:rPr>
                        <a:t>判定段階B</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100" dirty="0">
                          <a:solidFill>
                            <a:srgbClr val="243D54"/>
                          </a:solidFill>
                          <a:latin typeface="BIZ UDPGothic" pitchFamily="34" charset="0"/>
                          <a:ea typeface="BIZ UDPGothic" pitchFamily="34" charset="-122"/>
                          <a:cs typeface="BIZ UDPGothic" pitchFamily="34" charset="-120"/>
                        </a:rPr>
                        <a:t>固定した版で、再現性・生成物・データベース実環境を同じ実行で確認</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r h="457200">
                <a:tc>
                  <a:txBody>
                    <a:bodyPr/>
                    <a:lstStyle/>
                    <a:p>
                      <a:pPr indent="0" marL="0">
                        <a:buNone/>
                      </a:pPr>
                      <a:r>
                        <a:rPr lang="en-US" sz="1100" b="1" dirty="0">
                          <a:solidFill>
                            <a:srgbClr val="5A5A86"/>
                          </a:solidFill>
                          <a:latin typeface="BIZ UDPGothic" pitchFamily="34" charset="0"/>
                          <a:ea typeface="BIZ UDPGothic" pitchFamily="34" charset="-122"/>
                          <a:cs typeface="BIZ UDPGothic" pitchFamily="34" charset="-120"/>
                        </a:rPr>
                        <a:t>判定段階C</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100" dirty="0">
                          <a:solidFill>
                            <a:srgbClr val="243D54"/>
                          </a:solidFill>
                          <a:latin typeface="BIZ UDPGothic" pitchFamily="34" charset="0"/>
                          <a:ea typeface="BIZ UDPGothic" pitchFamily="34" charset="-122"/>
                          <a:cs typeface="BIZ UDPGothic" pitchFamily="34" charset="-120"/>
                        </a:rPr>
                        <a:t>最初のウェブ実行先で意味・機能・表示を検証（表示はAI評価者一人の判定）</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5A5A86"/>
                          </a:solidFill>
                          <a:latin typeface="BIZ UDPGothic" pitchFamily="34" charset="0"/>
                          <a:ea typeface="BIZ UDPGothic" pitchFamily="34" charset="-122"/>
                          <a:cs typeface="BIZ UDPGothic" pitchFamily="34" charset="-120"/>
                        </a:rPr>
                        <a:t>参照用の業務</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100" dirty="0">
                          <a:solidFill>
                            <a:srgbClr val="243D54"/>
                          </a:solidFill>
                          <a:latin typeface="BIZ UDPGothic" pitchFamily="34" charset="0"/>
                          <a:ea typeface="BIZ UDPGothic" pitchFamily="34" charset="-122"/>
                          <a:cs typeface="BIZ UDPGothic" pitchFamily="34" charset="-120"/>
                        </a:rPr>
                        <a:t>受注入力の一覧・記録・明細・操作の境界を実証。修理受付の一部を受理経由で取り込み</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r h="457200">
                <a:tc>
                  <a:txBody>
                    <a:bodyPr/>
                    <a:lstStyle/>
                    <a:p>
                      <a:pPr indent="0" marL="0">
                        <a:buNone/>
                      </a:pPr>
                      <a:r>
                        <a:rPr lang="en-US" sz="1100" b="1" dirty="0">
                          <a:solidFill>
                            <a:srgbClr val="5A5A86"/>
                          </a:solidFill>
                          <a:latin typeface="BIZ UDPGothic" pitchFamily="34" charset="0"/>
                          <a:ea typeface="BIZ UDPGothic" pitchFamily="34" charset="-122"/>
                          <a:cs typeface="BIZ UDPGothic" pitchFamily="34" charset="-120"/>
                        </a:rPr>
                        <a:t>プラグイン合成</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100" dirty="0">
                          <a:solidFill>
                            <a:srgbClr val="243D54"/>
                          </a:solidFill>
                          <a:latin typeface="BIZ UDPGothic" pitchFamily="34" charset="0"/>
                          <a:ea typeface="BIZ UDPGothic" pitchFamily="34" charset="-122"/>
                          <a:cs typeface="BIZ UDPGothic" pitchFamily="34" charset="-120"/>
                        </a:rPr>
                        <a:t>約束と利用範囲による提供元の選択、依存関係の鮮度、逆順の解放を参照実装</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bl>
          </a:graphicData>
        </a:graphic>
      </p:graphicFrame>
      <p:sp>
        <p:nvSpPr>
          <p:cNvPr id="38" name="Shape 35"/>
          <p:cNvSpPr/>
          <p:nvPr/>
        </p:nvSpPr>
        <p:spPr>
          <a:xfrm>
            <a:off x="7726680" y="2926080"/>
            <a:ext cx="3962095" cy="3035808"/>
          </a:xfrm>
          <a:prstGeom prst="rect">
            <a:avLst/>
          </a:prstGeom>
          <a:solidFill>
            <a:srgbClr val="F6EAE4"/>
          </a:solidFill>
          <a:ln w="9525">
            <a:solidFill>
              <a:srgbClr val="8C5A44"/>
            </a:solidFill>
            <a:prstDash val="solid"/>
          </a:ln>
        </p:spPr>
      </p:sp>
      <p:sp>
        <p:nvSpPr>
          <p:cNvPr id="39" name="Text 36"/>
          <p:cNvSpPr/>
          <p:nvPr/>
        </p:nvSpPr>
        <p:spPr>
          <a:xfrm>
            <a:off x="7909560" y="3017520"/>
            <a:ext cx="3687775" cy="274320"/>
          </a:xfrm>
          <a:prstGeom prst="rect">
            <a:avLst/>
          </a:prstGeom>
          <a:noFill/>
          <a:ln/>
        </p:spPr>
        <p:txBody>
          <a:bodyPr wrap="square" lIns="0" tIns="0" rIns="0" bIns="0" rtlCol="0" anchor="t"/>
          <a:lstStyle/>
          <a:p>
            <a:pPr indent="0" marL="0">
              <a:buNone/>
            </a:pPr>
            <a:r>
              <a:rPr lang="en-US" sz="1250" b="1" dirty="0">
                <a:solidFill>
                  <a:srgbClr val="8C5A44"/>
                </a:solidFill>
                <a:latin typeface="BIZ UDPGothic" pitchFamily="34" charset="0"/>
                <a:ea typeface="BIZ UDPGothic" pitchFamily="34" charset="-122"/>
                <a:cs typeface="BIZ UDPGothic" pitchFamily="34" charset="-120"/>
              </a:rPr>
              <a:t>未完成・未検証</a:t>
            </a:r>
            <a:endParaRPr lang="en-US" sz="1250" dirty="0"/>
          </a:p>
        </p:txBody>
      </p:sp>
      <p:sp>
        <p:nvSpPr>
          <p:cNvPr id="40" name="Text 37"/>
          <p:cNvSpPr/>
          <p:nvPr/>
        </p:nvSpPr>
        <p:spPr>
          <a:xfrm>
            <a:off x="7909560" y="3364992"/>
            <a:ext cx="3642055" cy="256032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243D54"/>
                </a:solidFill>
                <a:latin typeface="BIZ UDPGothic" pitchFamily="34" charset="0"/>
                <a:ea typeface="BIZ UDPGothic" pitchFamily="34" charset="-122"/>
                <a:cs typeface="BIZ UDPGothic" pitchFamily="34" charset="-120"/>
              </a:rPr>
              <a:t>データ・機能・業務の三つの視点を一貫して編集・受理・実行する統合環境</a:t>
            </a:r>
            <a:endParaRPr lang="en-US" sz="1100" dirty="0"/>
          </a:p>
          <a:p>
            <a:pPr marL="342900" indent="-342900">
              <a:spcAft>
                <a:spcPts val="600"/>
              </a:spcAft>
              <a:buSzPct val="100000"/>
              <a:buChar char="•"/>
            </a:pPr>
            <a:r>
              <a:rPr lang="en-US" sz="1100" dirty="0">
                <a:solidFill>
                  <a:srgbClr val="243D54"/>
                </a:solidFill>
                <a:latin typeface="BIZ UDPGothic" pitchFamily="34" charset="0"/>
                <a:ea typeface="BIZ UDPGothic" pitchFamily="34" charset="-122"/>
                <a:cs typeface="BIZ UDPGothic" pitchFamily="34" charset="-120"/>
              </a:rPr>
              <a:t>同じ業務定義から、ウェブ以外の実行先を動かした検証</a:t>
            </a:r>
            <a:endParaRPr lang="en-US" sz="1100" dirty="0"/>
          </a:p>
          <a:p>
            <a:pPr marL="342900" indent="-342900">
              <a:spcAft>
                <a:spcPts val="600"/>
              </a:spcAft>
              <a:buSzPct val="100000"/>
              <a:buChar char="•"/>
            </a:pPr>
            <a:r>
              <a:rPr lang="en-US" sz="1100" dirty="0">
                <a:solidFill>
                  <a:srgbClr val="243D54"/>
                </a:solidFill>
                <a:latin typeface="BIZ UDPGothic" pitchFamily="34" charset="0"/>
                <a:ea typeface="BIZ UDPGothic" pitchFamily="34" charset="-122"/>
                <a:cs typeface="BIZ UDPGothic" pitchFamily="34" charset="-120"/>
              </a:rPr>
              <a:t>実際のデータベースや外部提供元での認証・接続・操作</a:t>
            </a:r>
            <a:endParaRPr lang="en-US" sz="1100" dirty="0"/>
          </a:p>
          <a:p>
            <a:pPr marL="342900" indent="-342900">
              <a:spcAft>
                <a:spcPts val="600"/>
              </a:spcAft>
              <a:buSzPct val="100000"/>
              <a:buChar char="•"/>
            </a:pPr>
            <a:r>
              <a:rPr lang="en-US" sz="1100" dirty="0">
                <a:solidFill>
                  <a:srgbClr val="243D54"/>
                </a:solidFill>
                <a:latin typeface="BIZ UDPGothic" pitchFamily="34" charset="0"/>
                <a:ea typeface="BIZ UDPGothic" pitchFamily="34" charset="-122"/>
                <a:cs typeface="BIZ UDPGothic" pitchFamily="34" charset="-120"/>
              </a:rPr>
              <a:t>安全性・個人情報・権限の包括的な監査と、人による体系的な確認</a:t>
            </a:r>
            <a:endParaRPr lang="en-US" sz="1100" dirty="0"/>
          </a:p>
        </p:txBody>
      </p:sp>
      <p:sp>
        <p:nvSpPr>
          <p:cNvPr id="41" name="Text 38"/>
          <p:cNvSpPr/>
          <p:nvPr/>
        </p:nvSpPr>
        <p:spPr>
          <a:xfrm>
            <a:off x="502920" y="6419088"/>
            <a:ext cx="10332720" cy="292608"/>
          </a:xfrm>
          <a:prstGeom prst="rect">
            <a:avLst/>
          </a:prstGeom>
          <a:noFill/>
          <a:ln/>
        </p:spPr>
        <p:txBody>
          <a:bodyPr wrap="square" lIns="0" tIns="0" rIns="0" bIns="0" rtlCol="0" anchor="ctr"/>
          <a:lstStyle/>
          <a:p>
            <a:pPr indent="0" marL="0">
              <a:buNone/>
            </a:pPr>
            <a:r>
              <a:rPr lang="en-US" sz="950" dirty="0">
                <a:solidFill>
                  <a:srgbClr val="56636E"/>
                </a:solidFill>
                <a:latin typeface="BIZ UDPGothic" pitchFamily="34" charset="0"/>
                <a:ea typeface="BIZ UDPGothic" pitchFamily="34" charset="-122"/>
                <a:cs typeface="BIZ UDPGothic" pitchFamily="34" charset="-120"/>
              </a:rPr>
              <a:t>判定段階の合格は、各時点に固定したソースと検証根拠に対するもの。現在の版や別の実行先を自動的に合格とするものではない。</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0" y="0"/>
            <a:ext cx="3520440" cy="6858000"/>
          </a:xfrm>
          <a:prstGeom prst="rect">
            <a:avLst/>
          </a:prstGeom>
          <a:solidFill>
            <a:srgbClr val="4F3024"/>
          </a:solidFill>
          <a:ln/>
        </p:spPr>
      </p:sp>
      <p:sp>
        <p:nvSpPr>
          <p:cNvPr id="3" name="Text 1"/>
          <p:cNvSpPr/>
          <p:nvPr/>
        </p:nvSpPr>
        <p:spPr>
          <a:xfrm>
            <a:off x="411480" y="292608"/>
            <a:ext cx="2743200" cy="228600"/>
          </a:xfrm>
          <a:prstGeom prst="rect">
            <a:avLst/>
          </a:prstGeom>
          <a:noFill/>
          <a:ln/>
        </p:spPr>
        <p:txBody>
          <a:bodyPr wrap="square" lIns="0" tIns="0" rIns="0" bIns="0" rtlCol="0" anchor="t"/>
          <a:lstStyle/>
          <a:p>
            <a:pPr indent="0" marL="0">
              <a:buNone/>
            </a:pPr>
            <a:r>
              <a:rPr lang="en-US" sz="950" b="1" dirty="0">
                <a:solidFill>
                  <a:srgbClr val="C4A06D"/>
                </a:solidFill>
                <a:latin typeface="BIZ UDPGothic" pitchFamily="34" charset="0"/>
                <a:ea typeface="BIZ UDPGothic" pitchFamily="34" charset="-122"/>
                <a:cs typeface="BIZ UDPGothic" pitchFamily="34" charset="-120"/>
              </a:rPr>
              <a:t>製品  </a:t>
            </a:r>
            <a:pPr indent="0" marL="0">
              <a:buNone/>
            </a:pPr>
            <a:r>
              <a:rPr lang="en-US" sz="950" dirty="0">
                <a:solidFill>
                  <a:srgbClr val="C9D3D9"/>
                </a:solidFill>
                <a:latin typeface="Georgia" pitchFamily="34" charset="0"/>
                <a:ea typeface="Georgia" pitchFamily="34" charset="-122"/>
                <a:cs typeface="Georgia" pitchFamily="34" charset="-120"/>
              </a:rPr>
              <a:t>5 / 6</a:t>
            </a:r>
            <a:endParaRPr lang="en-US" sz="950" dirty="0"/>
          </a:p>
        </p:txBody>
      </p:sp>
      <p:sp>
        <p:nvSpPr>
          <p:cNvPr id="4" name="Shape 2"/>
          <p:cNvSpPr/>
          <p:nvPr/>
        </p:nvSpPr>
        <p:spPr>
          <a:xfrm>
            <a:off x="411480" y="1481328"/>
            <a:ext cx="868680" cy="73152"/>
          </a:xfrm>
          <a:prstGeom prst="rect">
            <a:avLst/>
          </a:prstGeom>
          <a:solidFill>
            <a:srgbClr val="C4A06D"/>
          </a:solidFill>
          <a:ln/>
        </p:spPr>
      </p:sp>
      <p:sp>
        <p:nvSpPr>
          <p:cNvPr id="5" name="Shape 3"/>
          <p:cNvSpPr/>
          <p:nvPr/>
        </p:nvSpPr>
        <p:spPr>
          <a:xfrm>
            <a:off x="411480" y="1335024"/>
            <a:ext cx="373532" cy="73152"/>
          </a:xfrm>
          <a:prstGeom prst="rect">
            <a:avLst/>
          </a:prstGeom>
          <a:solidFill>
            <a:srgbClr val="C4A06D"/>
          </a:solidFill>
          <a:ln/>
        </p:spPr>
      </p:sp>
      <p:sp>
        <p:nvSpPr>
          <p:cNvPr id="6" name="Shape 4"/>
          <p:cNvSpPr/>
          <p:nvPr/>
        </p:nvSpPr>
        <p:spPr>
          <a:xfrm>
            <a:off x="906628" y="1335024"/>
            <a:ext cx="373532" cy="73152"/>
          </a:xfrm>
          <a:prstGeom prst="rect">
            <a:avLst/>
          </a:prstGeom>
          <a:solidFill>
            <a:srgbClr val="C4A06D"/>
          </a:solidFill>
          <a:ln/>
        </p:spPr>
      </p:sp>
      <p:sp>
        <p:nvSpPr>
          <p:cNvPr id="7" name="Shape 5"/>
          <p:cNvSpPr/>
          <p:nvPr/>
        </p:nvSpPr>
        <p:spPr>
          <a:xfrm>
            <a:off x="411480" y="1188720"/>
            <a:ext cx="373532" cy="73152"/>
          </a:xfrm>
          <a:prstGeom prst="rect">
            <a:avLst/>
          </a:prstGeom>
          <a:solidFill>
            <a:srgbClr val="C4A06D"/>
          </a:solidFill>
          <a:ln/>
        </p:spPr>
      </p:sp>
      <p:sp>
        <p:nvSpPr>
          <p:cNvPr id="8" name="Shape 6"/>
          <p:cNvSpPr/>
          <p:nvPr/>
        </p:nvSpPr>
        <p:spPr>
          <a:xfrm>
            <a:off x="906628" y="1188720"/>
            <a:ext cx="373532" cy="73152"/>
          </a:xfrm>
          <a:prstGeom prst="rect">
            <a:avLst/>
          </a:prstGeom>
          <a:solidFill>
            <a:srgbClr val="C4A06D"/>
          </a:solidFill>
          <a:ln/>
        </p:spPr>
      </p:sp>
      <p:sp>
        <p:nvSpPr>
          <p:cNvPr id="9" name="Shape 7"/>
          <p:cNvSpPr/>
          <p:nvPr/>
        </p:nvSpPr>
        <p:spPr>
          <a:xfrm>
            <a:off x="411480" y="1042416"/>
            <a:ext cx="373532" cy="73152"/>
          </a:xfrm>
          <a:prstGeom prst="rect">
            <a:avLst/>
          </a:prstGeom>
          <a:solidFill>
            <a:srgbClr val="C4A06D"/>
          </a:solidFill>
          <a:ln/>
        </p:spPr>
      </p:sp>
      <p:sp>
        <p:nvSpPr>
          <p:cNvPr id="10" name="Shape 8"/>
          <p:cNvSpPr/>
          <p:nvPr/>
        </p:nvSpPr>
        <p:spPr>
          <a:xfrm>
            <a:off x="906628" y="1042416"/>
            <a:ext cx="373532" cy="73152"/>
          </a:xfrm>
          <a:prstGeom prst="rect">
            <a:avLst/>
          </a:prstGeom>
          <a:solidFill>
            <a:srgbClr val="C4A06D"/>
          </a:solidFill>
          <a:ln/>
        </p:spPr>
      </p:sp>
      <p:sp>
        <p:nvSpPr>
          <p:cNvPr id="11" name="Shape 9"/>
          <p:cNvSpPr/>
          <p:nvPr/>
        </p:nvSpPr>
        <p:spPr>
          <a:xfrm>
            <a:off x="411480" y="896112"/>
            <a:ext cx="868680" cy="73152"/>
          </a:xfrm>
          <a:prstGeom prst="rect">
            <a:avLst/>
          </a:prstGeom>
          <a:solidFill>
            <a:srgbClr val="C4A06D"/>
          </a:solidFill>
          <a:ln/>
        </p:spPr>
      </p:sp>
      <p:sp>
        <p:nvSpPr>
          <p:cNvPr id="12" name="Shape 10"/>
          <p:cNvSpPr/>
          <p:nvPr/>
        </p:nvSpPr>
        <p:spPr>
          <a:xfrm>
            <a:off x="411480" y="749808"/>
            <a:ext cx="868680" cy="73152"/>
          </a:xfrm>
          <a:prstGeom prst="rect">
            <a:avLst/>
          </a:prstGeom>
          <a:solidFill>
            <a:srgbClr val="C4A06D"/>
          </a:solidFill>
          <a:ln/>
        </p:spPr>
      </p:sp>
      <p:sp>
        <p:nvSpPr>
          <p:cNvPr id="13" name="Text 11"/>
          <p:cNvSpPr/>
          <p:nvPr/>
        </p:nvSpPr>
        <p:spPr>
          <a:xfrm>
            <a:off x="1508760" y="694944"/>
            <a:ext cx="731520" cy="548640"/>
          </a:xfrm>
          <a:prstGeom prst="rect">
            <a:avLst/>
          </a:prstGeom>
          <a:noFill/>
          <a:ln/>
        </p:spPr>
        <p:txBody>
          <a:bodyPr wrap="square" lIns="0" tIns="0" rIns="0" bIns="0" rtlCol="0" anchor="ctr"/>
          <a:lstStyle/>
          <a:p>
            <a:pPr indent="0" marL="0">
              <a:buNone/>
            </a:pPr>
            <a:r>
              <a:rPr lang="en-US" sz="3200" b="1" dirty="0">
                <a:solidFill>
                  <a:srgbClr val="F5F1E8"/>
                </a:solidFill>
                <a:latin typeface="BIZ UDPGothic" pitchFamily="34" charset="0"/>
                <a:ea typeface="BIZ UDPGothic" pitchFamily="34" charset="-122"/>
                <a:cs typeface="BIZ UDPGothic" pitchFamily="34" charset="-120"/>
              </a:rPr>
              <a:t>益</a:t>
            </a:r>
            <a:endParaRPr lang="en-US" sz="3200" dirty="0"/>
          </a:p>
        </p:txBody>
      </p:sp>
      <p:sp>
        <p:nvSpPr>
          <p:cNvPr id="14" name="Text 12"/>
          <p:cNvSpPr/>
          <p:nvPr/>
        </p:nvSpPr>
        <p:spPr>
          <a:xfrm>
            <a:off x="1508760" y="1261872"/>
            <a:ext cx="1920240" cy="274320"/>
          </a:xfrm>
          <a:prstGeom prst="rect">
            <a:avLst/>
          </a:prstGeom>
          <a:noFill/>
          <a:ln/>
        </p:spPr>
        <p:txBody>
          <a:bodyPr wrap="square" lIns="0" tIns="0" rIns="0" bIns="0" rtlCol="0" anchor="t"/>
          <a:lstStyle/>
          <a:p>
            <a:pPr indent="0" marL="0">
              <a:buNone/>
            </a:pPr>
            <a:r>
              <a:rPr lang="en-US" sz="1000" dirty="0">
                <a:solidFill>
                  <a:srgbClr val="C9D3D9"/>
                </a:solidFill>
                <a:latin typeface="BIZ UDPGothic" pitchFamily="34" charset="0"/>
                <a:ea typeface="BIZ UDPGothic" pitchFamily="34" charset="-122"/>
                <a:cs typeface="BIZ UDPGothic" pitchFamily="34" charset="-120"/>
              </a:rPr>
              <a:t>第42卦　風雷益</a:t>
            </a:r>
            <a:endParaRPr lang="en-US" sz="1000" dirty="0"/>
          </a:p>
        </p:txBody>
      </p:sp>
      <p:sp>
        <p:nvSpPr>
          <p:cNvPr id="15" name="Text 13"/>
          <p:cNvSpPr/>
          <p:nvPr/>
        </p:nvSpPr>
        <p:spPr>
          <a:xfrm>
            <a:off x="411480" y="1737360"/>
            <a:ext cx="3017520" cy="457200"/>
          </a:xfrm>
          <a:prstGeom prst="rect">
            <a:avLst/>
          </a:prstGeom>
          <a:noFill/>
          <a:ln/>
        </p:spPr>
        <p:txBody>
          <a:bodyPr wrap="square" lIns="0" tIns="0" rIns="0" bIns="0" rtlCol="0" anchor="ctr"/>
          <a:lstStyle/>
          <a:p>
            <a:pPr indent="0" marL="0">
              <a:buNone/>
            </a:pPr>
            <a:r>
              <a:rPr lang="en-US" sz="2200" b="1" dirty="0">
                <a:solidFill>
                  <a:srgbClr val="F5F1E8"/>
                </a:solidFill>
                <a:latin typeface="Georgia" pitchFamily="34" charset="0"/>
                <a:ea typeface="Georgia" pitchFamily="34" charset="-122"/>
                <a:cs typeface="Georgia" pitchFamily="34" charset="-120"/>
              </a:rPr>
              <a:t>EKI Fabric</a:t>
            </a:r>
            <a:endParaRPr lang="en-US" sz="2200" dirty="0"/>
          </a:p>
        </p:txBody>
      </p:sp>
      <p:sp>
        <p:nvSpPr>
          <p:cNvPr id="16" name="Text 14"/>
          <p:cNvSpPr/>
          <p:nvPr/>
        </p:nvSpPr>
        <p:spPr>
          <a:xfrm>
            <a:off x="411480" y="2194560"/>
            <a:ext cx="2926080" cy="274320"/>
          </a:xfrm>
          <a:prstGeom prst="rect">
            <a:avLst/>
          </a:prstGeom>
          <a:noFill/>
          <a:ln/>
        </p:spPr>
        <p:txBody>
          <a:bodyPr wrap="square" lIns="0" tIns="0" rIns="0" bIns="0" rtlCol="0" anchor="t"/>
          <a:lstStyle/>
          <a:p>
            <a:pPr indent="0" marL="0">
              <a:buNone/>
            </a:pPr>
            <a:r>
              <a:rPr lang="en-US" sz="1200" b="1" dirty="0">
                <a:solidFill>
                  <a:srgbClr val="C4A06D"/>
                </a:solidFill>
                <a:latin typeface="BIZ UDPGothic" pitchFamily="34" charset="0"/>
                <a:ea typeface="BIZ UDPGothic" pitchFamily="34" charset="-122"/>
                <a:cs typeface="BIZ UDPGothic" pitchFamily="34" charset="-120"/>
              </a:rPr>
              <a:t>委任と実行</a:t>
            </a:r>
            <a:endParaRPr lang="en-US" sz="1200" dirty="0"/>
          </a:p>
        </p:txBody>
      </p:sp>
      <p:sp>
        <p:nvSpPr>
          <p:cNvPr id="17" name="Text 15"/>
          <p:cNvSpPr/>
          <p:nvPr/>
        </p:nvSpPr>
        <p:spPr>
          <a:xfrm>
            <a:off x="411480" y="2606040"/>
            <a:ext cx="2743200" cy="201168"/>
          </a:xfrm>
          <a:prstGeom prst="rect">
            <a:avLst/>
          </a:prstGeom>
          <a:noFill/>
          <a:ln/>
        </p:spPr>
        <p:txBody>
          <a:bodyPr wrap="square" lIns="0" tIns="0" rIns="0" bIns="0" rtlCol="0" anchor="t"/>
          <a:lstStyle/>
          <a:p>
            <a:pPr indent="0" marL="0">
              <a:buNone/>
            </a:pPr>
            <a:r>
              <a:rPr lang="en-US" sz="900" b="1" dirty="0">
                <a:solidFill>
                  <a:srgbClr val="A7B7A7"/>
                </a:solidFill>
                <a:latin typeface="BIZ UDPGothic" pitchFamily="34" charset="0"/>
                <a:ea typeface="BIZ UDPGothic" pitchFamily="34" charset="-122"/>
                <a:cs typeface="BIZ UDPGothic" pitchFamily="34" charset="-120"/>
              </a:rPr>
              <a:t>目的</a:t>
            </a:r>
            <a:endParaRPr lang="en-US" sz="900" dirty="0"/>
          </a:p>
        </p:txBody>
      </p:sp>
      <p:sp>
        <p:nvSpPr>
          <p:cNvPr id="18" name="Text 16"/>
          <p:cNvSpPr/>
          <p:nvPr/>
        </p:nvSpPr>
        <p:spPr>
          <a:xfrm>
            <a:off x="411480" y="2807208"/>
            <a:ext cx="2788920" cy="384048"/>
          </a:xfrm>
          <a:prstGeom prst="rect">
            <a:avLst/>
          </a:prstGeom>
          <a:noFill/>
          <a:ln/>
        </p:spPr>
        <p:txBody>
          <a:bodyPr wrap="square" lIns="0" tIns="0" rIns="0" bIns="0" rtlCol="0" anchor="t"/>
          <a:lstStyle/>
          <a:p>
            <a:pPr indent="0" marL="0">
              <a:buNone/>
            </a:pPr>
            <a:r>
              <a:rPr lang="en-US" sz="1050" dirty="0">
                <a:solidFill>
                  <a:srgbClr val="F5F1E8"/>
                </a:solidFill>
                <a:latin typeface="BIZ UDPGothic" pitchFamily="34" charset="0"/>
                <a:ea typeface="BIZ UDPGothic" pitchFamily="34" charset="-122"/>
                <a:cs typeface="BIZ UDPGothic" pitchFamily="34" charset="-120"/>
              </a:rPr>
              <a:t>仕事をほかの計算資源へ、安全に任せる仕組み</a:t>
            </a:r>
            <a:endParaRPr lang="en-US" sz="1050" dirty="0"/>
          </a:p>
        </p:txBody>
      </p:sp>
      <p:sp>
        <p:nvSpPr>
          <p:cNvPr id="19" name="Text 17"/>
          <p:cNvSpPr/>
          <p:nvPr/>
        </p:nvSpPr>
        <p:spPr>
          <a:xfrm>
            <a:off x="411480" y="3273552"/>
            <a:ext cx="2743200" cy="201168"/>
          </a:xfrm>
          <a:prstGeom prst="rect">
            <a:avLst/>
          </a:prstGeom>
          <a:noFill/>
          <a:ln/>
        </p:spPr>
        <p:txBody>
          <a:bodyPr wrap="square" lIns="0" tIns="0" rIns="0" bIns="0" rtlCol="0" anchor="t"/>
          <a:lstStyle/>
          <a:p>
            <a:pPr indent="0" marL="0">
              <a:buNone/>
            </a:pPr>
            <a:r>
              <a:rPr lang="en-US" sz="900" b="1" dirty="0">
                <a:solidFill>
                  <a:srgbClr val="A7B7A7"/>
                </a:solidFill>
                <a:latin typeface="BIZ UDPGothic" pitchFamily="34" charset="0"/>
                <a:ea typeface="BIZ UDPGothic" pitchFamily="34" charset="-122"/>
                <a:cs typeface="BIZ UDPGothic" pitchFamily="34" charset="-120"/>
              </a:rPr>
              <a:t>対象</a:t>
            </a:r>
            <a:endParaRPr lang="en-US" sz="900" dirty="0"/>
          </a:p>
        </p:txBody>
      </p:sp>
      <p:sp>
        <p:nvSpPr>
          <p:cNvPr id="20" name="Text 18"/>
          <p:cNvSpPr/>
          <p:nvPr/>
        </p:nvSpPr>
        <p:spPr>
          <a:xfrm>
            <a:off x="411480" y="3474720"/>
            <a:ext cx="2788920" cy="384048"/>
          </a:xfrm>
          <a:prstGeom prst="rect">
            <a:avLst/>
          </a:prstGeom>
          <a:noFill/>
          <a:ln/>
        </p:spPr>
        <p:txBody>
          <a:bodyPr wrap="square" lIns="0" tIns="0" rIns="0" bIns="0" rtlCol="0" anchor="t"/>
          <a:lstStyle/>
          <a:p>
            <a:pPr indent="0" marL="0">
              <a:buNone/>
            </a:pPr>
            <a:r>
              <a:rPr lang="en-US" sz="1050" dirty="0">
                <a:solidFill>
                  <a:srgbClr val="F5F1E8"/>
                </a:solidFill>
                <a:latin typeface="BIZ UDPGothic" pitchFamily="34" charset="0"/>
                <a:ea typeface="BIZ UDPGothic" pitchFamily="34" charset="-122"/>
                <a:cs typeface="BIZ UDPGothic" pitchFamily="34" charset="-120"/>
              </a:rPr>
              <a:t>業務端末・個人の作業機・専用サーバー・ブラウザー・クラウド</a:t>
            </a:r>
            <a:endParaRPr lang="en-US" sz="1050" dirty="0"/>
          </a:p>
        </p:txBody>
      </p:sp>
      <p:sp>
        <p:nvSpPr>
          <p:cNvPr id="21" name="Text 19"/>
          <p:cNvSpPr/>
          <p:nvPr/>
        </p:nvSpPr>
        <p:spPr>
          <a:xfrm>
            <a:off x="411480" y="3941064"/>
            <a:ext cx="2743200" cy="201168"/>
          </a:xfrm>
          <a:prstGeom prst="rect">
            <a:avLst/>
          </a:prstGeom>
          <a:noFill/>
          <a:ln/>
        </p:spPr>
        <p:txBody>
          <a:bodyPr wrap="square" lIns="0" tIns="0" rIns="0" bIns="0" rtlCol="0" anchor="t"/>
          <a:lstStyle/>
          <a:p>
            <a:pPr indent="0" marL="0">
              <a:buNone/>
            </a:pPr>
            <a:r>
              <a:rPr lang="en-US" sz="900" b="1" dirty="0">
                <a:solidFill>
                  <a:srgbClr val="A7B7A7"/>
                </a:solidFill>
                <a:latin typeface="BIZ UDPGothic" pitchFamily="34" charset="0"/>
                <a:ea typeface="BIZ UDPGothic" pitchFamily="34" charset="-122"/>
                <a:cs typeface="BIZ UDPGothic" pitchFamily="34" charset="-120"/>
              </a:rPr>
              <a:t>卦の像</a:t>
            </a:r>
            <a:endParaRPr lang="en-US" sz="900" dirty="0"/>
          </a:p>
        </p:txBody>
      </p:sp>
      <p:sp>
        <p:nvSpPr>
          <p:cNvPr id="22" name="Text 20"/>
          <p:cNvSpPr/>
          <p:nvPr/>
        </p:nvSpPr>
        <p:spPr>
          <a:xfrm>
            <a:off x="411480" y="4142232"/>
            <a:ext cx="2788920" cy="548640"/>
          </a:xfrm>
          <a:prstGeom prst="rect">
            <a:avLst/>
          </a:prstGeom>
          <a:noFill/>
          <a:ln/>
        </p:spPr>
        <p:txBody>
          <a:bodyPr wrap="square" lIns="0" tIns="0" rIns="0" bIns="0" rtlCol="0" anchor="t"/>
          <a:lstStyle/>
          <a:p>
            <a:pPr indent="0" marL="0">
              <a:buNone/>
            </a:pPr>
            <a:r>
              <a:rPr lang="en-US" sz="1050" dirty="0">
                <a:solidFill>
                  <a:srgbClr val="F5F1E8"/>
                </a:solidFill>
                <a:latin typeface="BIZ UDPGothic" pitchFamily="34" charset="0"/>
                <a:ea typeface="BIZ UDPGothic" pitchFamily="34" charset="-122"/>
                <a:cs typeface="BIZ UDPGothic" pitchFamily="34" charset="-120"/>
              </a:rPr>
              <a:t>益は上を損じて下を益す像。余った力を、条件を守って必要な仕事へ回す</a:t>
            </a:r>
            <a:endParaRPr lang="en-US" sz="1050" dirty="0"/>
          </a:p>
        </p:txBody>
      </p:sp>
      <p:sp>
        <p:nvSpPr>
          <p:cNvPr id="23" name="Shape 21"/>
          <p:cNvSpPr/>
          <p:nvPr/>
        </p:nvSpPr>
        <p:spPr>
          <a:xfrm>
            <a:off x="320040" y="5029200"/>
            <a:ext cx="2880360" cy="1600200"/>
          </a:xfrm>
          <a:prstGeom prst="rect">
            <a:avLst/>
          </a:prstGeom>
          <a:solidFill>
            <a:srgbClr val="000000">
              <a:alpha val="22000"/>
            </a:srgbClr>
          </a:solidFill>
          <a:ln/>
        </p:spPr>
      </p:sp>
      <p:sp>
        <p:nvSpPr>
          <p:cNvPr id="24" name="Text 22"/>
          <p:cNvSpPr/>
          <p:nvPr/>
        </p:nvSpPr>
        <p:spPr>
          <a:xfrm>
            <a:off x="457200" y="5120640"/>
            <a:ext cx="2651760" cy="201168"/>
          </a:xfrm>
          <a:prstGeom prst="rect">
            <a:avLst/>
          </a:prstGeom>
          <a:noFill/>
          <a:ln/>
        </p:spPr>
        <p:txBody>
          <a:bodyPr wrap="square" lIns="0" tIns="0" rIns="0" bIns="0" rtlCol="0" anchor="t"/>
          <a:lstStyle/>
          <a:p>
            <a:pPr indent="0" marL="0">
              <a:buNone/>
            </a:pPr>
            <a:r>
              <a:rPr lang="en-US" sz="900" b="1" dirty="0">
                <a:solidFill>
                  <a:srgbClr val="C4A06D"/>
                </a:solidFill>
                <a:latin typeface="BIZ UDPGothic" pitchFamily="34" charset="0"/>
                <a:ea typeface="BIZ UDPGothic" pitchFamily="34" charset="-122"/>
                <a:cs typeface="BIZ UDPGothic" pitchFamily="34" charset="-120"/>
              </a:rPr>
              <a:t>確認できていること</a:t>
            </a:r>
            <a:endParaRPr lang="en-US" sz="900" dirty="0"/>
          </a:p>
        </p:txBody>
      </p:sp>
      <p:sp>
        <p:nvSpPr>
          <p:cNvPr id="25" name="Text 23"/>
          <p:cNvSpPr/>
          <p:nvPr/>
        </p:nvSpPr>
        <p:spPr>
          <a:xfrm>
            <a:off x="457200" y="5321808"/>
            <a:ext cx="2651760" cy="566928"/>
          </a:xfrm>
          <a:prstGeom prst="rect">
            <a:avLst/>
          </a:prstGeom>
          <a:noFill/>
          <a:ln/>
        </p:spPr>
        <p:txBody>
          <a:bodyPr wrap="square" lIns="0" tIns="0" rIns="0" bIns="0" rtlCol="0" anchor="t"/>
          <a:lstStyle/>
          <a:p>
            <a:pPr indent="0" marL="0">
              <a:buNone/>
            </a:pPr>
            <a:r>
              <a:rPr lang="en-US" sz="1000" dirty="0">
                <a:solidFill>
                  <a:srgbClr val="F5F1E8"/>
                </a:solidFill>
                <a:latin typeface="BIZ UDPGothic" pitchFamily="34" charset="0"/>
                <a:ea typeface="BIZ UDPGothic" pitchFamily="34" charset="-122"/>
                <a:cs typeface="BIZ UDPGothic" pitchFamily="34" charset="-120"/>
              </a:rPr>
              <a:t>合成した仕事を受け付け、待機状態を観測する参照試験。TAIから認証と受付を確認</a:t>
            </a:r>
            <a:endParaRPr lang="en-US" sz="1000" dirty="0"/>
          </a:p>
        </p:txBody>
      </p:sp>
      <p:sp>
        <p:nvSpPr>
          <p:cNvPr id="26" name="Text 24"/>
          <p:cNvSpPr/>
          <p:nvPr/>
        </p:nvSpPr>
        <p:spPr>
          <a:xfrm>
            <a:off x="457200" y="5907024"/>
            <a:ext cx="2651760" cy="201168"/>
          </a:xfrm>
          <a:prstGeom prst="rect">
            <a:avLst/>
          </a:prstGeom>
          <a:noFill/>
          <a:ln/>
        </p:spPr>
        <p:txBody>
          <a:bodyPr wrap="square" lIns="0" tIns="0" rIns="0" bIns="0" rtlCol="0" anchor="t"/>
          <a:lstStyle/>
          <a:p>
            <a:pPr indent="0" marL="0">
              <a:buNone/>
            </a:pPr>
            <a:r>
              <a:rPr lang="en-US" sz="900" b="1" dirty="0">
                <a:solidFill>
                  <a:srgbClr val="E0A890"/>
                </a:solidFill>
                <a:latin typeface="BIZ UDPGothic" pitchFamily="34" charset="0"/>
                <a:ea typeface="BIZ UDPGothic" pitchFamily="34" charset="-122"/>
                <a:cs typeface="BIZ UDPGothic" pitchFamily="34" charset="-120"/>
              </a:rPr>
              <a:t>まだ確認していないこと</a:t>
            </a:r>
            <a:endParaRPr lang="en-US" sz="900" dirty="0"/>
          </a:p>
        </p:txBody>
      </p:sp>
      <p:sp>
        <p:nvSpPr>
          <p:cNvPr id="27" name="Text 25"/>
          <p:cNvSpPr/>
          <p:nvPr/>
        </p:nvSpPr>
        <p:spPr>
          <a:xfrm>
            <a:off x="457200" y="6108192"/>
            <a:ext cx="2651760" cy="475488"/>
          </a:xfrm>
          <a:prstGeom prst="rect">
            <a:avLst/>
          </a:prstGeom>
          <a:noFill/>
          <a:ln/>
        </p:spPr>
        <p:txBody>
          <a:bodyPr wrap="square" lIns="0" tIns="0" rIns="0" bIns="0" rtlCol="0" anchor="t"/>
          <a:lstStyle/>
          <a:p>
            <a:pPr indent="0" marL="0">
              <a:buNone/>
            </a:pPr>
            <a:r>
              <a:rPr lang="en-US" sz="1000" dirty="0">
                <a:solidFill>
                  <a:srgbClr val="F5F1E8"/>
                </a:solidFill>
                <a:latin typeface="BIZ UDPGothic" pitchFamily="34" charset="0"/>
                <a:ea typeface="BIZ UDPGothic" pitchFamily="34" charset="-122"/>
                <a:cs typeface="BIZ UDPGothic" pitchFamily="34" charset="-120"/>
              </a:rPr>
              <a:t>実行端末での実処理、結果の独立した検証、本番での安全な委任</a:t>
            </a:r>
            <a:endParaRPr lang="en-US" sz="1000" dirty="0"/>
          </a:p>
        </p:txBody>
      </p:sp>
      <p:sp>
        <p:nvSpPr>
          <p:cNvPr id="28" name="Text 26"/>
          <p:cNvSpPr/>
          <p:nvPr/>
        </p:nvSpPr>
        <p:spPr>
          <a:xfrm>
            <a:off x="3886200" y="274320"/>
            <a:ext cx="780257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a:t>
            </a:r>
            <a:endParaRPr lang="en-US" sz="950" dirty="0"/>
          </a:p>
        </p:txBody>
      </p:sp>
      <p:sp>
        <p:nvSpPr>
          <p:cNvPr id="29" name="Text 27"/>
          <p:cNvSpPr/>
          <p:nvPr/>
        </p:nvSpPr>
        <p:spPr>
          <a:xfrm>
            <a:off x="3886200" y="530352"/>
            <a:ext cx="780257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誰に、何を、どの条件で任せ、どう確かめるか</a:t>
            </a:r>
            <a:endParaRPr lang="en-US" sz="2500" dirty="0"/>
          </a:p>
        </p:txBody>
      </p:sp>
      <p:sp>
        <p:nvSpPr>
          <p:cNvPr id="30" name="Text 28"/>
          <p:cNvSpPr/>
          <p:nvPr/>
        </p:nvSpPr>
        <p:spPr>
          <a:xfrm>
            <a:off x="3886200" y="1097280"/>
            <a:ext cx="780257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中心は計算資源を集めることではなく、委任の仕組み。計算に余裕があっても、利用者の作業・データの所在・安全・費用を優先する。</a:t>
            </a:r>
            <a:endParaRPr lang="en-US" sz="1300" dirty="0"/>
          </a:p>
        </p:txBody>
      </p:sp>
      <p:sp>
        <p:nvSpPr>
          <p:cNvPr id="31" name="Text 29"/>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18</a:t>
            </a:r>
            <a:endParaRPr lang="en-US" sz="1000" dirty="0"/>
          </a:p>
        </p:txBody>
      </p:sp>
      <p:sp>
        <p:nvSpPr>
          <p:cNvPr id="32" name="Text 30"/>
          <p:cNvSpPr/>
          <p:nvPr/>
        </p:nvSpPr>
        <p:spPr>
          <a:xfrm>
            <a:off x="3886200" y="1600200"/>
            <a:ext cx="4572000" cy="256032"/>
          </a:xfrm>
          <a:prstGeom prst="rect">
            <a:avLst/>
          </a:prstGeom>
          <a:noFill/>
          <a:ln/>
        </p:spPr>
        <p:txBody>
          <a:bodyPr wrap="square" lIns="0" tIns="0" rIns="0" bIns="0" rtlCol="0" anchor="t"/>
          <a:lstStyle/>
          <a:p>
            <a:pPr indent="0" marL="0">
              <a:buNone/>
            </a:pPr>
            <a:r>
              <a:rPr lang="en-US" sz="1150" b="1" dirty="0">
                <a:solidFill>
                  <a:srgbClr val="8C5A44"/>
                </a:solidFill>
                <a:latin typeface="BIZ UDPGothic" pitchFamily="34" charset="0"/>
                <a:ea typeface="BIZ UDPGothic" pitchFamily="34" charset="-122"/>
                <a:cs typeface="BIZ UDPGothic" pitchFamily="34" charset="-120"/>
              </a:rPr>
              <a:t>委任の五つの段階</a:t>
            </a:r>
            <a:endParaRPr lang="en-US" sz="1150" dirty="0"/>
          </a:p>
        </p:txBody>
      </p:sp>
      <p:sp>
        <p:nvSpPr>
          <p:cNvPr id="33" name="Shape 31"/>
          <p:cNvSpPr/>
          <p:nvPr/>
        </p:nvSpPr>
        <p:spPr>
          <a:xfrm>
            <a:off x="3886200" y="1874520"/>
            <a:ext cx="1414211" cy="822960"/>
          </a:xfrm>
          <a:prstGeom prst="rect">
            <a:avLst/>
          </a:prstGeom>
          <a:solidFill>
            <a:srgbClr val="FFFFFF"/>
          </a:solidFill>
          <a:ln w="9525">
            <a:solidFill>
              <a:srgbClr val="DCD5C6"/>
            </a:solidFill>
            <a:prstDash val="solid"/>
          </a:ln>
        </p:spPr>
      </p:sp>
      <p:sp>
        <p:nvSpPr>
          <p:cNvPr id="34" name="Shape 32"/>
          <p:cNvSpPr/>
          <p:nvPr/>
        </p:nvSpPr>
        <p:spPr>
          <a:xfrm>
            <a:off x="3886200" y="1874520"/>
            <a:ext cx="1414211" cy="45720"/>
          </a:xfrm>
          <a:prstGeom prst="rect">
            <a:avLst/>
          </a:prstGeom>
          <a:solidFill>
            <a:srgbClr val="8C5A44"/>
          </a:solidFill>
          <a:ln/>
        </p:spPr>
      </p:sp>
      <p:sp>
        <p:nvSpPr>
          <p:cNvPr id="35" name="Text 33"/>
          <p:cNvSpPr/>
          <p:nvPr/>
        </p:nvSpPr>
        <p:spPr>
          <a:xfrm>
            <a:off x="3941064" y="1947672"/>
            <a:ext cx="1304483" cy="370332"/>
          </a:xfrm>
          <a:prstGeom prst="rect">
            <a:avLst/>
          </a:prstGeom>
          <a:noFill/>
          <a:ln/>
        </p:spPr>
        <p:txBody>
          <a:bodyPr wrap="square" lIns="0" tIns="0" rIns="0" bIns="0" rtlCol="0" anchor="ctr"/>
          <a:lstStyle/>
          <a:p>
            <a:pPr algn="ctr" indent="0" marL="0">
              <a:buNone/>
            </a:pPr>
            <a:r>
              <a:rPr lang="en-US" sz="1350" b="1" dirty="0">
                <a:solidFill>
                  <a:srgbClr val="243D54"/>
                </a:solidFill>
                <a:latin typeface="BIZ UDPGothic" pitchFamily="34" charset="0"/>
                <a:ea typeface="BIZ UDPGothic" pitchFamily="34" charset="-122"/>
                <a:cs typeface="BIZ UDPGothic" pitchFamily="34" charset="-120"/>
              </a:rPr>
              <a:t>依頼</a:t>
            </a:r>
            <a:endParaRPr lang="en-US" sz="1350" dirty="0"/>
          </a:p>
        </p:txBody>
      </p:sp>
      <p:sp>
        <p:nvSpPr>
          <p:cNvPr id="36" name="Text 34"/>
          <p:cNvSpPr/>
          <p:nvPr/>
        </p:nvSpPr>
        <p:spPr>
          <a:xfrm>
            <a:off x="3941064" y="2286000"/>
            <a:ext cx="1304483" cy="378562"/>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誰が、どの範囲を</a:t>
            </a:r>
            <a:endParaRPr lang="en-US" sz="1000" dirty="0"/>
          </a:p>
        </p:txBody>
      </p:sp>
      <p:sp>
        <p:nvSpPr>
          <p:cNvPr id="37" name="Shape 35"/>
          <p:cNvSpPr/>
          <p:nvPr/>
        </p:nvSpPr>
        <p:spPr>
          <a:xfrm>
            <a:off x="5327843" y="2286000"/>
            <a:ext cx="128016" cy="0"/>
          </a:xfrm>
          <a:prstGeom prst="line">
            <a:avLst/>
          </a:prstGeom>
          <a:noFill/>
          <a:ln w="19050">
            <a:solidFill>
              <a:srgbClr val="8C5A44"/>
            </a:solidFill>
            <a:prstDash val="solid"/>
            <a:tailEnd type="triangle"/>
          </a:ln>
        </p:spPr>
      </p:sp>
      <p:sp>
        <p:nvSpPr>
          <p:cNvPr id="38" name="Shape 36"/>
          <p:cNvSpPr/>
          <p:nvPr/>
        </p:nvSpPr>
        <p:spPr>
          <a:xfrm>
            <a:off x="5483291" y="1874520"/>
            <a:ext cx="1414211" cy="822960"/>
          </a:xfrm>
          <a:prstGeom prst="rect">
            <a:avLst/>
          </a:prstGeom>
          <a:solidFill>
            <a:srgbClr val="FFFFFF"/>
          </a:solidFill>
          <a:ln w="9525">
            <a:solidFill>
              <a:srgbClr val="DCD5C6"/>
            </a:solidFill>
            <a:prstDash val="solid"/>
          </a:ln>
        </p:spPr>
      </p:sp>
      <p:sp>
        <p:nvSpPr>
          <p:cNvPr id="39" name="Shape 37"/>
          <p:cNvSpPr/>
          <p:nvPr/>
        </p:nvSpPr>
        <p:spPr>
          <a:xfrm>
            <a:off x="5483291" y="1874520"/>
            <a:ext cx="1414211" cy="45720"/>
          </a:xfrm>
          <a:prstGeom prst="rect">
            <a:avLst/>
          </a:prstGeom>
          <a:solidFill>
            <a:srgbClr val="8C5A44"/>
          </a:solidFill>
          <a:ln/>
        </p:spPr>
      </p:sp>
      <p:sp>
        <p:nvSpPr>
          <p:cNvPr id="40" name="Text 38"/>
          <p:cNvSpPr/>
          <p:nvPr/>
        </p:nvSpPr>
        <p:spPr>
          <a:xfrm>
            <a:off x="5538155" y="1947672"/>
            <a:ext cx="1304483" cy="370332"/>
          </a:xfrm>
          <a:prstGeom prst="rect">
            <a:avLst/>
          </a:prstGeom>
          <a:noFill/>
          <a:ln/>
        </p:spPr>
        <p:txBody>
          <a:bodyPr wrap="square" lIns="0" tIns="0" rIns="0" bIns="0" rtlCol="0" anchor="ctr"/>
          <a:lstStyle/>
          <a:p>
            <a:pPr algn="ctr" indent="0" marL="0">
              <a:buNone/>
            </a:pPr>
            <a:r>
              <a:rPr lang="en-US" sz="1350" b="1" dirty="0">
                <a:solidFill>
                  <a:srgbClr val="243D54"/>
                </a:solidFill>
                <a:latin typeface="BIZ UDPGothic" pitchFamily="34" charset="0"/>
                <a:ea typeface="BIZ UDPGothic" pitchFamily="34" charset="-122"/>
                <a:cs typeface="BIZ UDPGothic" pitchFamily="34" charset="-120"/>
              </a:rPr>
              <a:t>受理</a:t>
            </a:r>
            <a:endParaRPr lang="en-US" sz="1350" dirty="0"/>
          </a:p>
        </p:txBody>
      </p:sp>
      <p:sp>
        <p:nvSpPr>
          <p:cNvPr id="41" name="Text 39"/>
          <p:cNvSpPr/>
          <p:nvPr/>
        </p:nvSpPr>
        <p:spPr>
          <a:xfrm>
            <a:off x="5538155" y="2286000"/>
            <a:ext cx="1304483" cy="378562"/>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委任先が受け付けたか</a:t>
            </a:r>
            <a:endParaRPr lang="en-US" sz="1000" dirty="0"/>
          </a:p>
        </p:txBody>
      </p:sp>
      <p:sp>
        <p:nvSpPr>
          <p:cNvPr id="42" name="Shape 40"/>
          <p:cNvSpPr/>
          <p:nvPr/>
        </p:nvSpPr>
        <p:spPr>
          <a:xfrm>
            <a:off x="6924934" y="2286000"/>
            <a:ext cx="128016" cy="0"/>
          </a:xfrm>
          <a:prstGeom prst="line">
            <a:avLst/>
          </a:prstGeom>
          <a:noFill/>
          <a:ln w="19050">
            <a:solidFill>
              <a:srgbClr val="8C5A44"/>
            </a:solidFill>
            <a:prstDash val="solid"/>
            <a:tailEnd type="triangle"/>
          </a:ln>
        </p:spPr>
      </p:sp>
      <p:sp>
        <p:nvSpPr>
          <p:cNvPr id="43" name="Shape 41"/>
          <p:cNvSpPr/>
          <p:nvPr/>
        </p:nvSpPr>
        <p:spPr>
          <a:xfrm>
            <a:off x="7080382" y="1874520"/>
            <a:ext cx="1414211" cy="822960"/>
          </a:xfrm>
          <a:prstGeom prst="rect">
            <a:avLst/>
          </a:prstGeom>
          <a:solidFill>
            <a:srgbClr val="FFFFFF"/>
          </a:solidFill>
          <a:ln w="9525">
            <a:solidFill>
              <a:srgbClr val="DCD5C6"/>
            </a:solidFill>
            <a:prstDash val="solid"/>
          </a:ln>
        </p:spPr>
      </p:sp>
      <p:sp>
        <p:nvSpPr>
          <p:cNvPr id="44" name="Shape 42"/>
          <p:cNvSpPr/>
          <p:nvPr/>
        </p:nvSpPr>
        <p:spPr>
          <a:xfrm>
            <a:off x="7080382" y="1874520"/>
            <a:ext cx="1414211" cy="45720"/>
          </a:xfrm>
          <a:prstGeom prst="rect">
            <a:avLst/>
          </a:prstGeom>
          <a:solidFill>
            <a:srgbClr val="8C5A44"/>
          </a:solidFill>
          <a:ln/>
        </p:spPr>
      </p:sp>
      <p:sp>
        <p:nvSpPr>
          <p:cNvPr id="45" name="Text 43"/>
          <p:cNvSpPr/>
          <p:nvPr/>
        </p:nvSpPr>
        <p:spPr>
          <a:xfrm>
            <a:off x="7135246" y="1947672"/>
            <a:ext cx="1304483" cy="370332"/>
          </a:xfrm>
          <a:prstGeom prst="rect">
            <a:avLst/>
          </a:prstGeom>
          <a:noFill/>
          <a:ln/>
        </p:spPr>
        <p:txBody>
          <a:bodyPr wrap="square" lIns="0" tIns="0" rIns="0" bIns="0" rtlCol="0" anchor="ctr"/>
          <a:lstStyle/>
          <a:p>
            <a:pPr algn="ctr" indent="0" marL="0">
              <a:buNone/>
            </a:pPr>
            <a:r>
              <a:rPr lang="en-US" sz="1350" b="1" dirty="0">
                <a:solidFill>
                  <a:srgbClr val="243D54"/>
                </a:solidFill>
                <a:latin typeface="BIZ UDPGothic" pitchFamily="34" charset="0"/>
                <a:ea typeface="BIZ UDPGothic" pitchFamily="34" charset="-122"/>
                <a:cs typeface="BIZ UDPGothic" pitchFamily="34" charset="-120"/>
              </a:rPr>
              <a:t>実行</a:t>
            </a:r>
            <a:endParaRPr lang="en-US" sz="1350" dirty="0"/>
          </a:p>
        </p:txBody>
      </p:sp>
      <p:sp>
        <p:nvSpPr>
          <p:cNvPr id="46" name="Text 44"/>
          <p:cNvSpPr/>
          <p:nvPr/>
        </p:nvSpPr>
        <p:spPr>
          <a:xfrm>
            <a:off x="7135246" y="2286000"/>
            <a:ext cx="1304483" cy="378562"/>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実際に行われたか</a:t>
            </a:r>
            <a:endParaRPr lang="en-US" sz="1000" dirty="0"/>
          </a:p>
        </p:txBody>
      </p:sp>
      <p:sp>
        <p:nvSpPr>
          <p:cNvPr id="47" name="Shape 45"/>
          <p:cNvSpPr/>
          <p:nvPr/>
        </p:nvSpPr>
        <p:spPr>
          <a:xfrm>
            <a:off x="8522025" y="2286000"/>
            <a:ext cx="128016" cy="0"/>
          </a:xfrm>
          <a:prstGeom prst="line">
            <a:avLst/>
          </a:prstGeom>
          <a:noFill/>
          <a:ln w="19050">
            <a:solidFill>
              <a:srgbClr val="8C5A44"/>
            </a:solidFill>
            <a:prstDash val="solid"/>
            <a:tailEnd type="triangle"/>
          </a:ln>
        </p:spPr>
      </p:sp>
      <p:sp>
        <p:nvSpPr>
          <p:cNvPr id="48" name="Shape 46"/>
          <p:cNvSpPr/>
          <p:nvPr/>
        </p:nvSpPr>
        <p:spPr>
          <a:xfrm>
            <a:off x="8677473" y="1874520"/>
            <a:ext cx="1414211" cy="822960"/>
          </a:xfrm>
          <a:prstGeom prst="rect">
            <a:avLst/>
          </a:prstGeom>
          <a:solidFill>
            <a:srgbClr val="FFFFFF"/>
          </a:solidFill>
          <a:ln w="9525">
            <a:solidFill>
              <a:srgbClr val="DCD5C6"/>
            </a:solidFill>
            <a:prstDash val="solid"/>
          </a:ln>
        </p:spPr>
      </p:sp>
      <p:sp>
        <p:nvSpPr>
          <p:cNvPr id="49" name="Shape 47"/>
          <p:cNvSpPr/>
          <p:nvPr/>
        </p:nvSpPr>
        <p:spPr>
          <a:xfrm>
            <a:off x="8677473" y="1874520"/>
            <a:ext cx="1414211" cy="45720"/>
          </a:xfrm>
          <a:prstGeom prst="rect">
            <a:avLst/>
          </a:prstGeom>
          <a:solidFill>
            <a:srgbClr val="8C5A44"/>
          </a:solidFill>
          <a:ln/>
        </p:spPr>
      </p:sp>
      <p:sp>
        <p:nvSpPr>
          <p:cNvPr id="50" name="Text 48"/>
          <p:cNvSpPr/>
          <p:nvPr/>
        </p:nvSpPr>
        <p:spPr>
          <a:xfrm>
            <a:off x="8732337" y="1947672"/>
            <a:ext cx="1304483" cy="370332"/>
          </a:xfrm>
          <a:prstGeom prst="rect">
            <a:avLst/>
          </a:prstGeom>
          <a:noFill/>
          <a:ln/>
        </p:spPr>
        <p:txBody>
          <a:bodyPr wrap="square" lIns="0" tIns="0" rIns="0" bIns="0" rtlCol="0" anchor="ctr"/>
          <a:lstStyle/>
          <a:p>
            <a:pPr algn="ctr" indent="0" marL="0">
              <a:buNone/>
            </a:pPr>
            <a:r>
              <a:rPr lang="en-US" sz="1350" b="1" dirty="0">
                <a:solidFill>
                  <a:srgbClr val="243D54"/>
                </a:solidFill>
                <a:latin typeface="BIZ UDPGothic" pitchFamily="34" charset="0"/>
                <a:ea typeface="BIZ UDPGothic" pitchFamily="34" charset="-122"/>
                <a:cs typeface="BIZ UDPGothic" pitchFamily="34" charset="-120"/>
              </a:rPr>
              <a:t>結果</a:t>
            </a:r>
            <a:endParaRPr lang="en-US" sz="1350" dirty="0"/>
          </a:p>
        </p:txBody>
      </p:sp>
      <p:sp>
        <p:nvSpPr>
          <p:cNvPr id="51" name="Text 49"/>
          <p:cNvSpPr/>
          <p:nvPr/>
        </p:nvSpPr>
        <p:spPr>
          <a:xfrm>
            <a:off x="8732337" y="2286000"/>
            <a:ext cx="1304483" cy="378562"/>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必要な方法で確認したか</a:t>
            </a:r>
            <a:endParaRPr lang="en-US" sz="1000" dirty="0"/>
          </a:p>
        </p:txBody>
      </p:sp>
      <p:sp>
        <p:nvSpPr>
          <p:cNvPr id="52" name="Shape 50"/>
          <p:cNvSpPr/>
          <p:nvPr/>
        </p:nvSpPr>
        <p:spPr>
          <a:xfrm>
            <a:off x="10119116" y="2286000"/>
            <a:ext cx="128016" cy="0"/>
          </a:xfrm>
          <a:prstGeom prst="line">
            <a:avLst/>
          </a:prstGeom>
          <a:noFill/>
          <a:ln w="19050">
            <a:solidFill>
              <a:srgbClr val="8C5A44"/>
            </a:solidFill>
            <a:prstDash val="solid"/>
            <a:tailEnd type="triangle"/>
          </a:ln>
        </p:spPr>
      </p:sp>
      <p:sp>
        <p:nvSpPr>
          <p:cNvPr id="53" name="Shape 51"/>
          <p:cNvSpPr/>
          <p:nvPr/>
        </p:nvSpPr>
        <p:spPr>
          <a:xfrm>
            <a:off x="10274564" y="1874520"/>
            <a:ext cx="1414211" cy="822960"/>
          </a:xfrm>
          <a:prstGeom prst="rect">
            <a:avLst/>
          </a:prstGeom>
          <a:solidFill>
            <a:srgbClr val="FFFFFF"/>
          </a:solidFill>
          <a:ln w="9525">
            <a:solidFill>
              <a:srgbClr val="DCD5C6"/>
            </a:solidFill>
            <a:prstDash val="solid"/>
          </a:ln>
        </p:spPr>
      </p:sp>
      <p:sp>
        <p:nvSpPr>
          <p:cNvPr id="54" name="Shape 52"/>
          <p:cNvSpPr/>
          <p:nvPr/>
        </p:nvSpPr>
        <p:spPr>
          <a:xfrm>
            <a:off x="10274564" y="1874520"/>
            <a:ext cx="1414211" cy="45720"/>
          </a:xfrm>
          <a:prstGeom prst="rect">
            <a:avLst/>
          </a:prstGeom>
          <a:solidFill>
            <a:srgbClr val="8C5A44"/>
          </a:solidFill>
          <a:ln/>
        </p:spPr>
      </p:sp>
      <p:sp>
        <p:nvSpPr>
          <p:cNvPr id="55" name="Text 53"/>
          <p:cNvSpPr/>
          <p:nvPr/>
        </p:nvSpPr>
        <p:spPr>
          <a:xfrm>
            <a:off x="10329428" y="1947672"/>
            <a:ext cx="1304483" cy="370332"/>
          </a:xfrm>
          <a:prstGeom prst="rect">
            <a:avLst/>
          </a:prstGeom>
          <a:noFill/>
          <a:ln/>
        </p:spPr>
        <p:txBody>
          <a:bodyPr wrap="square" lIns="0" tIns="0" rIns="0" bIns="0" rtlCol="0" anchor="ctr"/>
          <a:lstStyle/>
          <a:p>
            <a:pPr algn="ctr" indent="0" marL="0">
              <a:buNone/>
            </a:pPr>
            <a:r>
              <a:rPr lang="en-US" sz="1350" b="1" dirty="0">
                <a:solidFill>
                  <a:srgbClr val="243D54"/>
                </a:solidFill>
                <a:latin typeface="BIZ UDPGothic" pitchFamily="34" charset="0"/>
                <a:ea typeface="BIZ UDPGothic" pitchFamily="34" charset="-122"/>
                <a:cs typeface="BIZ UDPGothic" pitchFamily="34" charset="-120"/>
              </a:rPr>
              <a:t>記録</a:t>
            </a:r>
            <a:endParaRPr lang="en-US" sz="1350" dirty="0"/>
          </a:p>
        </p:txBody>
      </p:sp>
      <p:sp>
        <p:nvSpPr>
          <p:cNvPr id="56" name="Text 54"/>
          <p:cNvSpPr/>
          <p:nvPr/>
        </p:nvSpPr>
        <p:spPr>
          <a:xfrm>
            <a:off x="10329428" y="2286000"/>
            <a:ext cx="1304483" cy="378562"/>
          </a:xfrm>
          <a:prstGeom prst="rect">
            <a:avLst/>
          </a:prstGeom>
          <a:noFill/>
          <a:ln/>
        </p:spPr>
        <p:txBody>
          <a:bodyPr wrap="square" lIns="0" tIns="0" rIns="0" bIns="0" rtlCol="0" anchor="t"/>
          <a:lstStyle/>
          <a:p>
            <a:pPr algn="ctr" indent="0" marL="0">
              <a:buNone/>
            </a:pPr>
            <a:r>
              <a:rPr lang="en-US" sz="1000" dirty="0">
                <a:solidFill>
                  <a:srgbClr val="56636E"/>
                </a:solidFill>
                <a:latin typeface="BIZ UDPGothic" pitchFamily="34" charset="0"/>
                <a:ea typeface="BIZ UDPGothic" pitchFamily="34" charset="-122"/>
                <a:cs typeface="BIZ UDPGothic" pitchFamily="34" charset="-120"/>
              </a:rPr>
              <a:t>後から経緯をたどれるか</a:t>
            </a:r>
            <a:endParaRPr lang="en-US" sz="1000" dirty="0"/>
          </a:p>
        </p:txBody>
      </p:sp>
      <p:sp>
        <p:nvSpPr>
          <p:cNvPr id="57" name="Text 55"/>
          <p:cNvSpPr/>
          <p:nvPr/>
        </p:nvSpPr>
        <p:spPr>
          <a:xfrm>
            <a:off x="3886200" y="2907792"/>
            <a:ext cx="5486400" cy="256032"/>
          </a:xfrm>
          <a:prstGeom prst="rect">
            <a:avLst/>
          </a:prstGeom>
          <a:noFill/>
          <a:ln/>
        </p:spPr>
        <p:txBody>
          <a:bodyPr wrap="square" lIns="0" tIns="0" rIns="0" bIns="0" rtlCol="0" anchor="t"/>
          <a:lstStyle/>
          <a:p>
            <a:pPr indent="0" marL="0">
              <a:buNone/>
            </a:pPr>
            <a:r>
              <a:rPr lang="en-US" sz="1150" b="1" dirty="0">
                <a:solidFill>
                  <a:srgbClr val="8C5A44"/>
                </a:solidFill>
                <a:latin typeface="BIZ UDPGothic" pitchFamily="34" charset="0"/>
                <a:ea typeface="BIZ UDPGothic" pitchFamily="34" charset="-122"/>
                <a:cs typeface="BIZ UDPGothic" pitchFamily="34" charset="-120"/>
              </a:rPr>
              <a:t>確認できたことと、それだけでは確定しないこと</a:t>
            </a:r>
            <a:endParaRPr lang="en-US" sz="11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886200" y="3200400"/>
          <a:ext cx="4572000" cy="914400"/>
        </p:xfrm>
        <a:graphic>
          <a:graphicData uri="http://schemas.openxmlformats.org/drawingml/2006/table">
            <a:tbl>
              <a:tblPr/>
              <a:tblGrid>
                <a:gridCol w="2286000"/>
                <a:gridCol w="2286000"/>
              </a:tblGrid>
              <a:tr h="365760">
                <a:tc>
                  <a:txBody>
                    <a:bodyPr/>
                    <a:lstStyle/>
                    <a:p>
                      <a:pPr indent="0" marL="0">
                        <a:buNone/>
                      </a:pPr>
                      <a:r>
                        <a:rPr lang="en-US" sz="1000" b="1" dirty="0">
                          <a:solidFill>
                            <a:srgbClr val="F5F1E8"/>
                          </a:solidFill>
                          <a:latin typeface="BIZ UDPGothic" pitchFamily="34" charset="0"/>
                          <a:ea typeface="BIZ UDPGothic" pitchFamily="34" charset="-122"/>
                          <a:cs typeface="BIZ UDPGothic" pitchFamily="34" charset="-120"/>
                        </a:rPr>
                        <a:t>確認できたこと</a:t>
                      </a:r>
                      <a:endParaRPr lang="en-US" sz="10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4F3024"/>
                    </a:solidFill>
                  </a:tcPr>
                </a:tc>
                <a:tc>
                  <a:txBody>
                    <a:bodyPr/>
                    <a:lstStyle/>
                    <a:p>
                      <a:pPr indent="0" marL="0">
                        <a:buNone/>
                      </a:pPr>
                      <a:r>
                        <a:rPr lang="en-US" sz="1000" b="1" dirty="0">
                          <a:solidFill>
                            <a:srgbClr val="F5F1E8"/>
                          </a:solidFill>
                          <a:latin typeface="BIZ UDPGothic" pitchFamily="34" charset="0"/>
                          <a:ea typeface="BIZ UDPGothic" pitchFamily="34" charset="-122"/>
                          <a:cs typeface="BIZ UDPGothic" pitchFamily="34" charset="-120"/>
                        </a:rPr>
                        <a:t>それだけでは確定しないこと</a:t>
                      </a:r>
                      <a:endParaRPr lang="en-US" sz="10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4F3024"/>
                    </a:solidFill>
                  </a:tcPr>
                </a:tc>
              </a:tr>
              <a:tr h="365760">
                <a:tc>
                  <a:txBody>
                    <a:bodyPr/>
                    <a:lstStyle/>
                    <a:p>
                      <a:pPr indent="0" marL="0">
                        <a:buNone/>
                      </a:pPr>
                      <a:r>
                        <a:rPr lang="en-US" sz="1100" b="1" dirty="0">
                          <a:solidFill>
                            <a:srgbClr val="243D54"/>
                          </a:solidFill>
                          <a:latin typeface="BIZ UDPGothic" pitchFamily="34" charset="0"/>
                          <a:ea typeface="BIZ UDPGothic" pitchFamily="34" charset="-122"/>
                          <a:cs typeface="BIZ UDPGothic" pitchFamily="34" charset="-120"/>
                        </a:rPr>
                        <a:t>依頼者を認証できた</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100" dirty="0">
                          <a:solidFill>
                            <a:srgbClr val="8C5A44"/>
                          </a:solidFill>
                          <a:latin typeface="BIZ UDPGothic" pitchFamily="34" charset="0"/>
                          <a:ea typeface="BIZ UDPGothic" pitchFamily="34" charset="-122"/>
                          <a:cs typeface="BIZ UDPGothic" pitchFamily="34" charset="-120"/>
                        </a:rPr>
                        <a:t>あらゆる仕事の実行権限</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243D54"/>
                          </a:solidFill>
                          <a:latin typeface="BIZ UDPGothic" pitchFamily="34" charset="0"/>
                          <a:ea typeface="BIZ UDPGothic" pitchFamily="34" charset="-122"/>
                          <a:cs typeface="BIZ UDPGothic" pitchFamily="34" charset="-120"/>
                        </a:rPr>
                        <a:t>実行端末が結果を返した</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100" dirty="0">
                          <a:solidFill>
                            <a:srgbClr val="8C5A44"/>
                          </a:solidFill>
                          <a:latin typeface="BIZ UDPGothic" pitchFamily="34" charset="0"/>
                          <a:ea typeface="BIZ UDPGothic" pitchFamily="34" charset="-122"/>
                          <a:cs typeface="BIZ UDPGothic" pitchFamily="34" charset="-120"/>
                        </a:rPr>
                        <a:t>結果の正しさ</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r h="365760">
                <a:tc>
                  <a:txBody>
                    <a:bodyPr/>
                    <a:lstStyle/>
                    <a:p>
                      <a:pPr indent="0" marL="0">
                        <a:buNone/>
                      </a:pPr>
                      <a:r>
                        <a:rPr lang="en-US" sz="1100" b="1" dirty="0">
                          <a:solidFill>
                            <a:srgbClr val="243D54"/>
                          </a:solidFill>
                          <a:latin typeface="BIZ UDPGothic" pitchFamily="34" charset="0"/>
                          <a:ea typeface="BIZ UDPGothic" pitchFamily="34" charset="-122"/>
                          <a:cs typeface="BIZ UDPGothic" pitchFamily="34" charset="-120"/>
                        </a:rPr>
                        <a:t>実行端末が資源の提供を申告した</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100" dirty="0">
                          <a:solidFill>
                            <a:srgbClr val="8C5A44"/>
                          </a:solidFill>
                          <a:latin typeface="BIZ UDPGothic" pitchFamily="34" charset="0"/>
                          <a:ea typeface="BIZ UDPGothic" pitchFamily="34" charset="-122"/>
                          <a:cs typeface="BIZ UDPGothic" pitchFamily="34" charset="-120"/>
                        </a:rPr>
                        <a:t>実際の貢献量</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243D54"/>
                          </a:solidFill>
                          <a:latin typeface="BIZ UDPGothic" pitchFamily="34" charset="0"/>
                          <a:ea typeface="BIZ UDPGothic" pitchFamily="34" charset="-122"/>
                          <a:cs typeface="BIZ UDPGothic" pitchFamily="34" charset="-120"/>
                        </a:rPr>
                        <a:t>仕事が受付状態になった</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100" dirty="0">
                          <a:solidFill>
                            <a:srgbClr val="8C5A44"/>
                          </a:solidFill>
                          <a:latin typeface="BIZ UDPGothic" pitchFamily="34" charset="0"/>
                          <a:ea typeface="BIZ UDPGothic" pitchFamily="34" charset="-122"/>
                          <a:cs typeface="BIZ UDPGothic" pitchFamily="34" charset="-120"/>
                        </a:rPr>
                        <a:t>仕事の実行完了</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bl>
          </a:graphicData>
        </a:graphic>
      </p:graphicFrame>
      <p:sp>
        <p:nvSpPr>
          <p:cNvPr id="59" name="Shape 56"/>
          <p:cNvSpPr/>
          <p:nvPr/>
        </p:nvSpPr>
        <p:spPr>
          <a:xfrm>
            <a:off x="8686800" y="2907792"/>
            <a:ext cx="3001975" cy="2395728"/>
          </a:xfrm>
          <a:prstGeom prst="rect">
            <a:avLst/>
          </a:prstGeom>
          <a:solidFill>
            <a:srgbClr val="FFFFFF"/>
          </a:solidFill>
          <a:ln w="9525">
            <a:solidFill>
              <a:srgbClr val="DCD5C6"/>
            </a:solidFill>
            <a:prstDash val="solid"/>
          </a:ln>
        </p:spPr>
      </p:sp>
      <p:sp>
        <p:nvSpPr>
          <p:cNvPr id="60" name="Text 57"/>
          <p:cNvSpPr/>
          <p:nvPr/>
        </p:nvSpPr>
        <p:spPr>
          <a:xfrm>
            <a:off x="8869680" y="2999232"/>
            <a:ext cx="2727655" cy="256032"/>
          </a:xfrm>
          <a:prstGeom prst="rect">
            <a:avLst/>
          </a:prstGeom>
          <a:noFill/>
          <a:ln/>
        </p:spPr>
        <p:txBody>
          <a:bodyPr wrap="square" lIns="0" tIns="0" rIns="0" bIns="0" rtlCol="0" anchor="t"/>
          <a:lstStyle/>
          <a:p>
            <a:pPr indent="0" marL="0">
              <a:buNone/>
            </a:pPr>
            <a:r>
              <a:rPr lang="en-US" sz="1200" b="1" dirty="0">
                <a:solidFill>
                  <a:srgbClr val="8C5A44"/>
                </a:solidFill>
                <a:latin typeface="BIZ UDPGothic" pitchFamily="34" charset="0"/>
                <a:ea typeface="BIZ UDPGothic" pitchFamily="34" charset="-122"/>
                <a:cs typeface="BIZ UDPGothic" pitchFamily="34" charset="-120"/>
              </a:rPr>
              <a:t>業務端末の余力を使うとき</a:t>
            </a:r>
            <a:endParaRPr lang="en-US" sz="1200" dirty="0"/>
          </a:p>
        </p:txBody>
      </p:sp>
      <p:sp>
        <p:nvSpPr>
          <p:cNvPr id="61" name="Shape 58"/>
          <p:cNvSpPr/>
          <p:nvPr/>
        </p:nvSpPr>
        <p:spPr>
          <a:xfrm>
            <a:off x="8915400" y="3346704"/>
            <a:ext cx="2544775" cy="347472"/>
          </a:xfrm>
          <a:prstGeom prst="rect">
            <a:avLst/>
          </a:prstGeom>
          <a:solidFill>
            <a:srgbClr val="8C5A44"/>
          </a:solidFill>
          <a:ln/>
        </p:spPr>
      </p:sp>
      <p:sp>
        <p:nvSpPr>
          <p:cNvPr id="62" name="Text 59"/>
          <p:cNvSpPr/>
          <p:nvPr/>
        </p:nvSpPr>
        <p:spPr>
          <a:xfrm>
            <a:off x="8915400" y="3346704"/>
            <a:ext cx="2544775"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BIZ UDPGothic" pitchFamily="34" charset="0"/>
                <a:ea typeface="BIZ UDPGothic" pitchFamily="34" charset="-122"/>
                <a:cs typeface="BIZ UDPGothic" pitchFamily="34" charset="-120"/>
              </a:rPr>
              <a:t>利用者の本来の作業</a:t>
            </a:r>
            <a:endParaRPr lang="en-US" sz="1150" dirty="0"/>
          </a:p>
        </p:txBody>
      </p:sp>
      <p:sp>
        <p:nvSpPr>
          <p:cNvPr id="63" name="Shape 60"/>
          <p:cNvSpPr/>
          <p:nvPr/>
        </p:nvSpPr>
        <p:spPr>
          <a:xfrm>
            <a:off x="8915400" y="3803904"/>
            <a:ext cx="2544775" cy="347472"/>
          </a:xfrm>
          <a:prstGeom prst="rect">
            <a:avLst/>
          </a:prstGeom>
          <a:solidFill>
            <a:srgbClr val="F2E6DE"/>
          </a:solidFill>
          <a:ln/>
        </p:spPr>
      </p:sp>
      <p:sp>
        <p:nvSpPr>
          <p:cNvPr id="64" name="Text 61"/>
          <p:cNvSpPr/>
          <p:nvPr/>
        </p:nvSpPr>
        <p:spPr>
          <a:xfrm>
            <a:off x="8915400" y="3803904"/>
            <a:ext cx="2544775" cy="347472"/>
          </a:xfrm>
          <a:prstGeom prst="rect">
            <a:avLst/>
          </a:prstGeom>
          <a:noFill/>
          <a:ln/>
        </p:spPr>
        <p:txBody>
          <a:bodyPr wrap="square" lIns="0" tIns="0" rIns="0" bIns="0" rtlCol="0" anchor="ctr"/>
          <a:lstStyle/>
          <a:p>
            <a:pPr algn="ctr" indent="0" marL="0">
              <a:buNone/>
            </a:pPr>
            <a:r>
              <a:rPr lang="en-US" sz="1150" b="1" dirty="0">
                <a:solidFill>
                  <a:srgbClr val="8C5A44"/>
                </a:solidFill>
                <a:latin typeface="BIZ UDPGothic" pitchFamily="34" charset="0"/>
                <a:ea typeface="BIZ UDPGothic" pitchFamily="34" charset="-122"/>
                <a:cs typeface="BIZ UDPGothic" pitchFamily="34" charset="-120"/>
              </a:rPr>
              <a:t>端末・通信・電力の安全な余力</a:t>
            </a:r>
            <a:endParaRPr lang="en-US" sz="1150" dirty="0"/>
          </a:p>
        </p:txBody>
      </p:sp>
      <p:sp>
        <p:nvSpPr>
          <p:cNvPr id="65" name="Shape 62"/>
          <p:cNvSpPr/>
          <p:nvPr/>
        </p:nvSpPr>
        <p:spPr>
          <a:xfrm>
            <a:off x="8915400" y="4261104"/>
            <a:ext cx="2544775" cy="347472"/>
          </a:xfrm>
          <a:prstGeom prst="rect">
            <a:avLst/>
          </a:prstGeom>
          <a:solidFill>
            <a:srgbClr val="F2E6DE"/>
          </a:solidFill>
          <a:ln/>
        </p:spPr>
      </p:sp>
      <p:sp>
        <p:nvSpPr>
          <p:cNvPr id="66" name="Text 63"/>
          <p:cNvSpPr/>
          <p:nvPr/>
        </p:nvSpPr>
        <p:spPr>
          <a:xfrm>
            <a:off x="8915400" y="4261104"/>
            <a:ext cx="2544775" cy="347472"/>
          </a:xfrm>
          <a:prstGeom prst="rect">
            <a:avLst/>
          </a:prstGeom>
          <a:noFill/>
          <a:ln/>
        </p:spPr>
        <p:txBody>
          <a:bodyPr wrap="square" lIns="0" tIns="0" rIns="0" bIns="0" rtlCol="0" anchor="ctr"/>
          <a:lstStyle/>
          <a:p>
            <a:pPr algn="ctr" indent="0" marL="0">
              <a:buNone/>
            </a:pPr>
            <a:r>
              <a:rPr lang="en-US" sz="1150" b="1" dirty="0">
                <a:solidFill>
                  <a:srgbClr val="8C5A44"/>
                </a:solidFill>
                <a:latin typeface="BIZ UDPGothic" pitchFamily="34" charset="0"/>
                <a:ea typeface="BIZ UDPGothic" pitchFamily="34" charset="-122"/>
                <a:cs typeface="BIZ UDPGothic" pitchFamily="34" charset="-120"/>
              </a:rPr>
              <a:t>条件に合う計算</a:t>
            </a:r>
            <a:endParaRPr lang="en-US" sz="1150" dirty="0"/>
          </a:p>
        </p:txBody>
      </p:sp>
      <p:sp>
        <p:nvSpPr>
          <p:cNvPr id="67" name="Text 64"/>
          <p:cNvSpPr/>
          <p:nvPr/>
        </p:nvSpPr>
        <p:spPr>
          <a:xfrm>
            <a:off x="8869680" y="4709160"/>
            <a:ext cx="2681935" cy="548640"/>
          </a:xfrm>
          <a:prstGeom prst="rect">
            <a:avLst/>
          </a:prstGeom>
          <a:noFill/>
          <a:ln/>
        </p:spPr>
        <p:txBody>
          <a:bodyPr wrap="square" lIns="0" tIns="0" rIns="0" bIns="0" rtlCol="0" anchor="t"/>
          <a:lstStyle/>
          <a:p>
            <a:pPr indent="0" marL="0">
              <a:buNone/>
            </a:pPr>
            <a:r>
              <a:rPr lang="en-US" sz="1050" dirty="0">
                <a:solidFill>
                  <a:srgbClr val="56636E"/>
                </a:solidFill>
                <a:latin typeface="BIZ UDPGothic" pitchFamily="34" charset="0"/>
                <a:ea typeface="BIZ UDPGothic" pitchFamily="34" charset="-122"/>
                <a:cs typeface="BIZ UDPGothic" pitchFamily="34" charset="-120"/>
              </a:rPr>
              <a:t>作業を再開したら、委任した計算を縮小・停止する。通信負荷が大きければ手元で処理する。</a:t>
            </a:r>
            <a:endParaRPr lang="en-US" sz="1050" dirty="0"/>
          </a:p>
        </p:txBody>
      </p:sp>
      <p:sp>
        <p:nvSpPr>
          <p:cNvPr id="68" name="Text 65"/>
          <p:cNvSpPr/>
          <p:nvPr/>
        </p:nvSpPr>
        <p:spPr>
          <a:xfrm>
            <a:off x="3886200" y="5486400"/>
            <a:ext cx="4572000" cy="256032"/>
          </a:xfrm>
          <a:prstGeom prst="rect">
            <a:avLst/>
          </a:prstGeom>
          <a:noFill/>
          <a:ln/>
        </p:spPr>
        <p:txBody>
          <a:bodyPr wrap="square" lIns="0" tIns="0" rIns="0" bIns="0" rtlCol="0" anchor="t"/>
          <a:lstStyle/>
          <a:p>
            <a:pPr indent="0" marL="0">
              <a:buNone/>
            </a:pPr>
            <a:r>
              <a:rPr lang="en-US" sz="1100" b="1" dirty="0">
                <a:solidFill>
                  <a:srgbClr val="56636E"/>
                </a:solidFill>
                <a:latin typeface="BIZ UDPGothic" pitchFamily="34" charset="0"/>
                <a:ea typeface="BIZ UDPGothic" pitchFamily="34" charset="-122"/>
                <a:cs typeface="BIZ UDPGothic" pitchFamily="34" charset="-120"/>
              </a:rPr>
              <a:t>委任の核を広げる四つの方向</a:t>
            </a:r>
            <a:endParaRPr lang="en-US" sz="1100" dirty="0"/>
          </a:p>
        </p:txBody>
      </p:sp>
      <p:sp>
        <p:nvSpPr>
          <p:cNvPr id="69" name="Shape 66"/>
          <p:cNvSpPr/>
          <p:nvPr/>
        </p:nvSpPr>
        <p:spPr>
          <a:xfrm>
            <a:off x="3886200" y="5779008"/>
            <a:ext cx="1847774" cy="384048"/>
          </a:xfrm>
          <a:prstGeom prst="roundRect">
            <a:avLst>
              <a:gd name="adj" fmla="val 50000"/>
            </a:avLst>
          </a:prstGeom>
          <a:solidFill>
            <a:srgbClr val="ECE6D9"/>
          </a:solidFill>
          <a:ln w="9525">
            <a:solidFill>
              <a:srgbClr val="8C5A44"/>
            </a:solidFill>
            <a:prstDash val="solid"/>
          </a:ln>
        </p:spPr>
      </p:sp>
      <p:sp>
        <p:nvSpPr>
          <p:cNvPr id="70" name="Text 67"/>
          <p:cNvSpPr/>
          <p:nvPr/>
        </p:nvSpPr>
        <p:spPr>
          <a:xfrm>
            <a:off x="3886200" y="5779008"/>
            <a:ext cx="1847774" cy="384048"/>
          </a:xfrm>
          <a:prstGeom prst="rect">
            <a:avLst/>
          </a:prstGeom>
          <a:noFill/>
          <a:ln/>
        </p:spPr>
        <p:txBody>
          <a:bodyPr wrap="square" lIns="0" tIns="0" rIns="0" bIns="0" rtlCol="0" anchor="ctr"/>
          <a:lstStyle/>
          <a:p>
            <a:pPr algn="ctr" indent="0" marL="0">
              <a:buNone/>
            </a:pPr>
            <a:r>
              <a:rPr lang="en-US" sz="1100" b="1" dirty="0">
                <a:solidFill>
                  <a:srgbClr val="8C5A44"/>
                </a:solidFill>
                <a:latin typeface="BIZ UDPGothic" pitchFamily="34" charset="0"/>
                <a:ea typeface="BIZ UDPGothic" pitchFamily="34" charset="-122"/>
                <a:cs typeface="BIZ UDPGothic" pitchFamily="34" charset="-120"/>
              </a:rPr>
              <a:t>広域の資源活用</a:t>
            </a:r>
            <a:endParaRPr lang="en-US" sz="1100" dirty="0"/>
          </a:p>
        </p:txBody>
      </p:sp>
      <p:sp>
        <p:nvSpPr>
          <p:cNvPr id="71" name="Shape 68"/>
          <p:cNvSpPr/>
          <p:nvPr/>
        </p:nvSpPr>
        <p:spPr>
          <a:xfrm>
            <a:off x="5871134" y="5779008"/>
            <a:ext cx="1847774" cy="384048"/>
          </a:xfrm>
          <a:prstGeom prst="roundRect">
            <a:avLst>
              <a:gd name="adj" fmla="val 50000"/>
            </a:avLst>
          </a:prstGeom>
          <a:solidFill>
            <a:srgbClr val="ECE6D9"/>
          </a:solidFill>
          <a:ln w="9525">
            <a:solidFill>
              <a:srgbClr val="8C5A44"/>
            </a:solidFill>
            <a:prstDash val="solid"/>
          </a:ln>
        </p:spPr>
      </p:sp>
      <p:sp>
        <p:nvSpPr>
          <p:cNvPr id="72" name="Text 69"/>
          <p:cNvSpPr/>
          <p:nvPr/>
        </p:nvSpPr>
        <p:spPr>
          <a:xfrm>
            <a:off x="5871134" y="5779008"/>
            <a:ext cx="1847774" cy="384048"/>
          </a:xfrm>
          <a:prstGeom prst="rect">
            <a:avLst/>
          </a:prstGeom>
          <a:noFill/>
          <a:ln/>
        </p:spPr>
        <p:txBody>
          <a:bodyPr wrap="square" lIns="0" tIns="0" rIns="0" bIns="0" rtlCol="0" anchor="ctr"/>
          <a:lstStyle/>
          <a:p>
            <a:pPr algn="ctr" indent="0" marL="0">
              <a:buNone/>
            </a:pPr>
            <a:r>
              <a:rPr lang="en-US" sz="1100" b="1" dirty="0">
                <a:solidFill>
                  <a:srgbClr val="8C5A44"/>
                </a:solidFill>
                <a:latin typeface="BIZ UDPGothic" pitchFamily="34" charset="0"/>
                <a:ea typeface="BIZ UDPGothic" pitchFamily="34" charset="-122"/>
                <a:cs typeface="BIZ UDPGothic" pitchFamily="34" charset="-120"/>
              </a:rPr>
              <a:t>AIの推論・道具実行の統治</a:t>
            </a:r>
            <a:endParaRPr lang="en-US" sz="1100" dirty="0"/>
          </a:p>
        </p:txBody>
      </p:sp>
      <p:sp>
        <p:nvSpPr>
          <p:cNvPr id="73" name="Shape 70"/>
          <p:cNvSpPr/>
          <p:nvPr/>
        </p:nvSpPr>
        <p:spPr>
          <a:xfrm>
            <a:off x="7856068" y="5779008"/>
            <a:ext cx="1847774" cy="384048"/>
          </a:xfrm>
          <a:prstGeom prst="roundRect">
            <a:avLst>
              <a:gd name="adj" fmla="val 50000"/>
            </a:avLst>
          </a:prstGeom>
          <a:solidFill>
            <a:srgbClr val="ECE6D9"/>
          </a:solidFill>
          <a:ln w="9525">
            <a:solidFill>
              <a:srgbClr val="8C5A44"/>
            </a:solidFill>
            <a:prstDash val="solid"/>
          </a:ln>
        </p:spPr>
      </p:sp>
      <p:sp>
        <p:nvSpPr>
          <p:cNvPr id="74" name="Text 71"/>
          <p:cNvSpPr/>
          <p:nvPr/>
        </p:nvSpPr>
        <p:spPr>
          <a:xfrm>
            <a:off x="7856068" y="5779008"/>
            <a:ext cx="1847774" cy="384048"/>
          </a:xfrm>
          <a:prstGeom prst="rect">
            <a:avLst/>
          </a:prstGeom>
          <a:noFill/>
          <a:ln/>
        </p:spPr>
        <p:txBody>
          <a:bodyPr wrap="square" lIns="0" tIns="0" rIns="0" bIns="0" rtlCol="0" anchor="ctr"/>
          <a:lstStyle/>
          <a:p>
            <a:pPr algn="ctr" indent="0" marL="0">
              <a:buNone/>
            </a:pPr>
            <a:r>
              <a:rPr lang="en-US" sz="1100" b="1" dirty="0">
                <a:solidFill>
                  <a:srgbClr val="8C5A44"/>
                </a:solidFill>
                <a:latin typeface="BIZ UDPGothic" pitchFamily="34" charset="0"/>
                <a:ea typeface="BIZ UDPGothic" pitchFamily="34" charset="-122"/>
                <a:cs typeface="BIZ UDPGothic" pitchFamily="34" charset="-120"/>
              </a:rPr>
              <a:t>AI生成コードの隔離実行</a:t>
            </a:r>
            <a:endParaRPr lang="en-US" sz="1100" dirty="0"/>
          </a:p>
        </p:txBody>
      </p:sp>
      <p:sp>
        <p:nvSpPr>
          <p:cNvPr id="75" name="Shape 72"/>
          <p:cNvSpPr/>
          <p:nvPr/>
        </p:nvSpPr>
        <p:spPr>
          <a:xfrm>
            <a:off x="9841001" y="5779008"/>
            <a:ext cx="1847774" cy="384048"/>
          </a:xfrm>
          <a:prstGeom prst="roundRect">
            <a:avLst>
              <a:gd name="adj" fmla="val 50000"/>
            </a:avLst>
          </a:prstGeom>
          <a:solidFill>
            <a:srgbClr val="ECE6D9"/>
          </a:solidFill>
          <a:ln w="9525">
            <a:solidFill>
              <a:srgbClr val="8C5A44"/>
            </a:solidFill>
            <a:prstDash val="solid"/>
          </a:ln>
        </p:spPr>
      </p:sp>
      <p:sp>
        <p:nvSpPr>
          <p:cNvPr id="76" name="Text 73"/>
          <p:cNvSpPr/>
          <p:nvPr/>
        </p:nvSpPr>
        <p:spPr>
          <a:xfrm>
            <a:off x="9841001" y="5779008"/>
            <a:ext cx="1847774" cy="384048"/>
          </a:xfrm>
          <a:prstGeom prst="rect">
            <a:avLst/>
          </a:prstGeom>
          <a:noFill/>
          <a:ln/>
        </p:spPr>
        <p:txBody>
          <a:bodyPr wrap="square" lIns="0" tIns="0" rIns="0" bIns="0" rtlCol="0" anchor="ctr"/>
          <a:lstStyle/>
          <a:p>
            <a:pPr algn="ctr" indent="0" marL="0">
              <a:buNone/>
            </a:pPr>
            <a:r>
              <a:rPr lang="en-US" sz="1100" b="1" dirty="0">
                <a:solidFill>
                  <a:srgbClr val="8C5A44"/>
                </a:solidFill>
                <a:latin typeface="BIZ UDPGothic" pitchFamily="34" charset="0"/>
                <a:ea typeface="BIZ UDPGothic" pitchFamily="34" charset="-122"/>
                <a:cs typeface="BIZ UDPGothic" pitchFamily="34" charset="-120"/>
              </a:rPr>
              <a:t>軽量な常駐処理</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274320"/>
            <a:ext cx="1118585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8C5A44"/>
                </a:solidFill>
                <a:latin typeface="BIZ UDPGothic" pitchFamily="34" charset="0"/>
                <a:ea typeface="BIZ UDPGothic" pitchFamily="34" charset="-122"/>
                <a:cs typeface="BIZ UDPGothic" pitchFamily="34" charset="-120"/>
              </a:rPr>
              <a:t>   製品｜EKI Fabric</a:t>
            </a:r>
            <a:endParaRPr lang="en-US" sz="950" dirty="0"/>
          </a:p>
        </p:txBody>
      </p:sp>
      <p:sp>
        <p:nvSpPr>
          <p:cNvPr id="3" name="Text 1"/>
          <p:cNvSpPr/>
          <p:nvPr/>
        </p:nvSpPr>
        <p:spPr>
          <a:xfrm>
            <a:off x="502920" y="530352"/>
            <a:ext cx="1118585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信頼は暗黙に与えず、委任先ごとに明示する</a:t>
            </a:r>
            <a:endParaRPr lang="en-US" sz="2500" dirty="0"/>
          </a:p>
        </p:txBody>
      </p:sp>
      <p:sp>
        <p:nvSpPr>
          <p:cNvPr id="4" name="Text 2"/>
          <p:cNvSpPr/>
          <p:nvPr/>
        </p:nvSpPr>
        <p:spPr>
          <a:xfrm>
            <a:off x="502920" y="1097280"/>
            <a:ext cx="1118585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管理者が根拠とともに信頼の等級を登録し、等級に応じて任せられる仕事と、確定に要る検証の強さを決める。</a:t>
            </a:r>
            <a:endParaRPr lang="en-US" sz="1300" dirty="0"/>
          </a:p>
        </p:txBody>
      </p:sp>
      <p:sp>
        <p:nvSpPr>
          <p:cNvPr id="5" name="Text 3"/>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19</a:t>
            </a:r>
            <a:endParaRPr lang="en-US" sz="1000" dirty="0"/>
          </a:p>
        </p:txBody>
      </p:sp>
      <p:sp>
        <p:nvSpPr>
          <p:cNvPr id="6" name="Text 4"/>
          <p:cNvSpPr/>
          <p:nvPr/>
        </p:nvSpPr>
        <p:spPr>
          <a:xfrm>
            <a:off x="502920" y="1572768"/>
            <a:ext cx="5486400" cy="256032"/>
          </a:xfrm>
          <a:prstGeom prst="rect">
            <a:avLst/>
          </a:prstGeom>
          <a:noFill/>
          <a:ln/>
        </p:spPr>
        <p:txBody>
          <a:bodyPr wrap="square" lIns="0" tIns="0" rIns="0" bIns="0" rtlCol="0" anchor="t"/>
          <a:lstStyle/>
          <a:p>
            <a:pPr indent="0" marL="0">
              <a:buNone/>
            </a:pPr>
            <a:r>
              <a:rPr lang="en-US" sz="1150" b="1" dirty="0">
                <a:solidFill>
                  <a:srgbClr val="8C5A44"/>
                </a:solidFill>
                <a:latin typeface="BIZ UDPGothic" pitchFamily="34" charset="0"/>
                <a:ea typeface="BIZ UDPGothic" pitchFamily="34" charset="-122"/>
                <a:cs typeface="BIZ UDPGothic" pitchFamily="34" charset="-120"/>
              </a:rPr>
              <a:t>信頼の等級（設計判断で採用済みの方向）</a:t>
            </a:r>
            <a:endParaRPr lang="en-US" sz="1150" dirty="0"/>
          </a:p>
        </p:txBody>
      </p:sp>
      <p:sp>
        <p:nvSpPr>
          <p:cNvPr id="7" name="Shape 5"/>
          <p:cNvSpPr/>
          <p:nvPr/>
        </p:nvSpPr>
        <p:spPr>
          <a:xfrm>
            <a:off x="502920" y="1874520"/>
            <a:ext cx="5669280" cy="694944"/>
          </a:xfrm>
          <a:prstGeom prst="rect">
            <a:avLst/>
          </a:prstGeom>
          <a:solidFill>
            <a:srgbClr val="FFFFFF"/>
          </a:solidFill>
          <a:ln w="9525">
            <a:solidFill>
              <a:srgbClr val="DCD5C6"/>
            </a:solidFill>
            <a:prstDash val="solid"/>
          </a:ln>
        </p:spPr>
      </p:sp>
      <p:sp>
        <p:nvSpPr>
          <p:cNvPr id="8" name="Shape 6"/>
          <p:cNvSpPr/>
          <p:nvPr/>
        </p:nvSpPr>
        <p:spPr>
          <a:xfrm>
            <a:off x="502920" y="1874520"/>
            <a:ext cx="54864" cy="694944"/>
          </a:xfrm>
          <a:prstGeom prst="rect">
            <a:avLst/>
          </a:prstGeom>
          <a:solidFill>
            <a:srgbClr val="8C5A44"/>
          </a:solidFill>
          <a:ln/>
        </p:spPr>
      </p:sp>
      <p:sp>
        <p:nvSpPr>
          <p:cNvPr id="9" name="Text 7"/>
          <p:cNvSpPr/>
          <p:nvPr/>
        </p:nvSpPr>
        <p:spPr>
          <a:xfrm>
            <a:off x="704088" y="1929384"/>
            <a:ext cx="5303520" cy="274320"/>
          </a:xfrm>
          <a:prstGeom prst="rect">
            <a:avLst/>
          </a:prstGeom>
          <a:noFill/>
          <a:ln/>
        </p:spPr>
        <p:txBody>
          <a:bodyPr wrap="square" lIns="0" tIns="0" rIns="0" bIns="0" rtlCol="0" anchor="t"/>
          <a:lstStyle/>
          <a:p>
            <a:pPr indent="0" marL="0">
              <a:buNone/>
            </a:pPr>
            <a:r>
              <a:rPr lang="en-US" sz="1250" b="1" dirty="0">
                <a:solidFill>
                  <a:srgbClr val="8C5A44"/>
                </a:solidFill>
                <a:latin typeface="BIZ UDPGothic" pitchFamily="34" charset="0"/>
                <a:ea typeface="BIZ UDPGothic" pitchFamily="34" charset="-122"/>
                <a:cs typeface="BIZ UDPGothic" pitchFamily="34" charset="-120"/>
              </a:rPr>
              <a:t>名前と版を持つ等級</a:t>
            </a:r>
            <a:endParaRPr lang="en-US" sz="1250" dirty="0"/>
          </a:p>
        </p:txBody>
      </p:sp>
      <p:sp>
        <p:nvSpPr>
          <p:cNvPr id="10" name="Text 8"/>
          <p:cNvSpPr/>
          <p:nvPr/>
        </p:nvSpPr>
        <p:spPr>
          <a:xfrm>
            <a:off x="704088" y="2212848"/>
            <a:ext cx="5349240" cy="329184"/>
          </a:xfrm>
          <a:prstGeom prst="rect">
            <a:avLst/>
          </a:prstGeom>
          <a:noFill/>
          <a:ln/>
        </p:spPr>
        <p:txBody>
          <a:bodyPr wrap="square" lIns="0" tIns="0" rIns="0" bIns="0" rtlCol="0" anchor="t"/>
          <a:lstStyle/>
          <a:p>
            <a:pPr indent="0" marL="0">
              <a:buNone/>
            </a:pPr>
            <a:r>
              <a:rPr lang="en-US" sz="1050" dirty="0">
                <a:solidFill>
                  <a:srgbClr val="56636E"/>
                </a:solidFill>
                <a:latin typeface="BIZ UDPGothic" pitchFamily="34" charset="0"/>
                <a:ea typeface="BIZ UDPGothic" pitchFamily="34" charset="-122"/>
                <a:cs typeface="BIZ UDPGothic" pitchFamily="34" charset="-120"/>
              </a:rPr>
              <a:t>単一の点数にしない。後から定義を変えても、発行済みの権限の根拠は書き換えない</a:t>
            </a:r>
            <a:endParaRPr lang="en-US" sz="1050" dirty="0"/>
          </a:p>
        </p:txBody>
      </p:sp>
      <p:sp>
        <p:nvSpPr>
          <p:cNvPr id="11" name="Shape 9"/>
          <p:cNvSpPr/>
          <p:nvPr/>
        </p:nvSpPr>
        <p:spPr>
          <a:xfrm>
            <a:off x="502920" y="2660904"/>
            <a:ext cx="5669280" cy="694944"/>
          </a:xfrm>
          <a:prstGeom prst="rect">
            <a:avLst/>
          </a:prstGeom>
          <a:solidFill>
            <a:srgbClr val="FFFFFF"/>
          </a:solidFill>
          <a:ln w="9525">
            <a:solidFill>
              <a:srgbClr val="DCD5C6"/>
            </a:solidFill>
            <a:prstDash val="solid"/>
          </a:ln>
        </p:spPr>
      </p:sp>
      <p:sp>
        <p:nvSpPr>
          <p:cNvPr id="12" name="Shape 10"/>
          <p:cNvSpPr/>
          <p:nvPr/>
        </p:nvSpPr>
        <p:spPr>
          <a:xfrm>
            <a:off x="502920" y="2660904"/>
            <a:ext cx="54864" cy="694944"/>
          </a:xfrm>
          <a:prstGeom prst="rect">
            <a:avLst/>
          </a:prstGeom>
          <a:solidFill>
            <a:srgbClr val="8C5A44"/>
          </a:solidFill>
          <a:ln/>
        </p:spPr>
      </p:sp>
      <p:sp>
        <p:nvSpPr>
          <p:cNvPr id="13" name="Text 11"/>
          <p:cNvSpPr/>
          <p:nvPr/>
        </p:nvSpPr>
        <p:spPr>
          <a:xfrm>
            <a:off x="704088" y="2715768"/>
            <a:ext cx="5303520" cy="274320"/>
          </a:xfrm>
          <a:prstGeom prst="rect">
            <a:avLst/>
          </a:prstGeom>
          <a:noFill/>
          <a:ln/>
        </p:spPr>
        <p:txBody>
          <a:bodyPr wrap="square" lIns="0" tIns="0" rIns="0" bIns="0" rtlCol="0" anchor="t"/>
          <a:lstStyle/>
          <a:p>
            <a:pPr indent="0" marL="0">
              <a:buNone/>
            </a:pPr>
            <a:r>
              <a:rPr lang="en-US" sz="1250" b="1" dirty="0">
                <a:solidFill>
                  <a:srgbClr val="8C5A44"/>
                </a:solidFill>
                <a:latin typeface="BIZ UDPGothic" pitchFamily="34" charset="0"/>
                <a:ea typeface="BIZ UDPGothic" pitchFamily="34" charset="-122"/>
                <a:cs typeface="BIZ UDPGothic" pitchFamily="34" charset="-120"/>
              </a:rPr>
              <a:t>等級は上限</a:t>
            </a:r>
            <a:endParaRPr lang="en-US" sz="1250" dirty="0"/>
          </a:p>
        </p:txBody>
      </p:sp>
      <p:sp>
        <p:nvSpPr>
          <p:cNvPr id="14" name="Text 12"/>
          <p:cNvSpPr/>
          <p:nvPr/>
        </p:nvSpPr>
        <p:spPr>
          <a:xfrm>
            <a:off x="704088" y="2999232"/>
            <a:ext cx="5349240" cy="329184"/>
          </a:xfrm>
          <a:prstGeom prst="rect">
            <a:avLst/>
          </a:prstGeom>
          <a:noFill/>
          <a:ln/>
        </p:spPr>
        <p:txBody>
          <a:bodyPr wrap="square" lIns="0" tIns="0" rIns="0" bIns="0" rtlCol="0" anchor="t"/>
          <a:lstStyle/>
          <a:p>
            <a:pPr indent="0" marL="0">
              <a:buNone/>
            </a:pPr>
            <a:r>
              <a:rPr lang="en-US" sz="1050" dirty="0">
                <a:solidFill>
                  <a:srgbClr val="56636E"/>
                </a:solidFill>
                <a:latin typeface="BIZ UDPGothic" pitchFamily="34" charset="0"/>
                <a:ea typeface="BIZ UDPGothic" pitchFamily="34" charset="-122"/>
                <a:cs typeface="BIZ UDPGothic" pitchFamily="34" charset="-120"/>
              </a:rPr>
              <a:t>仕事の要求と等級の範囲のうち厳しい方を使う。未登録の委任先には任せない</a:t>
            </a:r>
            <a:endParaRPr lang="en-US" sz="1050" dirty="0"/>
          </a:p>
        </p:txBody>
      </p:sp>
      <p:sp>
        <p:nvSpPr>
          <p:cNvPr id="15" name="Shape 13"/>
          <p:cNvSpPr/>
          <p:nvPr/>
        </p:nvSpPr>
        <p:spPr>
          <a:xfrm>
            <a:off x="502920" y="3447288"/>
            <a:ext cx="5669280" cy="694944"/>
          </a:xfrm>
          <a:prstGeom prst="rect">
            <a:avLst/>
          </a:prstGeom>
          <a:solidFill>
            <a:srgbClr val="FFFFFF"/>
          </a:solidFill>
          <a:ln w="9525">
            <a:solidFill>
              <a:srgbClr val="DCD5C6"/>
            </a:solidFill>
            <a:prstDash val="solid"/>
          </a:ln>
        </p:spPr>
      </p:sp>
      <p:sp>
        <p:nvSpPr>
          <p:cNvPr id="16" name="Shape 14"/>
          <p:cNvSpPr/>
          <p:nvPr/>
        </p:nvSpPr>
        <p:spPr>
          <a:xfrm>
            <a:off x="502920" y="3447288"/>
            <a:ext cx="54864" cy="694944"/>
          </a:xfrm>
          <a:prstGeom prst="rect">
            <a:avLst/>
          </a:prstGeom>
          <a:solidFill>
            <a:srgbClr val="8C5A44"/>
          </a:solidFill>
          <a:ln/>
        </p:spPr>
      </p:sp>
      <p:sp>
        <p:nvSpPr>
          <p:cNvPr id="17" name="Text 15"/>
          <p:cNvSpPr/>
          <p:nvPr/>
        </p:nvSpPr>
        <p:spPr>
          <a:xfrm>
            <a:off x="704088" y="3502152"/>
            <a:ext cx="5303520" cy="274320"/>
          </a:xfrm>
          <a:prstGeom prst="rect">
            <a:avLst/>
          </a:prstGeom>
          <a:noFill/>
          <a:ln/>
        </p:spPr>
        <p:txBody>
          <a:bodyPr wrap="square" lIns="0" tIns="0" rIns="0" bIns="0" rtlCol="0" anchor="t"/>
          <a:lstStyle/>
          <a:p>
            <a:pPr indent="0" marL="0">
              <a:buNone/>
            </a:pPr>
            <a:r>
              <a:rPr lang="en-US" sz="1250" b="1" dirty="0">
                <a:solidFill>
                  <a:srgbClr val="8C5A44"/>
                </a:solidFill>
                <a:latin typeface="BIZ UDPGothic" pitchFamily="34" charset="0"/>
                <a:ea typeface="BIZ UDPGothic" pitchFamily="34" charset="-122"/>
                <a:cs typeface="BIZ UDPGothic" pitchFamily="34" charset="-120"/>
              </a:rPr>
              <a:t>上げるのは人、下げるのは自動でもよい</a:t>
            </a:r>
            <a:endParaRPr lang="en-US" sz="1250" dirty="0"/>
          </a:p>
        </p:txBody>
      </p:sp>
      <p:sp>
        <p:nvSpPr>
          <p:cNvPr id="18" name="Text 16"/>
          <p:cNvSpPr/>
          <p:nvPr/>
        </p:nvSpPr>
        <p:spPr>
          <a:xfrm>
            <a:off x="704088" y="3785616"/>
            <a:ext cx="5349240" cy="329184"/>
          </a:xfrm>
          <a:prstGeom prst="rect">
            <a:avLst/>
          </a:prstGeom>
          <a:noFill/>
          <a:ln/>
        </p:spPr>
        <p:txBody>
          <a:bodyPr wrap="square" lIns="0" tIns="0" rIns="0" bIns="0" rtlCol="0" anchor="t"/>
          <a:lstStyle/>
          <a:p>
            <a:pPr indent="0" marL="0">
              <a:buNone/>
            </a:pPr>
            <a:r>
              <a:rPr lang="en-US" sz="1050" dirty="0">
                <a:solidFill>
                  <a:srgbClr val="56636E"/>
                </a:solidFill>
                <a:latin typeface="BIZ UDPGothic" pitchFamily="34" charset="0"/>
                <a:ea typeface="BIZ UDPGothic" pitchFamily="34" charset="-122"/>
                <a:cs typeface="BIZ UDPGothic" pitchFamily="34" charset="-120"/>
              </a:rPr>
              <a:t>引き上げは管理者の明示的な操作。抜き取り検証で不一致が出たら自動で候補から外す</a:t>
            </a:r>
            <a:endParaRPr lang="en-US" sz="1050" dirty="0"/>
          </a:p>
        </p:txBody>
      </p:sp>
      <p:sp>
        <p:nvSpPr>
          <p:cNvPr id="19" name="Shape 17"/>
          <p:cNvSpPr/>
          <p:nvPr/>
        </p:nvSpPr>
        <p:spPr>
          <a:xfrm>
            <a:off x="502920" y="4233672"/>
            <a:ext cx="5669280" cy="694944"/>
          </a:xfrm>
          <a:prstGeom prst="rect">
            <a:avLst/>
          </a:prstGeom>
          <a:solidFill>
            <a:srgbClr val="FFFFFF"/>
          </a:solidFill>
          <a:ln w="9525">
            <a:solidFill>
              <a:srgbClr val="DCD5C6"/>
            </a:solidFill>
            <a:prstDash val="solid"/>
          </a:ln>
        </p:spPr>
      </p:sp>
      <p:sp>
        <p:nvSpPr>
          <p:cNvPr id="20" name="Shape 18"/>
          <p:cNvSpPr/>
          <p:nvPr/>
        </p:nvSpPr>
        <p:spPr>
          <a:xfrm>
            <a:off x="502920" y="4233672"/>
            <a:ext cx="54864" cy="694944"/>
          </a:xfrm>
          <a:prstGeom prst="rect">
            <a:avLst/>
          </a:prstGeom>
          <a:solidFill>
            <a:srgbClr val="8C5A44"/>
          </a:solidFill>
          <a:ln/>
        </p:spPr>
      </p:sp>
      <p:sp>
        <p:nvSpPr>
          <p:cNvPr id="21" name="Text 19"/>
          <p:cNvSpPr/>
          <p:nvPr/>
        </p:nvSpPr>
        <p:spPr>
          <a:xfrm>
            <a:off x="704088" y="4288536"/>
            <a:ext cx="5303520" cy="274320"/>
          </a:xfrm>
          <a:prstGeom prst="rect">
            <a:avLst/>
          </a:prstGeom>
          <a:noFill/>
          <a:ln/>
        </p:spPr>
        <p:txBody>
          <a:bodyPr wrap="square" lIns="0" tIns="0" rIns="0" bIns="0" rtlCol="0" anchor="t"/>
          <a:lstStyle/>
          <a:p>
            <a:pPr indent="0" marL="0">
              <a:buNone/>
            </a:pPr>
            <a:r>
              <a:rPr lang="en-US" sz="1250" b="1" dirty="0">
                <a:solidFill>
                  <a:srgbClr val="8C5A44"/>
                </a:solidFill>
                <a:latin typeface="BIZ UDPGothic" pitchFamily="34" charset="0"/>
                <a:ea typeface="BIZ UDPGothic" pitchFamily="34" charset="-122"/>
                <a:cs typeface="BIZ UDPGothic" pitchFamily="34" charset="-120"/>
              </a:rPr>
              <a:t>信頼が高くても抜き取りを続ける</a:t>
            </a:r>
            <a:endParaRPr lang="en-US" sz="1250" dirty="0"/>
          </a:p>
        </p:txBody>
      </p:sp>
      <p:sp>
        <p:nvSpPr>
          <p:cNvPr id="22" name="Text 20"/>
          <p:cNvSpPr/>
          <p:nvPr/>
        </p:nvSpPr>
        <p:spPr>
          <a:xfrm>
            <a:off x="704088" y="4572000"/>
            <a:ext cx="5349240" cy="329184"/>
          </a:xfrm>
          <a:prstGeom prst="rect">
            <a:avLst/>
          </a:prstGeom>
          <a:noFill/>
          <a:ln/>
        </p:spPr>
        <p:txBody>
          <a:bodyPr wrap="square" lIns="0" tIns="0" rIns="0" bIns="0" rtlCol="0" anchor="t"/>
          <a:lstStyle/>
          <a:p>
            <a:pPr indent="0" marL="0">
              <a:buNone/>
            </a:pPr>
            <a:r>
              <a:rPr lang="en-US" sz="1050" dirty="0">
                <a:solidFill>
                  <a:srgbClr val="56636E"/>
                </a:solidFill>
                <a:latin typeface="BIZ UDPGothic" pitchFamily="34" charset="0"/>
                <a:ea typeface="BIZ UDPGothic" pitchFamily="34" charset="-122"/>
                <a:cs typeface="BIZ UDPGothic" pitchFamily="34" charset="-120"/>
              </a:rPr>
              <a:t>等級を下げたら、軽い検証のまま確定した結果を来歴から洗い出す</a:t>
            </a:r>
            <a:endParaRPr lang="en-US" sz="1050" dirty="0"/>
          </a:p>
        </p:txBody>
      </p:sp>
      <p:sp>
        <p:nvSpPr>
          <p:cNvPr id="23" name="Text 21"/>
          <p:cNvSpPr/>
          <p:nvPr/>
        </p:nvSpPr>
        <p:spPr>
          <a:xfrm>
            <a:off x="6446520" y="1572768"/>
            <a:ext cx="4572000" cy="256032"/>
          </a:xfrm>
          <a:prstGeom prst="rect">
            <a:avLst/>
          </a:prstGeom>
          <a:noFill/>
          <a:ln/>
        </p:spPr>
        <p:txBody>
          <a:bodyPr wrap="square" lIns="0" tIns="0" rIns="0" bIns="0" rtlCol="0" anchor="t"/>
          <a:lstStyle/>
          <a:p>
            <a:pPr indent="0" marL="0">
              <a:buNone/>
            </a:pPr>
            <a:r>
              <a:rPr lang="en-US" sz="1150" b="1" dirty="0">
                <a:solidFill>
                  <a:srgbClr val="8C5A44"/>
                </a:solidFill>
                <a:latin typeface="BIZ UDPGothic" pitchFamily="34" charset="0"/>
                <a:ea typeface="BIZ UDPGothic" pitchFamily="34" charset="-122"/>
                <a:cs typeface="BIZ UDPGothic" pitchFamily="34" charset="-120"/>
              </a:rPr>
              <a:t>失敗と、求められる応答</a:t>
            </a:r>
            <a:endParaRPr lang="en-US" sz="11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46520" y="1874520"/>
          <a:ext cx="5242255" cy="914400"/>
        </p:xfrm>
        <a:graphic>
          <a:graphicData uri="http://schemas.openxmlformats.org/drawingml/2006/table">
            <a:tbl>
              <a:tblPr/>
              <a:tblGrid>
                <a:gridCol w="2103120"/>
                <a:gridCol w="3139135"/>
              </a:tblGrid>
              <a:tr h="429768">
                <a:tc>
                  <a:txBody>
                    <a:bodyPr/>
                    <a:lstStyle/>
                    <a:p>
                      <a:pPr indent="0" marL="0">
                        <a:buNone/>
                      </a:pPr>
                      <a:r>
                        <a:rPr lang="en-US" sz="1000" b="1" dirty="0">
                          <a:solidFill>
                            <a:srgbClr val="F5F1E8"/>
                          </a:solidFill>
                          <a:latin typeface="BIZ UDPGothic" pitchFamily="34" charset="0"/>
                          <a:ea typeface="BIZ UDPGothic" pitchFamily="34" charset="-122"/>
                          <a:cs typeface="BIZ UDPGothic" pitchFamily="34" charset="-120"/>
                        </a:rPr>
                        <a:t>失敗・攻撃</a:t>
                      </a:r>
                      <a:endParaRPr lang="en-US" sz="10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4F3024"/>
                    </a:solidFill>
                  </a:tcPr>
                </a:tc>
                <a:tc>
                  <a:txBody>
                    <a:bodyPr/>
                    <a:lstStyle/>
                    <a:p>
                      <a:pPr indent="0" marL="0">
                        <a:buNone/>
                      </a:pPr>
                      <a:r>
                        <a:rPr lang="en-US" sz="1000" b="1" dirty="0">
                          <a:solidFill>
                            <a:srgbClr val="F5F1E8"/>
                          </a:solidFill>
                          <a:latin typeface="BIZ UDPGothic" pitchFamily="34" charset="0"/>
                          <a:ea typeface="BIZ UDPGothic" pitchFamily="34" charset="-122"/>
                          <a:cs typeface="BIZ UDPGothic" pitchFamily="34" charset="-120"/>
                        </a:rPr>
                        <a:t>求められる応答</a:t>
                      </a:r>
                      <a:endParaRPr lang="en-US" sz="10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4F3024"/>
                    </a:solidFill>
                  </a:tcPr>
                </a:tc>
              </a:tr>
              <a:tr h="429768">
                <a:tc>
                  <a:txBody>
                    <a:bodyPr/>
                    <a:lstStyle/>
                    <a:p>
                      <a:pPr indent="0" marL="0">
                        <a:buNone/>
                      </a:pPr>
                      <a:r>
                        <a:rPr lang="en-US" sz="1100" b="1" dirty="0">
                          <a:solidFill>
                            <a:srgbClr val="243D54"/>
                          </a:solidFill>
                          <a:latin typeface="BIZ UDPGothic" pitchFamily="34" charset="0"/>
                          <a:ea typeface="BIZ UDPGothic" pitchFamily="34" charset="-122"/>
                          <a:cs typeface="BIZ UDPGothic" pitchFamily="34" charset="-120"/>
                        </a:rPr>
                        <a:t>権限の期限切れ</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100" dirty="0">
                          <a:solidFill>
                            <a:srgbClr val="243D54"/>
                          </a:solidFill>
                          <a:latin typeface="BIZ UDPGothic" pitchFamily="34" charset="0"/>
                          <a:ea typeface="BIZ UDPGothic" pitchFamily="34" charset="-122"/>
                          <a:cs typeface="BIZ UDPGothic" pitchFamily="34" charset="-120"/>
                        </a:rPr>
                        <a:t>更新せず拒否。途中の処理は安全に停止</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429768">
                <a:tc>
                  <a:txBody>
                    <a:bodyPr/>
                    <a:lstStyle/>
                    <a:p>
                      <a:pPr indent="0" marL="0">
                        <a:buNone/>
                      </a:pPr>
                      <a:r>
                        <a:rPr lang="en-US" sz="1100" b="1" dirty="0">
                          <a:solidFill>
                            <a:srgbClr val="243D54"/>
                          </a:solidFill>
                          <a:latin typeface="BIZ UDPGothic" pitchFamily="34" charset="0"/>
                          <a:ea typeface="BIZ UDPGothic" pitchFamily="34" charset="-122"/>
                          <a:cs typeface="BIZ UDPGothic" pitchFamily="34" charset="-120"/>
                        </a:rPr>
                        <a:t>実行端末が応答しない</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100" dirty="0">
                          <a:solidFill>
                            <a:srgbClr val="243D54"/>
                          </a:solidFill>
                          <a:latin typeface="BIZ UDPGothic" pitchFamily="34" charset="0"/>
                          <a:ea typeface="BIZ UDPGothic" pitchFamily="34" charset="-122"/>
                          <a:cs typeface="BIZ UDPGothic" pitchFamily="34" charset="-120"/>
                        </a:rPr>
                        <a:t>再試行してよいか、重複処理かを判断</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r h="429768">
                <a:tc>
                  <a:txBody>
                    <a:bodyPr/>
                    <a:lstStyle/>
                    <a:p>
                      <a:pPr indent="0" marL="0">
                        <a:buNone/>
                      </a:pPr>
                      <a:r>
                        <a:rPr lang="en-US" sz="1100" b="1" dirty="0">
                          <a:solidFill>
                            <a:srgbClr val="243D54"/>
                          </a:solidFill>
                          <a:latin typeface="BIZ UDPGothic" pitchFamily="34" charset="0"/>
                          <a:ea typeface="BIZ UDPGothic" pitchFamily="34" charset="-122"/>
                          <a:cs typeface="BIZ UDPGothic" pitchFamily="34" charset="-120"/>
                        </a:rPr>
                        <a:t>結果だけが返る</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100" dirty="0">
                          <a:solidFill>
                            <a:srgbClr val="243D54"/>
                          </a:solidFill>
                          <a:latin typeface="BIZ UDPGothic" pitchFamily="34" charset="0"/>
                          <a:ea typeface="BIZ UDPGothic" pitchFamily="34" charset="-122"/>
                          <a:cs typeface="BIZ UDPGothic" pitchFamily="34" charset="-120"/>
                        </a:rPr>
                        <a:t>独立した検証がなければ成果にしない</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429768">
                <a:tc>
                  <a:txBody>
                    <a:bodyPr/>
                    <a:lstStyle/>
                    <a:p>
                      <a:pPr indent="0" marL="0">
                        <a:buNone/>
                      </a:pPr>
                      <a:r>
                        <a:rPr lang="en-US" sz="1100" b="1" dirty="0">
                          <a:solidFill>
                            <a:srgbClr val="243D54"/>
                          </a:solidFill>
                          <a:latin typeface="BIZ UDPGothic" pitchFamily="34" charset="0"/>
                          <a:ea typeface="BIZ UDPGothic" pitchFamily="34" charset="-122"/>
                          <a:cs typeface="BIZ UDPGothic" pitchFamily="34" charset="-120"/>
                        </a:rPr>
                        <a:t>実行端末の失効</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100" dirty="0">
                          <a:solidFill>
                            <a:srgbClr val="243D54"/>
                          </a:solidFill>
                          <a:latin typeface="BIZ UDPGothic" pitchFamily="34" charset="0"/>
                          <a:ea typeface="BIZ UDPGothic" pitchFamily="34" charset="-122"/>
                          <a:cs typeface="BIZ UDPGothic" pitchFamily="34" charset="-120"/>
                        </a:rPr>
                        <a:t>影響を受けた結果を取り消す</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r h="429768">
                <a:tc>
                  <a:txBody>
                    <a:bodyPr/>
                    <a:lstStyle/>
                    <a:p>
                      <a:pPr indent="0" marL="0">
                        <a:buNone/>
                      </a:pPr>
                      <a:r>
                        <a:rPr lang="en-US" sz="1100" b="1" dirty="0">
                          <a:solidFill>
                            <a:srgbClr val="243D54"/>
                          </a:solidFill>
                          <a:latin typeface="BIZ UDPGothic" pitchFamily="34" charset="0"/>
                          <a:ea typeface="BIZ UDPGothic" pitchFamily="34" charset="-122"/>
                          <a:cs typeface="BIZ UDPGothic" pitchFamily="34" charset="-120"/>
                        </a:rPr>
                        <a:t>持ち主が端末を使い始める</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100" dirty="0">
                          <a:solidFill>
                            <a:srgbClr val="243D54"/>
                          </a:solidFill>
                          <a:latin typeface="BIZ UDPGothic" pitchFamily="34" charset="0"/>
                          <a:ea typeface="BIZ UDPGothic" pitchFamily="34" charset="-122"/>
                          <a:cs typeface="BIZ UDPGothic" pitchFamily="34" charset="-120"/>
                        </a:rPr>
                        <a:t>端末側で処理を縮小・停止</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429768">
                <a:tc>
                  <a:txBody>
                    <a:bodyPr/>
                    <a:lstStyle/>
                    <a:p>
                      <a:pPr indent="0" marL="0">
                        <a:buNone/>
                      </a:pPr>
                      <a:r>
                        <a:rPr lang="en-US" sz="1100" b="1" dirty="0">
                          <a:solidFill>
                            <a:srgbClr val="243D54"/>
                          </a:solidFill>
                          <a:latin typeface="BIZ UDPGothic" pitchFamily="34" charset="0"/>
                          <a:ea typeface="BIZ UDPGothic" pitchFamily="34" charset="-122"/>
                          <a:cs typeface="BIZ UDPGothic" pitchFamily="34" charset="-120"/>
                        </a:rPr>
                        <a:t>管理情報を復元した</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100" dirty="0">
                          <a:solidFill>
                            <a:srgbClr val="243D54"/>
                          </a:solidFill>
                          <a:latin typeface="BIZ UDPGothic" pitchFamily="34" charset="0"/>
                          <a:ea typeface="BIZ UDPGothic" pitchFamily="34" charset="-122"/>
                          <a:cs typeface="BIZ UDPGothic" pitchFamily="34" charset="-120"/>
                        </a:rPr>
                        <a:t>失効した権限を復活させない</a:t>
                      </a:r>
                      <a:endParaRPr lang="en-US" sz="110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bl>
          </a:graphicData>
        </a:graphic>
      </p:graphicFrame>
      <p:sp>
        <p:nvSpPr>
          <p:cNvPr id="25" name="Shape 22"/>
          <p:cNvSpPr/>
          <p:nvPr/>
        </p:nvSpPr>
        <p:spPr>
          <a:xfrm>
            <a:off x="502920" y="5120640"/>
            <a:ext cx="11185855" cy="1097280"/>
          </a:xfrm>
          <a:prstGeom prst="rect">
            <a:avLst/>
          </a:prstGeom>
          <a:solidFill>
            <a:srgbClr val="243D54"/>
          </a:solidFill>
          <a:ln/>
        </p:spPr>
      </p:sp>
      <p:sp>
        <p:nvSpPr>
          <p:cNvPr id="26" name="Text 23"/>
          <p:cNvSpPr/>
          <p:nvPr/>
        </p:nvSpPr>
        <p:spPr>
          <a:xfrm>
            <a:off x="731520" y="5212080"/>
            <a:ext cx="2743200" cy="256032"/>
          </a:xfrm>
          <a:prstGeom prst="rect">
            <a:avLst/>
          </a:prstGeom>
          <a:noFill/>
          <a:ln/>
        </p:spPr>
        <p:txBody>
          <a:bodyPr wrap="square" lIns="0" tIns="0" rIns="0" bIns="0" rtlCol="0" anchor="t"/>
          <a:lstStyle/>
          <a:p>
            <a:pPr indent="0" marL="0">
              <a:buNone/>
            </a:pPr>
            <a:r>
              <a:rPr lang="en-US" sz="1150" b="1" dirty="0">
                <a:solidFill>
                  <a:srgbClr val="C4A06D"/>
                </a:solidFill>
                <a:latin typeface="BIZ UDPGothic" pitchFamily="34" charset="0"/>
                <a:ea typeface="BIZ UDPGothic" pitchFamily="34" charset="-122"/>
                <a:cs typeface="BIZ UDPGothic" pitchFamily="34" charset="-120"/>
              </a:rPr>
              <a:t>社会への広がり</a:t>
            </a:r>
            <a:endParaRPr lang="en-US" sz="1150" dirty="0"/>
          </a:p>
        </p:txBody>
      </p:sp>
      <p:sp>
        <p:nvSpPr>
          <p:cNvPr id="27" name="Text 24"/>
          <p:cNvSpPr/>
          <p:nvPr/>
        </p:nvSpPr>
        <p:spPr>
          <a:xfrm>
            <a:off x="731520" y="5486400"/>
            <a:ext cx="10728655" cy="685800"/>
          </a:xfrm>
          <a:prstGeom prst="rect">
            <a:avLst/>
          </a:prstGeom>
          <a:noFill/>
          <a:ln/>
        </p:spPr>
        <p:txBody>
          <a:bodyPr wrap="square" lIns="0" tIns="0" rIns="0" bIns="0" rtlCol="0" anchor="t"/>
          <a:lstStyle/>
          <a:p>
            <a:pPr indent="0" marL="0">
              <a:buNone/>
            </a:pPr>
            <a:r>
              <a:rPr lang="en-US" sz="1150" dirty="0">
                <a:solidFill>
                  <a:srgbClr val="F5F1E8"/>
                </a:solidFill>
                <a:latin typeface="BIZ UDPGothic" pitchFamily="34" charset="0"/>
                <a:ea typeface="BIZ UDPGothic" pitchFamily="34" charset="-122"/>
                <a:cs typeface="BIZ UDPGothic" pitchFamily="34" charset="-120"/>
              </a:rPr>
              <a:t>まず企業内の余剰計算資源を安全に使う。その先に、組織間の共同利用や、研究・オープンソース・公益目的への資源提供を想定する。提供実績は検証できる形で記録し、配賦・寄付・評価などには別の制度が使える余地を残す。EKI自体は通貨や交換の仕組みを提供しない。</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1E8"/>
        </a:solidFill>
      </p:bgPr>
    </p:bg>
    <p:spTree>
      <p:nvGrpSpPr>
        <p:cNvPr id="1" name=""/>
        <p:cNvGrpSpPr/>
        <p:nvPr/>
      </p:nvGrpSpPr>
      <p:grpSpPr>
        <a:xfrm>
          <a:off x="0" y="0"/>
          <a:ext cx="0" cy="0"/>
          <a:chOff x="0" y="0"/>
          <a:chExt cx="0" cy="0"/>
        </a:xfrm>
      </p:grpSpPr>
      <p:sp>
        <p:nvSpPr>
          <p:cNvPr id="2" name="Shape 0"/>
          <p:cNvSpPr/>
          <p:nvPr/>
        </p:nvSpPr>
        <p:spPr>
          <a:xfrm>
            <a:off x="0" y="0"/>
            <a:ext cx="3520440" cy="6858000"/>
          </a:xfrm>
          <a:prstGeom prst="rect">
            <a:avLst/>
          </a:prstGeom>
          <a:solidFill>
            <a:srgbClr val="16283A"/>
          </a:solidFill>
          <a:ln/>
        </p:spPr>
      </p:sp>
      <p:sp>
        <p:nvSpPr>
          <p:cNvPr id="3" name="Text 1"/>
          <p:cNvSpPr/>
          <p:nvPr/>
        </p:nvSpPr>
        <p:spPr>
          <a:xfrm>
            <a:off x="411480" y="292608"/>
            <a:ext cx="2743200" cy="228600"/>
          </a:xfrm>
          <a:prstGeom prst="rect">
            <a:avLst/>
          </a:prstGeom>
          <a:noFill/>
          <a:ln/>
        </p:spPr>
        <p:txBody>
          <a:bodyPr wrap="square" lIns="0" tIns="0" rIns="0" bIns="0" rtlCol="0" anchor="t"/>
          <a:lstStyle/>
          <a:p>
            <a:pPr indent="0" marL="0">
              <a:buNone/>
            </a:pPr>
            <a:r>
              <a:rPr lang="en-US" sz="950" b="1" dirty="0">
                <a:solidFill>
                  <a:srgbClr val="C4A06D"/>
                </a:solidFill>
                <a:latin typeface="BIZ UDPGothic" pitchFamily="34" charset="0"/>
                <a:ea typeface="BIZ UDPGothic" pitchFamily="34" charset="-122"/>
                <a:cs typeface="BIZ UDPGothic" pitchFamily="34" charset="-120"/>
              </a:rPr>
              <a:t>製品  </a:t>
            </a:r>
            <a:pPr indent="0" marL="0">
              <a:buNone/>
            </a:pPr>
            <a:r>
              <a:rPr lang="en-US" sz="950" dirty="0">
                <a:solidFill>
                  <a:srgbClr val="C9D3D9"/>
                </a:solidFill>
                <a:latin typeface="Georgia" pitchFamily="34" charset="0"/>
                <a:ea typeface="Georgia" pitchFamily="34" charset="-122"/>
                <a:cs typeface="Georgia" pitchFamily="34" charset="-120"/>
              </a:rPr>
              <a:t>6 / 6</a:t>
            </a:r>
            <a:endParaRPr lang="en-US" sz="950" dirty="0"/>
          </a:p>
        </p:txBody>
      </p:sp>
      <p:sp>
        <p:nvSpPr>
          <p:cNvPr id="4" name="Shape 2"/>
          <p:cNvSpPr/>
          <p:nvPr/>
        </p:nvSpPr>
        <p:spPr>
          <a:xfrm>
            <a:off x="411480" y="1481328"/>
            <a:ext cx="868680" cy="73152"/>
          </a:xfrm>
          <a:prstGeom prst="rect">
            <a:avLst/>
          </a:prstGeom>
          <a:solidFill>
            <a:srgbClr val="C4A06D"/>
          </a:solidFill>
          <a:ln/>
        </p:spPr>
      </p:sp>
      <p:sp>
        <p:nvSpPr>
          <p:cNvPr id="5" name="Shape 3"/>
          <p:cNvSpPr/>
          <p:nvPr/>
        </p:nvSpPr>
        <p:spPr>
          <a:xfrm>
            <a:off x="411480" y="1335024"/>
            <a:ext cx="868680" cy="73152"/>
          </a:xfrm>
          <a:prstGeom prst="rect">
            <a:avLst/>
          </a:prstGeom>
          <a:solidFill>
            <a:srgbClr val="C4A06D"/>
          </a:solidFill>
          <a:ln/>
        </p:spPr>
      </p:sp>
      <p:sp>
        <p:nvSpPr>
          <p:cNvPr id="6" name="Shape 4"/>
          <p:cNvSpPr/>
          <p:nvPr/>
        </p:nvSpPr>
        <p:spPr>
          <a:xfrm>
            <a:off x="411480" y="1188720"/>
            <a:ext cx="868680" cy="73152"/>
          </a:xfrm>
          <a:prstGeom prst="rect">
            <a:avLst/>
          </a:prstGeom>
          <a:solidFill>
            <a:srgbClr val="C4A06D"/>
          </a:solidFill>
          <a:ln/>
        </p:spPr>
      </p:sp>
      <p:sp>
        <p:nvSpPr>
          <p:cNvPr id="7" name="Shape 5"/>
          <p:cNvSpPr/>
          <p:nvPr/>
        </p:nvSpPr>
        <p:spPr>
          <a:xfrm>
            <a:off x="411480" y="1042416"/>
            <a:ext cx="373532" cy="73152"/>
          </a:xfrm>
          <a:prstGeom prst="rect">
            <a:avLst/>
          </a:prstGeom>
          <a:solidFill>
            <a:srgbClr val="C4A06D"/>
          </a:solidFill>
          <a:ln/>
        </p:spPr>
      </p:sp>
      <p:sp>
        <p:nvSpPr>
          <p:cNvPr id="8" name="Shape 6"/>
          <p:cNvSpPr/>
          <p:nvPr/>
        </p:nvSpPr>
        <p:spPr>
          <a:xfrm>
            <a:off x="906628" y="1042416"/>
            <a:ext cx="373532" cy="73152"/>
          </a:xfrm>
          <a:prstGeom prst="rect">
            <a:avLst/>
          </a:prstGeom>
          <a:solidFill>
            <a:srgbClr val="C4A06D"/>
          </a:solidFill>
          <a:ln/>
        </p:spPr>
      </p:sp>
      <p:sp>
        <p:nvSpPr>
          <p:cNvPr id="9" name="Shape 7"/>
          <p:cNvSpPr/>
          <p:nvPr/>
        </p:nvSpPr>
        <p:spPr>
          <a:xfrm>
            <a:off x="411480" y="896112"/>
            <a:ext cx="373532" cy="73152"/>
          </a:xfrm>
          <a:prstGeom prst="rect">
            <a:avLst/>
          </a:prstGeom>
          <a:solidFill>
            <a:srgbClr val="C4A06D"/>
          </a:solidFill>
          <a:ln/>
        </p:spPr>
      </p:sp>
      <p:sp>
        <p:nvSpPr>
          <p:cNvPr id="10" name="Shape 8"/>
          <p:cNvSpPr/>
          <p:nvPr/>
        </p:nvSpPr>
        <p:spPr>
          <a:xfrm>
            <a:off x="906628" y="896112"/>
            <a:ext cx="373532" cy="73152"/>
          </a:xfrm>
          <a:prstGeom prst="rect">
            <a:avLst/>
          </a:prstGeom>
          <a:solidFill>
            <a:srgbClr val="C4A06D"/>
          </a:solidFill>
          <a:ln/>
        </p:spPr>
      </p:sp>
      <p:sp>
        <p:nvSpPr>
          <p:cNvPr id="11" name="Shape 9"/>
          <p:cNvSpPr/>
          <p:nvPr/>
        </p:nvSpPr>
        <p:spPr>
          <a:xfrm>
            <a:off x="411480" y="749808"/>
            <a:ext cx="373532" cy="73152"/>
          </a:xfrm>
          <a:prstGeom prst="rect">
            <a:avLst/>
          </a:prstGeom>
          <a:solidFill>
            <a:srgbClr val="C4A06D"/>
          </a:solidFill>
          <a:ln/>
        </p:spPr>
      </p:sp>
      <p:sp>
        <p:nvSpPr>
          <p:cNvPr id="12" name="Shape 10"/>
          <p:cNvSpPr/>
          <p:nvPr/>
        </p:nvSpPr>
        <p:spPr>
          <a:xfrm>
            <a:off x="906628" y="749808"/>
            <a:ext cx="373532" cy="73152"/>
          </a:xfrm>
          <a:prstGeom prst="rect">
            <a:avLst/>
          </a:prstGeom>
          <a:solidFill>
            <a:srgbClr val="C4A06D"/>
          </a:solidFill>
          <a:ln/>
        </p:spPr>
      </p:sp>
      <p:sp>
        <p:nvSpPr>
          <p:cNvPr id="13" name="Text 11"/>
          <p:cNvSpPr/>
          <p:nvPr/>
        </p:nvSpPr>
        <p:spPr>
          <a:xfrm>
            <a:off x="1508760" y="694944"/>
            <a:ext cx="731520" cy="548640"/>
          </a:xfrm>
          <a:prstGeom prst="rect">
            <a:avLst/>
          </a:prstGeom>
          <a:noFill/>
          <a:ln/>
        </p:spPr>
        <p:txBody>
          <a:bodyPr wrap="square" lIns="0" tIns="0" rIns="0" bIns="0" rtlCol="0" anchor="ctr"/>
          <a:lstStyle/>
          <a:p>
            <a:pPr indent="0" marL="0">
              <a:buNone/>
            </a:pPr>
            <a:r>
              <a:rPr lang="en-US" sz="3200" b="1" dirty="0">
                <a:solidFill>
                  <a:srgbClr val="F5F1E8"/>
                </a:solidFill>
                <a:latin typeface="BIZ UDPGothic" pitchFamily="34" charset="0"/>
                <a:ea typeface="BIZ UDPGothic" pitchFamily="34" charset="-122"/>
                <a:cs typeface="BIZ UDPGothic" pitchFamily="34" charset="-120"/>
              </a:rPr>
              <a:t>泰</a:t>
            </a:r>
            <a:endParaRPr lang="en-US" sz="3200" dirty="0"/>
          </a:p>
        </p:txBody>
      </p:sp>
      <p:sp>
        <p:nvSpPr>
          <p:cNvPr id="14" name="Text 12"/>
          <p:cNvSpPr/>
          <p:nvPr/>
        </p:nvSpPr>
        <p:spPr>
          <a:xfrm>
            <a:off x="1508760" y="1261872"/>
            <a:ext cx="1920240" cy="274320"/>
          </a:xfrm>
          <a:prstGeom prst="rect">
            <a:avLst/>
          </a:prstGeom>
          <a:noFill/>
          <a:ln/>
        </p:spPr>
        <p:txBody>
          <a:bodyPr wrap="square" lIns="0" tIns="0" rIns="0" bIns="0" rtlCol="0" anchor="t"/>
          <a:lstStyle/>
          <a:p>
            <a:pPr indent="0" marL="0">
              <a:buNone/>
            </a:pPr>
            <a:r>
              <a:rPr lang="en-US" sz="1000" dirty="0">
                <a:solidFill>
                  <a:srgbClr val="C9D3D9"/>
                </a:solidFill>
                <a:latin typeface="BIZ UDPGothic" pitchFamily="34" charset="0"/>
                <a:ea typeface="BIZ UDPGothic" pitchFamily="34" charset="-122"/>
                <a:cs typeface="BIZ UDPGothic" pitchFamily="34" charset="-120"/>
              </a:rPr>
              <a:t>第11卦　地天泰</a:t>
            </a:r>
            <a:endParaRPr lang="en-US" sz="1000" dirty="0"/>
          </a:p>
        </p:txBody>
      </p:sp>
      <p:sp>
        <p:nvSpPr>
          <p:cNvPr id="15" name="Text 13"/>
          <p:cNvSpPr/>
          <p:nvPr/>
        </p:nvSpPr>
        <p:spPr>
          <a:xfrm>
            <a:off x="411480" y="1737360"/>
            <a:ext cx="3017520" cy="457200"/>
          </a:xfrm>
          <a:prstGeom prst="rect">
            <a:avLst/>
          </a:prstGeom>
          <a:noFill/>
          <a:ln/>
        </p:spPr>
        <p:txBody>
          <a:bodyPr wrap="square" lIns="0" tIns="0" rIns="0" bIns="0" rtlCol="0" anchor="ctr"/>
          <a:lstStyle/>
          <a:p>
            <a:pPr indent="0" marL="0">
              <a:buNone/>
            </a:pPr>
            <a:r>
              <a:rPr lang="en-US" sz="2200" b="1" dirty="0">
                <a:solidFill>
                  <a:srgbClr val="F5F1E8"/>
                </a:solidFill>
                <a:latin typeface="Georgia" pitchFamily="34" charset="0"/>
                <a:ea typeface="Georgia" pitchFamily="34" charset="-122"/>
                <a:cs typeface="Georgia" pitchFamily="34" charset="-120"/>
              </a:rPr>
              <a:t>TAI Pleroma</a:t>
            </a:r>
            <a:endParaRPr lang="en-US" sz="2200" dirty="0"/>
          </a:p>
        </p:txBody>
      </p:sp>
      <p:sp>
        <p:nvSpPr>
          <p:cNvPr id="16" name="Text 14"/>
          <p:cNvSpPr/>
          <p:nvPr/>
        </p:nvSpPr>
        <p:spPr>
          <a:xfrm>
            <a:off x="411480" y="2194560"/>
            <a:ext cx="2926080" cy="274320"/>
          </a:xfrm>
          <a:prstGeom prst="rect">
            <a:avLst/>
          </a:prstGeom>
          <a:noFill/>
          <a:ln/>
        </p:spPr>
        <p:txBody>
          <a:bodyPr wrap="square" lIns="0" tIns="0" rIns="0" bIns="0" rtlCol="0" anchor="t"/>
          <a:lstStyle/>
          <a:p>
            <a:pPr indent="0" marL="0">
              <a:buNone/>
            </a:pPr>
            <a:r>
              <a:rPr lang="en-US" sz="1200" b="1" dirty="0">
                <a:solidFill>
                  <a:srgbClr val="C4A06D"/>
                </a:solidFill>
                <a:latin typeface="BIZ UDPGothic" pitchFamily="34" charset="0"/>
                <a:ea typeface="BIZ UDPGothic" pitchFamily="34" charset="-122"/>
                <a:cs typeface="BIZ UDPGothic" pitchFamily="34" charset="-120"/>
              </a:rPr>
              <a:t>課題の横断</a:t>
            </a:r>
            <a:endParaRPr lang="en-US" sz="1200" dirty="0"/>
          </a:p>
        </p:txBody>
      </p:sp>
      <p:sp>
        <p:nvSpPr>
          <p:cNvPr id="17" name="Text 15"/>
          <p:cNvSpPr/>
          <p:nvPr/>
        </p:nvSpPr>
        <p:spPr>
          <a:xfrm>
            <a:off x="411480" y="2606040"/>
            <a:ext cx="2743200" cy="201168"/>
          </a:xfrm>
          <a:prstGeom prst="rect">
            <a:avLst/>
          </a:prstGeom>
          <a:noFill/>
          <a:ln/>
        </p:spPr>
        <p:txBody>
          <a:bodyPr wrap="square" lIns="0" tIns="0" rIns="0" bIns="0" rtlCol="0" anchor="t"/>
          <a:lstStyle/>
          <a:p>
            <a:pPr indent="0" marL="0">
              <a:buNone/>
            </a:pPr>
            <a:r>
              <a:rPr lang="en-US" sz="900" b="1" dirty="0">
                <a:solidFill>
                  <a:srgbClr val="A7B7A7"/>
                </a:solidFill>
                <a:latin typeface="BIZ UDPGothic" pitchFamily="34" charset="0"/>
                <a:ea typeface="BIZ UDPGothic" pitchFamily="34" charset="-122"/>
                <a:cs typeface="BIZ UDPGothic" pitchFamily="34" charset="-120"/>
              </a:rPr>
              <a:t>目的</a:t>
            </a:r>
            <a:endParaRPr lang="en-US" sz="900" dirty="0"/>
          </a:p>
        </p:txBody>
      </p:sp>
      <p:sp>
        <p:nvSpPr>
          <p:cNvPr id="18" name="Text 16"/>
          <p:cNvSpPr/>
          <p:nvPr/>
        </p:nvSpPr>
        <p:spPr>
          <a:xfrm>
            <a:off x="411480" y="2807208"/>
            <a:ext cx="2788920" cy="384048"/>
          </a:xfrm>
          <a:prstGeom prst="rect">
            <a:avLst/>
          </a:prstGeom>
          <a:noFill/>
          <a:ln/>
        </p:spPr>
        <p:txBody>
          <a:bodyPr wrap="square" lIns="0" tIns="0" rIns="0" bIns="0" rtlCol="0" anchor="t"/>
          <a:lstStyle/>
          <a:p>
            <a:pPr indent="0" marL="0">
              <a:buNone/>
            </a:pPr>
            <a:r>
              <a:rPr lang="en-US" sz="1050" dirty="0">
                <a:solidFill>
                  <a:srgbClr val="F5F1E8"/>
                </a:solidFill>
                <a:latin typeface="BIZ UDPGothic" pitchFamily="34" charset="0"/>
                <a:ea typeface="BIZ UDPGothic" pitchFamily="34" charset="-122"/>
                <a:cs typeface="BIZ UDPGothic" pitchFamily="34" charset="-120"/>
              </a:rPr>
              <a:t>人が知識を得て、考え、判断し、成果を生み、結果から学ぶまでを支える</a:t>
            </a:r>
            <a:endParaRPr lang="en-US" sz="1050" dirty="0"/>
          </a:p>
        </p:txBody>
      </p:sp>
      <p:sp>
        <p:nvSpPr>
          <p:cNvPr id="19" name="Text 17"/>
          <p:cNvSpPr/>
          <p:nvPr/>
        </p:nvSpPr>
        <p:spPr>
          <a:xfrm>
            <a:off x="411480" y="3273552"/>
            <a:ext cx="2743200" cy="201168"/>
          </a:xfrm>
          <a:prstGeom prst="rect">
            <a:avLst/>
          </a:prstGeom>
          <a:noFill/>
          <a:ln/>
        </p:spPr>
        <p:txBody>
          <a:bodyPr wrap="square" lIns="0" tIns="0" rIns="0" bIns="0" rtlCol="0" anchor="t"/>
          <a:lstStyle/>
          <a:p>
            <a:pPr indent="0" marL="0">
              <a:buNone/>
            </a:pPr>
            <a:r>
              <a:rPr lang="en-US" sz="900" b="1" dirty="0">
                <a:solidFill>
                  <a:srgbClr val="A7B7A7"/>
                </a:solidFill>
                <a:latin typeface="BIZ UDPGothic" pitchFamily="34" charset="0"/>
                <a:ea typeface="BIZ UDPGothic" pitchFamily="34" charset="-122"/>
                <a:cs typeface="BIZ UDPGothic" pitchFamily="34" charset="-120"/>
              </a:rPr>
              <a:t>名前</a:t>
            </a:r>
            <a:endParaRPr lang="en-US" sz="900" dirty="0"/>
          </a:p>
        </p:txBody>
      </p:sp>
      <p:sp>
        <p:nvSpPr>
          <p:cNvPr id="20" name="Text 18"/>
          <p:cNvSpPr/>
          <p:nvPr/>
        </p:nvSpPr>
        <p:spPr>
          <a:xfrm>
            <a:off x="411480" y="3474720"/>
            <a:ext cx="2788920" cy="384048"/>
          </a:xfrm>
          <a:prstGeom prst="rect">
            <a:avLst/>
          </a:prstGeom>
          <a:noFill/>
          <a:ln/>
        </p:spPr>
        <p:txBody>
          <a:bodyPr wrap="square" lIns="0" tIns="0" rIns="0" bIns="0" rtlCol="0" anchor="t"/>
          <a:lstStyle/>
          <a:p>
            <a:pPr indent="0" marL="0">
              <a:buNone/>
            </a:pPr>
            <a:r>
              <a:rPr lang="en-US" sz="1050" dirty="0">
                <a:solidFill>
                  <a:srgbClr val="F5F1E8"/>
                </a:solidFill>
                <a:latin typeface="BIZ UDPGothic" pitchFamily="34" charset="0"/>
                <a:ea typeface="BIZ UDPGothic" pitchFamily="34" charset="-122"/>
                <a:cs typeface="BIZ UDPGothic" pitchFamily="34" charset="-120"/>
              </a:rPr>
              <a:t>泰は易経第11卦。Pleromaは充足した全体性</a:t>
            </a:r>
            <a:endParaRPr lang="en-US" sz="1050" dirty="0"/>
          </a:p>
        </p:txBody>
      </p:sp>
      <p:sp>
        <p:nvSpPr>
          <p:cNvPr id="21" name="Text 19"/>
          <p:cNvSpPr/>
          <p:nvPr/>
        </p:nvSpPr>
        <p:spPr>
          <a:xfrm>
            <a:off x="411480" y="3941064"/>
            <a:ext cx="2743200" cy="201168"/>
          </a:xfrm>
          <a:prstGeom prst="rect">
            <a:avLst/>
          </a:prstGeom>
          <a:noFill/>
          <a:ln/>
        </p:spPr>
        <p:txBody>
          <a:bodyPr wrap="square" lIns="0" tIns="0" rIns="0" bIns="0" rtlCol="0" anchor="t"/>
          <a:lstStyle/>
          <a:p>
            <a:pPr indent="0" marL="0">
              <a:buNone/>
            </a:pPr>
            <a:r>
              <a:rPr lang="en-US" sz="900" b="1" dirty="0">
                <a:solidFill>
                  <a:srgbClr val="A7B7A7"/>
                </a:solidFill>
                <a:latin typeface="BIZ UDPGothic" pitchFamily="34" charset="0"/>
                <a:ea typeface="BIZ UDPGothic" pitchFamily="34" charset="-122"/>
                <a:cs typeface="BIZ UDPGothic" pitchFamily="34" charset="-120"/>
              </a:rPr>
              <a:t>方針</a:t>
            </a:r>
            <a:endParaRPr lang="en-US" sz="900" dirty="0"/>
          </a:p>
        </p:txBody>
      </p:sp>
      <p:sp>
        <p:nvSpPr>
          <p:cNvPr id="22" name="Text 20"/>
          <p:cNvSpPr/>
          <p:nvPr/>
        </p:nvSpPr>
        <p:spPr>
          <a:xfrm>
            <a:off x="411480" y="4142232"/>
            <a:ext cx="2788920" cy="548640"/>
          </a:xfrm>
          <a:prstGeom prst="rect">
            <a:avLst/>
          </a:prstGeom>
          <a:noFill/>
          <a:ln/>
        </p:spPr>
        <p:txBody>
          <a:bodyPr wrap="square" lIns="0" tIns="0" rIns="0" bIns="0" rtlCol="0" anchor="t"/>
          <a:lstStyle/>
          <a:p>
            <a:pPr indent="0" marL="0">
              <a:buNone/>
            </a:pPr>
            <a:r>
              <a:rPr lang="en-US" sz="1050" dirty="0">
                <a:solidFill>
                  <a:srgbClr val="F5F1E8"/>
                </a:solidFill>
                <a:latin typeface="BIZ UDPGothic" pitchFamily="34" charset="0"/>
                <a:ea typeface="BIZ UDPGothic" pitchFamily="34" charset="-122"/>
                <a:cs typeface="BIZ UDPGothic" pitchFamily="34" charset="-120"/>
              </a:rPr>
              <a:t>機能を増やすより、必要な知的能力を組み合わせて一つの課題を続けて扱う</a:t>
            </a:r>
            <a:endParaRPr lang="en-US" sz="1050" dirty="0"/>
          </a:p>
        </p:txBody>
      </p:sp>
      <p:sp>
        <p:nvSpPr>
          <p:cNvPr id="23" name="Shape 21"/>
          <p:cNvSpPr/>
          <p:nvPr/>
        </p:nvSpPr>
        <p:spPr>
          <a:xfrm>
            <a:off x="320040" y="5029200"/>
            <a:ext cx="2880360" cy="1600200"/>
          </a:xfrm>
          <a:prstGeom prst="rect">
            <a:avLst/>
          </a:prstGeom>
          <a:solidFill>
            <a:srgbClr val="000000">
              <a:alpha val="22000"/>
            </a:srgbClr>
          </a:solidFill>
          <a:ln/>
        </p:spPr>
      </p:sp>
      <p:sp>
        <p:nvSpPr>
          <p:cNvPr id="24" name="Text 22"/>
          <p:cNvSpPr/>
          <p:nvPr/>
        </p:nvSpPr>
        <p:spPr>
          <a:xfrm>
            <a:off x="457200" y="5120640"/>
            <a:ext cx="2651760" cy="201168"/>
          </a:xfrm>
          <a:prstGeom prst="rect">
            <a:avLst/>
          </a:prstGeom>
          <a:noFill/>
          <a:ln/>
        </p:spPr>
        <p:txBody>
          <a:bodyPr wrap="square" lIns="0" tIns="0" rIns="0" bIns="0" rtlCol="0" anchor="t"/>
          <a:lstStyle/>
          <a:p>
            <a:pPr indent="0" marL="0">
              <a:buNone/>
            </a:pPr>
            <a:r>
              <a:rPr lang="en-US" sz="900" b="1" dirty="0">
                <a:solidFill>
                  <a:srgbClr val="C4A06D"/>
                </a:solidFill>
                <a:latin typeface="BIZ UDPGothic" pitchFamily="34" charset="0"/>
                <a:ea typeface="BIZ UDPGothic" pitchFamily="34" charset="-122"/>
                <a:cs typeface="BIZ UDPGothic" pitchFamily="34" charset="-120"/>
              </a:rPr>
              <a:t>確認できていること</a:t>
            </a:r>
            <a:endParaRPr lang="en-US" sz="900" dirty="0"/>
          </a:p>
        </p:txBody>
      </p:sp>
      <p:sp>
        <p:nvSpPr>
          <p:cNvPr id="25" name="Text 23"/>
          <p:cNvSpPr/>
          <p:nvPr/>
        </p:nvSpPr>
        <p:spPr>
          <a:xfrm>
            <a:off x="457200" y="5321808"/>
            <a:ext cx="2651760" cy="566928"/>
          </a:xfrm>
          <a:prstGeom prst="rect">
            <a:avLst/>
          </a:prstGeom>
          <a:noFill/>
          <a:ln/>
        </p:spPr>
        <p:txBody>
          <a:bodyPr wrap="square" lIns="0" tIns="0" rIns="0" bIns="0" rtlCol="0" anchor="t"/>
          <a:lstStyle/>
          <a:p>
            <a:pPr indent="0" marL="0">
              <a:buNone/>
            </a:pPr>
            <a:r>
              <a:rPr lang="en-US" sz="1000" dirty="0">
                <a:solidFill>
                  <a:srgbClr val="F5F1E8"/>
                </a:solidFill>
                <a:latin typeface="BIZ UDPGothic" pitchFamily="34" charset="0"/>
                <a:ea typeface="BIZ UDPGothic" pitchFamily="34" charset="-122"/>
                <a:cs typeface="BIZ UDPGothic" pitchFamily="34" charset="-120"/>
              </a:rPr>
              <a:t>架空の資料によるSCN-001で、五つの基盤との開発用接続と評価記録</a:t>
            </a:r>
            <a:endParaRPr lang="en-US" sz="1000" dirty="0"/>
          </a:p>
        </p:txBody>
      </p:sp>
      <p:sp>
        <p:nvSpPr>
          <p:cNvPr id="26" name="Text 24"/>
          <p:cNvSpPr/>
          <p:nvPr/>
        </p:nvSpPr>
        <p:spPr>
          <a:xfrm>
            <a:off x="457200" y="5907024"/>
            <a:ext cx="2651760" cy="201168"/>
          </a:xfrm>
          <a:prstGeom prst="rect">
            <a:avLst/>
          </a:prstGeom>
          <a:noFill/>
          <a:ln/>
        </p:spPr>
        <p:txBody>
          <a:bodyPr wrap="square" lIns="0" tIns="0" rIns="0" bIns="0" rtlCol="0" anchor="t"/>
          <a:lstStyle/>
          <a:p>
            <a:pPr indent="0" marL="0">
              <a:buNone/>
            </a:pPr>
            <a:r>
              <a:rPr lang="en-US" sz="900" b="1" dirty="0">
                <a:solidFill>
                  <a:srgbClr val="E0A890"/>
                </a:solidFill>
                <a:latin typeface="BIZ UDPGothic" pitchFamily="34" charset="0"/>
                <a:ea typeface="BIZ UDPGothic" pitchFamily="34" charset="-122"/>
                <a:cs typeface="BIZ UDPGothic" pitchFamily="34" charset="-120"/>
              </a:rPr>
              <a:t>まだ確認していないこと</a:t>
            </a:r>
            <a:endParaRPr lang="en-US" sz="900" dirty="0"/>
          </a:p>
        </p:txBody>
      </p:sp>
      <p:sp>
        <p:nvSpPr>
          <p:cNvPr id="27" name="Text 25"/>
          <p:cNvSpPr/>
          <p:nvPr/>
        </p:nvSpPr>
        <p:spPr>
          <a:xfrm>
            <a:off x="457200" y="6108192"/>
            <a:ext cx="2651760" cy="475488"/>
          </a:xfrm>
          <a:prstGeom prst="rect">
            <a:avLst/>
          </a:prstGeom>
          <a:noFill/>
          <a:ln/>
        </p:spPr>
        <p:txBody>
          <a:bodyPr wrap="square" lIns="0" tIns="0" rIns="0" bIns="0" rtlCol="0" anchor="t"/>
          <a:lstStyle/>
          <a:p>
            <a:pPr indent="0" marL="0">
              <a:buNone/>
            </a:pPr>
            <a:r>
              <a:rPr lang="en-US" sz="1000" dirty="0">
                <a:solidFill>
                  <a:srgbClr val="F5F1E8"/>
                </a:solidFill>
                <a:latin typeface="BIZ UDPGothic" pitchFamily="34" charset="0"/>
                <a:ea typeface="BIZ UDPGothic" pitchFamily="34" charset="-122"/>
                <a:cs typeface="BIZ UDPGothic" pitchFamily="34" charset="-120"/>
              </a:rPr>
              <a:t>実在の規程の確認、人による意味の受理、公開権限</a:t>
            </a:r>
            <a:endParaRPr lang="en-US" sz="1000" dirty="0"/>
          </a:p>
        </p:txBody>
      </p:sp>
      <p:sp>
        <p:nvSpPr>
          <p:cNvPr id="28" name="Text 26"/>
          <p:cNvSpPr/>
          <p:nvPr/>
        </p:nvSpPr>
        <p:spPr>
          <a:xfrm>
            <a:off x="3886200" y="274320"/>
            <a:ext cx="780257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a:t>
            </a:r>
            <a:endParaRPr lang="en-US" sz="950" dirty="0"/>
          </a:p>
        </p:txBody>
      </p:sp>
      <p:sp>
        <p:nvSpPr>
          <p:cNvPr id="29" name="Text 27"/>
          <p:cNvSpPr/>
          <p:nvPr/>
        </p:nvSpPr>
        <p:spPr>
          <a:xfrm>
            <a:off x="3886200" y="530352"/>
            <a:ext cx="780257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一つの課題を、製品をまたいで続けて扱う</a:t>
            </a:r>
            <a:endParaRPr lang="en-US" sz="2500" dirty="0"/>
          </a:p>
        </p:txBody>
      </p:sp>
      <p:sp>
        <p:nvSpPr>
          <p:cNvPr id="30" name="Text 28"/>
          <p:cNvSpPr/>
          <p:nvPr/>
        </p:nvSpPr>
        <p:spPr>
          <a:xfrm>
            <a:off x="3886200" y="1097280"/>
            <a:ext cx="780257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各基盤の機能を重複して作らず、独自の中央実行基盤へも集めない。必要な能力の使い方と、成果のつながりを扱う。</a:t>
            </a:r>
            <a:endParaRPr lang="en-US" sz="1300" dirty="0"/>
          </a:p>
        </p:txBody>
      </p:sp>
      <p:sp>
        <p:nvSpPr>
          <p:cNvPr id="31" name="Text 29"/>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20</a:t>
            </a:r>
            <a:endParaRPr lang="en-US" sz="1000" dirty="0"/>
          </a:p>
        </p:txBody>
      </p:sp>
      <p:sp>
        <p:nvSpPr>
          <p:cNvPr id="32" name="Text 30"/>
          <p:cNvSpPr/>
          <p:nvPr/>
        </p:nvSpPr>
        <p:spPr>
          <a:xfrm>
            <a:off x="3886200" y="1600200"/>
            <a:ext cx="7315200" cy="256032"/>
          </a:xfrm>
          <a:prstGeom prst="rect">
            <a:avLst/>
          </a:prstGeom>
          <a:noFill/>
          <a:ln/>
        </p:spPr>
        <p:txBody>
          <a:bodyPr wrap="square" lIns="0" tIns="0" rIns="0" bIns="0" rtlCol="0" anchor="t"/>
          <a:lstStyle/>
          <a:p>
            <a:pPr indent="0" marL="0">
              <a:buNone/>
            </a:pPr>
            <a:r>
              <a:rPr lang="en-US" sz="1150" b="1" dirty="0">
                <a:solidFill>
                  <a:srgbClr val="243D54"/>
                </a:solidFill>
                <a:latin typeface="BIZ UDPGothic" pitchFamily="34" charset="0"/>
                <a:ea typeface="BIZ UDPGothic" pitchFamily="34" charset="-122"/>
                <a:cs typeface="BIZ UDPGothic" pitchFamily="34" charset="-120"/>
              </a:rPr>
              <a:t>最初の題材｜SCN-001 共同利用スペースの案内改善（架空）</a:t>
            </a:r>
            <a:endParaRPr lang="en-US" sz="1150" dirty="0"/>
          </a:p>
        </p:txBody>
      </p:sp>
      <p:sp>
        <p:nvSpPr>
          <p:cNvPr id="33" name="Shape 31"/>
          <p:cNvSpPr/>
          <p:nvPr/>
        </p:nvSpPr>
        <p:spPr>
          <a:xfrm>
            <a:off x="3886200" y="1901952"/>
            <a:ext cx="7802575" cy="685800"/>
          </a:xfrm>
          <a:prstGeom prst="rect">
            <a:avLst/>
          </a:prstGeom>
          <a:solidFill>
            <a:srgbClr val="243D54"/>
          </a:solidFill>
          <a:ln/>
        </p:spPr>
      </p:sp>
      <p:sp>
        <p:nvSpPr>
          <p:cNvPr id="34" name="Text 32"/>
          <p:cNvSpPr/>
          <p:nvPr/>
        </p:nvSpPr>
        <p:spPr>
          <a:xfrm>
            <a:off x="4160520" y="1901952"/>
            <a:ext cx="2377440" cy="685800"/>
          </a:xfrm>
          <a:prstGeom prst="rect">
            <a:avLst/>
          </a:prstGeom>
          <a:noFill/>
          <a:ln/>
        </p:spPr>
        <p:txBody>
          <a:bodyPr wrap="square" lIns="0" tIns="0" rIns="0" bIns="0" rtlCol="0" anchor="ctr"/>
          <a:lstStyle/>
          <a:p>
            <a:pPr indent="0" marL="0">
              <a:buNone/>
            </a:pPr>
            <a:r>
              <a:rPr lang="en-US" sz="1500" b="1" dirty="0">
                <a:solidFill>
                  <a:srgbClr val="C4A06D"/>
                </a:solidFill>
                <a:latin typeface="BIZ UDPGothic" pitchFamily="34" charset="0"/>
                <a:ea typeface="BIZ UDPGothic" pitchFamily="34" charset="-122"/>
                <a:cs typeface="BIZ UDPGothic" pitchFamily="34" charset="-120"/>
              </a:rPr>
              <a:t>掲示  </a:t>
            </a:r>
            <a:pPr indent="0" marL="0">
              <a:buNone/>
            </a:pPr>
            <a:r>
              <a:rPr lang="en-US" sz="1500" b="1" dirty="0">
                <a:solidFill>
                  <a:srgbClr val="F5F1E8"/>
                </a:solidFill>
                <a:latin typeface="BIZ UDPGothic" pitchFamily="34" charset="0"/>
                <a:ea typeface="BIZ UDPGothic" pitchFamily="34" charset="-122"/>
                <a:cs typeface="BIZ UDPGothic" pitchFamily="34" charset="-120"/>
              </a:rPr>
              <a:t>「予約不要」</a:t>
            </a:r>
            <a:endParaRPr lang="en-US" sz="1500" dirty="0"/>
          </a:p>
        </p:txBody>
      </p:sp>
      <p:sp>
        <p:nvSpPr>
          <p:cNvPr id="35" name="Text 33"/>
          <p:cNvSpPr/>
          <p:nvPr/>
        </p:nvSpPr>
        <p:spPr>
          <a:xfrm>
            <a:off x="6492240" y="1901952"/>
            <a:ext cx="365760" cy="685800"/>
          </a:xfrm>
          <a:prstGeom prst="rect">
            <a:avLst/>
          </a:prstGeom>
          <a:noFill/>
          <a:ln/>
        </p:spPr>
        <p:txBody>
          <a:bodyPr wrap="square" lIns="0" tIns="0" rIns="0" bIns="0" rtlCol="0" anchor="ctr"/>
          <a:lstStyle/>
          <a:p>
            <a:pPr algn="ctr" indent="0" marL="0">
              <a:buNone/>
            </a:pPr>
            <a:r>
              <a:rPr lang="en-US" sz="2000" dirty="0">
                <a:solidFill>
                  <a:srgbClr val="C4A06D"/>
                </a:solidFill>
                <a:latin typeface="BIZ UDPGothic" pitchFamily="34" charset="0"/>
                <a:ea typeface="BIZ UDPGothic" pitchFamily="34" charset="-122"/>
                <a:cs typeface="BIZ UDPGothic" pitchFamily="34" charset="-120"/>
              </a:rPr>
              <a:t>≠</a:t>
            </a:r>
            <a:endParaRPr lang="en-US" sz="2000" dirty="0"/>
          </a:p>
        </p:txBody>
      </p:sp>
      <p:sp>
        <p:nvSpPr>
          <p:cNvPr id="36" name="Text 34"/>
          <p:cNvSpPr/>
          <p:nvPr/>
        </p:nvSpPr>
        <p:spPr>
          <a:xfrm>
            <a:off x="6903720" y="1901952"/>
            <a:ext cx="4602175" cy="685800"/>
          </a:xfrm>
          <a:prstGeom prst="rect">
            <a:avLst/>
          </a:prstGeom>
          <a:noFill/>
          <a:ln/>
        </p:spPr>
        <p:txBody>
          <a:bodyPr wrap="square" lIns="0" tIns="0" rIns="0" bIns="0" rtlCol="0" anchor="ctr"/>
          <a:lstStyle/>
          <a:p>
            <a:pPr indent="0" marL="0">
              <a:buNone/>
            </a:pPr>
            <a:r>
              <a:rPr lang="en-US" sz="1500" b="1" dirty="0">
                <a:solidFill>
                  <a:srgbClr val="C4A06D"/>
                </a:solidFill>
                <a:latin typeface="BIZ UDPGothic" pitchFamily="34" charset="0"/>
                <a:ea typeface="BIZ UDPGothic" pitchFamily="34" charset="-122"/>
                <a:cs typeface="BIZ UDPGothic" pitchFamily="34" charset="-120"/>
              </a:rPr>
              <a:t>別の案内  </a:t>
            </a:r>
            <a:pPr indent="0" marL="0">
              <a:buNone/>
            </a:pPr>
            <a:r>
              <a:rPr lang="en-US" sz="1500" b="1" dirty="0">
                <a:solidFill>
                  <a:srgbClr val="F5F1E8"/>
                </a:solidFill>
                <a:latin typeface="BIZ UDPGothic" pitchFamily="34" charset="0"/>
                <a:ea typeface="BIZ UDPGothic" pitchFamily="34" charset="-122"/>
                <a:cs typeface="BIZ UDPGothic" pitchFamily="34" charset="-120"/>
              </a:rPr>
              <a:t>「会議室は事前予約が必要」</a:t>
            </a:r>
            <a:endParaRPr lang="en-US" sz="1500" dirty="0"/>
          </a:p>
        </p:txBody>
      </p:sp>
      <p:sp>
        <p:nvSpPr>
          <p:cNvPr id="37" name="Text 35"/>
          <p:cNvSpPr/>
          <p:nvPr/>
        </p:nvSpPr>
        <p:spPr>
          <a:xfrm>
            <a:off x="3886200" y="2697480"/>
            <a:ext cx="7802575" cy="502920"/>
          </a:xfrm>
          <a:prstGeom prst="rect">
            <a:avLst/>
          </a:prstGeom>
          <a:noFill/>
          <a:ln/>
        </p:spPr>
        <p:txBody>
          <a:bodyPr wrap="square" lIns="0" tIns="0" rIns="0" bIns="0" rtlCol="0" anchor="t"/>
          <a:lstStyle/>
          <a:p>
            <a:pPr indent="0" marL="0">
              <a:buNone/>
            </a:pPr>
            <a:r>
              <a:rPr lang="en-US" sz="1150" dirty="0">
                <a:solidFill>
                  <a:srgbClr val="56636E"/>
                </a:solidFill>
                <a:latin typeface="BIZ UDPGothic" pitchFamily="34" charset="0"/>
                <a:ea typeface="BIZ UDPGothic" pitchFamily="34" charset="-122"/>
                <a:cs typeface="BIZ UDPGothic" pitchFamily="34" charset="-120"/>
              </a:rPr>
              <a:t>本当に矛盾するのか、一般則と例外なのか、古い案内が残っているのかを調べる。元の資料と版を残し、複数の解釈を検討し、確認できた範囲で案内文を改訂する。</a:t>
            </a:r>
            <a:endParaRPr lang="en-US" sz="1150" dirty="0"/>
          </a:p>
        </p:txBody>
      </p:sp>
      <p:sp>
        <p:nvSpPr>
          <p:cNvPr id="38" name="Text 36"/>
          <p:cNvSpPr/>
          <p:nvPr/>
        </p:nvSpPr>
        <p:spPr>
          <a:xfrm>
            <a:off x="3886200" y="3291840"/>
            <a:ext cx="5486400" cy="256032"/>
          </a:xfrm>
          <a:prstGeom prst="rect">
            <a:avLst/>
          </a:prstGeom>
          <a:noFill/>
          <a:ln/>
        </p:spPr>
        <p:txBody>
          <a:bodyPr wrap="square" lIns="0" tIns="0" rIns="0" bIns="0" rtlCol="0" anchor="t"/>
          <a:lstStyle/>
          <a:p>
            <a:pPr indent="0" marL="0">
              <a:buNone/>
            </a:pPr>
            <a:r>
              <a:rPr lang="en-US" sz="1150" b="1" dirty="0">
                <a:solidFill>
                  <a:srgbClr val="243D54"/>
                </a:solidFill>
                <a:latin typeface="BIZ UDPGothic" pitchFamily="34" charset="0"/>
                <a:ea typeface="BIZ UDPGothic" pitchFamily="34" charset="-122"/>
                <a:cs typeface="BIZ UDPGothic" pitchFamily="34" charset="-120"/>
              </a:rPr>
              <a:t>TAIで確認できること（開発・評価用の接続）</a:t>
            </a:r>
            <a:endParaRPr lang="en-US" sz="11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886200" y="3584448"/>
          <a:ext cx="7802575" cy="914400"/>
        </p:xfrm>
        <a:graphic>
          <a:graphicData uri="http://schemas.openxmlformats.org/drawingml/2006/table">
            <a:tbl>
              <a:tblPr/>
              <a:tblGrid>
                <a:gridCol w="1828800"/>
                <a:gridCol w="5973775"/>
              </a:tblGrid>
              <a:tr h="310896">
                <a:tc>
                  <a:txBody>
                    <a:bodyPr/>
                    <a:lstStyle/>
                    <a:p>
                      <a:pPr indent="0" marL="0">
                        <a:buNone/>
                      </a:pPr>
                      <a:r>
                        <a:rPr lang="en-US" sz="950" b="1" dirty="0">
                          <a:solidFill>
                            <a:srgbClr val="F5F1E8"/>
                          </a:solidFill>
                          <a:latin typeface="BIZ UDPGothic" pitchFamily="34" charset="0"/>
                          <a:ea typeface="BIZ UDPGothic" pitchFamily="34" charset="-122"/>
                          <a:cs typeface="BIZ UDPGothic" pitchFamily="34" charset="-120"/>
                        </a:rPr>
                        <a:t>対象</a:t>
                      </a:r>
                      <a:endParaRPr lang="en-US" sz="9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243D54"/>
                    </a:solidFill>
                  </a:tcPr>
                </a:tc>
                <a:tc>
                  <a:txBody>
                    <a:bodyPr/>
                    <a:lstStyle/>
                    <a:p>
                      <a:pPr indent="0" marL="0">
                        <a:buNone/>
                      </a:pPr>
                      <a:r>
                        <a:rPr lang="en-US" sz="950" b="1" dirty="0">
                          <a:solidFill>
                            <a:srgbClr val="F5F1E8"/>
                          </a:solidFill>
                          <a:latin typeface="BIZ UDPGothic" pitchFamily="34" charset="0"/>
                          <a:ea typeface="BIZ UDPGothic" pitchFamily="34" charset="-122"/>
                          <a:cs typeface="BIZ UDPGothic" pitchFamily="34" charset="-120"/>
                        </a:rPr>
                        <a:t>現在の確認範囲</a:t>
                      </a:r>
                      <a:endParaRPr lang="en-US" sz="9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243D54"/>
                    </a:solidFill>
                  </a:tcPr>
                </a:tc>
              </a:tr>
              <a:tr h="384048">
                <a:tc>
                  <a:txBody>
                    <a:bodyPr/>
                    <a:lstStyle/>
                    <a:p>
                      <a:pPr indent="0" marL="0">
                        <a:buNone/>
                      </a:pPr>
                      <a:r>
                        <a:rPr lang="en-US" sz="1050" b="1" dirty="0">
                          <a:solidFill>
                            <a:srgbClr val="243D54"/>
                          </a:solidFill>
                          <a:latin typeface="BIZ UDPGothic" pitchFamily="34" charset="0"/>
                          <a:ea typeface="BIZ UDPGothic" pitchFamily="34" charset="-122"/>
                          <a:cs typeface="BIZ UDPGothic" pitchFamily="34" charset="-120"/>
                        </a:rPr>
                        <a:t>SCN-001の評価</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架空の観測・仮説・改訂履歴の構造を検査</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493776">
                <a:tc>
                  <a:txBody>
                    <a:bodyPr/>
                    <a:lstStyle/>
                    <a:p>
                      <a:pPr indent="0" marL="0">
                        <a:buNone/>
                      </a:pPr>
                      <a:r>
                        <a:rPr lang="en-US" sz="1050" b="1" dirty="0">
                          <a:solidFill>
                            <a:srgbClr val="243D54"/>
                          </a:solidFill>
                          <a:latin typeface="BIZ UDPGothic" pitchFamily="34" charset="0"/>
                          <a:ea typeface="BIZ UDPGothic" pitchFamily="34" charset="-122"/>
                          <a:cs typeface="BIZ UDPGothic" pitchFamily="34" charset="-120"/>
                        </a:rPr>
                        <a:t>MMI・SEIとの接続</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開発用文書を読み取り専用で参照し観測を取得／合成した判断記録の保存と再開時の参照</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r h="493776">
                <a:tc>
                  <a:txBody>
                    <a:bodyPr/>
                    <a:lstStyle/>
                    <a:p>
                      <a:pPr indent="0" marL="0">
                        <a:buNone/>
                      </a:pPr>
                      <a:r>
                        <a:rPr lang="en-US" sz="1050" b="1" dirty="0">
                          <a:solidFill>
                            <a:srgbClr val="243D54"/>
                          </a:solidFill>
                          <a:latin typeface="BIZ UDPGothic" pitchFamily="34" charset="0"/>
                          <a:ea typeface="BIZ UDPGothic" pitchFamily="34" charset="-122"/>
                          <a:cs typeface="BIZ UDPGothic" pitchFamily="34" charset="-120"/>
                        </a:rPr>
                        <a:t>SUI・TEIとの接続</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カードと観測本文の対応、島の構成、根拠行を照合／シナリオで使う型宣言を検証</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243D54"/>
                          </a:solidFill>
                          <a:latin typeface="BIZ UDPGothic" pitchFamily="34" charset="0"/>
                          <a:ea typeface="BIZ UDPGothic" pitchFamily="34" charset="-122"/>
                          <a:cs typeface="BIZ UDPGothic" pitchFamily="34" charset="-120"/>
                        </a:rPr>
                        <a:t>EKIとの接続</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認証と合成した仕事の受付・待機状態、命令行ツールの起動</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r h="493776">
                <a:tc>
                  <a:txBody>
                    <a:bodyPr/>
                    <a:lstStyle/>
                    <a:p>
                      <a:pPr indent="0" marL="0">
                        <a:buNone/>
                      </a:pPr>
                      <a:r>
                        <a:rPr lang="en-US" sz="1050" b="1" dirty="0">
                          <a:solidFill>
                            <a:srgbClr val="243D54"/>
                          </a:solidFill>
                          <a:latin typeface="BIZ UDPGothic" pitchFamily="34" charset="0"/>
                          <a:ea typeface="BIZ UDPGothic" pitchFamily="34" charset="-122"/>
                          <a:cs typeface="BIZ UDPGothic" pitchFamily="34" charset="-120"/>
                        </a:rPr>
                        <a:t>公開の検査</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レビュー項目7件の状態を判定（現在は公開を保留）。秘密情報の混入を検出</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bl>
          </a:graphicData>
        </a:graphic>
      </p:graphicFrame>
      <p:sp>
        <p:nvSpPr>
          <p:cNvPr id="40" name="Text 37"/>
          <p:cNvSpPr/>
          <p:nvPr/>
        </p:nvSpPr>
        <p:spPr>
          <a:xfrm>
            <a:off x="3886200" y="6419088"/>
            <a:ext cx="7162495" cy="292608"/>
          </a:xfrm>
          <a:prstGeom prst="rect">
            <a:avLst/>
          </a:prstGeom>
          <a:noFill/>
          <a:ln/>
        </p:spPr>
        <p:txBody>
          <a:bodyPr wrap="square" lIns="0" tIns="0" rIns="0" bIns="0" rtlCol="0" anchor="ctr"/>
          <a:lstStyle/>
          <a:p>
            <a:pPr indent="0" marL="0">
              <a:buNone/>
            </a:pPr>
            <a:r>
              <a:rPr lang="en-US" sz="950" dirty="0">
                <a:solidFill>
                  <a:srgbClr val="56636E"/>
                </a:solidFill>
                <a:latin typeface="BIZ UDPGothic" pitchFamily="34" charset="0"/>
                <a:ea typeface="BIZ UDPGothic" pitchFamily="34" charset="-122"/>
                <a:cs typeface="BIZ UDPGothic" pitchFamily="34" charset="-120"/>
              </a:rPr>
              <a:t>架空資料への検査や仕事の受付を、実在の規程の確認・意味の受理・公開権限・処理の完了と同一視しない。待機状態は実行の完了ではない。</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274320"/>
            <a:ext cx="1118585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製品｜TAI Pleroma</a:t>
            </a:r>
            <a:endParaRPr lang="en-US" sz="950" dirty="0"/>
          </a:p>
        </p:txBody>
      </p:sp>
      <p:sp>
        <p:nvSpPr>
          <p:cNvPr id="3" name="Text 1"/>
          <p:cNvSpPr/>
          <p:nvPr/>
        </p:nvSpPr>
        <p:spPr>
          <a:xfrm>
            <a:off x="502920" y="530352"/>
            <a:ext cx="1118585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独立した製品を、検証済みの構成として届ける</a:t>
            </a:r>
            <a:endParaRPr lang="en-US" sz="2500" dirty="0"/>
          </a:p>
        </p:txBody>
      </p:sp>
      <p:sp>
        <p:nvSpPr>
          <p:cNvPr id="4" name="Text 2"/>
          <p:cNvSpPr/>
          <p:nvPr/>
        </p:nvSpPr>
        <p:spPr>
          <a:xfrm>
            <a:off x="502920" y="1097280"/>
            <a:ext cx="1118585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製品ごとの開発と、シリーズとしての配布を分ける。各製品の成果物を選び、組み合わせを確かめて用途別に届ける計画。</a:t>
            </a:r>
            <a:endParaRPr lang="en-US" sz="1300" dirty="0"/>
          </a:p>
        </p:txBody>
      </p:sp>
      <p:sp>
        <p:nvSpPr>
          <p:cNvPr id="5" name="Text 3"/>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21</a:t>
            </a:r>
            <a:endParaRPr lang="en-US" sz="1000" dirty="0"/>
          </a:p>
        </p:txBody>
      </p:sp>
      <p:sp>
        <p:nvSpPr>
          <p:cNvPr id="6" name="Shape 4"/>
          <p:cNvSpPr/>
          <p:nvPr/>
        </p:nvSpPr>
        <p:spPr>
          <a:xfrm>
            <a:off x="10225735" y="621792"/>
            <a:ext cx="1463040" cy="347472"/>
          </a:xfrm>
          <a:prstGeom prst="roundRect">
            <a:avLst>
              <a:gd name="adj" fmla="val 50000"/>
            </a:avLst>
          </a:prstGeom>
          <a:solidFill>
            <a:srgbClr val="ECE6D9"/>
          </a:solidFill>
          <a:ln w="9525">
            <a:solidFill>
              <a:srgbClr val="C4A06D"/>
            </a:solidFill>
            <a:prstDash val="solid"/>
          </a:ln>
        </p:spPr>
      </p:sp>
      <p:sp>
        <p:nvSpPr>
          <p:cNvPr id="7" name="Text 5"/>
          <p:cNvSpPr/>
          <p:nvPr/>
        </p:nvSpPr>
        <p:spPr>
          <a:xfrm>
            <a:off x="10225735" y="621792"/>
            <a:ext cx="1463040" cy="347472"/>
          </a:xfrm>
          <a:prstGeom prst="rect">
            <a:avLst/>
          </a:prstGeom>
          <a:noFill/>
          <a:ln/>
        </p:spPr>
        <p:txBody>
          <a:bodyPr wrap="square" lIns="0" tIns="0" rIns="0" bIns="0" rtlCol="0" anchor="ctr"/>
          <a:lstStyle/>
          <a:p>
            <a:pPr algn="ctr" indent="0" marL="0">
              <a:buNone/>
            </a:pPr>
            <a:r>
              <a:rPr lang="en-US" sz="1100" b="1" dirty="0">
                <a:solidFill>
                  <a:srgbClr val="243D54"/>
                </a:solidFill>
                <a:latin typeface="BIZ UDPGothic" pitchFamily="34" charset="0"/>
                <a:ea typeface="BIZ UDPGothic" pitchFamily="34" charset="-122"/>
                <a:cs typeface="BIZ UDPGothic" pitchFamily="34" charset="-120"/>
              </a:rPr>
              <a:t>構想段階</a:t>
            </a:r>
            <a:endParaRPr lang="en-US" sz="1100" dirty="0"/>
          </a:p>
        </p:txBody>
      </p:sp>
      <p:sp>
        <p:nvSpPr>
          <p:cNvPr id="8" name="Shape 6"/>
          <p:cNvSpPr/>
          <p:nvPr/>
        </p:nvSpPr>
        <p:spPr>
          <a:xfrm>
            <a:off x="502920" y="1645920"/>
            <a:ext cx="1673809" cy="914400"/>
          </a:xfrm>
          <a:prstGeom prst="rect">
            <a:avLst/>
          </a:prstGeom>
          <a:solidFill>
            <a:srgbClr val="FFFFFF"/>
          </a:solidFill>
          <a:ln w="9525">
            <a:solidFill>
              <a:srgbClr val="DCD5C6"/>
            </a:solidFill>
            <a:prstDash val="solid"/>
          </a:ln>
        </p:spPr>
      </p:sp>
      <p:sp>
        <p:nvSpPr>
          <p:cNvPr id="9" name="Shape 7"/>
          <p:cNvSpPr/>
          <p:nvPr/>
        </p:nvSpPr>
        <p:spPr>
          <a:xfrm>
            <a:off x="502920" y="1645920"/>
            <a:ext cx="1673809" cy="45720"/>
          </a:xfrm>
          <a:prstGeom prst="rect">
            <a:avLst/>
          </a:prstGeom>
          <a:solidFill>
            <a:srgbClr val="C4A06D"/>
          </a:solidFill>
          <a:ln/>
        </p:spPr>
      </p:sp>
      <p:sp>
        <p:nvSpPr>
          <p:cNvPr id="10" name="Text 8"/>
          <p:cNvSpPr/>
          <p:nvPr/>
        </p:nvSpPr>
        <p:spPr>
          <a:xfrm>
            <a:off x="557784" y="1719072"/>
            <a:ext cx="1564081" cy="411480"/>
          </a:xfrm>
          <a:prstGeom prst="rect">
            <a:avLst/>
          </a:prstGeom>
          <a:noFill/>
          <a:ln/>
        </p:spPr>
        <p:txBody>
          <a:bodyPr wrap="square" lIns="0" tIns="0" rIns="0" bIns="0" rtlCol="0" anchor="ctr"/>
          <a:lstStyle/>
          <a:p>
            <a:pPr algn="ctr" indent="0" marL="0">
              <a:buNone/>
            </a:pPr>
            <a:r>
              <a:rPr lang="en-US" sz="1400" b="1" dirty="0">
                <a:solidFill>
                  <a:srgbClr val="243D54"/>
                </a:solidFill>
                <a:latin typeface="BIZ UDPGothic" pitchFamily="34" charset="0"/>
                <a:ea typeface="BIZ UDPGothic" pitchFamily="34" charset="-122"/>
                <a:cs typeface="BIZ UDPGothic" pitchFamily="34" charset="-120"/>
              </a:rPr>
              <a:t>製品側</a:t>
            </a:r>
            <a:endParaRPr lang="en-US" sz="1400" dirty="0"/>
          </a:p>
        </p:txBody>
      </p:sp>
      <p:sp>
        <p:nvSpPr>
          <p:cNvPr id="11" name="Text 9"/>
          <p:cNvSpPr/>
          <p:nvPr/>
        </p:nvSpPr>
        <p:spPr>
          <a:xfrm>
            <a:off x="557784" y="2103120"/>
            <a:ext cx="1564081" cy="420624"/>
          </a:xfrm>
          <a:prstGeom prst="rect">
            <a:avLst/>
          </a:prstGeom>
          <a:noFill/>
          <a:ln/>
        </p:spPr>
        <p:txBody>
          <a:bodyPr wrap="square" lIns="0" tIns="0" rIns="0" bIns="0" rtlCol="0" anchor="t"/>
          <a:lstStyle/>
          <a:p>
            <a:pPr algn="ctr" indent="0" marL="0">
              <a:buNone/>
            </a:pPr>
            <a:r>
              <a:rPr lang="en-US" sz="1050" dirty="0">
                <a:solidFill>
                  <a:srgbClr val="56636E"/>
                </a:solidFill>
                <a:latin typeface="BIZ UDPGothic" pitchFamily="34" charset="0"/>
                <a:ea typeface="BIZ UDPGothic" pitchFamily="34" charset="-122"/>
                <a:cs typeface="BIZ UDPGothic" pitchFamily="34" charset="-120"/>
              </a:rPr>
              <a:t>個別の構築と試験</a:t>
            </a:r>
            <a:endParaRPr lang="en-US" sz="1050" dirty="0"/>
          </a:p>
        </p:txBody>
      </p:sp>
      <p:sp>
        <p:nvSpPr>
          <p:cNvPr id="12" name="Shape 10"/>
          <p:cNvSpPr/>
          <p:nvPr/>
        </p:nvSpPr>
        <p:spPr>
          <a:xfrm>
            <a:off x="2204161" y="2103120"/>
            <a:ext cx="173736" cy="0"/>
          </a:xfrm>
          <a:prstGeom prst="line">
            <a:avLst/>
          </a:prstGeom>
          <a:noFill/>
          <a:ln w="19050">
            <a:solidFill>
              <a:srgbClr val="C4A06D"/>
            </a:solidFill>
            <a:prstDash val="solid"/>
            <a:tailEnd type="triangle"/>
          </a:ln>
        </p:spPr>
      </p:sp>
      <p:sp>
        <p:nvSpPr>
          <p:cNvPr id="13" name="Shape 11"/>
          <p:cNvSpPr/>
          <p:nvPr/>
        </p:nvSpPr>
        <p:spPr>
          <a:xfrm>
            <a:off x="2405329" y="1645920"/>
            <a:ext cx="1673809" cy="914400"/>
          </a:xfrm>
          <a:prstGeom prst="rect">
            <a:avLst/>
          </a:prstGeom>
          <a:solidFill>
            <a:srgbClr val="FFFFFF"/>
          </a:solidFill>
          <a:ln w="9525">
            <a:solidFill>
              <a:srgbClr val="DCD5C6"/>
            </a:solidFill>
            <a:prstDash val="solid"/>
          </a:ln>
        </p:spPr>
      </p:sp>
      <p:sp>
        <p:nvSpPr>
          <p:cNvPr id="14" name="Shape 12"/>
          <p:cNvSpPr/>
          <p:nvPr/>
        </p:nvSpPr>
        <p:spPr>
          <a:xfrm>
            <a:off x="2405329" y="1645920"/>
            <a:ext cx="1673809" cy="45720"/>
          </a:xfrm>
          <a:prstGeom prst="rect">
            <a:avLst/>
          </a:prstGeom>
          <a:solidFill>
            <a:srgbClr val="C4A06D"/>
          </a:solidFill>
          <a:ln/>
        </p:spPr>
      </p:sp>
      <p:sp>
        <p:nvSpPr>
          <p:cNvPr id="15" name="Text 13"/>
          <p:cNvSpPr/>
          <p:nvPr/>
        </p:nvSpPr>
        <p:spPr>
          <a:xfrm>
            <a:off x="2460193" y="1719072"/>
            <a:ext cx="1564081" cy="411480"/>
          </a:xfrm>
          <a:prstGeom prst="rect">
            <a:avLst/>
          </a:prstGeom>
          <a:noFill/>
          <a:ln/>
        </p:spPr>
        <p:txBody>
          <a:bodyPr wrap="square" lIns="0" tIns="0" rIns="0" bIns="0" rtlCol="0" anchor="ctr"/>
          <a:lstStyle/>
          <a:p>
            <a:pPr algn="ctr" indent="0" marL="0">
              <a:buNone/>
            </a:pPr>
            <a:r>
              <a:rPr lang="en-US" sz="1400" b="1" dirty="0">
                <a:solidFill>
                  <a:srgbClr val="243D54"/>
                </a:solidFill>
                <a:latin typeface="BIZ UDPGothic" pitchFamily="34" charset="0"/>
                <a:ea typeface="BIZ UDPGothic" pitchFamily="34" charset="-122"/>
                <a:cs typeface="BIZ UDPGothic" pitchFamily="34" charset="-120"/>
              </a:rPr>
              <a:t>固定</a:t>
            </a:r>
            <a:endParaRPr lang="en-US" sz="1400" dirty="0"/>
          </a:p>
        </p:txBody>
      </p:sp>
      <p:sp>
        <p:nvSpPr>
          <p:cNvPr id="16" name="Text 14"/>
          <p:cNvSpPr/>
          <p:nvPr/>
        </p:nvSpPr>
        <p:spPr>
          <a:xfrm>
            <a:off x="2460193" y="2103120"/>
            <a:ext cx="1564081" cy="420624"/>
          </a:xfrm>
          <a:prstGeom prst="rect">
            <a:avLst/>
          </a:prstGeom>
          <a:noFill/>
          <a:ln/>
        </p:spPr>
        <p:txBody>
          <a:bodyPr wrap="square" lIns="0" tIns="0" rIns="0" bIns="0" rtlCol="0" anchor="t"/>
          <a:lstStyle/>
          <a:p>
            <a:pPr algn="ctr" indent="0" marL="0">
              <a:buNone/>
            </a:pPr>
            <a:r>
              <a:rPr lang="en-US" sz="1050" dirty="0">
                <a:solidFill>
                  <a:srgbClr val="56636E"/>
                </a:solidFill>
                <a:latin typeface="BIZ UDPGothic" pitchFamily="34" charset="0"/>
                <a:ea typeface="BIZ UDPGothic" pitchFamily="34" charset="-122"/>
                <a:cs typeface="BIZ UDPGothic" pitchFamily="34" charset="-120"/>
              </a:rPr>
              <a:t>版と内容の指紋</a:t>
            </a:r>
            <a:endParaRPr lang="en-US" sz="1050" dirty="0"/>
          </a:p>
        </p:txBody>
      </p:sp>
      <p:sp>
        <p:nvSpPr>
          <p:cNvPr id="17" name="Shape 15"/>
          <p:cNvSpPr/>
          <p:nvPr/>
        </p:nvSpPr>
        <p:spPr>
          <a:xfrm>
            <a:off x="4106570" y="2103120"/>
            <a:ext cx="173736" cy="0"/>
          </a:xfrm>
          <a:prstGeom prst="line">
            <a:avLst/>
          </a:prstGeom>
          <a:noFill/>
          <a:ln w="19050">
            <a:solidFill>
              <a:srgbClr val="C4A06D"/>
            </a:solidFill>
            <a:prstDash val="solid"/>
            <a:tailEnd type="triangle"/>
          </a:ln>
        </p:spPr>
      </p:sp>
      <p:sp>
        <p:nvSpPr>
          <p:cNvPr id="18" name="Shape 16"/>
          <p:cNvSpPr/>
          <p:nvPr/>
        </p:nvSpPr>
        <p:spPr>
          <a:xfrm>
            <a:off x="4307738" y="1645920"/>
            <a:ext cx="1673809" cy="914400"/>
          </a:xfrm>
          <a:prstGeom prst="rect">
            <a:avLst/>
          </a:prstGeom>
          <a:solidFill>
            <a:srgbClr val="243D54"/>
          </a:solidFill>
          <a:ln/>
        </p:spPr>
      </p:sp>
      <p:sp>
        <p:nvSpPr>
          <p:cNvPr id="19" name="Shape 17"/>
          <p:cNvSpPr/>
          <p:nvPr/>
        </p:nvSpPr>
        <p:spPr>
          <a:xfrm>
            <a:off x="4307738" y="1645920"/>
            <a:ext cx="1673809" cy="45720"/>
          </a:xfrm>
          <a:prstGeom prst="rect">
            <a:avLst/>
          </a:prstGeom>
          <a:solidFill>
            <a:srgbClr val="C4A06D"/>
          </a:solidFill>
          <a:ln/>
        </p:spPr>
      </p:sp>
      <p:sp>
        <p:nvSpPr>
          <p:cNvPr id="20" name="Text 18"/>
          <p:cNvSpPr/>
          <p:nvPr/>
        </p:nvSpPr>
        <p:spPr>
          <a:xfrm>
            <a:off x="4362602" y="1719072"/>
            <a:ext cx="1564081" cy="411480"/>
          </a:xfrm>
          <a:prstGeom prst="rect">
            <a:avLst/>
          </a:prstGeom>
          <a:noFill/>
          <a:ln/>
        </p:spPr>
        <p:txBody>
          <a:bodyPr wrap="square" lIns="0" tIns="0" rIns="0" bIns="0" rtlCol="0" anchor="ctr"/>
          <a:lstStyle/>
          <a:p>
            <a:pPr algn="ctr" indent="0" marL="0">
              <a:buNone/>
            </a:pPr>
            <a:r>
              <a:rPr lang="en-US" sz="1400" b="1" dirty="0">
                <a:solidFill>
                  <a:srgbClr val="F5F1E8"/>
                </a:solidFill>
                <a:latin typeface="BIZ UDPGothic" pitchFamily="34" charset="0"/>
                <a:ea typeface="BIZ UDPGothic" pitchFamily="34" charset="-122"/>
                <a:cs typeface="BIZ UDPGothic" pitchFamily="34" charset="-120"/>
              </a:rPr>
              <a:t>TAI</a:t>
            </a:r>
            <a:endParaRPr lang="en-US" sz="1400" dirty="0"/>
          </a:p>
        </p:txBody>
      </p:sp>
      <p:sp>
        <p:nvSpPr>
          <p:cNvPr id="21" name="Text 19"/>
          <p:cNvSpPr/>
          <p:nvPr/>
        </p:nvSpPr>
        <p:spPr>
          <a:xfrm>
            <a:off x="4362602" y="2103120"/>
            <a:ext cx="1564081" cy="420624"/>
          </a:xfrm>
          <a:prstGeom prst="rect">
            <a:avLst/>
          </a:prstGeom>
          <a:noFill/>
          <a:ln/>
        </p:spPr>
        <p:txBody>
          <a:bodyPr wrap="square" lIns="0" tIns="0" rIns="0" bIns="0" rtlCol="0" anchor="t"/>
          <a:lstStyle/>
          <a:p>
            <a:pPr algn="ctr" indent="0" marL="0">
              <a:buNone/>
            </a:pPr>
            <a:r>
              <a:rPr lang="en-US" sz="1050" dirty="0">
                <a:solidFill>
                  <a:srgbClr val="C9D3D9"/>
                </a:solidFill>
                <a:latin typeface="BIZ UDPGothic" pitchFamily="34" charset="0"/>
                <a:ea typeface="BIZ UDPGothic" pitchFamily="34" charset="-122"/>
                <a:cs typeface="BIZ UDPGothic" pitchFamily="34" charset="-120"/>
              </a:rPr>
              <a:t>構成の選択</a:t>
            </a:r>
            <a:endParaRPr lang="en-US" sz="1050" dirty="0"/>
          </a:p>
        </p:txBody>
      </p:sp>
      <p:sp>
        <p:nvSpPr>
          <p:cNvPr id="22" name="Shape 20"/>
          <p:cNvSpPr/>
          <p:nvPr/>
        </p:nvSpPr>
        <p:spPr>
          <a:xfrm>
            <a:off x="6008980" y="2103120"/>
            <a:ext cx="173736" cy="0"/>
          </a:xfrm>
          <a:prstGeom prst="line">
            <a:avLst/>
          </a:prstGeom>
          <a:noFill/>
          <a:ln w="19050">
            <a:solidFill>
              <a:srgbClr val="C4A06D"/>
            </a:solidFill>
            <a:prstDash val="solid"/>
            <a:tailEnd type="triangle"/>
          </a:ln>
        </p:spPr>
      </p:sp>
      <p:sp>
        <p:nvSpPr>
          <p:cNvPr id="23" name="Shape 21"/>
          <p:cNvSpPr/>
          <p:nvPr/>
        </p:nvSpPr>
        <p:spPr>
          <a:xfrm>
            <a:off x="6210148" y="1645920"/>
            <a:ext cx="1673809" cy="914400"/>
          </a:xfrm>
          <a:prstGeom prst="rect">
            <a:avLst/>
          </a:prstGeom>
          <a:solidFill>
            <a:srgbClr val="FFFFFF"/>
          </a:solidFill>
          <a:ln w="9525">
            <a:solidFill>
              <a:srgbClr val="DCD5C6"/>
            </a:solidFill>
            <a:prstDash val="solid"/>
          </a:ln>
        </p:spPr>
      </p:sp>
      <p:sp>
        <p:nvSpPr>
          <p:cNvPr id="24" name="Shape 22"/>
          <p:cNvSpPr/>
          <p:nvPr/>
        </p:nvSpPr>
        <p:spPr>
          <a:xfrm>
            <a:off x="6210148" y="1645920"/>
            <a:ext cx="1673809" cy="45720"/>
          </a:xfrm>
          <a:prstGeom prst="rect">
            <a:avLst/>
          </a:prstGeom>
          <a:solidFill>
            <a:srgbClr val="C4A06D"/>
          </a:solidFill>
          <a:ln/>
        </p:spPr>
      </p:sp>
      <p:sp>
        <p:nvSpPr>
          <p:cNvPr id="25" name="Text 23"/>
          <p:cNvSpPr/>
          <p:nvPr/>
        </p:nvSpPr>
        <p:spPr>
          <a:xfrm>
            <a:off x="6265012" y="1719072"/>
            <a:ext cx="1564081" cy="411480"/>
          </a:xfrm>
          <a:prstGeom prst="rect">
            <a:avLst/>
          </a:prstGeom>
          <a:noFill/>
          <a:ln/>
        </p:spPr>
        <p:txBody>
          <a:bodyPr wrap="square" lIns="0" tIns="0" rIns="0" bIns="0" rtlCol="0" anchor="ctr"/>
          <a:lstStyle/>
          <a:p>
            <a:pPr algn="ctr" indent="0" marL="0">
              <a:buNone/>
            </a:pPr>
            <a:r>
              <a:rPr lang="en-US" sz="1400" b="1" dirty="0">
                <a:solidFill>
                  <a:srgbClr val="243D54"/>
                </a:solidFill>
                <a:latin typeface="BIZ UDPGothic" pitchFamily="34" charset="0"/>
                <a:ea typeface="BIZ UDPGothic" pitchFamily="34" charset="-122"/>
                <a:cs typeface="BIZ UDPGothic" pitchFamily="34" charset="-120"/>
              </a:rPr>
              <a:t>検証</a:t>
            </a:r>
            <a:endParaRPr lang="en-US" sz="1400" dirty="0"/>
          </a:p>
        </p:txBody>
      </p:sp>
      <p:sp>
        <p:nvSpPr>
          <p:cNvPr id="26" name="Text 24"/>
          <p:cNvSpPr/>
          <p:nvPr/>
        </p:nvSpPr>
        <p:spPr>
          <a:xfrm>
            <a:off x="6265012" y="2103120"/>
            <a:ext cx="1564081" cy="420624"/>
          </a:xfrm>
          <a:prstGeom prst="rect">
            <a:avLst/>
          </a:prstGeom>
          <a:noFill/>
          <a:ln/>
        </p:spPr>
        <p:txBody>
          <a:bodyPr wrap="square" lIns="0" tIns="0" rIns="0" bIns="0" rtlCol="0" anchor="t"/>
          <a:lstStyle/>
          <a:p>
            <a:pPr algn="ctr" indent="0" marL="0">
              <a:buNone/>
            </a:pPr>
            <a:r>
              <a:rPr lang="en-US" sz="1050" dirty="0">
                <a:solidFill>
                  <a:srgbClr val="56636E"/>
                </a:solidFill>
                <a:latin typeface="BIZ UDPGothic" pitchFamily="34" charset="0"/>
                <a:ea typeface="BIZ UDPGothic" pitchFamily="34" charset="-122"/>
                <a:cs typeface="BIZ UDPGothic" pitchFamily="34" charset="-120"/>
              </a:rPr>
              <a:t>組み合わせの試験</a:t>
            </a:r>
            <a:endParaRPr lang="en-US" sz="1050" dirty="0"/>
          </a:p>
        </p:txBody>
      </p:sp>
      <p:sp>
        <p:nvSpPr>
          <p:cNvPr id="27" name="Shape 25"/>
          <p:cNvSpPr/>
          <p:nvPr/>
        </p:nvSpPr>
        <p:spPr>
          <a:xfrm>
            <a:off x="7911389" y="2103120"/>
            <a:ext cx="173736" cy="0"/>
          </a:xfrm>
          <a:prstGeom prst="line">
            <a:avLst/>
          </a:prstGeom>
          <a:noFill/>
          <a:ln w="19050">
            <a:solidFill>
              <a:srgbClr val="C4A06D"/>
            </a:solidFill>
            <a:prstDash val="solid"/>
            <a:tailEnd type="triangle"/>
          </a:ln>
        </p:spPr>
      </p:sp>
      <p:sp>
        <p:nvSpPr>
          <p:cNvPr id="28" name="Shape 26"/>
          <p:cNvSpPr/>
          <p:nvPr/>
        </p:nvSpPr>
        <p:spPr>
          <a:xfrm>
            <a:off x="8112557" y="1645920"/>
            <a:ext cx="1673809" cy="914400"/>
          </a:xfrm>
          <a:prstGeom prst="rect">
            <a:avLst/>
          </a:prstGeom>
          <a:solidFill>
            <a:srgbClr val="FFFFFF"/>
          </a:solidFill>
          <a:ln w="9525">
            <a:solidFill>
              <a:srgbClr val="DCD5C6"/>
            </a:solidFill>
            <a:prstDash val="solid"/>
          </a:ln>
        </p:spPr>
      </p:sp>
      <p:sp>
        <p:nvSpPr>
          <p:cNvPr id="29" name="Shape 27"/>
          <p:cNvSpPr/>
          <p:nvPr/>
        </p:nvSpPr>
        <p:spPr>
          <a:xfrm>
            <a:off x="8112557" y="1645920"/>
            <a:ext cx="1673809" cy="45720"/>
          </a:xfrm>
          <a:prstGeom prst="rect">
            <a:avLst/>
          </a:prstGeom>
          <a:solidFill>
            <a:srgbClr val="C4A06D"/>
          </a:solidFill>
          <a:ln/>
        </p:spPr>
      </p:sp>
      <p:sp>
        <p:nvSpPr>
          <p:cNvPr id="30" name="Text 28"/>
          <p:cNvSpPr/>
          <p:nvPr/>
        </p:nvSpPr>
        <p:spPr>
          <a:xfrm>
            <a:off x="8167421" y="1719072"/>
            <a:ext cx="1564081" cy="411480"/>
          </a:xfrm>
          <a:prstGeom prst="rect">
            <a:avLst/>
          </a:prstGeom>
          <a:noFill/>
          <a:ln/>
        </p:spPr>
        <p:txBody>
          <a:bodyPr wrap="square" lIns="0" tIns="0" rIns="0" bIns="0" rtlCol="0" anchor="ctr"/>
          <a:lstStyle/>
          <a:p>
            <a:pPr algn="ctr" indent="0" marL="0">
              <a:buNone/>
            </a:pPr>
            <a:r>
              <a:rPr lang="en-US" sz="1400" b="1" dirty="0">
                <a:solidFill>
                  <a:srgbClr val="243D54"/>
                </a:solidFill>
                <a:latin typeface="BIZ UDPGothic" pitchFamily="34" charset="0"/>
                <a:ea typeface="BIZ UDPGothic" pitchFamily="34" charset="-122"/>
                <a:cs typeface="BIZ UDPGothic" pitchFamily="34" charset="-120"/>
              </a:rPr>
              <a:t>審査</a:t>
            </a:r>
            <a:endParaRPr lang="en-US" sz="1400" dirty="0"/>
          </a:p>
        </p:txBody>
      </p:sp>
      <p:sp>
        <p:nvSpPr>
          <p:cNvPr id="31" name="Text 29"/>
          <p:cNvSpPr/>
          <p:nvPr/>
        </p:nvSpPr>
        <p:spPr>
          <a:xfrm>
            <a:off x="8167421" y="2103120"/>
            <a:ext cx="1564081" cy="420624"/>
          </a:xfrm>
          <a:prstGeom prst="rect">
            <a:avLst/>
          </a:prstGeom>
          <a:noFill/>
          <a:ln/>
        </p:spPr>
        <p:txBody>
          <a:bodyPr wrap="square" lIns="0" tIns="0" rIns="0" bIns="0" rtlCol="0" anchor="t"/>
          <a:lstStyle/>
          <a:p>
            <a:pPr algn="ctr" indent="0" marL="0">
              <a:buNone/>
            </a:pPr>
            <a:r>
              <a:rPr lang="en-US" sz="1050" dirty="0">
                <a:solidFill>
                  <a:srgbClr val="56636E"/>
                </a:solidFill>
                <a:latin typeface="BIZ UDPGothic" pitchFamily="34" charset="0"/>
                <a:ea typeface="BIZ UDPGothic" pitchFamily="34" charset="-122"/>
                <a:cs typeface="BIZ UDPGothic" pitchFamily="34" charset="-120"/>
              </a:rPr>
              <a:t>権利と公開の関門</a:t>
            </a:r>
            <a:endParaRPr lang="en-US" sz="1050" dirty="0"/>
          </a:p>
        </p:txBody>
      </p:sp>
      <p:sp>
        <p:nvSpPr>
          <p:cNvPr id="32" name="Shape 30"/>
          <p:cNvSpPr/>
          <p:nvPr/>
        </p:nvSpPr>
        <p:spPr>
          <a:xfrm>
            <a:off x="9813798" y="2103120"/>
            <a:ext cx="173736" cy="0"/>
          </a:xfrm>
          <a:prstGeom prst="line">
            <a:avLst/>
          </a:prstGeom>
          <a:noFill/>
          <a:ln w="19050">
            <a:solidFill>
              <a:srgbClr val="C4A06D"/>
            </a:solidFill>
            <a:prstDash val="solid"/>
            <a:tailEnd type="triangle"/>
          </a:ln>
        </p:spPr>
      </p:sp>
      <p:sp>
        <p:nvSpPr>
          <p:cNvPr id="33" name="Shape 31"/>
          <p:cNvSpPr/>
          <p:nvPr/>
        </p:nvSpPr>
        <p:spPr>
          <a:xfrm>
            <a:off x="10014966" y="1645920"/>
            <a:ext cx="1673809" cy="914400"/>
          </a:xfrm>
          <a:prstGeom prst="rect">
            <a:avLst/>
          </a:prstGeom>
          <a:solidFill>
            <a:srgbClr val="FFFFFF"/>
          </a:solidFill>
          <a:ln w="9525">
            <a:solidFill>
              <a:srgbClr val="DCD5C6"/>
            </a:solidFill>
            <a:prstDash val="solid"/>
          </a:ln>
        </p:spPr>
      </p:sp>
      <p:sp>
        <p:nvSpPr>
          <p:cNvPr id="34" name="Shape 32"/>
          <p:cNvSpPr/>
          <p:nvPr/>
        </p:nvSpPr>
        <p:spPr>
          <a:xfrm>
            <a:off x="10014966" y="1645920"/>
            <a:ext cx="1673809" cy="45720"/>
          </a:xfrm>
          <a:prstGeom prst="rect">
            <a:avLst/>
          </a:prstGeom>
          <a:solidFill>
            <a:srgbClr val="C4A06D"/>
          </a:solidFill>
          <a:ln/>
        </p:spPr>
      </p:sp>
      <p:sp>
        <p:nvSpPr>
          <p:cNvPr id="35" name="Text 33"/>
          <p:cNvSpPr/>
          <p:nvPr/>
        </p:nvSpPr>
        <p:spPr>
          <a:xfrm>
            <a:off x="10069830" y="1719072"/>
            <a:ext cx="1564081" cy="411480"/>
          </a:xfrm>
          <a:prstGeom prst="rect">
            <a:avLst/>
          </a:prstGeom>
          <a:noFill/>
          <a:ln/>
        </p:spPr>
        <p:txBody>
          <a:bodyPr wrap="square" lIns="0" tIns="0" rIns="0" bIns="0" rtlCol="0" anchor="ctr"/>
          <a:lstStyle/>
          <a:p>
            <a:pPr algn="ctr" indent="0" marL="0">
              <a:buNone/>
            </a:pPr>
            <a:r>
              <a:rPr lang="en-US" sz="1400" b="1" dirty="0">
                <a:solidFill>
                  <a:srgbClr val="243D54"/>
                </a:solidFill>
                <a:latin typeface="BIZ UDPGothic" pitchFamily="34" charset="0"/>
                <a:ea typeface="BIZ UDPGothic" pitchFamily="34" charset="-122"/>
                <a:cs typeface="BIZ UDPGothic" pitchFamily="34" charset="-120"/>
              </a:rPr>
              <a:t>提供</a:t>
            </a:r>
            <a:endParaRPr lang="en-US" sz="1400" dirty="0"/>
          </a:p>
        </p:txBody>
      </p:sp>
      <p:sp>
        <p:nvSpPr>
          <p:cNvPr id="36" name="Text 34"/>
          <p:cNvSpPr/>
          <p:nvPr/>
        </p:nvSpPr>
        <p:spPr>
          <a:xfrm>
            <a:off x="10069830" y="2103120"/>
            <a:ext cx="1564081" cy="420624"/>
          </a:xfrm>
          <a:prstGeom prst="rect">
            <a:avLst/>
          </a:prstGeom>
          <a:noFill/>
          <a:ln/>
        </p:spPr>
        <p:txBody>
          <a:bodyPr wrap="square" lIns="0" tIns="0" rIns="0" bIns="0" rtlCol="0" anchor="t"/>
          <a:lstStyle/>
          <a:p>
            <a:pPr algn="ctr" indent="0" marL="0">
              <a:buNone/>
            </a:pPr>
            <a:r>
              <a:rPr lang="en-US" sz="1050" dirty="0">
                <a:solidFill>
                  <a:srgbClr val="56636E"/>
                </a:solidFill>
                <a:latin typeface="BIZ UDPGothic" pitchFamily="34" charset="0"/>
                <a:ea typeface="BIZ UDPGothic" pitchFamily="34" charset="-122"/>
                <a:cs typeface="BIZ UDPGothic" pitchFamily="34" charset="-120"/>
              </a:rPr>
              <a:t>版付きの配布物</a:t>
            </a:r>
            <a:endParaRPr lang="en-US" sz="1050" dirty="0"/>
          </a:p>
        </p:txBody>
      </p:sp>
      <p:sp>
        <p:nvSpPr>
          <p:cNvPr id="37" name="Shape 35"/>
          <p:cNvSpPr/>
          <p:nvPr/>
        </p:nvSpPr>
        <p:spPr>
          <a:xfrm>
            <a:off x="5144643" y="2560320"/>
            <a:ext cx="0" cy="502920"/>
          </a:xfrm>
          <a:prstGeom prst="line">
            <a:avLst/>
          </a:prstGeom>
          <a:noFill/>
          <a:ln w="15875">
            <a:solidFill>
              <a:srgbClr val="789FB6"/>
            </a:solidFill>
            <a:prstDash val="dash"/>
          </a:ln>
        </p:spPr>
      </p:sp>
      <p:sp>
        <p:nvSpPr>
          <p:cNvPr id="38" name="Shape 36"/>
          <p:cNvSpPr/>
          <p:nvPr/>
        </p:nvSpPr>
        <p:spPr>
          <a:xfrm>
            <a:off x="5144643" y="3063240"/>
            <a:ext cx="1097280" cy="0"/>
          </a:xfrm>
          <a:prstGeom prst="line">
            <a:avLst/>
          </a:prstGeom>
          <a:noFill/>
          <a:ln w="15875">
            <a:solidFill>
              <a:srgbClr val="789FB6"/>
            </a:solidFill>
            <a:prstDash val="dash"/>
            <a:tailEnd type="triangle"/>
          </a:ln>
        </p:spPr>
      </p:sp>
      <p:sp>
        <p:nvSpPr>
          <p:cNvPr id="39" name="Shape 37"/>
          <p:cNvSpPr/>
          <p:nvPr/>
        </p:nvSpPr>
        <p:spPr>
          <a:xfrm>
            <a:off x="6287643" y="2852928"/>
            <a:ext cx="4480560" cy="438912"/>
          </a:xfrm>
          <a:prstGeom prst="rect">
            <a:avLst/>
          </a:prstGeom>
          <a:solidFill>
            <a:srgbClr val="FFFFFF"/>
          </a:solidFill>
          <a:ln w="9525">
            <a:solidFill>
              <a:srgbClr val="789FB6"/>
            </a:solidFill>
            <a:prstDash val="dash"/>
          </a:ln>
        </p:spPr>
      </p:sp>
      <p:sp>
        <p:nvSpPr>
          <p:cNvPr id="40" name="Text 38"/>
          <p:cNvSpPr/>
          <p:nvPr/>
        </p:nvSpPr>
        <p:spPr>
          <a:xfrm>
            <a:off x="6424803" y="2852928"/>
            <a:ext cx="4297680" cy="438912"/>
          </a:xfrm>
          <a:prstGeom prst="rect">
            <a:avLst/>
          </a:prstGeom>
          <a:noFill/>
          <a:ln/>
        </p:spPr>
        <p:txBody>
          <a:bodyPr wrap="square" lIns="0" tIns="0" rIns="0" bIns="0" rtlCol="0" anchor="ctr"/>
          <a:lstStyle/>
          <a:p>
            <a:pPr indent="0" marL="0">
              <a:buNone/>
            </a:pPr>
            <a:r>
              <a:rPr lang="en-US" sz="1150" b="1" dirty="0">
                <a:solidFill>
                  <a:srgbClr val="243D54"/>
                </a:solidFill>
                <a:latin typeface="BIZ UDPGothic" pitchFamily="34" charset="0"/>
                <a:ea typeface="BIZ UDPGothic" pitchFamily="34" charset="-122"/>
                <a:cs typeface="BIZ UDPGothic" pitchFamily="34" charset="-120"/>
              </a:rPr>
              <a:t>YI Constellationのサイト  </a:t>
            </a:r>
            <a:pPr indent="0" marL="0">
              <a:buNone/>
            </a:pPr>
            <a:r>
              <a:rPr lang="en-US" sz="1150" dirty="0">
                <a:solidFill>
                  <a:srgbClr val="56636E"/>
                </a:solidFill>
                <a:latin typeface="BIZ UDPGothic" pitchFamily="34" charset="0"/>
                <a:ea typeface="BIZ UDPGothic" pitchFamily="34" charset="-122"/>
                <a:cs typeface="BIZ UDPGothic" pitchFamily="34" charset="-120"/>
              </a:rPr>
              <a:t>製品紹介・活用・配布の案内</a:t>
            </a:r>
            <a:endParaRPr lang="en-US" sz="1150" dirty="0"/>
          </a:p>
        </p:txBody>
      </p:sp>
      <p:sp>
        <p:nvSpPr>
          <p:cNvPr id="41" name="Text 39"/>
          <p:cNvSpPr/>
          <p:nvPr/>
        </p:nvSpPr>
        <p:spPr>
          <a:xfrm>
            <a:off x="3361563" y="2926080"/>
            <a:ext cx="1691640" cy="274320"/>
          </a:xfrm>
          <a:prstGeom prst="rect">
            <a:avLst/>
          </a:prstGeom>
          <a:noFill/>
          <a:ln/>
        </p:spPr>
        <p:txBody>
          <a:bodyPr wrap="square" lIns="0" tIns="0" rIns="0" bIns="0" rtlCol="0" anchor="t"/>
          <a:lstStyle/>
          <a:p>
            <a:pPr algn="r" indent="0" marL="0">
              <a:buNone/>
            </a:pPr>
            <a:r>
              <a:rPr lang="en-US" sz="1000" dirty="0">
                <a:solidFill>
                  <a:srgbClr val="56636E"/>
                </a:solidFill>
                <a:latin typeface="BIZ UDPGothic" pitchFamily="34" charset="0"/>
                <a:ea typeface="BIZ UDPGothic" pitchFamily="34" charset="-122"/>
                <a:cs typeface="BIZ UDPGothic" pitchFamily="34" charset="-120"/>
              </a:rPr>
              <a:t>記事と手引きの制作</a:t>
            </a:r>
            <a:endParaRPr lang="en-US" sz="1000" dirty="0"/>
          </a:p>
        </p:txBody>
      </p:sp>
      <p:sp>
        <p:nvSpPr>
          <p:cNvPr id="42" name="Text 40"/>
          <p:cNvSpPr/>
          <p:nvPr/>
        </p:nvSpPr>
        <p:spPr>
          <a:xfrm>
            <a:off x="502920" y="3611880"/>
            <a:ext cx="3657600" cy="256032"/>
          </a:xfrm>
          <a:prstGeom prst="rect">
            <a:avLst/>
          </a:prstGeom>
          <a:noFill/>
          <a:ln/>
        </p:spPr>
        <p:txBody>
          <a:bodyPr wrap="square" lIns="0" tIns="0" rIns="0" bIns="0" rtlCol="0" anchor="t"/>
          <a:lstStyle/>
          <a:p>
            <a:pPr indent="0" marL="0">
              <a:buNone/>
            </a:pPr>
            <a:r>
              <a:rPr lang="en-US" sz="1150" b="1" dirty="0">
                <a:solidFill>
                  <a:srgbClr val="56636E"/>
                </a:solidFill>
                <a:latin typeface="BIZ UDPGothic" pitchFamily="34" charset="0"/>
                <a:ea typeface="BIZ UDPGothic" pitchFamily="34" charset="-122"/>
                <a:cs typeface="BIZ UDPGothic" pitchFamily="34" charset="-120"/>
              </a:rPr>
              <a:t>名前と責務の区別</a:t>
            </a:r>
            <a:endParaRPr lang="en-US" sz="1150" dirty="0"/>
          </a:p>
        </p:txBody>
      </p:sp>
      <p:sp>
        <p:nvSpPr>
          <p:cNvPr id="43" name="Shape 41"/>
          <p:cNvSpPr/>
          <p:nvPr/>
        </p:nvSpPr>
        <p:spPr>
          <a:xfrm>
            <a:off x="502920" y="3913632"/>
            <a:ext cx="2659304" cy="2331720"/>
          </a:xfrm>
          <a:prstGeom prst="rect">
            <a:avLst/>
          </a:prstGeom>
          <a:solidFill>
            <a:srgbClr val="243D54"/>
          </a:solidFill>
          <a:ln/>
        </p:spPr>
      </p:sp>
      <p:sp>
        <p:nvSpPr>
          <p:cNvPr id="44" name="Text 42"/>
          <p:cNvSpPr/>
          <p:nvPr/>
        </p:nvSpPr>
        <p:spPr>
          <a:xfrm>
            <a:off x="685800" y="4078224"/>
            <a:ext cx="2339264" cy="320040"/>
          </a:xfrm>
          <a:prstGeom prst="rect">
            <a:avLst/>
          </a:prstGeom>
          <a:noFill/>
          <a:ln/>
        </p:spPr>
        <p:txBody>
          <a:bodyPr wrap="square" lIns="0" tIns="0" rIns="0" bIns="0" rtlCol="0" anchor="t"/>
          <a:lstStyle/>
          <a:p>
            <a:pPr indent="0" marL="0">
              <a:buNone/>
            </a:pPr>
            <a:r>
              <a:rPr lang="en-US" sz="1400" b="1" dirty="0">
                <a:solidFill>
                  <a:srgbClr val="F5F1E8"/>
                </a:solidFill>
                <a:latin typeface="Georgia" pitchFamily="34" charset="0"/>
                <a:ea typeface="Georgia" pitchFamily="34" charset="-122"/>
                <a:cs typeface="Georgia" pitchFamily="34" charset="-120"/>
              </a:rPr>
              <a:t>YI Constellation</a:t>
            </a:r>
            <a:endParaRPr lang="en-US" sz="1400" dirty="0"/>
          </a:p>
        </p:txBody>
      </p:sp>
      <p:sp>
        <p:nvSpPr>
          <p:cNvPr id="45" name="Text 43"/>
          <p:cNvSpPr/>
          <p:nvPr/>
        </p:nvSpPr>
        <p:spPr>
          <a:xfrm>
            <a:off x="685800" y="4507992"/>
            <a:ext cx="2339264" cy="822960"/>
          </a:xfrm>
          <a:prstGeom prst="rect">
            <a:avLst/>
          </a:prstGeom>
          <a:noFill/>
          <a:ln/>
        </p:spPr>
        <p:txBody>
          <a:bodyPr wrap="square" lIns="0" tIns="0" rIns="0" bIns="0" rtlCol="0" anchor="t"/>
          <a:lstStyle/>
          <a:p>
            <a:pPr indent="0" marL="0">
              <a:buNone/>
            </a:pPr>
            <a:r>
              <a:rPr lang="en-US" sz="1150" b="1" dirty="0">
                <a:solidFill>
                  <a:srgbClr val="C4A06D"/>
                </a:solidFill>
                <a:latin typeface="BIZ UDPGothic" pitchFamily="34" charset="0"/>
                <a:ea typeface="BIZ UDPGothic" pitchFamily="34" charset="-122"/>
                <a:cs typeface="BIZ UDPGothic" pitchFamily="34" charset="-120"/>
              </a:rPr>
              <a:t>担う  </a:t>
            </a:r>
            <a:pPr indent="0" marL="0">
              <a:buNone/>
            </a:pPr>
            <a:r>
              <a:rPr lang="en-US" sz="1150" dirty="0">
                <a:solidFill>
                  <a:srgbClr val="F5F1E8"/>
                </a:solidFill>
                <a:latin typeface="BIZ UDPGothic" pitchFamily="34" charset="0"/>
                <a:ea typeface="BIZ UDPGothic" pitchFamily="34" charset="-122"/>
                <a:cs typeface="BIZ UDPGothic" pitchFamily="34" charset="-120"/>
              </a:rPr>
              <a:t>ブランドとウェブサイトの名称</a:t>
            </a:r>
            <a:endParaRPr lang="en-US" sz="1150" dirty="0"/>
          </a:p>
        </p:txBody>
      </p:sp>
      <p:sp>
        <p:nvSpPr>
          <p:cNvPr id="46" name="Text 44"/>
          <p:cNvSpPr/>
          <p:nvPr/>
        </p:nvSpPr>
        <p:spPr>
          <a:xfrm>
            <a:off x="685800" y="5376672"/>
            <a:ext cx="2339264" cy="777240"/>
          </a:xfrm>
          <a:prstGeom prst="rect">
            <a:avLst/>
          </a:prstGeom>
          <a:noFill/>
          <a:ln/>
        </p:spPr>
        <p:txBody>
          <a:bodyPr wrap="square" lIns="0" tIns="0" rIns="0" bIns="0" rtlCol="0" anchor="t"/>
          <a:lstStyle/>
          <a:p>
            <a:pPr indent="0" marL="0">
              <a:buNone/>
            </a:pPr>
            <a:r>
              <a:rPr lang="en-US" sz="1150" b="1" dirty="0">
                <a:solidFill>
                  <a:srgbClr val="E0A890"/>
                </a:solidFill>
                <a:latin typeface="BIZ UDPGothic" pitchFamily="34" charset="0"/>
                <a:ea typeface="BIZ UDPGothic" pitchFamily="34" charset="-122"/>
                <a:cs typeface="BIZ UDPGothic" pitchFamily="34" charset="-120"/>
              </a:rPr>
              <a:t>担わない  </a:t>
            </a:r>
            <a:pPr indent="0" marL="0">
              <a:buNone/>
            </a:pPr>
            <a:r>
              <a:rPr lang="en-US" sz="1150" dirty="0">
                <a:solidFill>
                  <a:srgbClr val="F5F1E8"/>
                </a:solidFill>
                <a:latin typeface="BIZ UDPGothic" pitchFamily="34" charset="0"/>
                <a:ea typeface="BIZ UDPGothic" pitchFamily="34" charset="-122"/>
                <a:cs typeface="BIZ UDPGothic" pitchFamily="34" charset="-120"/>
              </a:rPr>
              <a:t>専用の保管庫や実行基盤は持たない</a:t>
            </a:r>
            <a:endParaRPr lang="en-US" sz="1150" dirty="0"/>
          </a:p>
        </p:txBody>
      </p:sp>
      <p:sp>
        <p:nvSpPr>
          <p:cNvPr id="47" name="Shape 45"/>
          <p:cNvSpPr/>
          <p:nvPr/>
        </p:nvSpPr>
        <p:spPr>
          <a:xfrm>
            <a:off x="3345104" y="3913632"/>
            <a:ext cx="2659304" cy="2331720"/>
          </a:xfrm>
          <a:prstGeom prst="rect">
            <a:avLst/>
          </a:prstGeom>
          <a:solidFill>
            <a:srgbClr val="FFFFFF"/>
          </a:solidFill>
          <a:ln w="9525">
            <a:solidFill>
              <a:srgbClr val="DCD5C6"/>
            </a:solidFill>
            <a:prstDash val="solid"/>
          </a:ln>
        </p:spPr>
      </p:sp>
      <p:sp>
        <p:nvSpPr>
          <p:cNvPr id="48" name="Text 46"/>
          <p:cNvSpPr/>
          <p:nvPr/>
        </p:nvSpPr>
        <p:spPr>
          <a:xfrm>
            <a:off x="3527984" y="4078224"/>
            <a:ext cx="2339264" cy="320040"/>
          </a:xfrm>
          <a:prstGeom prst="rect">
            <a:avLst/>
          </a:prstGeom>
          <a:noFill/>
          <a:ln/>
        </p:spPr>
        <p:txBody>
          <a:bodyPr wrap="square" lIns="0" tIns="0" rIns="0" bIns="0" rtlCol="0" anchor="t"/>
          <a:lstStyle/>
          <a:p>
            <a:pPr indent="0" marL="0">
              <a:buNone/>
            </a:pPr>
            <a:r>
              <a:rPr lang="en-US" sz="1400" b="1" dirty="0">
                <a:solidFill>
                  <a:srgbClr val="243D54"/>
                </a:solidFill>
                <a:latin typeface="Georgia" pitchFamily="34" charset="0"/>
                <a:ea typeface="Georgia" pitchFamily="34" charset="-122"/>
                <a:cs typeface="Georgia" pitchFamily="34" charset="-120"/>
              </a:rPr>
              <a:t>TAI Pleroma</a:t>
            </a:r>
            <a:endParaRPr lang="en-US" sz="1400" dirty="0"/>
          </a:p>
        </p:txBody>
      </p:sp>
      <p:sp>
        <p:nvSpPr>
          <p:cNvPr id="49" name="Text 47"/>
          <p:cNvSpPr/>
          <p:nvPr/>
        </p:nvSpPr>
        <p:spPr>
          <a:xfrm>
            <a:off x="3527984" y="4507992"/>
            <a:ext cx="2339264" cy="822960"/>
          </a:xfrm>
          <a:prstGeom prst="rect">
            <a:avLst/>
          </a:prstGeom>
          <a:noFill/>
          <a:ln/>
        </p:spPr>
        <p:txBody>
          <a:bodyPr wrap="square" lIns="0" tIns="0" rIns="0" bIns="0" rtlCol="0" anchor="t"/>
          <a:lstStyle/>
          <a:p>
            <a:pPr indent="0" marL="0">
              <a:buNone/>
            </a:pPr>
            <a:r>
              <a:rPr lang="en-US" sz="1150" b="1" dirty="0">
                <a:solidFill>
                  <a:srgbClr val="4F7A5C"/>
                </a:solidFill>
                <a:latin typeface="BIZ UDPGothic" pitchFamily="34" charset="0"/>
                <a:ea typeface="BIZ UDPGothic" pitchFamily="34" charset="-122"/>
                <a:cs typeface="BIZ UDPGothic" pitchFamily="34" charset="-120"/>
              </a:rPr>
              <a:t>担う  </a:t>
            </a:r>
            <a:pPr indent="0" marL="0">
              <a:buNone/>
            </a:pPr>
            <a:r>
              <a:rPr lang="en-US" sz="1150" dirty="0">
                <a:solidFill>
                  <a:srgbClr val="243D54"/>
                </a:solidFill>
                <a:latin typeface="BIZ UDPGothic" pitchFamily="34" charset="0"/>
                <a:ea typeface="BIZ UDPGothic" pitchFamily="34" charset="-122"/>
                <a:cs typeface="BIZ UDPGothic" pitchFamily="34" charset="-120"/>
              </a:rPr>
              <a:t>課題をまたぐ統合体験と活用の知識</a:t>
            </a:r>
            <a:endParaRPr lang="en-US" sz="1150" dirty="0"/>
          </a:p>
        </p:txBody>
      </p:sp>
      <p:sp>
        <p:nvSpPr>
          <p:cNvPr id="50" name="Text 48"/>
          <p:cNvSpPr/>
          <p:nvPr/>
        </p:nvSpPr>
        <p:spPr>
          <a:xfrm>
            <a:off x="3527984" y="5376672"/>
            <a:ext cx="2339264" cy="777240"/>
          </a:xfrm>
          <a:prstGeom prst="rect">
            <a:avLst/>
          </a:prstGeom>
          <a:noFill/>
          <a:ln/>
        </p:spPr>
        <p:txBody>
          <a:bodyPr wrap="square" lIns="0" tIns="0" rIns="0" bIns="0" rtlCol="0" anchor="t"/>
          <a:lstStyle/>
          <a:p>
            <a:pPr indent="0" marL="0">
              <a:buNone/>
            </a:pPr>
            <a:r>
              <a:rPr lang="en-US" sz="1150" b="1" dirty="0">
                <a:solidFill>
                  <a:srgbClr val="8C5A44"/>
                </a:solidFill>
                <a:latin typeface="BIZ UDPGothic" pitchFamily="34" charset="0"/>
                <a:ea typeface="BIZ UDPGothic" pitchFamily="34" charset="-122"/>
                <a:cs typeface="BIZ UDPGothic" pitchFamily="34" charset="-120"/>
              </a:rPr>
              <a:t>担わない  </a:t>
            </a:r>
            <a:pPr indent="0" marL="0">
              <a:buNone/>
            </a:pPr>
            <a:r>
              <a:rPr lang="en-US" sz="1150" dirty="0">
                <a:solidFill>
                  <a:srgbClr val="243D54"/>
                </a:solidFill>
                <a:latin typeface="BIZ UDPGothic" pitchFamily="34" charset="0"/>
                <a:ea typeface="BIZ UDPGothic" pitchFamily="34" charset="-122"/>
                <a:cs typeface="BIZ UDPGothic" pitchFamily="34" charset="-120"/>
              </a:rPr>
              <a:t>他製品の意味・権限・受け入れを代行しない</a:t>
            </a:r>
            <a:endParaRPr lang="en-US" sz="1150" dirty="0"/>
          </a:p>
        </p:txBody>
      </p:sp>
      <p:sp>
        <p:nvSpPr>
          <p:cNvPr id="51" name="Shape 49"/>
          <p:cNvSpPr/>
          <p:nvPr/>
        </p:nvSpPr>
        <p:spPr>
          <a:xfrm>
            <a:off x="6187288" y="3913632"/>
            <a:ext cx="2659304" cy="2331720"/>
          </a:xfrm>
          <a:prstGeom prst="rect">
            <a:avLst/>
          </a:prstGeom>
          <a:solidFill>
            <a:srgbClr val="FFFFFF"/>
          </a:solidFill>
          <a:ln w="9525">
            <a:solidFill>
              <a:srgbClr val="DCD5C6"/>
            </a:solidFill>
            <a:prstDash val="solid"/>
          </a:ln>
        </p:spPr>
      </p:sp>
      <p:sp>
        <p:nvSpPr>
          <p:cNvPr id="52" name="Text 50"/>
          <p:cNvSpPr/>
          <p:nvPr/>
        </p:nvSpPr>
        <p:spPr>
          <a:xfrm>
            <a:off x="6370168" y="4078224"/>
            <a:ext cx="2339264" cy="320040"/>
          </a:xfrm>
          <a:prstGeom prst="rect">
            <a:avLst/>
          </a:prstGeom>
          <a:noFill/>
          <a:ln/>
        </p:spPr>
        <p:txBody>
          <a:bodyPr wrap="square" lIns="0" tIns="0" rIns="0" bIns="0" rtlCol="0" anchor="t"/>
          <a:lstStyle/>
          <a:p>
            <a:pPr indent="0" marL="0">
              <a:buNone/>
            </a:pPr>
            <a:r>
              <a:rPr lang="en-US" sz="1400" b="1" dirty="0">
                <a:solidFill>
                  <a:srgbClr val="243D54"/>
                </a:solidFill>
                <a:latin typeface="BIZ UDPGothic" pitchFamily="34" charset="0"/>
                <a:ea typeface="BIZ UDPGothic" pitchFamily="34" charset="-122"/>
                <a:cs typeface="BIZ UDPGothic" pitchFamily="34" charset="-120"/>
              </a:rPr>
              <a:t>TAIの保管庫</a:t>
            </a:r>
            <a:endParaRPr lang="en-US" sz="1400" dirty="0"/>
          </a:p>
        </p:txBody>
      </p:sp>
      <p:sp>
        <p:nvSpPr>
          <p:cNvPr id="53" name="Text 51"/>
          <p:cNvSpPr/>
          <p:nvPr/>
        </p:nvSpPr>
        <p:spPr>
          <a:xfrm>
            <a:off x="6370168" y="4507992"/>
            <a:ext cx="2339264" cy="822960"/>
          </a:xfrm>
          <a:prstGeom prst="rect">
            <a:avLst/>
          </a:prstGeom>
          <a:noFill/>
          <a:ln/>
        </p:spPr>
        <p:txBody>
          <a:bodyPr wrap="square" lIns="0" tIns="0" rIns="0" bIns="0" rtlCol="0" anchor="t"/>
          <a:lstStyle/>
          <a:p>
            <a:pPr indent="0" marL="0">
              <a:buNone/>
            </a:pPr>
            <a:r>
              <a:rPr lang="en-US" sz="1150" b="1" dirty="0">
                <a:solidFill>
                  <a:srgbClr val="4F7A5C"/>
                </a:solidFill>
                <a:latin typeface="BIZ UDPGothic" pitchFamily="34" charset="0"/>
                <a:ea typeface="BIZ UDPGothic" pitchFamily="34" charset="-122"/>
                <a:cs typeface="BIZ UDPGothic" pitchFamily="34" charset="-120"/>
              </a:rPr>
              <a:t>担う  </a:t>
            </a:r>
            <a:pPr indent="0" marL="0">
              <a:buNone/>
            </a:pPr>
            <a:r>
              <a:rPr lang="en-US" sz="1150" dirty="0">
                <a:solidFill>
                  <a:srgbClr val="243D54"/>
                </a:solidFill>
                <a:latin typeface="BIZ UDPGothic" pitchFamily="34" charset="0"/>
                <a:ea typeface="BIZ UDPGothic" pitchFamily="34" charset="-122"/>
                <a:cs typeface="BIZ UDPGothic" pitchFamily="34" charset="-120"/>
              </a:rPr>
              <a:t>版を固定した組み合わせ、横断試験、配布構成、サイト制作</a:t>
            </a:r>
            <a:endParaRPr lang="en-US" sz="1150" dirty="0"/>
          </a:p>
        </p:txBody>
      </p:sp>
      <p:sp>
        <p:nvSpPr>
          <p:cNvPr id="54" name="Text 52"/>
          <p:cNvSpPr/>
          <p:nvPr/>
        </p:nvSpPr>
        <p:spPr>
          <a:xfrm>
            <a:off x="6370168" y="5376672"/>
            <a:ext cx="2339264" cy="777240"/>
          </a:xfrm>
          <a:prstGeom prst="rect">
            <a:avLst/>
          </a:prstGeom>
          <a:noFill/>
          <a:ln/>
        </p:spPr>
        <p:txBody>
          <a:bodyPr wrap="square" lIns="0" tIns="0" rIns="0" bIns="0" rtlCol="0" anchor="t"/>
          <a:lstStyle/>
          <a:p>
            <a:pPr indent="0" marL="0">
              <a:buNone/>
            </a:pPr>
            <a:r>
              <a:rPr lang="en-US" sz="1150" b="1" dirty="0">
                <a:solidFill>
                  <a:srgbClr val="8C5A44"/>
                </a:solidFill>
                <a:latin typeface="BIZ UDPGothic" pitchFamily="34" charset="0"/>
                <a:ea typeface="BIZ UDPGothic" pitchFamily="34" charset="-122"/>
                <a:cs typeface="BIZ UDPGothic" pitchFamily="34" charset="-120"/>
              </a:rPr>
              <a:t>担わない  </a:t>
            </a:r>
            <a:pPr indent="0" marL="0">
              <a:buNone/>
            </a:pPr>
            <a:r>
              <a:rPr lang="en-US" sz="1150" dirty="0">
                <a:solidFill>
                  <a:srgbClr val="243D54"/>
                </a:solidFill>
                <a:latin typeface="BIZ UDPGothic" pitchFamily="34" charset="0"/>
                <a:ea typeface="BIZ UDPGothic" pitchFamily="34" charset="-122"/>
                <a:cs typeface="BIZ UDPGothic" pitchFamily="34" charset="-120"/>
              </a:rPr>
              <a:t>全製品をソースから一括構築することは必須ではない</a:t>
            </a:r>
            <a:endParaRPr lang="en-US" sz="1150" dirty="0"/>
          </a:p>
        </p:txBody>
      </p:sp>
      <p:sp>
        <p:nvSpPr>
          <p:cNvPr id="55" name="Shape 53"/>
          <p:cNvSpPr/>
          <p:nvPr/>
        </p:nvSpPr>
        <p:spPr>
          <a:xfrm>
            <a:off x="9029471" y="3913632"/>
            <a:ext cx="2659304" cy="2331720"/>
          </a:xfrm>
          <a:prstGeom prst="rect">
            <a:avLst/>
          </a:prstGeom>
          <a:solidFill>
            <a:srgbClr val="FFFFFF"/>
          </a:solidFill>
          <a:ln w="9525">
            <a:solidFill>
              <a:srgbClr val="DCD5C6"/>
            </a:solidFill>
            <a:prstDash val="solid"/>
          </a:ln>
        </p:spPr>
      </p:sp>
      <p:sp>
        <p:nvSpPr>
          <p:cNvPr id="56" name="Text 54"/>
          <p:cNvSpPr/>
          <p:nvPr/>
        </p:nvSpPr>
        <p:spPr>
          <a:xfrm>
            <a:off x="9212351" y="4078224"/>
            <a:ext cx="2339264" cy="320040"/>
          </a:xfrm>
          <a:prstGeom prst="rect">
            <a:avLst/>
          </a:prstGeom>
          <a:noFill/>
          <a:ln/>
        </p:spPr>
        <p:txBody>
          <a:bodyPr wrap="square" lIns="0" tIns="0" rIns="0" bIns="0" rtlCol="0" anchor="t"/>
          <a:lstStyle/>
          <a:p>
            <a:pPr indent="0" marL="0">
              <a:buNone/>
            </a:pPr>
            <a:r>
              <a:rPr lang="en-US" sz="1400" b="1" dirty="0">
                <a:solidFill>
                  <a:srgbClr val="243D54"/>
                </a:solidFill>
                <a:latin typeface="BIZ UDPGothic" pitchFamily="34" charset="0"/>
                <a:ea typeface="BIZ UDPGothic" pitchFamily="34" charset="-122"/>
                <a:cs typeface="BIZ UDPGothic" pitchFamily="34" charset="-120"/>
              </a:rPr>
              <a:t>各製品の保管庫</a:t>
            </a:r>
            <a:endParaRPr lang="en-US" sz="1400" dirty="0"/>
          </a:p>
        </p:txBody>
      </p:sp>
      <p:sp>
        <p:nvSpPr>
          <p:cNvPr id="57" name="Text 55"/>
          <p:cNvSpPr/>
          <p:nvPr/>
        </p:nvSpPr>
        <p:spPr>
          <a:xfrm>
            <a:off x="9212351" y="4507992"/>
            <a:ext cx="2339264" cy="822960"/>
          </a:xfrm>
          <a:prstGeom prst="rect">
            <a:avLst/>
          </a:prstGeom>
          <a:noFill/>
          <a:ln/>
        </p:spPr>
        <p:txBody>
          <a:bodyPr wrap="square" lIns="0" tIns="0" rIns="0" bIns="0" rtlCol="0" anchor="t"/>
          <a:lstStyle/>
          <a:p>
            <a:pPr indent="0" marL="0">
              <a:buNone/>
            </a:pPr>
            <a:r>
              <a:rPr lang="en-US" sz="1150" b="1" dirty="0">
                <a:solidFill>
                  <a:srgbClr val="4F7A5C"/>
                </a:solidFill>
                <a:latin typeface="BIZ UDPGothic" pitchFamily="34" charset="0"/>
                <a:ea typeface="BIZ UDPGothic" pitchFamily="34" charset="-122"/>
                <a:cs typeface="BIZ UDPGothic" pitchFamily="34" charset="-120"/>
              </a:rPr>
              <a:t>担う  </a:t>
            </a:r>
            <a:pPr indent="0" marL="0">
              <a:buNone/>
            </a:pPr>
            <a:r>
              <a:rPr lang="en-US" sz="1150" dirty="0">
                <a:solidFill>
                  <a:srgbClr val="243D54"/>
                </a:solidFill>
                <a:latin typeface="BIZ UDPGothic" pitchFamily="34" charset="0"/>
                <a:ea typeface="BIZ UDPGothic" pitchFamily="34" charset="-122"/>
                <a:cs typeface="BIZ UDPGothic" pitchFamily="34" charset="-120"/>
              </a:rPr>
              <a:t>独立した実装・正本・約束・試験・単独の公開</a:t>
            </a:r>
            <a:endParaRPr lang="en-US" sz="1150" dirty="0"/>
          </a:p>
        </p:txBody>
      </p:sp>
      <p:sp>
        <p:nvSpPr>
          <p:cNvPr id="58" name="Text 56"/>
          <p:cNvSpPr/>
          <p:nvPr/>
        </p:nvSpPr>
        <p:spPr>
          <a:xfrm>
            <a:off x="9212351" y="5376672"/>
            <a:ext cx="2339264" cy="777240"/>
          </a:xfrm>
          <a:prstGeom prst="rect">
            <a:avLst/>
          </a:prstGeom>
          <a:noFill/>
          <a:ln/>
        </p:spPr>
        <p:txBody>
          <a:bodyPr wrap="square" lIns="0" tIns="0" rIns="0" bIns="0" rtlCol="0" anchor="t"/>
          <a:lstStyle/>
          <a:p>
            <a:pPr indent="0" marL="0">
              <a:buNone/>
            </a:pPr>
            <a:r>
              <a:rPr lang="en-US" sz="1150" b="1" dirty="0">
                <a:solidFill>
                  <a:srgbClr val="8C5A44"/>
                </a:solidFill>
                <a:latin typeface="BIZ UDPGothic" pitchFamily="34" charset="0"/>
                <a:ea typeface="BIZ UDPGothic" pitchFamily="34" charset="-122"/>
                <a:cs typeface="BIZ UDPGothic" pitchFamily="34" charset="-120"/>
              </a:rPr>
              <a:t>担わない  </a:t>
            </a:r>
            <a:pPr indent="0" marL="0">
              <a:buNone/>
            </a:pPr>
            <a:r>
              <a:rPr lang="en-US" sz="1150" dirty="0">
                <a:solidFill>
                  <a:srgbClr val="243D54"/>
                </a:solidFill>
                <a:latin typeface="BIZ UDPGothic" pitchFamily="34" charset="0"/>
                <a:ea typeface="BIZ UDPGothic" pitchFamily="34" charset="-122"/>
                <a:cs typeface="BIZ UDPGothic" pitchFamily="34" charset="-120"/>
              </a:rPr>
              <a:t>TAIへの一律の同梱は負わない</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274320"/>
            <a:ext cx="1118585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04  連携の例</a:t>
            </a:r>
            <a:endParaRPr lang="en-US" sz="950" dirty="0"/>
          </a:p>
        </p:txBody>
      </p:sp>
      <p:sp>
        <p:nvSpPr>
          <p:cNvPr id="3" name="Text 1"/>
          <p:cNvSpPr/>
          <p:nvPr/>
        </p:nvSpPr>
        <p:spPr>
          <a:xfrm>
            <a:off x="502920" y="530352"/>
            <a:ext cx="1118585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例：購買規程の改定を、人とAIで進める</a:t>
            </a:r>
            <a:endParaRPr lang="en-US" sz="2500" dirty="0"/>
          </a:p>
        </p:txBody>
      </p:sp>
      <p:sp>
        <p:nvSpPr>
          <p:cNvPr id="4" name="Text 2"/>
          <p:cNvSpPr/>
          <p:nvPr/>
        </p:nvSpPr>
        <p:spPr>
          <a:xfrm>
            <a:off x="502920" y="1097280"/>
            <a:ext cx="1118585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架空の例。金額基準が二つの文書で違うとき、AIは判断を急がず、適用条件を確かめる。</a:t>
            </a:r>
            <a:endParaRPr lang="en-US" sz="1300" dirty="0"/>
          </a:p>
        </p:txBody>
      </p:sp>
      <p:sp>
        <p:nvSpPr>
          <p:cNvPr id="5" name="Text 3"/>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22</a:t>
            </a:r>
            <a:endParaRPr lang="en-US" sz="1000" dirty="0"/>
          </a:p>
        </p:txBody>
      </p:sp>
      <p:sp>
        <p:nvSpPr>
          <p:cNvPr id="6" name="Shape 4"/>
          <p:cNvSpPr/>
          <p:nvPr/>
        </p:nvSpPr>
        <p:spPr>
          <a:xfrm>
            <a:off x="502920" y="1572768"/>
            <a:ext cx="11185855" cy="566928"/>
          </a:xfrm>
          <a:prstGeom prst="rect">
            <a:avLst/>
          </a:prstGeom>
          <a:solidFill>
            <a:srgbClr val="243D54"/>
          </a:solidFill>
          <a:ln/>
        </p:spPr>
      </p:sp>
      <p:sp>
        <p:nvSpPr>
          <p:cNvPr id="7" name="Text 5"/>
          <p:cNvSpPr/>
          <p:nvPr/>
        </p:nvSpPr>
        <p:spPr>
          <a:xfrm>
            <a:off x="777240" y="1572768"/>
            <a:ext cx="6858000" cy="566928"/>
          </a:xfrm>
          <a:prstGeom prst="rect">
            <a:avLst/>
          </a:prstGeom>
          <a:noFill/>
          <a:ln/>
        </p:spPr>
        <p:txBody>
          <a:bodyPr wrap="square" lIns="0" tIns="0" rIns="0" bIns="0" rtlCol="0" anchor="ctr"/>
          <a:lstStyle/>
          <a:p>
            <a:pPr indent="0" marL="0">
              <a:buNone/>
            </a:pPr>
            <a:r>
              <a:rPr lang="en-US" sz="1450" b="1" dirty="0">
                <a:solidFill>
                  <a:srgbClr val="C4A06D"/>
                </a:solidFill>
                <a:latin typeface="BIZ UDPGothic" pitchFamily="34" charset="0"/>
                <a:ea typeface="BIZ UDPGothic" pitchFamily="34" charset="-122"/>
                <a:cs typeface="BIZ UDPGothic" pitchFamily="34" charset="-120"/>
              </a:rPr>
              <a:t>規程A  </a:t>
            </a:r>
            <a:pPr indent="0" marL="0">
              <a:buNone/>
            </a:pPr>
            <a:r>
              <a:rPr lang="en-US" sz="1450" b="1" dirty="0">
                <a:solidFill>
                  <a:srgbClr val="F5F1E8"/>
                </a:solidFill>
                <a:latin typeface="BIZ UDPGothic" pitchFamily="34" charset="0"/>
                <a:ea typeface="BIZ UDPGothic" pitchFamily="34" charset="-122"/>
                <a:cs typeface="BIZ UDPGothic" pitchFamily="34" charset="-120"/>
              </a:rPr>
              <a:t>10万円超は承認が必要</a:t>
            </a:r>
            <a:pPr indent="0" marL="0">
              <a:buNone/>
            </a:pPr>
            <a:r>
              <a:rPr lang="en-US" sz="1450" dirty="0">
                <a:solidFill>
                  <a:srgbClr val="C4A06D"/>
                </a:solidFill>
                <a:latin typeface="BIZ UDPGothic" pitchFamily="34" charset="0"/>
                <a:ea typeface="BIZ UDPGothic" pitchFamily="34" charset="-122"/>
                <a:cs typeface="BIZ UDPGothic" pitchFamily="34" charset="-120"/>
              </a:rPr>
              <a:t>　≠　</a:t>
            </a:r>
            <a:pPr indent="0" marL="0">
              <a:buNone/>
            </a:pPr>
            <a:r>
              <a:rPr lang="en-US" sz="1450" b="1" dirty="0">
                <a:solidFill>
                  <a:srgbClr val="C4A06D"/>
                </a:solidFill>
                <a:latin typeface="BIZ UDPGothic" pitchFamily="34" charset="0"/>
                <a:ea typeface="BIZ UDPGothic" pitchFamily="34" charset="-122"/>
                <a:cs typeface="BIZ UDPGothic" pitchFamily="34" charset="-120"/>
              </a:rPr>
              <a:t>手順B  </a:t>
            </a:r>
            <a:pPr indent="0" marL="0">
              <a:buNone/>
            </a:pPr>
            <a:r>
              <a:rPr lang="en-US" sz="1450" b="1" dirty="0">
                <a:solidFill>
                  <a:srgbClr val="F5F1E8"/>
                </a:solidFill>
                <a:latin typeface="BIZ UDPGothic" pitchFamily="34" charset="0"/>
                <a:ea typeface="BIZ UDPGothic" pitchFamily="34" charset="-122"/>
                <a:cs typeface="BIZ UDPGothic" pitchFamily="34" charset="-120"/>
              </a:rPr>
              <a:t>5万円超は承認が必要</a:t>
            </a:r>
            <a:endParaRPr lang="en-US" sz="1450" dirty="0"/>
          </a:p>
        </p:txBody>
      </p:sp>
      <p:sp>
        <p:nvSpPr>
          <p:cNvPr id="8" name="Text 6"/>
          <p:cNvSpPr/>
          <p:nvPr/>
        </p:nvSpPr>
        <p:spPr>
          <a:xfrm>
            <a:off x="7818120" y="1572768"/>
            <a:ext cx="3687775" cy="566928"/>
          </a:xfrm>
          <a:prstGeom prst="rect">
            <a:avLst/>
          </a:prstGeom>
          <a:noFill/>
          <a:ln/>
        </p:spPr>
        <p:txBody>
          <a:bodyPr wrap="square" lIns="0" tIns="0" rIns="0" bIns="0" rtlCol="0" anchor="ctr"/>
          <a:lstStyle/>
          <a:p>
            <a:pPr indent="0" marL="0">
              <a:buNone/>
            </a:pPr>
            <a:r>
              <a:rPr lang="en-US" sz="1150" dirty="0">
                <a:solidFill>
                  <a:srgbClr val="C9D3D9"/>
                </a:solidFill>
                <a:latin typeface="BIZ UDPGothic" pitchFamily="34" charset="0"/>
                <a:ea typeface="BIZ UDPGothic" pitchFamily="34" charset="-122"/>
                <a:cs typeface="BIZ UDPGothic" pitchFamily="34" charset="-120"/>
              </a:rPr>
              <a:t>制約：許可なく発注・支払・公開をしない</a:t>
            </a:r>
            <a:endParaRPr lang="en-US" sz="1150" dirty="0"/>
          </a:p>
        </p:txBody>
      </p:sp>
      <p:sp>
        <p:nvSpPr>
          <p:cNvPr id="9" name="Shape 7"/>
          <p:cNvSpPr/>
          <p:nvPr/>
        </p:nvSpPr>
        <p:spPr>
          <a:xfrm>
            <a:off x="502920" y="2331720"/>
            <a:ext cx="1750009" cy="3429000"/>
          </a:xfrm>
          <a:prstGeom prst="rect">
            <a:avLst/>
          </a:prstGeom>
          <a:solidFill>
            <a:srgbClr val="FFFFFF"/>
          </a:solidFill>
          <a:ln w="9525">
            <a:solidFill>
              <a:srgbClr val="DCD5C6"/>
            </a:solidFill>
            <a:prstDash val="solid"/>
          </a:ln>
        </p:spPr>
      </p:sp>
      <p:sp>
        <p:nvSpPr>
          <p:cNvPr id="10" name="Shape 8"/>
          <p:cNvSpPr/>
          <p:nvPr/>
        </p:nvSpPr>
        <p:spPr>
          <a:xfrm>
            <a:off x="502920" y="2331720"/>
            <a:ext cx="1750009" cy="777240"/>
          </a:xfrm>
          <a:prstGeom prst="rect">
            <a:avLst/>
          </a:prstGeom>
          <a:solidFill>
            <a:srgbClr val="8A6A35"/>
          </a:solidFill>
          <a:ln/>
        </p:spPr>
      </p:sp>
      <p:sp>
        <p:nvSpPr>
          <p:cNvPr id="11" name="Text 9"/>
          <p:cNvSpPr/>
          <p:nvPr/>
        </p:nvSpPr>
        <p:spPr>
          <a:xfrm>
            <a:off x="640080" y="2404872"/>
            <a:ext cx="1521409" cy="320040"/>
          </a:xfrm>
          <a:prstGeom prst="rect">
            <a:avLst/>
          </a:prstGeom>
          <a:noFill/>
          <a:ln/>
        </p:spPr>
        <p:txBody>
          <a:bodyPr wrap="square" lIns="0" tIns="0" rIns="0" bIns="0" rtlCol="0" anchor="t"/>
          <a:lstStyle/>
          <a:p>
            <a:pPr indent="0" marL="0">
              <a:buNone/>
            </a:pPr>
            <a:r>
              <a:rPr lang="en-US" sz="1400" b="1" dirty="0">
                <a:solidFill>
                  <a:srgbClr val="FFFFFF"/>
                </a:solidFill>
                <a:latin typeface="BIZ UDPGothic" pitchFamily="34" charset="0"/>
                <a:ea typeface="BIZ UDPGothic" pitchFamily="34" charset="-122"/>
                <a:cs typeface="BIZ UDPGothic" pitchFamily="34" charset="-120"/>
              </a:rPr>
              <a:t>①  SHO</a:t>
            </a:r>
            <a:endParaRPr lang="en-US" sz="1400" dirty="0"/>
          </a:p>
        </p:txBody>
      </p:sp>
      <p:sp>
        <p:nvSpPr>
          <p:cNvPr id="12" name="Text 10"/>
          <p:cNvSpPr/>
          <p:nvPr/>
        </p:nvSpPr>
        <p:spPr>
          <a:xfrm>
            <a:off x="640080" y="2743200"/>
            <a:ext cx="1521409" cy="292608"/>
          </a:xfrm>
          <a:prstGeom prst="rect">
            <a:avLst/>
          </a:prstGeom>
          <a:noFill/>
          <a:ln/>
        </p:spPr>
        <p:txBody>
          <a:bodyPr wrap="square" lIns="0" tIns="0" rIns="0" bIns="0" rtlCol="0" anchor="t"/>
          <a:lstStyle/>
          <a:p>
            <a:pPr indent="0" marL="0">
              <a:buNone/>
            </a:pPr>
            <a:r>
              <a:rPr lang="en-US" sz="1150" b="1" dirty="0">
                <a:solidFill>
                  <a:srgbClr val="FFFFFF"/>
                </a:solidFill>
                <a:latin typeface="BIZ UDPGothic" pitchFamily="34" charset="0"/>
                <a:ea typeface="BIZ UDPGothic" pitchFamily="34" charset="-122"/>
                <a:cs typeface="BIZ UDPGothic" pitchFamily="34" charset="-120"/>
              </a:rPr>
              <a:t>資料の版を固定</a:t>
            </a:r>
            <a:endParaRPr lang="en-US" sz="1150" dirty="0"/>
          </a:p>
        </p:txBody>
      </p:sp>
      <p:sp>
        <p:nvSpPr>
          <p:cNvPr id="13" name="Text 11"/>
          <p:cNvSpPr/>
          <p:nvPr/>
        </p:nvSpPr>
        <p:spPr>
          <a:xfrm>
            <a:off x="640080" y="3246120"/>
            <a:ext cx="1521409" cy="438912"/>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表と別紙を参照</a:t>
            </a:r>
            <a:endParaRPr lang="en-US" sz="1050" dirty="0"/>
          </a:p>
        </p:txBody>
      </p:sp>
      <p:sp>
        <p:nvSpPr>
          <p:cNvPr id="14" name="Shape 12"/>
          <p:cNvSpPr/>
          <p:nvPr/>
        </p:nvSpPr>
        <p:spPr>
          <a:xfrm>
            <a:off x="640080" y="3694176"/>
            <a:ext cx="1475689" cy="0"/>
          </a:xfrm>
          <a:prstGeom prst="line">
            <a:avLst/>
          </a:prstGeom>
          <a:noFill/>
          <a:ln w="6350">
            <a:solidFill>
              <a:srgbClr val="DCD5C6"/>
            </a:solidFill>
            <a:prstDash val="solid"/>
          </a:ln>
        </p:spPr>
      </p:sp>
      <p:sp>
        <p:nvSpPr>
          <p:cNvPr id="15" name="Text 13"/>
          <p:cNvSpPr/>
          <p:nvPr/>
        </p:nvSpPr>
        <p:spPr>
          <a:xfrm>
            <a:off x="640080" y="3721608"/>
            <a:ext cx="1521409" cy="438912"/>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ファイルと範囲を記録</a:t>
            </a:r>
            <a:endParaRPr lang="en-US" sz="1050" dirty="0"/>
          </a:p>
        </p:txBody>
      </p:sp>
      <p:sp>
        <p:nvSpPr>
          <p:cNvPr id="16" name="Shape 14"/>
          <p:cNvSpPr/>
          <p:nvPr/>
        </p:nvSpPr>
        <p:spPr>
          <a:xfrm>
            <a:off x="640080" y="4169664"/>
            <a:ext cx="1475689" cy="0"/>
          </a:xfrm>
          <a:prstGeom prst="line">
            <a:avLst/>
          </a:prstGeom>
          <a:noFill/>
          <a:ln w="6350">
            <a:solidFill>
              <a:srgbClr val="DCD5C6"/>
            </a:solidFill>
            <a:prstDash val="solid"/>
          </a:ln>
        </p:spPr>
      </p:sp>
      <p:sp>
        <p:nvSpPr>
          <p:cNvPr id="17" name="Text 15"/>
          <p:cNvSpPr/>
          <p:nvPr/>
        </p:nvSpPr>
        <p:spPr>
          <a:xfrm>
            <a:off x="640080" y="4197096"/>
            <a:ext cx="1521409" cy="438912"/>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内容の指紋で版を固定</a:t>
            </a:r>
            <a:endParaRPr lang="en-US" sz="1050" dirty="0"/>
          </a:p>
        </p:txBody>
      </p:sp>
      <p:sp>
        <p:nvSpPr>
          <p:cNvPr id="18" name="Shape 16"/>
          <p:cNvSpPr/>
          <p:nvPr/>
        </p:nvSpPr>
        <p:spPr>
          <a:xfrm>
            <a:off x="640080" y="4645152"/>
            <a:ext cx="1475689" cy="0"/>
          </a:xfrm>
          <a:prstGeom prst="line">
            <a:avLst/>
          </a:prstGeom>
          <a:noFill/>
          <a:ln w="6350">
            <a:solidFill>
              <a:srgbClr val="DCD5C6"/>
            </a:solidFill>
            <a:prstDash val="solid"/>
          </a:ln>
        </p:spPr>
      </p:sp>
      <p:sp>
        <p:nvSpPr>
          <p:cNvPr id="19" name="Text 17"/>
          <p:cNvSpPr/>
          <p:nvPr/>
        </p:nvSpPr>
        <p:spPr>
          <a:xfrm>
            <a:off x="640080" y="4672584"/>
            <a:ext cx="1521409" cy="438912"/>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有効日と適用先を照合</a:t>
            </a:r>
            <a:endParaRPr lang="en-US" sz="1050" dirty="0"/>
          </a:p>
        </p:txBody>
      </p:sp>
      <p:sp>
        <p:nvSpPr>
          <p:cNvPr id="20" name="Shape 18"/>
          <p:cNvSpPr/>
          <p:nvPr/>
        </p:nvSpPr>
        <p:spPr>
          <a:xfrm>
            <a:off x="594360" y="5212080"/>
            <a:ext cx="1567129" cy="457200"/>
          </a:xfrm>
          <a:prstGeom prst="rect">
            <a:avLst/>
          </a:prstGeom>
          <a:solidFill>
            <a:srgbClr val="ECE6D9"/>
          </a:solidFill>
          <a:ln/>
        </p:spPr>
      </p:sp>
      <p:sp>
        <p:nvSpPr>
          <p:cNvPr id="21" name="Text 19"/>
          <p:cNvSpPr/>
          <p:nvPr/>
        </p:nvSpPr>
        <p:spPr>
          <a:xfrm>
            <a:off x="667512" y="5212080"/>
            <a:ext cx="1475689" cy="457200"/>
          </a:xfrm>
          <a:prstGeom prst="rect">
            <a:avLst/>
          </a:prstGeom>
          <a:noFill/>
          <a:ln/>
        </p:spPr>
        <p:txBody>
          <a:bodyPr wrap="square" lIns="0" tIns="0" rIns="0" bIns="0" rtlCol="0" anchor="ctr"/>
          <a:lstStyle/>
          <a:p>
            <a:pPr indent="0" marL="0">
              <a:buNone/>
            </a:pPr>
            <a:r>
              <a:rPr lang="en-US" sz="1000" b="1" dirty="0">
                <a:solidFill>
                  <a:srgbClr val="8A6A35"/>
                </a:solidFill>
                <a:latin typeface="BIZ UDPGothic" pitchFamily="34" charset="0"/>
                <a:ea typeface="BIZ UDPGothic" pitchFamily="34" charset="-122"/>
                <a:cs typeface="BIZ UDPGothic" pitchFamily="34" charset="-120"/>
              </a:rPr>
              <a:t>渡す </a:t>
            </a:r>
            <a:pPr indent="0" marL="0">
              <a:buNone/>
            </a:pPr>
            <a:r>
              <a:rPr lang="en-US" sz="1000" dirty="0">
                <a:solidFill>
                  <a:srgbClr val="243D54"/>
                </a:solidFill>
                <a:latin typeface="BIZ UDPGothic" pitchFamily="34" charset="0"/>
                <a:ea typeface="BIZ UDPGothic" pitchFamily="34" charset="-122"/>
                <a:cs typeface="BIZ UDPGothic" pitchFamily="34" charset="-120"/>
              </a:rPr>
              <a:t>出典・版・参照範囲</a:t>
            </a:r>
            <a:endParaRPr lang="en-US" sz="1000" dirty="0"/>
          </a:p>
        </p:txBody>
      </p:sp>
      <p:sp>
        <p:nvSpPr>
          <p:cNvPr id="22" name="Shape 20"/>
          <p:cNvSpPr/>
          <p:nvPr/>
        </p:nvSpPr>
        <p:spPr>
          <a:xfrm>
            <a:off x="2390089" y="2331720"/>
            <a:ext cx="1750009" cy="3429000"/>
          </a:xfrm>
          <a:prstGeom prst="rect">
            <a:avLst/>
          </a:prstGeom>
          <a:solidFill>
            <a:srgbClr val="FFFFFF"/>
          </a:solidFill>
          <a:ln w="9525">
            <a:solidFill>
              <a:srgbClr val="DCD5C6"/>
            </a:solidFill>
            <a:prstDash val="solid"/>
          </a:ln>
        </p:spPr>
      </p:sp>
      <p:sp>
        <p:nvSpPr>
          <p:cNvPr id="23" name="Shape 21"/>
          <p:cNvSpPr/>
          <p:nvPr/>
        </p:nvSpPr>
        <p:spPr>
          <a:xfrm>
            <a:off x="2390089" y="2331720"/>
            <a:ext cx="1750009" cy="777240"/>
          </a:xfrm>
          <a:prstGeom prst="rect">
            <a:avLst/>
          </a:prstGeom>
          <a:solidFill>
            <a:srgbClr val="4F7A5C"/>
          </a:solidFill>
          <a:ln/>
        </p:spPr>
      </p:sp>
      <p:sp>
        <p:nvSpPr>
          <p:cNvPr id="24" name="Text 22"/>
          <p:cNvSpPr/>
          <p:nvPr/>
        </p:nvSpPr>
        <p:spPr>
          <a:xfrm>
            <a:off x="2527249" y="2404872"/>
            <a:ext cx="1521409" cy="320040"/>
          </a:xfrm>
          <a:prstGeom prst="rect">
            <a:avLst/>
          </a:prstGeom>
          <a:noFill/>
          <a:ln/>
        </p:spPr>
        <p:txBody>
          <a:bodyPr wrap="square" lIns="0" tIns="0" rIns="0" bIns="0" rtlCol="0" anchor="t"/>
          <a:lstStyle/>
          <a:p>
            <a:pPr indent="0" marL="0">
              <a:buNone/>
            </a:pPr>
            <a:r>
              <a:rPr lang="en-US" sz="1400" b="1" dirty="0">
                <a:solidFill>
                  <a:srgbClr val="FFFFFF"/>
                </a:solidFill>
                <a:latin typeface="BIZ UDPGothic" pitchFamily="34" charset="0"/>
                <a:ea typeface="BIZ UDPGothic" pitchFamily="34" charset="-122"/>
                <a:cs typeface="BIZ UDPGothic" pitchFamily="34" charset="-120"/>
              </a:rPr>
              <a:t>②  SUI</a:t>
            </a:r>
            <a:endParaRPr lang="en-US" sz="1400" dirty="0"/>
          </a:p>
        </p:txBody>
      </p:sp>
      <p:sp>
        <p:nvSpPr>
          <p:cNvPr id="25" name="Text 23"/>
          <p:cNvSpPr/>
          <p:nvPr/>
        </p:nvSpPr>
        <p:spPr>
          <a:xfrm>
            <a:off x="2527249" y="2743200"/>
            <a:ext cx="1521409" cy="292608"/>
          </a:xfrm>
          <a:prstGeom prst="rect">
            <a:avLst/>
          </a:prstGeom>
          <a:noFill/>
          <a:ln/>
        </p:spPr>
        <p:txBody>
          <a:bodyPr wrap="square" lIns="0" tIns="0" rIns="0" bIns="0" rtlCol="0" anchor="t"/>
          <a:lstStyle/>
          <a:p>
            <a:pPr indent="0" marL="0">
              <a:buNone/>
            </a:pPr>
            <a:r>
              <a:rPr lang="en-US" sz="1150" b="1" dirty="0">
                <a:solidFill>
                  <a:srgbClr val="FFFFFF"/>
                </a:solidFill>
                <a:latin typeface="BIZ UDPGothic" pitchFamily="34" charset="0"/>
                <a:ea typeface="BIZ UDPGothic" pitchFamily="34" charset="-122"/>
                <a:cs typeface="BIZ UDPGothic" pitchFamily="34" charset="-120"/>
              </a:rPr>
              <a:t>矛盾を残す</a:t>
            </a:r>
            <a:endParaRPr lang="en-US" sz="1150" dirty="0"/>
          </a:p>
        </p:txBody>
      </p:sp>
      <p:sp>
        <p:nvSpPr>
          <p:cNvPr id="26" name="Text 24"/>
          <p:cNvSpPr/>
          <p:nvPr/>
        </p:nvSpPr>
        <p:spPr>
          <a:xfrm>
            <a:off x="2527249" y="3246120"/>
            <a:ext cx="1521409" cy="438912"/>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候補：手順Bが古い</a:t>
            </a:r>
            <a:endParaRPr lang="en-US" sz="1050" dirty="0"/>
          </a:p>
        </p:txBody>
      </p:sp>
      <p:sp>
        <p:nvSpPr>
          <p:cNvPr id="27" name="Shape 25"/>
          <p:cNvSpPr/>
          <p:nvPr/>
        </p:nvSpPr>
        <p:spPr>
          <a:xfrm>
            <a:off x="2527249" y="3694176"/>
            <a:ext cx="1475689" cy="0"/>
          </a:xfrm>
          <a:prstGeom prst="line">
            <a:avLst/>
          </a:prstGeom>
          <a:noFill/>
          <a:ln w="6350">
            <a:solidFill>
              <a:srgbClr val="DCD5C6"/>
            </a:solidFill>
            <a:prstDash val="solid"/>
          </a:ln>
        </p:spPr>
      </p:sp>
      <p:sp>
        <p:nvSpPr>
          <p:cNvPr id="28" name="Text 26"/>
          <p:cNvSpPr/>
          <p:nvPr/>
        </p:nvSpPr>
        <p:spPr>
          <a:xfrm>
            <a:off x="2527249" y="3721608"/>
            <a:ext cx="1521409" cy="438912"/>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候補：部署や費目で違う</a:t>
            </a:r>
            <a:endParaRPr lang="en-US" sz="1050" dirty="0"/>
          </a:p>
        </p:txBody>
      </p:sp>
      <p:sp>
        <p:nvSpPr>
          <p:cNvPr id="29" name="Shape 27"/>
          <p:cNvSpPr/>
          <p:nvPr/>
        </p:nvSpPr>
        <p:spPr>
          <a:xfrm>
            <a:off x="2527249" y="4169664"/>
            <a:ext cx="1475689" cy="0"/>
          </a:xfrm>
          <a:prstGeom prst="line">
            <a:avLst/>
          </a:prstGeom>
          <a:noFill/>
          <a:ln w="6350">
            <a:solidFill>
              <a:srgbClr val="DCD5C6"/>
            </a:solidFill>
            <a:prstDash val="solid"/>
          </a:ln>
        </p:spPr>
      </p:sp>
      <p:sp>
        <p:nvSpPr>
          <p:cNvPr id="30" name="Text 28"/>
          <p:cNvSpPr/>
          <p:nvPr/>
        </p:nvSpPr>
        <p:spPr>
          <a:xfrm>
            <a:off x="2527249" y="4197096"/>
            <a:ext cx="1521409" cy="438912"/>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候補：表現が曖昧</a:t>
            </a:r>
            <a:endParaRPr lang="en-US" sz="1050" dirty="0"/>
          </a:p>
        </p:txBody>
      </p:sp>
      <p:sp>
        <p:nvSpPr>
          <p:cNvPr id="31" name="Shape 29"/>
          <p:cNvSpPr/>
          <p:nvPr/>
        </p:nvSpPr>
        <p:spPr>
          <a:xfrm>
            <a:off x="2527249" y="4645152"/>
            <a:ext cx="1475689" cy="0"/>
          </a:xfrm>
          <a:prstGeom prst="line">
            <a:avLst/>
          </a:prstGeom>
          <a:noFill/>
          <a:ln w="6350">
            <a:solidFill>
              <a:srgbClr val="DCD5C6"/>
            </a:solidFill>
            <a:prstDash val="solid"/>
          </a:ln>
        </p:spPr>
      </p:sp>
      <p:sp>
        <p:nvSpPr>
          <p:cNvPr id="32" name="Text 30"/>
          <p:cNvSpPr/>
          <p:nvPr/>
        </p:nvSpPr>
        <p:spPr>
          <a:xfrm>
            <a:off x="2527249" y="4672584"/>
            <a:ext cx="1521409" cy="438912"/>
          </a:xfrm>
          <a:prstGeom prst="rect">
            <a:avLst/>
          </a:prstGeom>
          <a:noFill/>
          <a:ln/>
        </p:spPr>
        <p:txBody>
          <a:bodyPr wrap="square" lIns="0" tIns="0" rIns="0" bIns="0" rtlCol="0" anchor="ctr"/>
          <a:lstStyle/>
          <a:p>
            <a:pPr indent="0" marL="0">
              <a:buNone/>
            </a:pPr>
            <a:r>
              <a:rPr lang="en-US" sz="1050" dirty="0">
                <a:solidFill>
                  <a:srgbClr val="8C5A44"/>
                </a:solidFill>
                <a:latin typeface="BIZ UDPGothic" pitchFamily="34" charset="0"/>
                <a:ea typeface="BIZ UDPGothic" pitchFamily="34" charset="-122"/>
                <a:cs typeface="BIZ UDPGothic" pitchFamily="34" charset="-120"/>
              </a:rPr>
              <a:t>未解決：適用関係</a:t>
            </a:r>
            <a:endParaRPr lang="en-US" sz="1050" dirty="0"/>
          </a:p>
        </p:txBody>
      </p:sp>
      <p:sp>
        <p:nvSpPr>
          <p:cNvPr id="33" name="Shape 31"/>
          <p:cNvSpPr/>
          <p:nvPr/>
        </p:nvSpPr>
        <p:spPr>
          <a:xfrm>
            <a:off x="2481529" y="5212080"/>
            <a:ext cx="1567129" cy="457200"/>
          </a:xfrm>
          <a:prstGeom prst="rect">
            <a:avLst/>
          </a:prstGeom>
          <a:solidFill>
            <a:srgbClr val="ECE6D9"/>
          </a:solidFill>
          <a:ln/>
        </p:spPr>
      </p:sp>
      <p:sp>
        <p:nvSpPr>
          <p:cNvPr id="34" name="Text 32"/>
          <p:cNvSpPr/>
          <p:nvPr/>
        </p:nvSpPr>
        <p:spPr>
          <a:xfrm>
            <a:off x="2554681" y="5212080"/>
            <a:ext cx="1475689" cy="457200"/>
          </a:xfrm>
          <a:prstGeom prst="rect">
            <a:avLst/>
          </a:prstGeom>
          <a:noFill/>
          <a:ln/>
        </p:spPr>
        <p:txBody>
          <a:bodyPr wrap="square" lIns="0" tIns="0" rIns="0" bIns="0" rtlCol="0" anchor="ctr"/>
          <a:lstStyle/>
          <a:p>
            <a:pPr indent="0" marL="0">
              <a:buNone/>
            </a:pPr>
            <a:r>
              <a:rPr lang="en-US" sz="1000" b="1" dirty="0">
                <a:solidFill>
                  <a:srgbClr val="4F7A5C"/>
                </a:solidFill>
                <a:latin typeface="BIZ UDPGothic" pitchFamily="34" charset="0"/>
                <a:ea typeface="BIZ UDPGothic" pitchFamily="34" charset="-122"/>
                <a:cs typeface="BIZ UDPGothic" pitchFamily="34" charset="-120"/>
              </a:rPr>
              <a:t>渡す </a:t>
            </a:r>
            <a:pPr indent="0" marL="0">
              <a:buNone/>
            </a:pPr>
            <a:r>
              <a:rPr lang="en-US" sz="1000" dirty="0">
                <a:solidFill>
                  <a:srgbClr val="243D54"/>
                </a:solidFill>
                <a:latin typeface="BIZ UDPGothic" pitchFamily="34" charset="0"/>
                <a:ea typeface="BIZ UDPGothic" pitchFamily="34" charset="-122"/>
                <a:cs typeface="BIZ UDPGothic" pitchFamily="34" charset="-120"/>
              </a:rPr>
              <a:t>候補・反証・未解決</a:t>
            </a:r>
            <a:endParaRPr lang="en-US" sz="1000" dirty="0"/>
          </a:p>
        </p:txBody>
      </p:sp>
      <p:sp>
        <p:nvSpPr>
          <p:cNvPr id="35" name="Shape 33"/>
          <p:cNvSpPr/>
          <p:nvPr/>
        </p:nvSpPr>
        <p:spPr>
          <a:xfrm>
            <a:off x="4277258" y="2331720"/>
            <a:ext cx="1750009" cy="3429000"/>
          </a:xfrm>
          <a:prstGeom prst="rect">
            <a:avLst/>
          </a:prstGeom>
          <a:solidFill>
            <a:srgbClr val="FFFFFF"/>
          </a:solidFill>
          <a:ln w="9525">
            <a:solidFill>
              <a:srgbClr val="DCD5C6"/>
            </a:solidFill>
            <a:prstDash val="solid"/>
          </a:ln>
        </p:spPr>
      </p:sp>
      <p:sp>
        <p:nvSpPr>
          <p:cNvPr id="36" name="Shape 34"/>
          <p:cNvSpPr/>
          <p:nvPr/>
        </p:nvSpPr>
        <p:spPr>
          <a:xfrm>
            <a:off x="4277258" y="2331720"/>
            <a:ext cx="1750009" cy="777240"/>
          </a:xfrm>
          <a:prstGeom prst="rect">
            <a:avLst/>
          </a:prstGeom>
          <a:solidFill>
            <a:srgbClr val="3C6684"/>
          </a:solidFill>
          <a:ln/>
        </p:spPr>
      </p:sp>
      <p:sp>
        <p:nvSpPr>
          <p:cNvPr id="37" name="Text 35"/>
          <p:cNvSpPr/>
          <p:nvPr/>
        </p:nvSpPr>
        <p:spPr>
          <a:xfrm>
            <a:off x="4414418" y="2404872"/>
            <a:ext cx="1521409" cy="320040"/>
          </a:xfrm>
          <a:prstGeom prst="rect">
            <a:avLst/>
          </a:prstGeom>
          <a:noFill/>
          <a:ln/>
        </p:spPr>
        <p:txBody>
          <a:bodyPr wrap="square" lIns="0" tIns="0" rIns="0" bIns="0" rtlCol="0" anchor="t"/>
          <a:lstStyle/>
          <a:p>
            <a:pPr indent="0" marL="0">
              <a:buNone/>
            </a:pPr>
            <a:r>
              <a:rPr lang="en-US" sz="1400" b="1" dirty="0">
                <a:solidFill>
                  <a:srgbClr val="FFFFFF"/>
                </a:solidFill>
                <a:latin typeface="BIZ UDPGothic" pitchFamily="34" charset="0"/>
                <a:ea typeface="BIZ UDPGothic" pitchFamily="34" charset="-122"/>
                <a:cs typeface="BIZ UDPGothic" pitchFamily="34" charset="-120"/>
              </a:rPr>
              <a:t>③  SEI</a:t>
            </a:r>
            <a:endParaRPr lang="en-US" sz="1400" dirty="0"/>
          </a:p>
        </p:txBody>
      </p:sp>
      <p:sp>
        <p:nvSpPr>
          <p:cNvPr id="38" name="Text 36"/>
          <p:cNvSpPr/>
          <p:nvPr/>
        </p:nvSpPr>
        <p:spPr>
          <a:xfrm>
            <a:off x="4414418" y="2743200"/>
            <a:ext cx="1521409" cy="292608"/>
          </a:xfrm>
          <a:prstGeom prst="rect">
            <a:avLst/>
          </a:prstGeom>
          <a:noFill/>
          <a:ln/>
        </p:spPr>
        <p:txBody>
          <a:bodyPr wrap="square" lIns="0" tIns="0" rIns="0" bIns="0" rtlCol="0" anchor="t"/>
          <a:lstStyle/>
          <a:p>
            <a:pPr indent="0" marL="0">
              <a:buNone/>
            </a:pPr>
            <a:r>
              <a:rPr lang="en-US" sz="1150" b="1" dirty="0">
                <a:solidFill>
                  <a:srgbClr val="FFFFFF"/>
                </a:solidFill>
                <a:latin typeface="BIZ UDPGothic" pitchFamily="34" charset="0"/>
                <a:ea typeface="BIZ UDPGothic" pitchFamily="34" charset="-122"/>
                <a:cs typeface="BIZ UDPGothic" pitchFamily="34" charset="-120"/>
              </a:rPr>
              <a:t>承認者が確定</a:t>
            </a:r>
            <a:endParaRPr lang="en-US" sz="1150" dirty="0"/>
          </a:p>
        </p:txBody>
      </p:sp>
      <p:sp>
        <p:nvSpPr>
          <p:cNvPr id="39" name="Text 37"/>
          <p:cNvSpPr/>
          <p:nvPr/>
        </p:nvSpPr>
        <p:spPr>
          <a:xfrm>
            <a:off x="4414418" y="3246120"/>
            <a:ext cx="1521409" cy="438912"/>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決定：対象部署はX円</a:t>
            </a:r>
            <a:endParaRPr lang="en-US" sz="1050" dirty="0"/>
          </a:p>
        </p:txBody>
      </p:sp>
      <p:sp>
        <p:nvSpPr>
          <p:cNvPr id="40" name="Shape 38"/>
          <p:cNvSpPr/>
          <p:nvPr/>
        </p:nvSpPr>
        <p:spPr>
          <a:xfrm>
            <a:off x="4414418" y="3694176"/>
            <a:ext cx="1475689" cy="0"/>
          </a:xfrm>
          <a:prstGeom prst="line">
            <a:avLst/>
          </a:prstGeom>
          <a:noFill/>
          <a:ln w="6350">
            <a:solidFill>
              <a:srgbClr val="DCD5C6"/>
            </a:solidFill>
            <a:prstDash val="solid"/>
          </a:ln>
        </p:spPr>
      </p:sp>
      <p:sp>
        <p:nvSpPr>
          <p:cNvPr id="41" name="Text 39"/>
          <p:cNvSpPr/>
          <p:nvPr/>
        </p:nvSpPr>
        <p:spPr>
          <a:xfrm>
            <a:off x="4414418" y="3721608"/>
            <a:ext cx="1521409" cy="438912"/>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根拠：最新版と確認結果</a:t>
            </a:r>
            <a:endParaRPr lang="en-US" sz="1050" dirty="0"/>
          </a:p>
        </p:txBody>
      </p:sp>
      <p:sp>
        <p:nvSpPr>
          <p:cNvPr id="42" name="Shape 40"/>
          <p:cNvSpPr/>
          <p:nvPr/>
        </p:nvSpPr>
        <p:spPr>
          <a:xfrm>
            <a:off x="4414418" y="4169664"/>
            <a:ext cx="1475689" cy="0"/>
          </a:xfrm>
          <a:prstGeom prst="line">
            <a:avLst/>
          </a:prstGeom>
          <a:noFill/>
          <a:ln w="6350">
            <a:solidFill>
              <a:srgbClr val="DCD5C6"/>
            </a:solidFill>
            <a:prstDash val="solid"/>
          </a:ln>
        </p:spPr>
      </p:sp>
      <p:sp>
        <p:nvSpPr>
          <p:cNvPr id="43" name="Text 41"/>
          <p:cNvSpPr/>
          <p:nvPr/>
        </p:nvSpPr>
        <p:spPr>
          <a:xfrm>
            <a:off x="4414418" y="4197096"/>
            <a:ext cx="1521409" cy="438912"/>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責任：規程の持ち主</a:t>
            </a:r>
            <a:endParaRPr lang="en-US" sz="1050" dirty="0"/>
          </a:p>
        </p:txBody>
      </p:sp>
      <p:sp>
        <p:nvSpPr>
          <p:cNvPr id="44" name="Shape 42"/>
          <p:cNvSpPr/>
          <p:nvPr/>
        </p:nvSpPr>
        <p:spPr>
          <a:xfrm>
            <a:off x="4414418" y="4645152"/>
            <a:ext cx="1475689" cy="0"/>
          </a:xfrm>
          <a:prstGeom prst="line">
            <a:avLst/>
          </a:prstGeom>
          <a:noFill/>
          <a:ln w="6350">
            <a:solidFill>
              <a:srgbClr val="DCD5C6"/>
            </a:solidFill>
            <a:prstDash val="solid"/>
          </a:ln>
        </p:spPr>
      </p:sp>
      <p:sp>
        <p:nvSpPr>
          <p:cNvPr id="45" name="Text 43"/>
          <p:cNvSpPr/>
          <p:nvPr/>
        </p:nvSpPr>
        <p:spPr>
          <a:xfrm>
            <a:off x="4414418" y="4672584"/>
            <a:ext cx="1521409" cy="438912"/>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許可：検証環境まで</a:t>
            </a:r>
            <a:endParaRPr lang="en-US" sz="1050" dirty="0"/>
          </a:p>
        </p:txBody>
      </p:sp>
      <p:sp>
        <p:nvSpPr>
          <p:cNvPr id="46" name="Shape 44"/>
          <p:cNvSpPr/>
          <p:nvPr/>
        </p:nvSpPr>
        <p:spPr>
          <a:xfrm>
            <a:off x="4368698" y="5212080"/>
            <a:ext cx="1567129" cy="457200"/>
          </a:xfrm>
          <a:prstGeom prst="rect">
            <a:avLst/>
          </a:prstGeom>
          <a:solidFill>
            <a:srgbClr val="ECE6D9"/>
          </a:solidFill>
          <a:ln/>
        </p:spPr>
      </p:sp>
      <p:sp>
        <p:nvSpPr>
          <p:cNvPr id="47" name="Text 45"/>
          <p:cNvSpPr/>
          <p:nvPr/>
        </p:nvSpPr>
        <p:spPr>
          <a:xfrm>
            <a:off x="4441850" y="5212080"/>
            <a:ext cx="1475689" cy="457200"/>
          </a:xfrm>
          <a:prstGeom prst="rect">
            <a:avLst/>
          </a:prstGeom>
          <a:noFill/>
          <a:ln/>
        </p:spPr>
        <p:txBody>
          <a:bodyPr wrap="square" lIns="0" tIns="0" rIns="0" bIns="0" rtlCol="0" anchor="ctr"/>
          <a:lstStyle/>
          <a:p>
            <a:pPr indent="0" marL="0">
              <a:buNone/>
            </a:pPr>
            <a:r>
              <a:rPr lang="en-US" sz="1000" b="1" dirty="0">
                <a:solidFill>
                  <a:srgbClr val="3C6684"/>
                </a:solidFill>
                <a:latin typeface="BIZ UDPGothic" pitchFamily="34" charset="0"/>
                <a:ea typeface="BIZ UDPGothic" pitchFamily="34" charset="-122"/>
                <a:cs typeface="BIZ UDPGothic" pitchFamily="34" charset="-120"/>
              </a:rPr>
              <a:t>渡す </a:t>
            </a:r>
            <a:pPr indent="0" marL="0">
              <a:buNone/>
            </a:pPr>
            <a:r>
              <a:rPr lang="en-US" sz="1000" dirty="0">
                <a:solidFill>
                  <a:srgbClr val="243D54"/>
                </a:solidFill>
                <a:latin typeface="BIZ UDPGothic" pitchFamily="34" charset="0"/>
                <a:ea typeface="BIZ UDPGothic" pitchFamily="34" charset="-122"/>
                <a:cs typeface="BIZ UDPGothic" pitchFamily="34" charset="-120"/>
              </a:rPr>
              <a:t>決定・根拠・更新条件</a:t>
            </a:r>
            <a:endParaRPr lang="en-US" sz="1000" dirty="0"/>
          </a:p>
        </p:txBody>
      </p:sp>
      <p:sp>
        <p:nvSpPr>
          <p:cNvPr id="48" name="Shape 46"/>
          <p:cNvSpPr/>
          <p:nvPr/>
        </p:nvSpPr>
        <p:spPr>
          <a:xfrm>
            <a:off x="6164428" y="2331720"/>
            <a:ext cx="1750009" cy="3429000"/>
          </a:xfrm>
          <a:prstGeom prst="rect">
            <a:avLst/>
          </a:prstGeom>
          <a:solidFill>
            <a:srgbClr val="FFFFFF"/>
          </a:solidFill>
          <a:ln w="9525">
            <a:solidFill>
              <a:srgbClr val="DCD5C6"/>
            </a:solidFill>
            <a:prstDash val="solid"/>
          </a:ln>
        </p:spPr>
      </p:sp>
      <p:sp>
        <p:nvSpPr>
          <p:cNvPr id="49" name="Shape 47"/>
          <p:cNvSpPr/>
          <p:nvPr/>
        </p:nvSpPr>
        <p:spPr>
          <a:xfrm>
            <a:off x="6164428" y="2331720"/>
            <a:ext cx="1750009" cy="777240"/>
          </a:xfrm>
          <a:prstGeom prst="rect">
            <a:avLst/>
          </a:prstGeom>
          <a:solidFill>
            <a:srgbClr val="5A5A86"/>
          </a:solidFill>
          <a:ln/>
        </p:spPr>
      </p:sp>
      <p:sp>
        <p:nvSpPr>
          <p:cNvPr id="50" name="Text 48"/>
          <p:cNvSpPr/>
          <p:nvPr/>
        </p:nvSpPr>
        <p:spPr>
          <a:xfrm>
            <a:off x="6301588" y="2404872"/>
            <a:ext cx="1521409" cy="320040"/>
          </a:xfrm>
          <a:prstGeom prst="rect">
            <a:avLst/>
          </a:prstGeom>
          <a:noFill/>
          <a:ln/>
        </p:spPr>
        <p:txBody>
          <a:bodyPr wrap="square" lIns="0" tIns="0" rIns="0" bIns="0" rtlCol="0" anchor="t"/>
          <a:lstStyle/>
          <a:p>
            <a:pPr indent="0" marL="0">
              <a:buNone/>
            </a:pPr>
            <a:r>
              <a:rPr lang="en-US" sz="1400" b="1" dirty="0">
                <a:solidFill>
                  <a:srgbClr val="FFFFFF"/>
                </a:solidFill>
                <a:latin typeface="BIZ UDPGothic" pitchFamily="34" charset="0"/>
                <a:ea typeface="BIZ UDPGothic" pitchFamily="34" charset="-122"/>
                <a:cs typeface="BIZ UDPGothic" pitchFamily="34" charset="-120"/>
              </a:rPr>
              <a:t>④  TEI</a:t>
            </a:r>
            <a:endParaRPr lang="en-US" sz="1400" dirty="0"/>
          </a:p>
        </p:txBody>
      </p:sp>
      <p:sp>
        <p:nvSpPr>
          <p:cNvPr id="51" name="Text 49"/>
          <p:cNvSpPr/>
          <p:nvPr/>
        </p:nvSpPr>
        <p:spPr>
          <a:xfrm>
            <a:off x="6301588" y="2743200"/>
            <a:ext cx="1521409" cy="292608"/>
          </a:xfrm>
          <a:prstGeom prst="rect">
            <a:avLst/>
          </a:prstGeom>
          <a:noFill/>
          <a:ln/>
        </p:spPr>
        <p:txBody>
          <a:bodyPr wrap="square" lIns="0" tIns="0" rIns="0" bIns="0" rtlCol="0" anchor="t"/>
          <a:lstStyle/>
          <a:p>
            <a:pPr indent="0" marL="0">
              <a:buNone/>
            </a:pPr>
            <a:r>
              <a:rPr lang="en-US" sz="1150" b="1" dirty="0">
                <a:solidFill>
                  <a:srgbClr val="FFFFFF"/>
                </a:solidFill>
                <a:latin typeface="BIZ UDPGothic" pitchFamily="34" charset="0"/>
                <a:ea typeface="BIZ UDPGothic" pitchFamily="34" charset="-122"/>
                <a:cs typeface="BIZ UDPGothic" pitchFamily="34" charset="-120"/>
              </a:rPr>
              <a:t>規則と反例を検査</a:t>
            </a:r>
            <a:endParaRPr lang="en-US" sz="1150" dirty="0"/>
          </a:p>
        </p:txBody>
      </p:sp>
      <p:sp>
        <p:nvSpPr>
          <p:cNvPr id="52" name="Text 50"/>
          <p:cNvSpPr/>
          <p:nvPr/>
        </p:nvSpPr>
        <p:spPr>
          <a:xfrm>
            <a:off x="6301588" y="3246120"/>
            <a:ext cx="1521409" cy="438912"/>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適用範囲・閾値・有効日</a:t>
            </a:r>
            <a:endParaRPr lang="en-US" sz="1050" dirty="0"/>
          </a:p>
        </p:txBody>
      </p:sp>
      <p:sp>
        <p:nvSpPr>
          <p:cNvPr id="53" name="Shape 51"/>
          <p:cNvSpPr/>
          <p:nvPr/>
        </p:nvSpPr>
        <p:spPr>
          <a:xfrm>
            <a:off x="6301588" y="3694176"/>
            <a:ext cx="1475689" cy="0"/>
          </a:xfrm>
          <a:prstGeom prst="line">
            <a:avLst/>
          </a:prstGeom>
          <a:noFill/>
          <a:ln w="6350">
            <a:solidFill>
              <a:srgbClr val="DCD5C6"/>
            </a:solidFill>
            <a:prstDash val="solid"/>
          </a:ln>
        </p:spPr>
      </p:sp>
      <p:sp>
        <p:nvSpPr>
          <p:cNvPr id="54" name="Text 52"/>
          <p:cNvSpPr/>
          <p:nvPr/>
        </p:nvSpPr>
        <p:spPr>
          <a:xfrm>
            <a:off x="6301588" y="3721608"/>
            <a:ext cx="1521409" cy="438912"/>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閾値の前後と例外を試験</a:t>
            </a:r>
            <a:endParaRPr lang="en-US" sz="1050" dirty="0"/>
          </a:p>
        </p:txBody>
      </p:sp>
      <p:sp>
        <p:nvSpPr>
          <p:cNvPr id="55" name="Shape 53"/>
          <p:cNvSpPr/>
          <p:nvPr/>
        </p:nvSpPr>
        <p:spPr>
          <a:xfrm>
            <a:off x="6301588" y="4169664"/>
            <a:ext cx="1475689" cy="0"/>
          </a:xfrm>
          <a:prstGeom prst="line">
            <a:avLst/>
          </a:prstGeom>
          <a:noFill/>
          <a:ln w="6350">
            <a:solidFill>
              <a:srgbClr val="DCD5C6"/>
            </a:solidFill>
            <a:prstDash val="solid"/>
          </a:ln>
        </p:spPr>
      </p:sp>
      <p:sp>
        <p:nvSpPr>
          <p:cNvPr id="56" name="Text 54"/>
          <p:cNvSpPr/>
          <p:nvPr/>
        </p:nvSpPr>
        <p:spPr>
          <a:xfrm>
            <a:off x="6301588" y="4197096"/>
            <a:ext cx="1521409" cy="438912"/>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候補→検証→受理→配備</a:t>
            </a:r>
            <a:endParaRPr lang="en-US" sz="1050" dirty="0"/>
          </a:p>
        </p:txBody>
      </p:sp>
      <p:sp>
        <p:nvSpPr>
          <p:cNvPr id="57" name="Shape 55"/>
          <p:cNvSpPr/>
          <p:nvPr/>
        </p:nvSpPr>
        <p:spPr>
          <a:xfrm>
            <a:off x="6301588" y="4645152"/>
            <a:ext cx="1475689" cy="0"/>
          </a:xfrm>
          <a:prstGeom prst="line">
            <a:avLst/>
          </a:prstGeom>
          <a:noFill/>
          <a:ln w="6350">
            <a:solidFill>
              <a:srgbClr val="DCD5C6"/>
            </a:solidFill>
            <a:prstDash val="solid"/>
          </a:ln>
        </p:spPr>
      </p:sp>
      <p:sp>
        <p:nvSpPr>
          <p:cNvPr id="58" name="Text 56"/>
          <p:cNvSpPr/>
          <p:nvPr/>
        </p:nvSpPr>
        <p:spPr>
          <a:xfrm>
            <a:off x="6301588" y="4672584"/>
            <a:ext cx="1521409" cy="438912"/>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閾値は権限者が決める</a:t>
            </a:r>
            <a:endParaRPr lang="en-US" sz="1050" dirty="0"/>
          </a:p>
        </p:txBody>
      </p:sp>
      <p:sp>
        <p:nvSpPr>
          <p:cNvPr id="59" name="Shape 57"/>
          <p:cNvSpPr/>
          <p:nvPr/>
        </p:nvSpPr>
        <p:spPr>
          <a:xfrm>
            <a:off x="6255868" y="5212080"/>
            <a:ext cx="1567129" cy="457200"/>
          </a:xfrm>
          <a:prstGeom prst="rect">
            <a:avLst/>
          </a:prstGeom>
          <a:solidFill>
            <a:srgbClr val="ECE6D9"/>
          </a:solidFill>
          <a:ln/>
        </p:spPr>
      </p:sp>
      <p:sp>
        <p:nvSpPr>
          <p:cNvPr id="60" name="Text 58"/>
          <p:cNvSpPr/>
          <p:nvPr/>
        </p:nvSpPr>
        <p:spPr>
          <a:xfrm>
            <a:off x="6329020" y="5212080"/>
            <a:ext cx="1475689" cy="457200"/>
          </a:xfrm>
          <a:prstGeom prst="rect">
            <a:avLst/>
          </a:prstGeom>
          <a:noFill/>
          <a:ln/>
        </p:spPr>
        <p:txBody>
          <a:bodyPr wrap="square" lIns="0" tIns="0" rIns="0" bIns="0" rtlCol="0" anchor="ctr"/>
          <a:lstStyle/>
          <a:p>
            <a:pPr indent="0" marL="0">
              <a:buNone/>
            </a:pPr>
            <a:r>
              <a:rPr lang="en-US" sz="1000" b="1" dirty="0">
                <a:solidFill>
                  <a:srgbClr val="5A5A86"/>
                </a:solidFill>
                <a:latin typeface="BIZ UDPGothic" pitchFamily="34" charset="0"/>
                <a:ea typeface="BIZ UDPGothic" pitchFamily="34" charset="-122"/>
                <a:cs typeface="BIZ UDPGothic" pitchFamily="34" charset="-120"/>
              </a:rPr>
              <a:t>渡す </a:t>
            </a:r>
            <a:pPr indent="0" marL="0">
              <a:buNone/>
            </a:pPr>
            <a:r>
              <a:rPr lang="en-US" sz="1000" dirty="0">
                <a:solidFill>
                  <a:srgbClr val="243D54"/>
                </a:solidFill>
                <a:latin typeface="BIZ UDPGothic" pitchFamily="34" charset="0"/>
                <a:ea typeface="BIZ UDPGothic" pitchFamily="34" charset="-122"/>
                <a:cs typeface="BIZ UDPGothic" pitchFamily="34" charset="-120"/>
              </a:rPr>
              <a:t>検証できる変更案</a:t>
            </a:r>
            <a:endParaRPr lang="en-US" sz="1000" dirty="0"/>
          </a:p>
        </p:txBody>
      </p:sp>
      <p:sp>
        <p:nvSpPr>
          <p:cNvPr id="61" name="Shape 59"/>
          <p:cNvSpPr/>
          <p:nvPr/>
        </p:nvSpPr>
        <p:spPr>
          <a:xfrm>
            <a:off x="8051597" y="2331720"/>
            <a:ext cx="1750009" cy="3429000"/>
          </a:xfrm>
          <a:prstGeom prst="rect">
            <a:avLst/>
          </a:prstGeom>
          <a:solidFill>
            <a:srgbClr val="FFFFFF"/>
          </a:solidFill>
          <a:ln w="9525">
            <a:solidFill>
              <a:srgbClr val="DCD5C6"/>
            </a:solidFill>
            <a:prstDash val="solid"/>
          </a:ln>
        </p:spPr>
      </p:sp>
      <p:sp>
        <p:nvSpPr>
          <p:cNvPr id="62" name="Shape 60"/>
          <p:cNvSpPr/>
          <p:nvPr/>
        </p:nvSpPr>
        <p:spPr>
          <a:xfrm>
            <a:off x="8051597" y="2331720"/>
            <a:ext cx="1750009" cy="777240"/>
          </a:xfrm>
          <a:prstGeom prst="rect">
            <a:avLst/>
          </a:prstGeom>
          <a:solidFill>
            <a:srgbClr val="8C5A44"/>
          </a:solidFill>
          <a:ln/>
        </p:spPr>
      </p:sp>
      <p:sp>
        <p:nvSpPr>
          <p:cNvPr id="63" name="Text 61"/>
          <p:cNvSpPr/>
          <p:nvPr/>
        </p:nvSpPr>
        <p:spPr>
          <a:xfrm>
            <a:off x="8188757" y="2404872"/>
            <a:ext cx="1521409" cy="320040"/>
          </a:xfrm>
          <a:prstGeom prst="rect">
            <a:avLst/>
          </a:prstGeom>
          <a:noFill/>
          <a:ln/>
        </p:spPr>
        <p:txBody>
          <a:bodyPr wrap="square" lIns="0" tIns="0" rIns="0" bIns="0" rtlCol="0" anchor="t"/>
          <a:lstStyle/>
          <a:p>
            <a:pPr indent="0" marL="0">
              <a:buNone/>
            </a:pPr>
            <a:r>
              <a:rPr lang="en-US" sz="1400" b="1" dirty="0">
                <a:solidFill>
                  <a:srgbClr val="FFFFFF"/>
                </a:solidFill>
                <a:latin typeface="BIZ UDPGothic" pitchFamily="34" charset="0"/>
                <a:ea typeface="BIZ UDPGothic" pitchFamily="34" charset="-122"/>
                <a:cs typeface="BIZ UDPGothic" pitchFamily="34" charset="-120"/>
              </a:rPr>
              <a:t>⑤  EKI</a:t>
            </a:r>
            <a:endParaRPr lang="en-US" sz="1400" dirty="0"/>
          </a:p>
        </p:txBody>
      </p:sp>
      <p:sp>
        <p:nvSpPr>
          <p:cNvPr id="64" name="Text 62"/>
          <p:cNvSpPr/>
          <p:nvPr/>
        </p:nvSpPr>
        <p:spPr>
          <a:xfrm>
            <a:off x="8188757" y="2743200"/>
            <a:ext cx="1521409" cy="292608"/>
          </a:xfrm>
          <a:prstGeom prst="rect">
            <a:avLst/>
          </a:prstGeom>
          <a:noFill/>
          <a:ln/>
        </p:spPr>
        <p:txBody>
          <a:bodyPr wrap="square" lIns="0" tIns="0" rIns="0" bIns="0" rtlCol="0" anchor="t"/>
          <a:lstStyle/>
          <a:p>
            <a:pPr indent="0" marL="0">
              <a:buNone/>
            </a:pPr>
            <a:r>
              <a:rPr lang="en-US" sz="1150" b="1" dirty="0">
                <a:solidFill>
                  <a:srgbClr val="FFFFFF"/>
                </a:solidFill>
                <a:latin typeface="BIZ UDPGothic" pitchFamily="34" charset="0"/>
                <a:ea typeface="BIZ UDPGothic" pitchFamily="34" charset="-122"/>
                <a:cs typeface="BIZ UDPGothic" pitchFamily="34" charset="-120"/>
              </a:rPr>
              <a:t>任せる作業を限る</a:t>
            </a:r>
            <a:endParaRPr lang="en-US" sz="1150" dirty="0"/>
          </a:p>
        </p:txBody>
      </p:sp>
      <p:sp>
        <p:nvSpPr>
          <p:cNvPr id="65" name="Text 63"/>
          <p:cNvSpPr/>
          <p:nvPr/>
        </p:nvSpPr>
        <p:spPr>
          <a:xfrm>
            <a:off x="8188757" y="3246120"/>
            <a:ext cx="1521409" cy="438912"/>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検証環境へ適用</a:t>
            </a:r>
            <a:endParaRPr lang="en-US" sz="1050" dirty="0"/>
          </a:p>
        </p:txBody>
      </p:sp>
      <p:sp>
        <p:nvSpPr>
          <p:cNvPr id="66" name="Shape 64"/>
          <p:cNvSpPr/>
          <p:nvPr/>
        </p:nvSpPr>
        <p:spPr>
          <a:xfrm>
            <a:off x="8188757" y="3694176"/>
            <a:ext cx="1475689" cy="0"/>
          </a:xfrm>
          <a:prstGeom prst="line">
            <a:avLst/>
          </a:prstGeom>
          <a:noFill/>
          <a:ln w="6350">
            <a:solidFill>
              <a:srgbClr val="DCD5C6"/>
            </a:solidFill>
            <a:prstDash val="solid"/>
          </a:ln>
        </p:spPr>
      </p:sp>
      <p:sp>
        <p:nvSpPr>
          <p:cNvPr id="67" name="Text 65"/>
          <p:cNvSpPr/>
          <p:nvPr/>
        </p:nvSpPr>
        <p:spPr>
          <a:xfrm>
            <a:off x="8188757" y="3721608"/>
            <a:ext cx="1521409" cy="438912"/>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回帰試験を実行</a:t>
            </a:r>
            <a:endParaRPr lang="en-US" sz="1050" dirty="0"/>
          </a:p>
        </p:txBody>
      </p:sp>
      <p:sp>
        <p:nvSpPr>
          <p:cNvPr id="68" name="Shape 66"/>
          <p:cNvSpPr/>
          <p:nvPr/>
        </p:nvSpPr>
        <p:spPr>
          <a:xfrm>
            <a:off x="8188757" y="4169664"/>
            <a:ext cx="1475689" cy="0"/>
          </a:xfrm>
          <a:prstGeom prst="line">
            <a:avLst/>
          </a:prstGeom>
          <a:noFill/>
          <a:ln w="6350">
            <a:solidFill>
              <a:srgbClr val="DCD5C6"/>
            </a:solidFill>
            <a:prstDash val="solid"/>
          </a:ln>
        </p:spPr>
      </p:sp>
      <p:sp>
        <p:nvSpPr>
          <p:cNvPr id="69" name="Text 67"/>
          <p:cNvSpPr/>
          <p:nvPr/>
        </p:nvSpPr>
        <p:spPr>
          <a:xfrm>
            <a:off x="8188757" y="4197096"/>
            <a:ext cx="1521409" cy="438912"/>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本番は人の承認後</a:t>
            </a:r>
            <a:endParaRPr lang="en-US" sz="1050" dirty="0"/>
          </a:p>
        </p:txBody>
      </p:sp>
      <p:sp>
        <p:nvSpPr>
          <p:cNvPr id="70" name="Shape 68"/>
          <p:cNvSpPr/>
          <p:nvPr/>
        </p:nvSpPr>
        <p:spPr>
          <a:xfrm>
            <a:off x="8188757" y="4645152"/>
            <a:ext cx="1475689" cy="0"/>
          </a:xfrm>
          <a:prstGeom prst="line">
            <a:avLst/>
          </a:prstGeom>
          <a:noFill/>
          <a:ln w="6350">
            <a:solidFill>
              <a:srgbClr val="DCD5C6"/>
            </a:solidFill>
            <a:prstDash val="solid"/>
          </a:ln>
        </p:spPr>
      </p:sp>
      <p:sp>
        <p:nvSpPr>
          <p:cNvPr id="71" name="Text 69"/>
          <p:cNvSpPr/>
          <p:nvPr/>
        </p:nvSpPr>
        <p:spPr>
          <a:xfrm>
            <a:off x="8188757" y="4672584"/>
            <a:ext cx="1521409" cy="438912"/>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差し戻しの手順を確認</a:t>
            </a:r>
            <a:endParaRPr lang="en-US" sz="1050" dirty="0"/>
          </a:p>
        </p:txBody>
      </p:sp>
      <p:sp>
        <p:nvSpPr>
          <p:cNvPr id="72" name="Shape 70"/>
          <p:cNvSpPr/>
          <p:nvPr/>
        </p:nvSpPr>
        <p:spPr>
          <a:xfrm>
            <a:off x="8143037" y="5212080"/>
            <a:ext cx="1567129" cy="457200"/>
          </a:xfrm>
          <a:prstGeom prst="rect">
            <a:avLst/>
          </a:prstGeom>
          <a:solidFill>
            <a:srgbClr val="ECE6D9"/>
          </a:solidFill>
          <a:ln/>
        </p:spPr>
      </p:sp>
      <p:sp>
        <p:nvSpPr>
          <p:cNvPr id="73" name="Text 71"/>
          <p:cNvSpPr/>
          <p:nvPr/>
        </p:nvSpPr>
        <p:spPr>
          <a:xfrm>
            <a:off x="8216189" y="5212080"/>
            <a:ext cx="1475689" cy="457200"/>
          </a:xfrm>
          <a:prstGeom prst="rect">
            <a:avLst/>
          </a:prstGeom>
          <a:noFill/>
          <a:ln/>
        </p:spPr>
        <p:txBody>
          <a:bodyPr wrap="square" lIns="0" tIns="0" rIns="0" bIns="0" rtlCol="0" anchor="ctr"/>
          <a:lstStyle/>
          <a:p>
            <a:pPr indent="0" marL="0">
              <a:buNone/>
            </a:pPr>
            <a:r>
              <a:rPr lang="en-US" sz="1000" b="1" dirty="0">
                <a:solidFill>
                  <a:srgbClr val="8C5A44"/>
                </a:solidFill>
                <a:latin typeface="BIZ UDPGothic" pitchFamily="34" charset="0"/>
                <a:ea typeface="BIZ UDPGothic" pitchFamily="34" charset="-122"/>
                <a:cs typeface="BIZ UDPGothic" pitchFamily="34" charset="-120"/>
              </a:rPr>
              <a:t>渡す </a:t>
            </a:r>
            <a:pPr indent="0" marL="0">
              <a:buNone/>
            </a:pPr>
            <a:r>
              <a:rPr lang="en-US" sz="1000" dirty="0">
                <a:solidFill>
                  <a:srgbClr val="243D54"/>
                </a:solidFill>
                <a:latin typeface="BIZ UDPGothic" pitchFamily="34" charset="0"/>
                <a:ea typeface="BIZ UDPGothic" pitchFamily="34" charset="-122"/>
                <a:cs typeface="BIZ UDPGothic" pitchFamily="34" charset="-120"/>
              </a:rPr>
              <a:t>受付・実行・結果の記録</a:t>
            </a:r>
            <a:endParaRPr lang="en-US" sz="1000" dirty="0"/>
          </a:p>
        </p:txBody>
      </p:sp>
      <p:sp>
        <p:nvSpPr>
          <p:cNvPr id="74" name="Shape 72"/>
          <p:cNvSpPr/>
          <p:nvPr/>
        </p:nvSpPr>
        <p:spPr>
          <a:xfrm>
            <a:off x="9938766" y="2331720"/>
            <a:ext cx="1750009" cy="3429000"/>
          </a:xfrm>
          <a:prstGeom prst="rect">
            <a:avLst/>
          </a:prstGeom>
          <a:solidFill>
            <a:srgbClr val="FFFFFF"/>
          </a:solidFill>
          <a:ln w="9525">
            <a:solidFill>
              <a:srgbClr val="DCD5C6"/>
            </a:solidFill>
            <a:prstDash val="solid"/>
          </a:ln>
        </p:spPr>
      </p:sp>
      <p:sp>
        <p:nvSpPr>
          <p:cNvPr id="75" name="Shape 73"/>
          <p:cNvSpPr/>
          <p:nvPr/>
        </p:nvSpPr>
        <p:spPr>
          <a:xfrm>
            <a:off x="9938766" y="2331720"/>
            <a:ext cx="1750009" cy="777240"/>
          </a:xfrm>
          <a:prstGeom prst="rect">
            <a:avLst/>
          </a:prstGeom>
          <a:solidFill>
            <a:srgbClr val="243D54"/>
          </a:solidFill>
          <a:ln/>
        </p:spPr>
      </p:sp>
      <p:sp>
        <p:nvSpPr>
          <p:cNvPr id="76" name="Text 74"/>
          <p:cNvSpPr/>
          <p:nvPr/>
        </p:nvSpPr>
        <p:spPr>
          <a:xfrm>
            <a:off x="10075926" y="2404872"/>
            <a:ext cx="1521409" cy="320040"/>
          </a:xfrm>
          <a:prstGeom prst="rect">
            <a:avLst/>
          </a:prstGeom>
          <a:noFill/>
          <a:ln/>
        </p:spPr>
        <p:txBody>
          <a:bodyPr wrap="square" lIns="0" tIns="0" rIns="0" bIns="0" rtlCol="0" anchor="t"/>
          <a:lstStyle/>
          <a:p>
            <a:pPr indent="0" marL="0">
              <a:buNone/>
            </a:pPr>
            <a:r>
              <a:rPr lang="en-US" sz="1400" b="1" dirty="0">
                <a:solidFill>
                  <a:srgbClr val="FFFFFF"/>
                </a:solidFill>
                <a:latin typeface="BIZ UDPGothic" pitchFamily="34" charset="0"/>
                <a:ea typeface="BIZ UDPGothic" pitchFamily="34" charset="-122"/>
                <a:cs typeface="BIZ UDPGothic" pitchFamily="34" charset="-120"/>
              </a:rPr>
              <a:t>⑥  TAI</a:t>
            </a:r>
            <a:endParaRPr lang="en-US" sz="1400" dirty="0"/>
          </a:p>
        </p:txBody>
      </p:sp>
      <p:sp>
        <p:nvSpPr>
          <p:cNvPr id="77" name="Text 75"/>
          <p:cNvSpPr/>
          <p:nvPr/>
        </p:nvSpPr>
        <p:spPr>
          <a:xfrm>
            <a:off x="10075926" y="2743200"/>
            <a:ext cx="1521409" cy="292608"/>
          </a:xfrm>
          <a:prstGeom prst="rect">
            <a:avLst/>
          </a:prstGeom>
          <a:noFill/>
          <a:ln/>
        </p:spPr>
        <p:txBody>
          <a:bodyPr wrap="square" lIns="0" tIns="0" rIns="0" bIns="0" rtlCol="0" anchor="t"/>
          <a:lstStyle/>
          <a:p>
            <a:pPr indent="0" marL="0">
              <a:buNone/>
            </a:pPr>
            <a:r>
              <a:rPr lang="en-US" sz="1150" b="1" dirty="0">
                <a:solidFill>
                  <a:srgbClr val="FFFFFF"/>
                </a:solidFill>
                <a:latin typeface="BIZ UDPGothic" pitchFamily="34" charset="0"/>
                <a:ea typeface="BIZ UDPGothic" pitchFamily="34" charset="-122"/>
                <a:cs typeface="BIZ UDPGothic" pitchFamily="34" charset="-120"/>
              </a:rPr>
              <a:t>改善を確かめる</a:t>
            </a:r>
            <a:endParaRPr lang="en-US" sz="1150" dirty="0"/>
          </a:p>
        </p:txBody>
      </p:sp>
      <p:sp>
        <p:nvSpPr>
          <p:cNvPr id="78" name="Text 76"/>
          <p:cNvSpPr/>
          <p:nvPr/>
        </p:nvSpPr>
        <p:spPr>
          <a:xfrm>
            <a:off x="10075926" y="3246120"/>
            <a:ext cx="1521409" cy="438912"/>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迷わず承認できるか</a:t>
            </a:r>
            <a:endParaRPr lang="en-US" sz="1050" dirty="0"/>
          </a:p>
        </p:txBody>
      </p:sp>
      <p:sp>
        <p:nvSpPr>
          <p:cNvPr id="79" name="Shape 77"/>
          <p:cNvSpPr/>
          <p:nvPr/>
        </p:nvSpPr>
        <p:spPr>
          <a:xfrm>
            <a:off x="10075926" y="3694176"/>
            <a:ext cx="1475689" cy="0"/>
          </a:xfrm>
          <a:prstGeom prst="line">
            <a:avLst/>
          </a:prstGeom>
          <a:noFill/>
          <a:ln w="6350">
            <a:solidFill>
              <a:srgbClr val="DCD5C6"/>
            </a:solidFill>
            <a:prstDash val="solid"/>
          </a:ln>
        </p:spPr>
      </p:sp>
      <p:sp>
        <p:nvSpPr>
          <p:cNvPr id="80" name="Text 78"/>
          <p:cNvSpPr/>
          <p:nvPr/>
        </p:nvSpPr>
        <p:spPr>
          <a:xfrm>
            <a:off x="10075926" y="3721608"/>
            <a:ext cx="1521409" cy="438912"/>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誤承認や逸脱はないか</a:t>
            </a:r>
            <a:endParaRPr lang="en-US" sz="1050" dirty="0"/>
          </a:p>
        </p:txBody>
      </p:sp>
      <p:sp>
        <p:nvSpPr>
          <p:cNvPr id="81" name="Shape 79"/>
          <p:cNvSpPr/>
          <p:nvPr/>
        </p:nvSpPr>
        <p:spPr>
          <a:xfrm>
            <a:off x="10075926" y="4169664"/>
            <a:ext cx="1475689" cy="0"/>
          </a:xfrm>
          <a:prstGeom prst="line">
            <a:avLst/>
          </a:prstGeom>
          <a:noFill/>
          <a:ln w="6350">
            <a:solidFill>
              <a:srgbClr val="DCD5C6"/>
            </a:solidFill>
            <a:prstDash val="solid"/>
          </a:ln>
        </p:spPr>
      </p:sp>
      <p:sp>
        <p:nvSpPr>
          <p:cNvPr id="82" name="Text 80"/>
          <p:cNvSpPr/>
          <p:nvPr/>
        </p:nvSpPr>
        <p:spPr>
          <a:xfrm>
            <a:off x="10075926" y="4197096"/>
            <a:ext cx="1521409" cy="438912"/>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手戻り・問い合わせの量</a:t>
            </a:r>
            <a:endParaRPr lang="en-US" sz="1050" dirty="0"/>
          </a:p>
        </p:txBody>
      </p:sp>
      <p:sp>
        <p:nvSpPr>
          <p:cNvPr id="83" name="Shape 81"/>
          <p:cNvSpPr/>
          <p:nvPr/>
        </p:nvSpPr>
        <p:spPr>
          <a:xfrm>
            <a:off x="10075926" y="4645152"/>
            <a:ext cx="1475689" cy="0"/>
          </a:xfrm>
          <a:prstGeom prst="line">
            <a:avLst/>
          </a:prstGeom>
          <a:noFill/>
          <a:ln w="6350">
            <a:solidFill>
              <a:srgbClr val="DCD5C6"/>
            </a:solidFill>
            <a:prstDash val="solid"/>
          </a:ln>
        </p:spPr>
      </p:sp>
      <p:sp>
        <p:nvSpPr>
          <p:cNvPr id="84" name="Text 82"/>
          <p:cNvSpPr/>
          <p:nvPr/>
        </p:nvSpPr>
        <p:spPr>
          <a:xfrm>
            <a:off x="10075926" y="4672584"/>
            <a:ext cx="1521409" cy="438912"/>
          </a:xfrm>
          <a:prstGeom prst="rect">
            <a:avLst/>
          </a:prstGeom>
          <a:noFill/>
          <a:ln/>
        </p:spPr>
        <p:txBody>
          <a:bodyPr wrap="square" lIns="0" tIns="0" rIns="0" bIns="0" rtlCol="0" anchor="ct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継続・修正・停止の条件</a:t>
            </a:r>
            <a:endParaRPr lang="en-US" sz="1050" dirty="0"/>
          </a:p>
        </p:txBody>
      </p:sp>
      <p:sp>
        <p:nvSpPr>
          <p:cNvPr id="85" name="Shape 83"/>
          <p:cNvSpPr/>
          <p:nvPr/>
        </p:nvSpPr>
        <p:spPr>
          <a:xfrm>
            <a:off x="10030206" y="5212080"/>
            <a:ext cx="1567129" cy="457200"/>
          </a:xfrm>
          <a:prstGeom prst="rect">
            <a:avLst/>
          </a:prstGeom>
          <a:solidFill>
            <a:srgbClr val="ECE6D9"/>
          </a:solidFill>
          <a:ln/>
        </p:spPr>
      </p:sp>
      <p:sp>
        <p:nvSpPr>
          <p:cNvPr id="86" name="Text 84"/>
          <p:cNvSpPr/>
          <p:nvPr/>
        </p:nvSpPr>
        <p:spPr>
          <a:xfrm>
            <a:off x="10103358" y="5212080"/>
            <a:ext cx="1475689" cy="457200"/>
          </a:xfrm>
          <a:prstGeom prst="rect">
            <a:avLst/>
          </a:prstGeom>
          <a:noFill/>
          <a:ln/>
        </p:spPr>
        <p:txBody>
          <a:bodyPr wrap="square" lIns="0" tIns="0" rIns="0" bIns="0" rtlCol="0" anchor="ctr"/>
          <a:lstStyle/>
          <a:p>
            <a:pPr indent="0" marL="0">
              <a:buNone/>
            </a:pPr>
            <a:r>
              <a:rPr lang="en-US" sz="1000" b="1" dirty="0">
                <a:solidFill>
                  <a:srgbClr val="243D54"/>
                </a:solidFill>
                <a:latin typeface="BIZ UDPGothic" pitchFamily="34" charset="0"/>
                <a:ea typeface="BIZ UDPGothic" pitchFamily="34" charset="-122"/>
                <a:cs typeface="BIZ UDPGothic" pitchFamily="34" charset="-120"/>
              </a:rPr>
              <a:t>渡す </a:t>
            </a:r>
            <a:pPr indent="0" marL="0">
              <a:buNone/>
            </a:pPr>
            <a:r>
              <a:rPr lang="en-US" sz="1000" dirty="0">
                <a:solidFill>
                  <a:srgbClr val="243D54"/>
                </a:solidFill>
                <a:latin typeface="BIZ UDPGothic" pitchFamily="34" charset="0"/>
                <a:ea typeface="BIZ UDPGothic" pitchFamily="34" charset="-122"/>
                <a:cs typeface="BIZ UDPGothic" pitchFamily="34" charset="-120"/>
              </a:rPr>
              <a:t>課題全体の見通し</a:t>
            </a:r>
            <a:endParaRPr lang="en-US" sz="1000" dirty="0"/>
          </a:p>
        </p:txBody>
      </p:sp>
      <p:sp>
        <p:nvSpPr>
          <p:cNvPr id="87" name="Shape 85"/>
          <p:cNvSpPr/>
          <p:nvPr/>
        </p:nvSpPr>
        <p:spPr>
          <a:xfrm>
            <a:off x="502920" y="5897880"/>
            <a:ext cx="11185855" cy="457200"/>
          </a:xfrm>
          <a:prstGeom prst="rect">
            <a:avLst/>
          </a:prstGeom>
          <a:solidFill>
            <a:srgbClr val="243D54"/>
          </a:solidFill>
          <a:ln/>
        </p:spPr>
      </p:sp>
      <p:sp>
        <p:nvSpPr>
          <p:cNvPr id="88" name="Shape 86"/>
          <p:cNvSpPr/>
          <p:nvPr/>
        </p:nvSpPr>
        <p:spPr>
          <a:xfrm>
            <a:off x="502920" y="5897880"/>
            <a:ext cx="64008" cy="457200"/>
          </a:xfrm>
          <a:prstGeom prst="rect">
            <a:avLst/>
          </a:prstGeom>
          <a:solidFill>
            <a:srgbClr val="C4A06D"/>
          </a:solidFill>
          <a:ln/>
        </p:spPr>
      </p:sp>
      <p:sp>
        <p:nvSpPr>
          <p:cNvPr id="89" name="Text 87"/>
          <p:cNvSpPr/>
          <p:nvPr/>
        </p:nvSpPr>
        <p:spPr>
          <a:xfrm>
            <a:off x="731520" y="5897880"/>
            <a:ext cx="10865815" cy="457200"/>
          </a:xfrm>
          <a:prstGeom prst="rect">
            <a:avLst/>
          </a:prstGeom>
          <a:noFill/>
          <a:ln/>
        </p:spPr>
        <p:txBody>
          <a:bodyPr wrap="square" lIns="0" tIns="0" rIns="0" bIns="0" rtlCol="0" anchor="ctr"/>
          <a:lstStyle/>
          <a:p>
            <a:pPr indent="0" marL="0">
              <a:buNone/>
            </a:pPr>
            <a:r>
              <a:rPr lang="en-US" sz="1350" b="1" dirty="0">
                <a:solidFill>
                  <a:srgbClr val="F5F1E8"/>
                </a:solidFill>
                <a:latin typeface="BIZ UDPGothic" pitchFamily="34" charset="0"/>
                <a:ea typeface="BIZ UDPGothic" pitchFamily="34" charset="-122"/>
                <a:cs typeface="BIZ UDPGothic" pitchFamily="34" charset="-120"/>
              </a:rPr>
              <a:t>どの段階でも、AIの推奨は承認ではなく、受付は完了ではなく、処理の成功は成果ではない。</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274320"/>
            <a:ext cx="1118585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04  連携の例</a:t>
            </a:r>
            <a:endParaRPr lang="en-US" sz="950" dirty="0"/>
          </a:p>
        </p:txBody>
      </p:sp>
      <p:sp>
        <p:nvSpPr>
          <p:cNvPr id="3" name="Text 1"/>
          <p:cNvSpPr/>
          <p:nvPr/>
        </p:nvSpPr>
        <p:spPr>
          <a:xfrm>
            <a:off x="502920" y="530352"/>
            <a:ext cx="1118585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個人の探究から、社会の協働まで</a:t>
            </a:r>
            <a:endParaRPr lang="en-US" sz="2500" dirty="0"/>
          </a:p>
        </p:txBody>
      </p:sp>
      <p:sp>
        <p:nvSpPr>
          <p:cNvPr id="4" name="Text 2"/>
          <p:cNvSpPr/>
          <p:nvPr/>
        </p:nvSpPr>
        <p:spPr>
          <a:xfrm>
            <a:off x="502920" y="1097280"/>
            <a:ext cx="1118585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規模が変わっても、根拠・判断・委任の境界を保つという原則は変わらない。</a:t>
            </a:r>
            <a:endParaRPr lang="en-US" sz="1300" dirty="0"/>
          </a:p>
        </p:txBody>
      </p:sp>
      <p:sp>
        <p:nvSpPr>
          <p:cNvPr id="5" name="Text 3"/>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23</a:t>
            </a:r>
            <a:endParaRPr lang="en-US" sz="1000" dirty="0"/>
          </a:p>
        </p:txBody>
      </p:sp>
      <p:sp>
        <p:nvSpPr>
          <p:cNvPr id="6" name="Shape 4"/>
          <p:cNvSpPr/>
          <p:nvPr/>
        </p:nvSpPr>
        <p:spPr>
          <a:xfrm>
            <a:off x="502920" y="1600200"/>
            <a:ext cx="4206240" cy="4617720"/>
          </a:xfrm>
          <a:prstGeom prst="rect">
            <a:avLst/>
          </a:prstGeom>
          <a:solidFill>
            <a:srgbClr val="243D54"/>
          </a:solidFill>
          <a:ln/>
        </p:spPr>
      </p:sp>
      <p:sp>
        <p:nvSpPr>
          <p:cNvPr id="7" name="Text 5"/>
          <p:cNvSpPr/>
          <p:nvPr/>
        </p:nvSpPr>
        <p:spPr>
          <a:xfrm>
            <a:off x="731520" y="1719072"/>
            <a:ext cx="3840480" cy="502920"/>
          </a:xfrm>
          <a:prstGeom prst="rect">
            <a:avLst/>
          </a:prstGeom>
          <a:noFill/>
          <a:ln/>
        </p:spPr>
        <p:txBody>
          <a:bodyPr wrap="square" lIns="0" tIns="0" rIns="0" bIns="0" rtlCol="0" anchor="t"/>
          <a:lstStyle/>
          <a:p>
            <a:pPr indent="0" marL="0">
              <a:buNone/>
            </a:pPr>
            <a:r>
              <a:rPr lang="en-US" sz="1350" b="1" dirty="0">
                <a:solidFill>
                  <a:srgbClr val="F5F1E8"/>
                </a:solidFill>
                <a:latin typeface="BIZ UDPGothic" pitchFamily="34" charset="0"/>
                <a:ea typeface="BIZ UDPGothic" pitchFamily="34" charset="-122"/>
                <a:cs typeface="BIZ UDPGothic" pitchFamily="34" charset="-120"/>
              </a:rPr>
              <a:t>個人｜調査の続きを、別のAIで再開する</a:t>
            </a:r>
            <a:endParaRPr lang="en-US" sz="1350" dirty="0"/>
          </a:p>
        </p:txBody>
      </p:sp>
      <p:sp>
        <p:nvSpPr>
          <p:cNvPr id="8" name="Text 6"/>
          <p:cNvSpPr/>
          <p:nvPr/>
        </p:nvSpPr>
        <p:spPr>
          <a:xfrm>
            <a:off x="731520" y="2212848"/>
            <a:ext cx="3840480" cy="457200"/>
          </a:xfrm>
          <a:prstGeom prst="rect">
            <a:avLst/>
          </a:prstGeom>
          <a:noFill/>
          <a:ln/>
        </p:spPr>
        <p:txBody>
          <a:bodyPr wrap="square" lIns="0" tIns="0" rIns="0" bIns="0" rtlCol="0" anchor="t"/>
          <a:lstStyle/>
          <a:p>
            <a:pPr indent="0" marL="0">
              <a:buNone/>
            </a:pPr>
            <a:r>
              <a:rPr lang="en-US" sz="1050" dirty="0">
                <a:solidFill>
                  <a:srgbClr val="C9D3D9"/>
                </a:solidFill>
                <a:latin typeface="BIZ UDPGothic" pitchFamily="34" charset="0"/>
                <a:ea typeface="BIZ UDPGothic" pitchFamily="34" charset="-122"/>
                <a:cs typeface="BIZ UDPGothic" pitchFamily="34" charset="-120"/>
              </a:rPr>
              <a:t>一人の研究者が公開資料を調べ、仮説を比べた後、AIや端末を変える場面。</a:t>
            </a:r>
            <a:endParaRPr lang="en-US" sz="1050" dirty="0"/>
          </a:p>
        </p:txBody>
      </p:sp>
      <p:sp>
        <p:nvSpPr>
          <p:cNvPr id="9" name="Shape 7"/>
          <p:cNvSpPr/>
          <p:nvPr/>
        </p:nvSpPr>
        <p:spPr>
          <a:xfrm>
            <a:off x="777240" y="2816352"/>
            <a:ext cx="310896" cy="310896"/>
          </a:xfrm>
          <a:prstGeom prst="ellipse">
            <a:avLst/>
          </a:prstGeom>
          <a:solidFill>
            <a:srgbClr val="C4A06D"/>
          </a:solidFill>
          <a:ln/>
        </p:spPr>
      </p:sp>
      <p:sp>
        <p:nvSpPr>
          <p:cNvPr id="10" name="Text 8"/>
          <p:cNvSpPr/>
          <p:nvPr/>
        </p:nvSpPr>
        <p:spPr>
          <a:xfrm>
            <a:off x="777240" y="2816352"/>
            <a:ext cx="310896" cy="310896"/>
          </a:xfrm>
          <a:prstGeom prst="rect">
            <a:avLst/>
          </a:prstGeom>
          <a:noFill/>
          <a:ln/>
        </p:spPr>
        <p:txBody>
          <a:bodyPr wrap="square" lIns="0" tIns="0" rIns="0" bIns="0" rtlCol="0" anchor="ctr"/>
          <a:lstStyle/>
          <a:p>
            <a:pPr algn="ctr" indent="0" marL="0">
              <a:buNone/>
            </a:pPr>
            <a:r>
              <a:rPr lang="en-US" sz="1000" b="1" dirty="0">
                <a:solidFill>
                  <a:srgbClr val="243D54"/>
                </a:solidFill>
                <a:latin typeface="BIZ UDPGothic" pitchFamily="34" charset="0"/>
                <a:ea typeface="BIZ UDPGothic" pitchFamily="34" charset="-122"/>
                <a:cs typeface="BIZ UDPGothic" pitchFamily="34" charset="-120"/>
              </a:rPr>
              <a:t>1</a:t>
            </a:r>
            <a:endParaRPr lang="en-US" sz="1000" dirty="0"/>
          </a:p>
        </p:txBody>
      </p:sp>
      <p:sp>
        <p:nvSpPr>
          <p:cNvPr id="11" name="Shape 9"/>
          <p:cNvSpPr/>
          <p:nvPr/>
        </p:nvSpPr>
        <p:spPr>
          <a:xfrm>
            <a:off x="932688" y="3136392"/>
            <a:ext cx="0" cy="219456"/>
          </a:xfrm>
          <a:prstGeom prst="line">
            <a:avLst/>
          </a:prstGeom>
          <a:noFill/>
          <a:ln w="12700">
            <a:solidFill>
              <a:srgbClr val="C4A06D"/>
            </a:solidFill>
            <a:prstDash val="solid"/>
          </a:ln>
        </p:spPr>
      </p:sp>
      <p:sp>
        <p:nvSpPr>
          <p:cNvPr id="12" name="Text 10"/>
          <p:cNvSpPr/>
          <p:nvPr/>
        </p:nvSpPr>
        <p:spPr>
          <a:xfrm>
            <a:off x="1280160" y="2743200"/>
            <a:ext cx="731520" cy="457200"/>
          </a:xfrm>
          <a:prstGeom prst="rect">
            <a:avLst/>
          </a:prstGeom>
          <a:noFill/>
          <a:ln/>
        </p:spPr>
        <p:txBody>
          <a:bodyPr wrap="square" lIns="0" tIns="0" rIns="0" bIns="0" rtlCol="0" anchor="ctr"/>
          <a:lstStyle/>
          <a:p>
            <a:pPr indent="0" marL="0">
              <a:buNone/>
            </a:pPr>
            <a:r>
              <a:rPr lang="en-US" sz="1300" b="1" dirty="0">
                <a:solidFill>
                  <a:srgbClr val="F5F1E8"/>
                </a:solidFill>
                <a:latin typeface="BIZ UDPGothic" pitchFamily="34" charset="0"/>
                <a:ea typeface="BIZ UDPGothic" pitchFamily="34" charset="-122"/>
                <a:cs typeface="BIZ UDPGothic" pitchFamily="34" charset="-120"/>
              </a:rPr>
              <a:t>資料</a:t>
            </a:r>
            <a:endParaRPr lang="en-US" sz="1300" dirty="0"/>
          </a:p>
        </p:txBody>
      </p:sp>
      <p:sp>
        <p:nvSpPr>
          <p:cNvPr id="13" name="Text 11"/>
          <p:cNvSpPr/>
          <p:nvPr/>
        </p:nvSpPr>
        <p:spPr>
          <a:xfrm>
            <a:off x="2057400" y="2743200"/>
            <a:ext cx="1645920" cy="457200"/>
          </a:xfrm>
          <a:prstGeom prst="rect">
            <a:avLst/>
          </a:prstGeom>
          <a:noFill/>
          <a:ln/>
        </p:spPr>
        <p:txBody>
          <a:bodyPr wrap="square" lIns="0" tIns="0" rIns="0" bIns="0" rtlCol="0" anchor="ctr"/>
          <a:lstStyle/>
          <a:p>
            <a:pPr indent="0" marL="0">
              <a:buNone/>
            </a:pPr>
            <a:r>
              <a:rPr lang="en-US" sz="1150" dirty="0">
                <a:solidFill>
                  <a:srgbClr val="C9D3D9"/>
                </a:solidFill>
                <a:latin typeface="BIZ UDPGothic" pitchFamily="34" charset="0"/>
                <a:ea typeface="BIZ UDPGothic" pitchFamily="34" charset="-122"/>
                <a:cs typeface="BIZ UDPGothic" pitchFamily="34" charset="-120"/>
              </a:rPr>
              <a:t>公開文献と版</a:t>
            </a:r>
            <a:endParaRPr lang="en-US" sz="1150" dirty="0"/>
          </a:p>
        </p:txBody>
      </p:sp>
      <p:sp>
        <p:nvSpPr>
          <p:cNvPr id="14" name="Shape 12"/>
          <p:cNvSpPr/>
          <p:nvPr/>
        </p:nvSpPr>
        <p:spPr>
          <a:xfrm>
            <a:off x="3794760" y="2834640"/>
            <a:ext cx="685800" cy="274320"/>
          </a:xfrm>
          <a:prstGeom prst="roundRect">
            <a:avLst>
              <a:gd name="adj" fmla="val 50000"/>
            </a:avLst>
          </a:prstGeom>
          <a:solidFill>
            <a:srgbClr val="2E4C66"/>
          </a:solidFill>
          <a:ln/>
        </p:spPr>
      </p:sp>
      <p:sp>
        <p:nvSpPr>
          <p:cNvPr id="15" name="Text 13"/>
          <p:cNvSpPr/>
          <p:nvPr/>
        </p:nvSpPr>
        <p:spPr>
          <a:xfrm>
            <a:off x="3794760" y="2834640"/>
            <a:ext cx="685800" cy="274320"/>
          </a:xfrm>
          <a:prstGeom prst="rect">
            <a:avLst/>
          </a:prstGeom>
          <a:noFill/>
          <a:ln/>
        </p:spPr>
        <p:txBody>
          <a:bodyPr wrap="square" lIns="0" tIns="0" rIns="0" bIns="0" rtlCol="0" anchor="ctr"/>
          <a:lstStyle/>
          <a:p>
            <a:pPr algn="ctr" indent="0" marL="0">
              <a:buNone/>
            </a:pPr>
            <a:r>
              <a:rPr lang="en-US" sz="950" b="1" dirty="0">
                <a:solidFill>
                  <a:srgbClr val="F5F1E8"/>
                </a:solidFill>
                <a:latin typeface="BIZ UDPGothic" pitchFamily="34" charset="0"/>
                <a:ea typeface="BIZ UDPGothic" pitchFamily="34" charset="-122"/>
                <a:cs typeface="BIZ UDPGothic" pitchFamily="34" charset="-120"/>
              </a:rPr>
              <a:t>SHO</a:t>
            </a:r>
            <a:endParaRPr lang="en-US" sz="950" dirty="0"/>
          </a:p>
        </p:txBody>
      </p:sp>
      <p:sp>
        <p:nvSpPr>
          <p:cNvPr id="16" name="Shape 14"/>
          <p:cNvSpPr/>
          <p:nvPr/>
        </p:nvSpPr>
        <p:spPr>
          <a:xfrm>
            <a:off x="777240" y="3364992"/>
            <a:ext cx="310896" cy="310896"/>
          </a:xfrm>
          <a:prstGeom prst="ellipse">
            <a:avLst/>
          </a:prstGeom>
          <a:solidFill>
            <a:srgbClr val="C4A06D"/>
          </a:solidFill>
          <a:ln/>
        </p:spPr>
      </p:sp>
      <p:sp>
        <p:nvSpPr>
          <p:cNvPr id="17" name="Text 15"/>
          <p:cNvSpPr/>
          <p:nvPr/>
        </p:nvSpPr>
        <p:spPr>
          <a:xfrm>
            <a:off x="777240" y="3364992"/>
            <a:ext cx="310896" cy="310896"/>
          </a:xfrm>
          <a:prstGeom prst="rect">
            <a:avLst/>
          </a:prstGeom>
          <a:noFill/>
          <a:ln/>
        </p:spPr>
        <p:txBody>
          <a:bodyPr wrap="square" lIns="0" tIns="0" rIns="0" bIns="0" rtlCol="0" anchor="ctr"/>
          <a:lstStyle/>
          <a:p>
            <a:pPr algn="ctr" indent="0" marL="0">
              <a:buNone/>
            </a:pPr>
            <a:r>
              <a:rPr lang="en-US" sz="1000" b="1" dirty="0">
                <a:solidFill>
                  <a:srgbClr val="243D54"/>
                </a:solidFill>
                <a:latin typeface="BIZ UDPGothic" pitchFamily="34" charset="0"/>
                <a:ea typeface="BIZ UDPGothic" pitchFamily="34" charset="-122"/>
                <a:cs typeface="BIZ UDPGothic" pitchFamily="34" charset="-120"/>
              </a:rPr>
              <a:t>2</a:t>
            </a:r>
            <a:endParaRPr lang="en-US" sz="1000" dirty="0"/>
          </a:p>
        </p:txBody>
      </p:sp>
      <p:sp>
        <p:nvSpPr>
          <p:cNvPr id="18" name="Shape 16"/>
          <p:cNvSpPr/>
          <p:nvPr/>
        </p:nvSpPr>
        <p:spPr>
          <a:xfrm>
            <a:off x="932688" y="3685032"/>
            <a:ext cx="0" cy="219456"/>
          </a:xfrm>
          <a:prstGeom prst="line">
            <a:avLst/>
          </a:prstGeom>
          <a:noFill/>
          <a:ln w="12700">
            <a:solidFill>
              <a:srgbClr val="C4A06D"/>
            </a:solidFill>
            <a:prstDash val="solid"/>
          </a:ln>
        </p:spPr>
      </p:sp>
      <p:sp>
        <p:nvSpPr>
          <p:cNvPr id="19" name="Text 17"/>
          <p:cNvSpPr/>
          <p:nvPr/>
        </p:nvSpPr>
        <p:spPr>
          <a:xfrm>
            <a:off x="1280160" y="3291840"/>
            <a:ext cx="731520" cy="457200"/>
          </a:xfrm>
          <a:prstGeom prst="rect">
            <a:avLst/>
          </a:prstGeom>
          <a:noFill/>
          <a:ln/>
        </p:spPr>
        <p:txBody>
          <a:bodyPr wrap="square" lIns="0" tIns="0" rIns="0" bIns="0" rtlCol="0" anchor="ctr"/>
          <a:lstStyle/>
          <a:p>
            <a:pPr indent="0" marL="0">
              <a:buNone/>
            </a:pPr>
            <a:r>
              <a:rPr lang="en-US" sz="1300" b="1" dirty="0">
                <a:solidFill>
                  <a:srgbClr val="F5F1E8"/>
                </a:solidFill>
                <a:latin typeface="BIZ UDPGothic" pitchFamily="34" charset="0"/>
                <a:ea typeface="BIZ UDPGothic" pitchFamily="34" charset="-122"/>
                <a:cs typeface="BIZ UDPGothic" pitchFamily="34" charset="-120"/>
              </a:rPr>
              <a:t>探索</a:t>
            </a:r>
            <a:endParaRPr lang="en-US" sz="1300" dirty="0"/>
          </a:p>
        </p:txBody>
      </p:sp>
      <p:sp>
        <p:nvSpPr>
          <p:cNvPr id="20" name="Text 18"/>
          <p:cNvSpPr/>
          <p:nvPr/>
        </p:nvSpPr>
        <p:spPr>
          <a:xfrm>
            <a:off x="2057400" y="3291840"/>
            <a:ext cx="1645920" cy="457200"/>
          </a:xfrm>
          <a:prstGeom prst="rect">
            <a:avLst/>
          </a:prstGeom>
          <a:noFill/>
          <a:ln/>
        </p:spPr>
        <p:txBody>
          <a:bodyPr wrap="square" lIns="0" tIns="0" rIns="0" bIns="0" rtlCol="0" anchor="ctr"/>
          <a:lstStyle/>
          <a:p>
            <a:pPr indent="0" marL="0">
              <a:buNone/>
            </a:pPr>
            <a:r>
              <a:rPr lang="en-US" sz="1150" dirty="0">
                <a:solidFill>
                  <a:srgbClr val="C9D3D9"/>
                </a:solidFill>
                <a:latin typeface="BIZ UDPGothic" pitchFamily="34" charset="0"/>
                <a:ea typeface="BIZ UDPGothic" pitchFamily="34" charset="-122"/>
                <a:cs typeface="BIZ UDPGothic" pitchFamily="34" charset="-120"/>
              </a:rPr>
              <a:t>仮説と反証</a:t>
            </a:r>
            <a:endParaRPr lang="en-US" sz="1150" dirty="0"/>
          </a:p>
        </p:txBody>
      </p:sp>
      <p:sp>
        <p:nvSpPr>
          <p:cNvPr id="21" name="Shape 19"/>
          <p:cNvSpPr/>
          <p:nvPr/>
        </p:nvSpPr>
        <p:spPr>
          <a:xfrm>
            <a:off x="3794760" y="3383280"/>
            <a:ext cx="685800" cy="274320"/>
          </a:xfrm>
          <a:prstGeom prst="roundRect">
            <a:avLst>
              <a:gd name="adj" fmla="val 50000"/>
            </a:avLst>
          </a:prstGeom>
          <a:solidFill>
            <a:srgbClr val="2E4C66"/>
          </a:solidFill>
          <a:ln/>
        </p:spPr>
      </p:sp>
      <p:sp>
        <p:nvSpPr>
          <p:cNvPr id="22" name="Text 20"/>
          <p:cNvSpPr/>
          <p:nvPr/>
        </p:nvSpPr>
        <p:spPr>
          <a:xfrm>
            <a:off x="3794760" y="3383280"/>
            <a:ext cx="685800" cy="274320"/>
          </a:xfrm>
          <a:prstGeom prst="rect">
            <a:avLst/>
          </a:prstGeom>
          <a:noFill/>
          <a:ln/>
        </p:spPr>
        <p:txBody>
          <a:bodyPr wrap="square" lIns="0" tIns="0" rIns="0" bIns="0" rtlCol="0" anchor="ctr"/>
          <a:lstStyle/>
          <a:p>
            <a:pPr algn="ctr" indent="0" marL="0">
              <a:buNone/>
            </a:pPr>
            <a:r>
              <a:rPr lang="en-US" sz="950" b="1" dirty="0">
                <a:solidFill>
                  <a:srgbClr val="F5F1E8"/>
                </a:solidFill>
                <a:latin typeface="BIZ UDPGothic" pitchFamily="34" charset="0"/>
                <a:ea typeface="BIZ UDPGothic" pitchFamily="34" charset="-122"/>
                <a:cs typeface="BIZ UDPGothic" pitchFamily="34" charset="-120"/>
              </a:rPr>
              <a:t>SUI</a:t>
            </a:r>
            <a:endParaRPr lang="en-US" sz="950" dirty="0"/>
          </a:p>
        </p:txBody>
      </p:sp>
      <p:sp>
        <p:nvSpPr>
          <p:cNvPr id="23" name="Shape 21"/>
          <p:cNvSpPr/>
          <p:nvPr/>
        </p:nvSpPr>
        <p:spPr>
          <a:xfrm>
            <a:off x="777240" y="3913632"/>
            <a:ext cx="310896" cy="310896"/>
          </a:xfrm>
          <a:prstGeom prst="ellipse">
            <a:avLst/>
          </a:prstGeom>
          <a:solidFill>
            <a:srgbClr val="C4A06D"/>
          </a:solidFill>
          <a:ln/>
        </p:spPr>
      </p:sp>
      <p:sp>
        <p:nvSpPr>
          <p:cNvPr id="24" name="Text 22"/>
          <p:cNvSpPr/>
          <p:nvPr/>
        </p:nvSpPr>
        <p:spPr>
          <a:xfrm>
            <a:off x="777240" y="3913632"/>
            <a:ext cx="310896" cy="310896"/>
          </a:xfrm>
          <a:prstGeom prst="rect">
            <a:avLst/>
          </a:prstGeom>
          <a:noFill/>
          <a:ln/>
        </p:spPr>
        <p:txBody>
          <a:bodyPr wrap="square" lIns="0" tIns="0" rIns="0" bIns="0" rtlCol="0" anchor="ctr"/>
          <a:lstStyle/>
          <a:p>
            <a:pPr algn="ctr" indent="0" marL="0">
              <a:buNone/>
            </a:pPr>
            <a:r>
              <a:rPr lang="en-US" sz="1000" b="1" dirty="0">
                <a:solidFill>
                  <a:srgbClr val="243D54"/>
                </a:solidFill>
                <a:latin typeface="BIZ UDPGothic" pitchFamily="34" charset="0"/>
                <a:ea typeface="BIZ UDPGothic" pitchFamily="34" charset="-122"/>
                <a:cs typeface="BIZ UDPGothic" pitchFamily="34" charset="-120"/>
              </a:rPr>
              <a:t>3</a:t>
            </a:r>
            <a:endParaRPr lang="en-US" sz="1000" dirty="0"/>
          </a:p>
        </p:txBody>
      </p:sp>
      <p:sp>
        <p:nvSpPr>
          <p:cNvPr id="25" name="Shape 23"/>
          <p:cNvSpPr/>
          <p:nvPr/>
        </p:nvSpPr>
        <p:spPr>
          <a:xfrm>
            <a:off x="932688" y="4233672"/>
            <a:ext cx="0" cy="219456"/>
          </a:xfrm>
          <a:prstGeom prst="line">
            <a:avLst/>
          </a:prstGeom>
          <a:noFill/>
          <a:ln w="12700">
            <a:solidFill>
              <a:srgbClr val="C4A06D"/>
            </a:solidFill>
            <a:prstDash val="solid"/>
          </a:ln>
        </p:spPr>
      </p:sp>
      <p:sp>
        <p:nvSpPr>
          <p:cNvPr id="26" name="Text 24"/>
          <p:cNvSpPr/>
          <p:nvPr/>
        </p:nvSpPr>
        <p:spPr>
          <a:xfrm>
            <a:off x="1280160" y="3840480"/>
            <a:ext cx="731520" cy="457200"/>
          </a:xfrm>
          <a:prstGeom prst="rect">
            <a:avLst/>
          </a:prstGeom>
          <a:noFill/>
          <a:ln/>
        </p:spPr>
        <p:txBody>
          <a:bodyPr wrap="square" lIns="0" tIns="0" rIns="0" bIns="0" rtlCol="0" anchor="ctr"/>
          <a:lstStyle/>
          <a:p>
            <a:pPr indent="0" marL="0">
              <a:buNone/>
            </a:pPr>
            <a:r>
              <a:rPr lang="en-US" sz="1300" b="1" dirty="0">
                <a:solidFill>
                  <a:srgbClr val="F5F1E8"/>
                </a:solidFill>
                <a:latin typeface="BIZ UDPGothic" pitchFamily="34" charset="0"/>
                <a:ea typeface="BIZ UDPGothic" pitchFamily="34" charset="-122"/>
                <a:cs typeface="BIZ UDPGothic" pitchFamily="34" charset="-120"/>
              </a:rPr>
              <a:t>判断</a:t>
            </a:r>
            <a:endParaRPr lang="en-US" sz="1300" dirty="0"/>
          </a:p>
        </p:txBody>
      </p:sp>
      <p:sp>
        <p:nvSpPr>
          <p:cNvPr id="27" name="Text 25"/>
          <p:cNvSpPr/>
          <p:nvPr/>
        </p:nvSpPr>
        <p:spPr>
          <a:xfrm>
            <a:off x="2057400" y="3840480"/>
            <a:ext cx="1645920" cy="457200"/>
          </a:xfrm>
          <a:prstGeom prst="rect">
            <a:avLst/>
          </a:prstGeom>
          <a:noFill/>
          <a:ln/>
        </p:spPr>
        <p:txBody>
          <a:bodyPr wrap="square" lIns="0" tIns="0" rIns="0" bIns="0" rtlCol="0" anchor="ctr"/>
          <a:lstStyle/>
          <a:p>
            <a:pPr indent="0" marL="0">
              <a:buNone/>
            </a:pPr>
            <a:r>
              <a:rPr lang="en-US" sz="1150" dirty="0">
                <a:solidFill>
                  <a:srgbClr val="C9D3D9"/>
                </a:solidFill>
                <a:latin typeface="BIZ UDPGothic" pitchFamily="34" charset="0"/>
                <a:ea typeface="BIZ UDPGothic" pitchFamily="34" charset="-122"/>
                <a:cs typeface="BIZ UDPGothic" pitchFamily="34" charset="-120"/>
              </a:rPr>
              <a:t>採否と未解決</a:t>
            </a:r>
            <a:endParaRPr lang="en-US" sz="1150" dirty="0"/>
          </a:p>
        </p:txBody>
      </p:sp>
      <p:sp>
        <p:nvSpPr>
          <p:cNvPr id="28" name="Shape 26"/>
          <p:cNvSpPr/>
          <p:nvPr/>
        </p:nvSpPr>
        <p:spPr>
          <a:xfrm>
            <a:off x="3794760" y="3931920"/>
            <a:ext cx="685800" cy="274320"/>
          </a:xfrm>
          <a:prstGeom prst="roundRect">
            <a:avLst>
              <a:gd name="adj" fmla="val 50000"/>
            </a:avLst>
          </a:prstGeom>
          <a:solidFill>
            <a:srgbClr val="2E4C66"/>
          </a:solidFill>
          <a:ln/>
        </p:spPr>
      </p:sp>
      <p:sp>
        <p:nvSpPr>
          <p:cNvPr id="29" name="Text 27"/>
          <p:cNvSpPr/>
          <p:nvPr/>
        </p:nvSpPr>
        <p:spPr>
          <a:xfrm>
            <a:off x="3794760" y="3931920"/>
            <a:ext cx="685800" cy="274320"/>
          </a:xfrm>
          <a:prstGeom prst="rect">
            <a:avLst/>
          </a:prstGeom>
          <a:noFill/>
          <a:ln/>
        </p:spPr>
        <p:txBody>
          <a:bodyPr wrap="square" lIns="0" tIns="0" rIns="0" bIns="0" rtlCol="0" anchor="ctr"/>
          <a:lstStyle/>
          <a:p>
            <a:pPr algn="ctr" indent="0" marL="0">
              <a:buNone/>
            </a:pPr>
            <a:r>
              <a:rPr lang="en-US" sz="950" b="1" dirty="0">
                <a:solidFill>
                  <a:srgbClr val="F5F1E8"/>
                </a:solidFill>
                <a:latin typeface="BIZ UDPGothic" pitchFamily="34" charset="0"/>
                <a:ea typeface="BIZ UDPGothic" pitchFamily="34" charset="-122"/>
                <a:cs typeface="BIZ UDPGothic" pitchFamily="34" charset="-120"/>
              </a:rPr>
              <a:t>SEI</a:t>
            </a:r>
            <a:endParaRPr lang="en-US" sz="950" dirty="0"/>
          </a:p>
        </p:txBody>
      </p:sp>
      <p:sp>
        <p:nvSpPr>
          <p:cNvPr id="30" name="Shape 28"/>
          <p:cNvSpPr/>
          <p:nvPr/>
        </p:nvSpPr>
        <p:spPr>
          <a:xfrm>
            <a:off x="777240" y="4462272"/>
            <a:ext cx="310896" cy="310896"/>
          </a:xfrm>
          <a:prstGeom prst="ellipse">
            <a:avLst/>
          </a:prstGeom>
          <a:solidFill>
            <a:srgbClr val="C4A06D"/>
          </a:solidFill>
          <a:ln/>
        </p:spPr>
      </p:sp>
      <p:sp>
        <p:nvSpPr>
          <p:cNvPr id="31" name="Text 29"/>
          <p:cNvSpPr/>
          <p:nvPr/>
        </p:nvSpPr>
        <p:spPr>
          <a:xfrm>
            <a:off x="777240" y="4462272"/>
            <a:ext cx="310896" cy="310896"/>
          </a:xfrm>
          <a:prstGeom prst="rect">
            <a:avLst/>
          </a:prstGeom>
          <a:noFill/>
          <a:ln/>
        </p:spPr>
        <p:txBody>
          <a:bodyPr wrap="square" lIns="0" tIns="0" rIns="0" bIns="0" rtlCol="0" anchor="ctr"/>
          <a:lstStyle/>
          <a:p>
            <a:pPr algn="ctr" indent="0" marL="0">
              <a:buNone/>
            </a:pPr>
            <a:r>
              <a:rPr lang="en-US" sz="1000" b="1" dirty="0">
                <a:solidFill>
                  <a:srgbClr val="243D54"/>
                </a:solidFill>
                <a:latin typeface="BIZ UDPGothic" pitchFamily="34" charset="0"/>
                <a:ea typeface="BIZ UDPGothic" pitchFamily="34" charset="-122"/>
                <a:cs typeface="BIZ UDPGothic" pitchFamily="34" charset="-120"/>
              </a:rPr>
              <a:t>4</a:t>
            </a:r>
            <a:endParaRPr lang="en-US" sz="1000" dirty="0"/>
          </a:p>
        </p:txBody>
      </p:sp>
      <p:sp>
        <p:nvSpPr>
          <p:cNvPr id="32" name="Shape 30"/>
          <p:cNvSpPr/>
          <p:nvPr/>
        </p:nvSpPr>
        <p:spPr>
          <a:xfrm>
            <a:off x="932688" y="4782312"/>
            <a:ext cx="0" cy="219456"/>
          </a:xfrm>
          <a:prstGeom prst="line">
            <a:avLst/>
          </a:prstGeom>
          <a:noFill/>
          <a:ln w="12700">
            <a:solidFill>
              <a:srgbClr val="C4A06D"/>
            </a:solidFill>
            <a:prstDash val="solid"/>
          </a:ln>
        </p:spPr>
      </p:sp>
      <p:sp>
        <p:nvSpPr>
          <p:cNvPr id="33" name="Text 31"/>
          <p:cNvSpPr/>
          <p:nvPr/>
        </p:nvSpPr>
        <p:spPr>
          <a:xfrm>
            <a:off x="1280160" y="4389120"/>
            <a:ext cx="731520" cy="457200"/>
          </a:xfrm>
          <a:prstGeom prst="rect">
            <a:avLst/>
          </a:prstGeom>
          <a:noFill/>
          <a:ln/>
        </p:spPr>
        <p:txBody>
          <a:bodyPr wrap="square" lIns="0" tIns="0" rIns="0" bIns="0" rtlCol="0" anchor="ctr"/>
          <a:lstStyle/>
          <a:p>
            <a:pPr indent="0" marL="0">
              <a:buNone/>
            </a:pPr>
            <a:r>
              <a:rPr lang="en-US" sz="1300" b="1" dirty="0">
                <a:solidFill>
                  <a:srgbClr val="F5F1E8"/>
                </a:solidFill>
                <a:latin typeface="BIZ UDPGothic" pitchFamily="34" charset="0"/>
                <a:ea typeface="BIZ UDPGothic" pitchFamily="34" charset="-122"/>
                <a:cs typeface="BIZ UDPGothic" pitchFamily="34" charset="-120"/>
              </a:rPr>
              <a:t>設計</a:t>
            </a:r>
            <a:endParaRPr lang="en-US" sz="1300" dirty="0"/>
          </a:p>
        </p:txBody>
      </p:sp>
      <p:sp>
        <p:nvSpPr>
          <p:cNvPr id="34" name="Text 32"/>
          <p:cNvSpPr/>
          <p:nvPr/>
        </p:nvSpPr>
        <p:spPr>
          <a:xfrm>
            <a:off x="2057400" y="4389120"/>
            <a:ext cx="1645920" cy="457200"/>
          </a:xfrm>
          <a:prstGeom prst="rect">
            <a:avLst/>
          </a:prstGeom>
          <a:noFill/>
          <a:ln/>
        </p:spPr>
        <p:txBody>
          <a:bodyPr wrap="square" lIns="0" tIns="0" rIns="0" bIns="0" rtlCol="0" anchor="ctr"/>
          <a:lstStyle/>
          <a:p>
            <a:pPr indent="0" marL="0">
              <a:buNone/>
            </a:pPr>
            <a:r>
              <a:rPr lang="en-US" sz="1150" dirty="0">
                <a:solidFill>
                  <a:srgbClr val="C9D3D9"/>
                </a:solidFill>
                <a:latin typeface="BIZ UDPGothic" pitchFamily="34" charset="0"/>
                <a:ea typeface="BIZ UDPGothic" pitchFamily="34" charset="-122"/>
                <a:cs typeface="BIZ UDPGothic" pitchFamily="34" charset="-120"/>
              </a:rPr>
              <a:t>検証の手順</a:t>
            </a:r>
            <a:endParaRPr lang="en-US" sz="1150" dirty="0"/>
          </a:p>
        </p:txBody>
      </p:sp>
      <p:sp>
        <p:nvSpPr>
          <p:cNvPr id="35" name="Shape 33"/>
          <p:cNvSpPr/>
          <p:nvPr/>
        </p:nvSpPr>
        <p:spPr>
          <a:xfrm>
            <a:off x="3794760" y="4480560"/>
            <a:ext cx="685800" cy="274320"/>
          </a:xfrm>
          <a:prstGeom prst="roundRect">
            <a:avLst>
              <a:gd name="adj" fmla="val 50000"/>
            </a:avLst>
          </a:prstGeom>
          <a:solidFill>
            <a:srgbClr val="2E4C66"/>
          </a:solidFill>
          <a:ln/>
        </p:spPr>
      </p:sp>
      <p:sp>
        <p:nvSpPr>
          <p:cNvPr id="36" name="Text 34"/>
          <p:cNvSpPr/>
          <p:nvPr/>
        </p:nvSpPr>
        <p:spPr>
          <a:xfrm>
            <a:off x="3794760" y="4480560"/>
            <a:ext cx="685800" cy="274320"/>
          </a:xfrm>
          <a:prstGeom prst="rect">
            <a:avLst/>
          </a:prstGeom>
          <a:noFill/>
          <a:ln/>
        </p:spPr>
        <p:txBody>
          <a:bodyPr wrap="square" lIns="0" tIns="0" rIns="0" bIns="0" rtlCol="0" anchor="ctr"/>
          <a:lstStyle/>
          <a:p>
            <a:pPr algn="ctr" indent="0" marL="0">
              <a:buNone/>
            </a:pPr>
            <a:r>
              <a:rPr lang="en-US" sz="950" b="1" dirty="0">
                <a:solidFill>
                  <a:srgbClr val="F5F1E8"/>
                </a:solidFill>
                <a:latin typeface="BIZ UDPGothic" pitchFamily="34" charset="0"/>
                <a:ea typeface="BIZ UDPGothic" pitchFamily="34" charset="-122"/>
                <a:cs typeface="BIZ UDPGothic" pitchFamily="34" charset="-120"/>
              </a:rPr>
              <a:t>TEI</a:t>
            </a:r>
            <a:endParaRPr lang="en-US" sz="950" dirty="0"/>
          </a:p>
        </p:txBody>
      </p:sp>
      <p:sp>
        <p:nvSpPr>
          <p:cNvPr id="37" name="Shape 35"/>
          <p:cNvSpPr/>
          <p:nvPr/>
        </p:nvSpPr>
        <p:spPr>
          <a:xfrm>
            <a:off x="777240" y="5010912"/>
            <a:ext cx="310896" cy="310896"/>
          </a:xfrm>
          <a:prstGeom prst="ellipse">
            <a:avLst/>
          </a:prstGeom>
          <a:solidFill>
            <a:srgbClr val="C4A06D"/>
          </a:solidFill>
          <a:ln/>
        </p:spPr>
      </p:sp>
      <p:sp>
        <p:nvSpPr>
          <p:cNvPr id="38" name="Text 36"/>
          <p:cNvSpPr/>
          <p:nvPr/>
        </p:nvSpPr>
        <p:spPr>
          <a:xfrm>
            <a:off x="777240" y="5010912"/>
            <a:ext cx="310896" cy="310896"/>
          </a:xfrm>
          <a:prstGeom prst="rect">
            <a:avLst/>
          </a:prstGeom>
          <a:noFill/>
          <a:ln/>
        </p:spPr>
        <p:txBody>
          <a:bodyPr wrap="square" lIns="0" tIns="0" rIns="0" bIns="0" rtlCol="0" anchor="ctr"/>
          <a:lstStyle/>
          <a:p>
            <a:pPr algn="ctr" indent="0" marL="0">
              <a:buNone/>
            </a:pPr>
            <a:r>
              <a:rPr lang="en-US" sz="1000" b="1" dirty="0">
                <a:solidFill>
                  <a:srgbClr val="243D54"/>
                </a:solidFill>
                <a:latin typeface="BIZ UDPGothic" pitchFamily="34" charset="0"/>
                <a:ea typeface="BIZ UDPGothic" pitchFamily="34" charset="-122"/>
                <a:cs typeface="BIZ UDPGothic" pitchFamily="34" charset="-120"/>
              </a:rPr>
              <a:t>5</a:t>
            </a:r>
            <a:endParaRPr lang="en-US" sz="1000" dirty="0"/>
          </a:p>
        </p:txBody>
      </p:sp>
      <p:sp>
        <p:nvSpPr>
          <p:cNvPr id="39" name="Shape 37"/>
          <p:cNvSpPr/>
          <p:nvPr/>
        </p:nvSpPr>
        <p:spPr>
          <a:xfrm>
            <a:off x="932688" y="5330952"/>
            <a:ext cx="0" cy="219456"/>
          </a:xfrm>
          <a:prstGeom prst="line">
            <a:avLst/>
          </a:prstGeom>
          <a:noFill/>
          <a:ln w="12700">
            <a:solidFill>
              <a:srgbClr val="C4A06D"/>
            </a:solidFill>
            <a:prstDash val="solid"/>
          </a:ln>
        </p:spPr>
      </p:sp>
      <p:sp>
        <p:nvSpPr>
          <p:cNvPr id="40" name="Text 38"/>
          <p:cNvSpPr/>
          <p:nvPr/>
        </p:nvSpPr>
        <p:spPr>
          <a:xfrm>
            <a:off x="1280160" y="4937760"/>
            <a:ext cx="731520" cy="457200"/>
          </a:xfrm>
          <a:prstGeom prst="rect">
            <a:avLst/>
          </a:prstGeom>
          <a:noFill/>
          <a:ln/>
        </p:spPr>
        <p:txBody>
          <a:bodyPr wrap="square" lIns="0" tIns="0" rIns="0" bIns="0" rtlCol="0" anchor="ctr"/>
          <a:lstStyle/>
          <a:p>
            <a:pPr indent="0" marL="0">
              <a:buNone/>
            </a:pPr>
            <a:r>
              <a:rPr lang="en-US" sz="1300" b="1" dirty="0">
                <a:solidFill>
                  <a:srgbClr val="F5F1E8"/>
                </a:solidFill>
                <a:latin typeface="BIZ UDPGothic" pitchFamily="34" charset="0"/>
                <a:ea typeface="BIZ UDPGothic" pitchFamily="34" charset="-122"/>
                <a:cs typeface="BIZ UDPGothic" pitchFamily="34" charset="-120"/>
              </a:rPr>
              <a:t>実施</a:t>
            </a:r>
            <a:endParaRPr lang="en-US" sz="1300" dirty="0"/>
          </a:p>
        </p:txBody>
      </p:sp>
      <p:sp>
        <p:nvSpPr>
          <p:cNvPr id="41" name="Text 39"/>
          <p:cNvSpPr/>
          <p:nvPr/>
        </p:nvSpPr>
        <p:spPr>
          <a:xfrm>
            <a:off x="2057400" y="4937760"/>
            <a:ext cx="1645920" cy="457200"/>
          </a:xfrm>
          <a:prstGeom prst="rect">
            <a:avLst/>
          </a:prstGeom>
          <a:noFill/>
          <a:ln/>
        </p:spPr>
        <p:txBody>
          <a:bodyPr wrap="square" lIns="0" tIns="0" rIns="0" bIns="0" rtlCol="0" anchor="ctr"/>
          <a:lstStyle/>
          <a:p>
            <a:pPr indent="0" marL="0">
              <a:buNone/>
            </a:pPr>
            <a:r>
              <a:rPr lang="en-US" sz="1150" dirty="0">
                <a:solidFill>
                  <a:srgbClr val="C9D3D9"/>
                </a:solidFill>
                <a:latin typeface="BIZ UDPGothic" pitchFamily="34" charset="0"/>
                <a:ea typeface="BIZ UDPGothic" pitchFamily="34" charset="-122"/>
                <a:cs typeface="BIZ UDPGothic" pitchFamily="34" charset="-120"/>
              </a:rPr>
              <a:t>許可した計算</a:t>
            </a:r>
            <a:endParaRPr lang="en-US" sz="1150" dirty="0"/>
          </a:p>
        </p:txBody>
      </p:sp>
      <p:sp>
        <p:nvSpPr>
          <p:cNvPr id="42" name="Shape 40"/>
          <p:cNvSpPr/>
          <p:nvPr/>
        </p:nvSpPr>
        <p:spPr>
          <a:xfrm>
            <a:off x="3794760" y="5029200"/>
            <a:ext cx="685800" cy="274320"/>
          </a:xfrm>
          <a:prstGeom prst="roundRect">
            <a:avLst>
              <a:gd name="adj" fmla="val 50000"/>
            </a:avLst>
          </a:prstGeom>
          <a:solidFill>
            <a:srgbClr val="2E4C66"/>
          </a:solidFill>
          <a:ln/>
        </p:spPr>
      </p:sp>
      <p:sp>
        <p:nvSpPr>
          <p:cNvPr id="43" name="Text 41"/>
          <p:cNvSpPr/>
          <p:nvPr/>
        </p:nvSpPr>
        <p:spPr>
          <a:xfrm>
            <a:off x="3794760" y="5029200"/>
            <a:ext cx="685800" cy="274320"/>
          </a:xfrm>
          <a:prstGeom prst="rect">
            <a:avLst/>
          </a:prstGeom>
          <a:noFill/>
          <a:ln/>
        </p:spPr>
        <p:txBody>
          <a:bodyPr wrap="square" lIns="0" tIns="0" rIns="0" bIns="0" rtlCol="0" anchor="ctr"/>
          <a:lstStyle/>
          <a:p>
            <a:pPr algn="ctr" indent="0" marL="0">
              <a:buNone/>
            </a:pPr>
            <a:r>
              <a:rPr lang="en-US" sz="950" b="1" dirty="0">
                <a:solidFill>
                  <a:srgbClr val="F5F1E8"/>
                </a:solidFill>
                <a:latin typeface="BIZ UDPGothic" pitchFamily="34" charset="0"/>
                <a:ea typeface="BIZ UDPGothic" pitchFamily="34" charset="-122"/>
                <a:cs typeface="BIZ UDPGothic" pitchFamily="34" charset="-120"/>
              </a:rPr>
              <a:t>EKI</a:t>
            </a:r>
            <a:endParaRPr lang="en-US" sz="950" dirty="0"/>
          </a:p>
        </p:txBody>
      </p:sp>
      <p:sp>
        <p:nvSpPr>
          <p:cNvPr id="44" name="Shape 42"/>
          <p:cNvSpPr/>
          <p:nvPr/>
        </p:nvSpPr>
        <p:spPr>
          <a:xfrm>
            <a:off x="777240" y="5559552"/>
            <a:ext cx="310896" cy="310896"/>
          </a:xfrm>
          <a:prstGeom prst="ellipse">
            <a:avLst/>
          </a:prstGeom>
          <a:solidFill>
            <a:srgbClr val="C4A06D"/>
          </a:solidFill>
          <a:ln/>
        </p:spPr>
      </p:sp>
      <p:sp>
        <p:nvSpPr>
          <p:cNvPr id="45" name="Text 43"/>
          <p:cNvSpPr/>
          <p:nvPr/>
        </p:nvSpPr>
        <p:spPr>
          <a:xfrm>
            <a:off x="777240" y="5559552"/>
            <a:ext cx="310896" cy="310896"/>
          </a:xfrm>
          <a:prstGeom prst="rect">
            <a:avLst/>
          </a:prstGeom>
          <a:noFill/>
          <a:ln/>
        </p:spPr>
        <p:txBody>
          <a:bodyPr wrap="square" lIns="0" tIns="0" rIns="0" bIns="0" rtlCol="0" anchor="ctr"/>
          <a:lstStyle/>
          <a:p>
            <a:pPr algn="ctr" indent="0" marL="0">
              <a:buNone/>
            </a:pPr>
            <a:r>
              <a:rPr lang="en-US" sz="1000" b="1" dirty="0">
                <a:solidFill>
                  <a:srgbClr val="243D54"/>
                </a:solidFill>
                <a:latin typeface="BIZ UDPGothic" pitchFamily="34" charset="0"/>
                <a:ea typeface="BIZ UDPGothic" pitchFamily="34" charset="-122"/>
                <a:cs typeface="BIZ UDPGothic" pitchFamily="34" charset="-120"/>
              </a:rPr>
              <a:t>6</a:t>
            </a:r>
            <a:endParaRPr lang="en-US" sz="1000" dirty="0"/>
          </a:p>
        </p:txBody>
      </p:sp>
      <p:sp>
        <p:nvSpPr>
          <p:cNvPr id="46" name="Text 44"/>
          <p:cNvSpPr/>
          <p:nvPr/>
        </p:nvSpPr>
        <p:spPr>
          <a:xfrm>
            <a:off x="1280160" y="5486400"/>
            <a:ext cx="731520" cy="457200"/>
          </a:xfrm>
          <a:prstGeom prst="rect">
            <a:avLst/>
          </a:prstGeom>
          <a:noFill/>
          <a:ln/>
        </p:spPr>
        <p:txBody>
          <a:bodyPr wrap="square" lIns="0" tIns="0" rIns="0" bIns="0" rtlCol="0" anchor="ctr"/>
          <a:lstStyle/>
          <a:p>
            <a:pPr indent="0" marL="0">
              <a:buNone/>
            </a:pPr>
            <a:r>
              <a:rPr lang="en-US" sz="1300" b="1" dirty="0">
                <a:solidFill>
                  <a:srgbClr val="F5F1E8"/>
                </a:solidFill>
                <a:latin typeface="BIZ UDPGothic" pitchFamily="34" charset="0"/>
                <a:ea typeface="BIZ UDPGothic" pitchFamily="34" charset="-122"/>
                <a:cs typeface="BIZ UDPGothic" pitchFamily="34" charset="-120"/>
              </a:rPr>
              <a:t>再開</a:t>
            </a:r>
            <a:endParaRPr lang="en-US" sz="1300" dirty="0"/>
          </a:p>
        </p:txBody>
      </p:sp>
      <p:sp>
        <p:nvSpPr>
          <p:cNvPr id="47" name="Text 45"/>
          <p:cNvSpPr/>
          <p:nvPr/>
        </p:nvSpPr>
        <p:spPr>
          <a:xfrm>
            <a:off x="2057400" y="5486400"/>
            <a:ext cx="1645920" cy="457200"/>
          </a:xfrm>
          <a:prstGeom prst="rect">
            <a:avLst/>
          </a:prstGeom>
          <a:noFill/>
          <a:ln/>
        </p:spPr>
        <p:txBody>
          <a:bodyPr wrap="square" lIns="0" tIns="0" rIns="0" bIns="0" rtlCol="0" anchor="ctr"/>
          <a:lstStyle/>
          <a:p>
            <a:pPr indent="0" marL="0">
              <a:buNone/>
            </a:pPr>
            <a:r>
              <a:rPr lang="en-US" sz="1150" dirty="0">
                <a:solidFill>
                  <a:srgbClr val="C9D3D9"/>
                </a:solidFill>
                <a:latin typeface="BIZ UDPGothic" pitchFamily="34" charset="0"/>
                <a:ea typeface="BIZ UDPGothic" pitchFamily="34" charset="-122"/>
                <a:cs typeface="BIZ UDPGothic" pitchFamily="34" charset="-120"/>
              </a:rPr>
              <a:t>別のAIで続ける</a:t>
            </a:r>
            <a:endParaRPr lang="en-US" sz="1150" dirty="0"/>
          </a:p>
        </p:txBody>
      </p:sp>
      <p:sp>
        <p:nvSpPr>
          <p:cNvPr id="48" name="Shape 46"/>
          <p:cNvSpPr/>
          <p:nvPr/>
        </p:nvSpPr>
        <p:spPr>
          <a:xfrm>
            <a:off x="3794760" y="5577840"/>
            <a:ext cx="685800" cy="274320"/>
          </a:xfrm>
          <a:prstGeom prst="roundRect">
            <a:avLst>
              <a:gd name="adj" fmla="val 50000"/>
            </a:avLst>
          </a:prstGeom>
          <a:solidFill>
            <a:srgbClr val="2E4C66"/>
          </a:solidFill>
          <a:ln/>
        </p:spPr>
      </p:sp>
      <p:sp>
        <p:nvSpPr>
          <p:cNvPr id="49" name="Text 47"/>
          <p:cNvSpPr/>
          <p:nvPr/>
        </p:nvSpPr>
        <p:spPr>
          <a:xfrm>
            <a:off x="3794760" y="5577840"/>
            <a:ext cx="685800" cy="274320"/>
          </a:xfrm>
          <a:prstGeom prst="rect">
            <a:avLst/>
          </a:prstGeom>
          <a:noFill/>
          <a:ln/>
        </p:spPr>
        <p:txBody>
          <a:bodyPr wrap="square" lIns="0" tIns="0" rIns="0" bIns="0" rtlCol="0" anchor="ctr"/>
          <a:lstStyle/>
          <a:p>
            <a:pPr algn="ctr" indent="0" marL="0">
              <a:buNone/>
            </a:pPr>
            <a:r>
              <a:rPr lang="en-US" sz="950" b="1" dirty="0">
                <a:solidFill>
                  <a:srgbClr val="F5F1E8"/>
                </a:solidFill>
                <a:latin typeface="BIZ UDPGothic" pitchFamily="34" charset="0"/>
                <a:ea typeface="BIZ UDPGothic" pitchFamily="34" charset="-122"/>
                <a:cs typeface="BIZ UDPGothic" pitchFamily="34" charset="-120"/>
              </a:rPr>
              <a:t>TAI</a:t>
            </a:r>
            <a:endParaRPr lang="en-US" sz="950" dirty="0"/>
          </a:p>
        </p:txBody>
      </p:sp>
      <p:sp>
        <p:nvSpPr>
          <p:cNvPr id="50" name="Text 48"/>
          <p:cNvSpPr/>
          <p:nvPr/>
        </p:nvSpPr>
        <p:spPr>
          <a:xfrm>
            <a:off x="4983480" y="1600200"/>
            <a:ext cx="6705295" cy="320040"/>
          </a:xfrm>
          <a:prstGeom prst="rect">
            <a:avLst/>
          </a:prstGeom>
          <a:noFill/>
          <a:ln/>
        </p:spPr>
        <p:txBody>
          <a:bodyPr wrap="square" lIns="0" tIns="0" rIns="0" bIns="0" rtlCol="0" anchor="t"/>
          <a:lstStyle/>
          <a:p>
            <a:pPr indent="0" marL="0">
              <a:buNone/>
            </a:pPr>
            <a:r>
              <a:rPr lang="en-US" sz="1350" b="1" dirty="0">
                <a:solidFill>
                  <a:srgbClr val="243D54"/>
                </a:solidFill>
                <a:latin typeface="BIZ UDPGothic" pitchFamily="34" charset="0"/>
                <a:ea typeface="BIZ UDPGothic" pitchFamily="34" charset="-122"/>
                <a:cs typeface="BIZ UDPGothic" pitchFamily="34" charset="-120"/>
              </a:rPr>
              <a:t>社会｜地域の防災情報を共同で整える（架空の例）</a:t>
            </a:r>
            <a:endParaRPr lang="en-US" sz="1350" dirty="0"/>
          </a:p>
        </p:txBody>
      </p:sp>
      <p:sp>
        <p:nvSpPr>
          <p:cNvPr id="51" name="Text 49"/>
          <p:cNvSpPr/>
          <p:nvPr/>
        </p:nvSpPr>
        <p:spPr>
          <a:xfrm>
            <a:off x="4983480" y="1920240"/>
            <a:ext cx="6705295" cy="274320"/>
          </a:xfrm>
          <a:prstGeom prst="rect">
            <a:avLst/>
          </a:prstGeom>
          <a:noFill/>
          <a:ln/>
        </p:spPr>
        <p:txBody>
          <a:bodyPr wrap="square" lIns="0" tIns="0" rIns="0" bIns="0" rtlCol="0" anchor="t"/>
          <a:lstStyle/>
          <a:p>
            <a:pPr indent="0" marL="0">
              <a:buNone/>
            </a:pPr>
            <a:r>
              <a:rPr lang="en-US" sz="1100" dirty="0">
                <a:solidFill>
                  <a:srgbClr val="56636E"/>
                </a:solidFill>
                <a:latin typeface="BIZ UDPGothic" pitchFamily="34" charset="0"/>
                <a:ea typeface="BIZ UDPGothic" pitchFamily="34" charset="-122"/>
                <a:cs typeface="BIZ UDPGothic" pitchFamily="34" charset="-120"/>
              </a:rPr>
              <a:t>正確さだけでなく、参加者の権利と公開の根拠も要る。</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983480" y="2286000"/>
          <a:ext cx="6705295" cy="914400"/>
        </p:xfrm>
        <a:graphic>
          <a:graphicData uri="http://schemas.openxmlformats.org/drawingml/2006/table">
            <a:tbl>
              <a:tblPr/>
              <a:tblGrid>
                <a:gridCol w="1325880"/>
                <a:gridCol w="2377440"/>
                <a:gridCol w="3001975"/>
              </a:tblGrid>
              <a:tr h="365760">
                <a:tc>
                  <a:txBody>
                    <a:bodyPr/>
                    <a:lstStyle/>
                    <a:p>
                      <a:pPr indent="0" marL="0">
                        <a:buNone/>
                      </a:pPr>
                      <a:r>
                        <a:rPr lang="en-US" sz="1050" b="1" dirty="0">
                          <a:solidFill>
                            <a:srgbClr val="F5F1E8"/>
                          </a:solidFill>
                          <a:latin typeface="BIZ UDPGothic" pitchFamily="34" charset="0"/>
                          <a:ea typeface="BIZ UDPGothic" pitchFamily="34" charset="-122"/>
                          <a:cs typeface="BIZ UDPGothic" pitchFamily="34" charset="-120"/>
                        </a:rPr>
                        <a:t>局面</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243D54"/>
                    </a:solidFill>
                  </a:tcPr>
                </a:tc>
                <a:tc>
                  <a:txBody>
                    <a:bodyPr/>
                    <a:lstStyle/>
                    <a:p>
                      <a:pPr indent="0" marL="0">
                        <a:buNone/>
                      </a:pPr>
                      <a:r>
                        <a:rPr lang="en-US" sz="1050" b="1" dirty="0">
                          <a:solidFill>
                            <a:srgbClr val="F5F1E8"/>
                          </a:solidFill>
                          <a:latin typeface="BIZ UDPGothic" pitchFamily="34" charset="0"/>
                          <a:ea typeface="BIZ UDPGothic" pitchFamily="34" charset="-122"/>
                          <a:cs typeface="BIZ UDPGothic" pitchFamily="34" charset="-120"/>
                        </a:rPr>
                        <a:t>関係する主体</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243D54"/>
                    </a:solidFill>
                  </a:tcPr>
                </a:tc>
                <a:tc>
                  <a:txBody>
                    <a:bodyPr/>
                    <a:lstStyle/>
                    <a:p>
                      <a:pPr indent="0" marL="0">
                        <a:buNone/>
                      </a:pPr>
                      <a:r>
                        <a:rPr lang="en-US" sz="1050" b="1" dirty="0">
                          <a:solidFill>
                            <a:srgbClr val="F5F1E8"/>
                          </a:solidFill>
                          <a:latin typeface="BIZ UDPGothic" pitchFamily="34" charset="0"/>
                          <a:ea typeface="BIZ UDPGothic" pitchFamily="34" charset="-122"/>
                          <a:cs typeface="BIZ UDPGothic" pitchFamily="34" charset="-120"/>
                        </a:rPr>
                        <a:t>確かめる境界</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243D54"/>
                    </a:solidFill>
                  </a:tcPr>
                </a:tc>
              </a:tr>
              <a:tr h="749808">
                <a:tc>
                  <a:txBody>
                    <a:bodyPr/>
                    <a:lstStyle/>
                    <a:p>
                      <a:pPr indent="0" marL="0">
                        <a:buNone/>
                      </a:pPr>
                      <a:r>
                        <a:rPr lang="en-US" sz="1150" b="1" dirty="0">
                          <a:solidFill>
                            <a:srgbClr val="243D54"/>
                          </a:solidFill>
                          <a:latin typeface="BIZ UDPGothic" pitchFamily="34" charset="0"/>
                          <a:ea typeface="BIZ UDPGothic" pitchFamily="34" charset="-122"/>
                          <a:cs typeface="BIZ UDPGothic" pitchFamily="34" charset="-120"/>
                        </a:rPr>
                        <a:t>資料の確認</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住民・専門家・自治体など</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公開できる資料と個人情報を分ける</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749808">
                <a:tc>
                  <a:txBody>
                    <a:bodyPr/>
                    <a:lstStyle/>
                    <a:p>
                      <a:pPr indent="0" marL="0">
                        <a:buNone/>
                      </a:pPr>
                      <a:r>
                        <a:rPr lang="en-US" sz="1150" b="1" dirty="0">
                          <a:solidFill>
                            <a:srgbClr val="243D54"/>
                          </a:solidFill>
                          <a:latin typeface="BIZ UDPGothic" pitchFamily="34" charset="0"/>
                          <a:ea typeface="BIZ UDPGothic" pitchFamily="34" charset="-122"/>
                          <a:cs typeface="BIZ UDPGothic" pitchFamily="34" charset="-120"/>
                        </a:rPr>
                        <a:t>意味の整理</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異なる経験を持つ参加者</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少数の見方・反証・未確認を残す</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r h="749808">
                <a:tc>
                  <a:txBody>
                    <a:bodyPr/>
                    <a:lstStyle/>
                    <a:p>
                      <a:pPr indent="0" marL="0">
                        <a:buNone/>
                      </a:pPr>
                      <a:r>
                        <a:rPr lang="en-US" sz="1150" b="1" dirty="0">
                          <a:solidFill>
                            <a:srgbClr val="243D54"/>
                          </a:solidFill>
                          <a:latin typeface="BIZ UDPGothic" pitchFamily="34" charset="0"/>
                          <a:ea typeface="BIZ UDPGothic" pitchFamily="34" charset="-122"/>
                          <a:cs typeface="BIZ UDPGothic" pitchFamily="34" charset="-120"/>
                        </a:rPr>
                        <a:t>提案と決定</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担当機関・正当な権限者</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AIの案と公的な決定を区別する</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749808">
                <a:tc>
                  <a:txBody>
                    <a:bodyPr/>
                    <a:lstStyle/>
                    <a:p>
                      <a:pPr indent="0" marL="0">
                        <a:buNone/>
                      </a:pPr>
                      <a:r>
                        <a:rPr lang="en-US" sz="1150" b="1" dirty="0">
                          <a:solidFill>
                            <a:srgbClr val="243D54"/>
                          </a:solidFill>
                          <a:latin typeface="BIZ UDPGothic" pitchFamily="34" charset="0"/>
                          <a:ea typeface="BIZ UDPGothic" pitchFamily="34" charset="-122"/>
                          <a:cs typeface="BIZ UDPGothic" pitchFamily="34" charset="-120"/>
                        </a:rPr>
                        <a:t>実行と公表</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実施機関・情報提供者</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公開権限・配布先・結果の観測を確認</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r h="749808">
                <a:tc>
                  <a:txBody>
                    <a:bodyPr/>
                    <a:lstStyle/>
                    <a:p>
                      <a:pPr indent="0" marL="0">
                        <a:buNone/>
                      </a:pPr>
                      <a:r>
                        <a:rPr lang="en-US" sz="1150" b="1" dirty="0">
                          <a:solidFill>
                            <a:srgbClr val="243D54"/>
                          </a:solidFill>
                          <a:latin typeface="BIZ UDPGothic" pitchFamily="34" charset="0"/>
                          <a:ea typeface="BIZ UDPGothic" pitchFamily="34" charset="-122"/>
                          <a:cs typeface="BIZ UDPGothic" pitchFamily="34" charset="-120"/>
                        </a:rPr>
                        <a:t>見直し</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影響を受ける人々</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訂正・異議・更新の窓口を残す</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274320"/>
            <a:ext cx="1118585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05  社会的な意義</a:t>
            </a:r>
            <a:endParaRPr lang="en-US" sz="950" dirty="0"/>
          </a:p>
        </p:txBody>
      </p:sp>
      <p:sp>
        <p:nvSpPr>
          <p:cNvPr id="3" name="Text 1"/>
          <p:cNvSpPr/>
          <p:nvPr/>
        </p:nvSpPr>
        <p:spPr>
          <a:xfrm>
            <a:off x="502920" y="530352"/>
            <a:ext cx="1118585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協働を、説明できるものにする</a:t>
            </a:r>
            <a:endParaRPr lang="en-US" sz="2500" dirty="0"/>
          </a:p>
        </p:txBody>
      </p:sp>
      <p:sp>
        <p:nvSpPr>
          <p:cNvPr id="4" name="Text 2"/>
          <p:cNvSpPr/>
          <p:nvPr/>
        </p:nvSpPr>
        <p:spPr>
          <a:xfrm>
            <a:off x="502920" y="1097280"/>
            <a:ext cx="1118585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個人の知識を守ること、組織が責任を分けること、社会で異なる人が協力することは地続き。</a:t>
            </a:r>
            <a:endParaRPr lang="en-US" sz="1300" dirty="0"/>
          </a:p>
        </p:txBody>
      </p:sp>
      <p:sp>
        <p:nvSpPr>
          <p:cNvPr id="5" name="Text 3"/>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24</a:t>
            </a:r>
            <a:endParaRPr lang="en-US" sz="1000" dirty="0"/>
          </a:p>
        </p:txBody>
      </p:sp>
      <p:sp>
        <p:nvSpPr>
          <p:cNvPr id="6" name="Shape 4"/>
          <p:cNvSpPr/>
          <p:nvPr/>
        </p:nvSpPr>
        <p:spPr>
          <a:xfrm>
            <a:off x="502920" y="1627632"/>
            <a:ext cx="2331720" cy="1463040"/>
          </a:xfrm>
          <a:prstGeom prst="rect">
            <a:avLst/>
          </a:prstGeom>
          <a:solidFill>
            <a:srgbClr val="243D54"/>
          </a:solidFill>
          <a:ln/>
        </p:spPr>
      </p:sp>
      <p:sp>
        <p:nvSpPr>
          <p:cNvPr id="7" name="Text 5"/>
          <p:cNvSpPr/>
          <p:nvPr/>
        </p:nvSpPr>
        <p:spPr>
          <a:xfrm>
            <a:off x="685800" y="1764792"/>
            <a:ext cx="548640" cy="274320"/>
          </a:xfrm>
          <a:prstGeom prst="rect">
            <a:avLst/>
          </a:prstGeom>
          <a:noFill/>
          <a:ln/>
        </p:spPr>
        <p:txBody>
          <a:bodyPr wrap="square" lIns="0" tIns="0" rIns="0" bIns="0" rtlCol="0" anchor="t"/>
          <a:lstStyle/>
          <a:p>
            <a:pPr indent="0" marL="0">
              <a:buNone/>
            </a:pPr>
            <a:r>
              <a:rPr lang="en-US" sz="1200" b="1" dirty="0">
                <a:solidFill>
                  <a:srgbClr val="C4A06D"/>
                </a:solidFill>
                <a:latin typeface="Georgia" pitchFamily="34" charset="0"/>
                <a:ea typeface="Georgia" pitchFamily="34" charset="-122"/>
                <a:cs typeface="Georgia" pitchFamily="34" charset="-120"/>
              </a:rPr>
              <a:t>01</a:t>
            </a:r>
            <a:endParaRPr lang="en-US" sz="1200" dirty="0"/>
          </a:p>
        </p:txBody>
      </p:sp>
      <p:sp>
        <p:nvSpPr>
          <p:cNvPr id="8" name="Text 6"/>
          <p:cNvSpPr/>
          <p:nvPr/>
        </p:nvSpPr>
        <p:spPr>
          <a:xfrm>
            <a:off x="1737360" y="1764792"/>
            <a:ext cx="914400" cy="274320"/>
          </a:xfrm>
          <a:prstGeom prst="rect">
            <a:avLst/>
          </a:prstGeom>
          <a:noFill/>
          <a:ln/>
        </p:spPr>
        <p:txBody>
          <a:bodyPr wrap="square" lIns="0" tIns="0" rIns="0" bIns="0" rtlCol="0" anchor="t"/>
          <a:lstStyle/>
          <a:p>
            <a:pPr algn="r" indent="0" marL="0">
              <a:buNone/>
            </a:pPr>
            <a:r>
              <a:rPr lang="en-US" sz="950" b="1" dirty="0">
                <a:solidFill>
                  <a:srgbClr val="A7B7A7"/>
                </a:solidFill>
                <a:latin typeface="BIZ UDPGothic" pitchFamily="34" charset="0"/>
                <a:ea typeface="BIZ UDPGothic" pitchFamily="34" charset="-122"/>
                <a:cs typeface="BIZ UDPGothic" pitchFamily="34" charset="-120"/>
              </a:rPr>
              <a:t>SEI・TEI</a:t>
            </a:r>
            <a:endParaRPr lang="en-US" sz="950" dirty="0"/>
          </a:p>
        </p:txBody>
      </p:sp>
      <p:sp>
        <p:nvSpPr>
          <p:cNvPr id="9" name="Text 7"/>
          <p:cNvSpPr/>
          <p:nvPr/>
        </p:nvSpPr>
        <p:spPr>
          <a:xfrm>
            <a:off x="685800" y="2039112"/>
            <a:ext cx="2011680" cy="347472"/>
          </a:xfrm>
          <a:prstGeom prst="rect">
            <a:avLst/>
          </a:prstGeom>
          <a:noFill/>
          <a:ln/>
        </p:spPr>
        <p:txBody>
          <a:bodyPr wrap="square" lIns="0" tIns="0" rIns="0" bIns="0" rtlCol="0" anchor="t"/>
          <a:lstStyle/>
          <a:p>
            <a:pPr indent="0" marL="0">
              <a:buNone/>
            </a:pPr>
            <a:r>
              <a:rPr lang="en-US" sz="1500" b="1" dirty="0">
                <a:solidFill>
                  <a:srgbClr val="F5F1E8"/>
                </a:solidFill>
                <a:latin typeface="BIZ UDPGothic" pitchFamily="34" charset="0"/>
                <a:ea typeface="BIZ UDPGothic" pitchFamily="34" charset="-122"/>
                <a:cs typeface="BIZ UDPGothic" pitchFamily="34" charset="-120"/>
              </a:rPr>
              <a:t>知識の継承</a:t>
            </a:r>
            <a:endParaRPr lang="en-US" sz="1500" dirty="0"/>
          </a:p>
        </p:txBody>
      </p:sp>
      <p:sp>
        <p:nvSpPr>
          <p:cNvPr id="10" name="Text 8"/>
          <p:cNvSpPr/>
          <p:nvPr/>
        </p:nvSpPr>
        <p:spPr>
          <a:xfrm>
            <a:off x="685800" y="2404872"/>
            <a:ext cx="2011680" cy="640080"/>
          </a:xfrm>
          <a:prstGeom prst="rect">
            <a:avLst/>
          </a:prstGeom>
          <a:noFill/>
          <a:ln/>
        </p:spPr>
        <p:txBody>
          <a:bodyPr wrap="square" lIns="0" tIns="0" rIns="0" bIns="0" rtlCol="0" anchor="t"/>
          <a:lstStyle/>
          <a:p>
            <a:pPr indent="0" marL="0">
              <a:buNone/>
            </a:pPr>
            <a:r>
              <a:rPr lang="en-US" sz="1100" dirty="0">
                <a:solidFill>
                  <a:srgbClr val="C9D3D9"/>
                </a:solidFill>
                <a:latin typeface="BIZ UDPGothic" pitchFamily="34" charset="0"/>
                <a:ea typeface="BIZ UDPGothic" pitchFamily="34" charset="-122"/>
                <a:cs typeface="BIZ UDPGothic" pitchFamily="34" charset="-120"/>
              </a:rPr>
              <a:t>担当者や技術が替わっても、判断の前提を確かめられる</a:t>
            </a:r>
            <a:endParaRPr lang="en-US" sz="1100" dirty="0"/>
          </a:p>
        </p:txBody>
      </p:sp>
      <p:sp>
        <p:nvSpPr>
          <p:cNvPr id="11" name="Shape 9"/>
          <p:cNvSpPr/>
          <p:nvPr/>
        </p:nvSpPr>
        <p:spPr>
          <a:xfrm>
            <a:off x="2999232" y="1627632"/>
            <a:ext cx="2331720" cy="1463040"/>
          </a:xfrm>
          <a:prstGeom prst="rect">
            <a:avLst/>
          </a:prstGeom>
          <a:solidFill>
            <a:srgbClr val="FFFFFF"/>
          </a:solidFill>
          <a:ln w="9525">
            <a:solidFill>
              <a:srgbClr val="DCD5C6"/>
            </a:solidFill>
            <a:prstDash val="solid"/>
          </a:ln>
        </p:spPr>
      </p:sp>
      <p:sp>
        <p:nvSpPr>
          <p:cNvPr id="12" name="Text 10"/>
          <p:cNvSpPr/>
          <p:nvPr/>
        </p:nvSpPr>
        <p:spPr>
          <a:xfrm>
            <a:off x="3182112" y="1764792"/>
            <a:ext cx="548640" cy="274320"/>
          </a:xfrm>
          <a:prstGeom prst="rect">
            <a:avLst/>
          </a:prstGeom>
          <a:noFill/>
          <a:ln/>
        </p:spPr>
        <p:txBody>
          <a:bodyPr wrap="square" lIns="0" tIns="0" rIns="0" bIns="0" rtlCol="0" anchor="t"/>
          <a:lstStyle/>
          <a:p>
            <a:pPr indent="0" marL="0">
              <a:buNone/>
            </a:pPr>
            <a:r>
              <a:rPr lang="en-US" sz="1200" b="1" dirty="0">
                <a:solidFill>
                  <a:srgbClr val="C4A06D"/>
                </a:solidFill>
                <a:latin typeface="Georgia" pitchFamily="34" charset="0"/>
                <a:ea typeface="Georgia" pitchFamily="34" charset="-122"/>
                <a:cs typeface="Georgia" pitchFamily="34" charset="-120"/>
              </a:rPr>
              <a:t>02</a:t>
            </a:r>
            <a:endParaRPr lang="en-US" sz="1200" dirty="0"/>
          </a:p>
        </p:txBody>
      </p:sp>
      <p:sp>
        <p:nvSpPr>
          <p:cNvPr id="13" name="Text 11"/>
          <p:cNvSpPr/>
          <p:nvPr/>
        </p:nvSpPr>
        <p:spPr>
          <a:xfrm>
            <a:off x="4233672" y="1764792"/>
            <a:ext cx="914400" cy="274320"/>
          </a:xfrm>
          <a:prstGeom prst="rect">
            <a:avLst/>
          </a:prstGeom>
          <a:noFill/>
          <a:ln/>
        </p:spPr>
        <p:txBody>
          <a:bodyPr wrap="square" lIns="0" tIns="0" rIns="0" bIns="0" rtlCol="0" anchor="t"/>
          <a:lstStyle/>
          <a:p>
            <a:pPr algn="r" indent="0" marL="0">
              <a:buNone/>
            </a:pPr>
            <a:r>
              <a:rPr lang="en-US" sz="950" b="1" dirty="0">
                <a:solidFill>
                  <a:srgbClr val="56636E"/>
                </a:solidFill>
                <a:latin typeface="BIZ UDPGothic" pitchFamily="34" charset="0"/>
                <a:ea typeface="BIZ UDPGothic" pitchFamily="34" charset="-122"/>
                <a:cs typeface="BIZ UDPGothic" pitchFamily="34" charset="-120"/>
              </a:rPr>
              <a:t>SUI・SEI</a:t>
            </a:r>
            <a:endParaRPr lang="en-US" sz="950" dirty="0"/>
          </a:p>
        </p:txBody>
      </p:sp>
      <p:sp>
        <p:nvSpPr>
          <p:cNvPr id="14" name="Text 12"/>
          <p:cNvSpPr/>
          <p:nvPr/>
        </p:nvSpPr>
        <p:spPr>
          <a:xfrm>
            <a:off x="3182112" y="2039112"/>
            <a:ext cx="2011680" cy="347472"/>
          </a:xfrm>
          <a:prstGeom prst="rect">
            <a:avLst/>
          </a:prstGeom>
          <a:noFill/>
          <a:ln/>
        </p:spPr>
        <p:txBody>
          <a:bodyPr wrap="square" lIns="0" tIns="0" rIns="0" bIns="0" rtlCol="0" anchor="t"/>
          <a:lstStyle/>
          <a:p>
            <a:pPr indent="0" marL="0">
              <a:buNone/>
            </a:pPr>
            <a:r>
              <a:rPr lang="en-US" sz="1500" b="1" dirty="0">
                <a:solidFill>
                  <a:srgbClr val="243D54"/>
                </a:solidFill>
                <a:latin typeface="BIZ UDPGothic" pitchFamily="34" charset="0"/>
                <a:ea typeface="BIZ UDPGothic" pitchFamily="34" charset="-122"/>
                <a:cs typeface="BIZ UDPGothic" pitchFamily="34" charset="-120"/>
              </a:rPr>
              <a:t>異議と再評価</a:t>
            </a:r>
            <a:endParaRPr lang="en-US" sz="1500" dirty="0"/>
          </a:p>
        </p:txBody>
      </p:sp>
      <p:sp>
        <p:nvSpPr>
          <p:cNvPr id="15" name="Text 13"/>
          <p:cNvSpPr/>
          <p:nvPr/>
        </p:nvSpPr>
        <p:spPr>
          <a:xfrm>
            <a:off x="3182112" y="2404872"/>
            <a:ext cx="2011680" cy="640080"/>
          </a:xfrm>
          <a:prstGeom prst="rect">
            <a:avLst/>
          </a:prstGeom>
          <a:noFill/>
          <a:ln/>
        </p:spPr>
        <p:txBody>
          <a:bodyPr wrap="square" lIns="0" tIns="0" rIns="0" bIns="0" rtlCol="0" anchor="t"/>
          <a:lstStyle/>
          <a:p>
            <a:pPr indent="0" marL="0">
              <a:buNone/>
            </a:pPr>
            <a:r>
              <a:rPr lang="en-US" sz="1100" dirty="0">
                <a:solidFill>
                  <a:srgbClr val="56636E"/>
                </a:solidFill>
                <a:latin typeface="BIZ UDPGothic" pitchFamily="34" charset="0"/>
                <a:ea typeface="BIZ UDPGothic" pitchFamily="34" charset="-122"/>
                <a:cs typeface="BIZ UDPGothic" pitchFamily="34" charset="-120"/>
              </a:rPr>
              <a:t>少数の見方や未解決点を消さず、後から検証できる</a:t>
            </a:r>
            <a:endParaRPr lang="en-US" sz="1100" dirty="0"/>
          </a:p>
        </p:txBody>
      </p:sp>
      <p:sp>
        <p:nvSpPr>
          <p:cNvPr id="16" name="Shape 14"/>
          <p:cNvSpPr/>
          <p:nvPr/>
        </p:nvSpPr>
        <p:spPr>
          <a:xfrm>
            <a:off x="5495544" y="1627632"/>
            <a:ext cx="2331720" cy="1463040"/>
          </a:xfrm>
          <a:prstGeom prst="rect">
            <a:avLst/>
          </a:prstGeom>
          <a:solidFill>
            <a:srgbClr val="FFFFFF"/>
          </a:solidFill>
          <a:ln w="9525">
            <a:solidFill>
              <a:srgbClr val="DCD5C6"/>
            </a:solidFill>
            <a:prstDash val="solid"/>
          </a:ln>
        </p:spPr>
      </p:sp>
      <p:sp>
        <p:nvSpPr>
          <p:cNvPr id="17" name="Text 15"/>
          <p:cNvSpPr/>
          <p:nvPr/>
        </p:nvSpPr>
        <p:spPr>
          <a:xfrm>
            <a:off x="5678424" y="1764792"/>
            <a:ext cx="548640" cy="274320"/>
          </a:xfrm>
          <a:prstGeom prst="rect">
            <a:avLst/>
          </a:prstGeom>
          <a:noFill/>
          <a:ln/>
        </p:spPr>
        <p:txBody>
          <a:bodyPr wrap="square" lIns="0" tIns="0" rIns="0" bIns="0" rtlCol="0" anchor="t"/>
          <a:lstStyle/>
          <a:p>
            <a:pPr indent="0" marL="0">
              <a:buNone/>
            </a:pPr>
            <a:r>
              <a:rPr lang="en-US" sz="1200" b="1" dirty="0">
                <a:solidFill>
                  <a:srgbClr val="C4A06D"/>
                </a:solidFill>
                <a:latin typeface="Georgia" pitchFamily="34" charset="0"/>
                <a:ea typeface="Georgia" pitchFamily="34" charset="-122"/>
                <a:cs typeface="Georgia" pitchFamily="34" charset="-120"/>
              </a:rPr>
              <a:t>03</a:t>
            </a:r>
            <a:endParaRPr lang="en-US" sz="1200" dirty="0"/>
          </a:p>
        </p:txBody>
      </p:sp>
      <p:sp>
        <p:nvSpPr>
          <p:cNvPr id="18" name="Text 16"/>
          <p:cNvSpPr/>
          <p:nvPr/>
        </p:nvSpPr>
        <p:spPr>
          <a:xfrm>
            <a:off x="6729984" y="1764792"/>
            <a:ext cx="914400" cy="274320"/>
          </a:xfrm>
          <a:prstGeom prst="rect">
            <a:avLst/>
          </a:prstGeom>
          <a:noFill/>
          <a:ln/>
        </p:spPr>
        <p:txBody>
          <a:bodyPr wrap="square" lIns="0" tIns="0" rIns="0" bIns="0" rtlCol="0" anchor="t"/>
          <a:lstStyle/>
          <a:p>
            <a:pPr algn="r" indent="0" marL="0">
              <a:buNone/>
            </a:pPr>
            <a:r>
              <a:rPr lang="en-US" sz="950" b="1" dirty="0">
                <a:solidFill>
                  <a:srgbClr val="56636E"/>
                </a:solidFill>
                <a:latin typeface="BIZ UDPGothic" pitchFamily="34" charset="0"/>
                <a:ea typeface="BIZ UDPGothic" pitchFamily="34" charset="-122"/>
                <a:cs typeface="BIZ UDPGothic" pitchFamily="34" charset="-120"/>
              </a:rPr>
              <a:t>SEI・TEI</a:t>
            </a:r>
            <a:endParaRPr lang="en-US" sz="950" dirty="0"/>
          </a:p>
        </p:txBody>
      </p:sp>
      <p:sp>
        <p:nvSpPr>
          <p:cNvPr id="19" name="Text 17"/>
          <p:cNvSpPr/>
          <p:nvPr/>
        </p:nvSpPr>
        <p:spPr>
          <a:xfrm>
            <a:off x="5678424" y="2039112"/>
            <a:ext cx="2011680" cy="347472"/>
          </a:xfrm>
          <a:prstGeom prst="rect">
            <a:avLst/>
          </a:prstGeom>
          <a:noFill/>
          <a:ln/>
        </p:spPr>
        <p:txBody>
          <a:bodyPr wrap="square" lIns="0" tIns="0" rIns="0" bIns="0" rtlCol="0" anchor="t"/>
          <a:lstStyle/>
          <a:p>
            <a:pPr indent="0" marL="0">
              <a:buNone/>
            </a:pPr>
            <a:r>
              <a:rPr lang="en-US" sz="1500" b="1" dirty="0">
                <a:solidFill>
                  <a:srgbClr val="243D54"/>
                </a:solidFill>
                <a:latin typeface="BIZ UDPGothic" pitchFamily="34" charset="0"/>
                <a:ea typeface="BIZ UDPGothic" pitchFamily="34" charset="-122"/>
                <a:cs typeface="BIZ UDPGothic" pitchFamily="34" charset="-120"/>
              </a:rPr>
              <a:t>選択の自由</a:t>
            </a:r>
            <a:endParaRPr lang="en-US" sz="1500" dirty="0"/>
          </a:p>
        </p:txBody>
      </p:sp>
      <p:sp>
        <p:nvSpPr>
          <p:cNvPr id="20" name="Text 18"/>
          <p:cNvSpPr/>
          <p:nvPr/>
        </p:nvSpPr>
        <p:spPr>
          <a:xfrm>
            <a:off x="5678424" y="2404872"/>
            <a:ext cx="2011680" cy="640080"/>
          </a:xfrm>
          <a:prstGeom prst="rect">
            <a:avLst/>
          </a:prstGeom>
          <a:noFill/>
          <a:ln/>
        </p:spPr>
        <p:txBody>
          <a:bodyPr wrap="square" lIns="0" tIns="0" rIns="0" bIns="0" rtlCol="0" anchor="t"/>
          <a:lstStyle/>
          <a:p>
            <a:pPr indent="0" marL="0">
              <a:buNone/>
            </a:pPr>
            <a:r>
              <a:rPr lang="en-US" sz="1100" dirty="0">
                <a:solidFill>
                  <a:srgbClr val="56636E"/>
                </a:solidFill>
                <a:latin typeface="BIZ UDPGothic" pitchFamily="34" charset="0"/>
                <a:ea typeface="BIZ UDPGothic" pitchFamily="34" charset="-122"/>
                <a:cs typeface="BIZ UDPGothic" pitchFamily="34" charset="-120"/>
              </a:rPr>
              <a:t>単一のAI提供元や実行基盤に、意味ごと閉じ込めない</a:t>
            </a:r>
            <a:endParaRPr lang="en-US" sz="1100" dirty="0"/>
          </a:p>
        </p:txBody>
      </p:sp>
      <p:sp>
        <p:nvSpPr>
          <p:cNvPr id="21" name="Shape 19"/>
          <p:cNvSpPr/>
          <p:nvPr/>
        </p:nvSpPr>
        <p:spPr>
          <a:xfrm>
            <a:off x="502920" y="3255264"/>
            <a:ext cx="2331720" cy="1463040"/>
          </a:xfrm>
          <a:prstGeom prst="rect">
            <a:avLst/>
          </a:prstGeom>
          <a:solidFill>
            <a:srgbClr val="FFFFFF"/>
          </a:solidFill>
          <a:ln w="9525">
            <a:solidFill>
              <a:srgbClr val="DCD5C6"/>
            </a:solidFill>
            <a:prstDash val="solid"/>
          </a:ln>
        </p:spPr>
      </p:sp>
      <p:sp>
        <p:nvSpPr>
          <p:cNvPr id="22" name="Text 20"/>
          <p:cNvSpPr/>
          <p:nvPr/>
        </p:nvSpPr>
        <p:spPr>
          <a:xfrm>
            <a:off x="685800" y="3392424"/>
            <a:ext cx="548640" cy="274320"/>
          </a:xfrm>
          <a:prstGeom prst="rect">
            <a:avLst/>
          </a:prstGeom>
          <a:noFill/>
          <a:ln/>
        </p:spPr>
        <p:txBody>
          <a:bodyPr wrap="square" lIns="0" tIns="0" rIns="0" bIns="0" rtlCol="0" anchor="t"/>
          <a:lstStyle/>
          <a:p>
            <a:pPr indent="0" marL="0">
              <a:buNone/>
            </a:pPr>
            <a:r>
              <a:rPr lang="en-US" sz="1200" b="1" dirty="0">
                <a:solidFill>
                  <a:srgbClr val="C4A06D"/>
                </a:solidFill>
                <a:latin typeface="Georgia" pitchFamily="34" charset="0"/>
                <a:ea typeface="Georgia" pitchFamily="34" charset="-122"/>
                <a:cs typeface="Georgia" pitchFamily="34" charset="-120"/>
              </a:rPr>
              <a:t>04</a:t>
            </a:r>
            <a:endParaRPr lang="en-US" sz="1200" dirty="0"/>
          </a:p>
        </p:txBody>
      </p:sp>
      <p:sp>
        <p:nvSpPr>
          <p:cNvPr id="23" name="Text 21"/>
          <p:cNvSpPr/>
          <p:nvPr/>
        </p:nvSpPr>
        <p:spPr>
          <a:xfrm>
            <a:off x="1737360" y="3392424"/>
            <a:ext cx="914400" cy="274320"/>
          </a:xfrm>
          <a:prstGeom prst="rect">
            <a:avLst/>
          </a:prstGeom>
          <a:noFill/>
          <a:ln/>
        </p:spPr>
        <p:txBody>
          <a:bodyPr wrap="square" lIns="0" tIns="0" rIns="0" bIns="0" rtlCol="0" anchor="t"/>
          <a:lstStyle/>
          <a:p>
            <a:pPr algn="r" indent="0" marL="0">
              <a:buNone/>
            </a:pPr>
            <a:r>
              <a:rPr lang="en-US" sz="950" b="1" dirty="0">
                <a:solidFill>
                  <a:srgbClr val="56636E"/>
                </a:solidFill>
                <a:latin typeface="BIZ UDPGothic" pitchFamily="34" charset="0"/>
                <a:ea typeface="BIZ UDPGothic" pitchFamily="34" charset="-122"/>
                <a:cs typeface="BIZ UDPGothic" pitchFamily="34" charset="-120"/>
              </a:rPr>
              <a:t>EKI</a:t>
            </a:r>
            <a:endParaRPr lang="en-US" sz="950" dirty="0"/>
          </a:p>
        </p:txBody>
      </p:sp>
      <p:sp>
        <p:nvSpPr>
          <p:cNvPr id="24" name="Text 22"/>
          <p:cNvSpPr/>
          <p:nvPr/>
        </p:nvSpPr>
        <p:spPr>
          <a:xfrm>
            <a:off x="685800" y="3666744"/>
            <a:ext cx="2011680" cy="347472"/>
          </a:xfrm>
          <a:prstGeom prst="rect">
            <a:avLst/>
          </a:prstGeom>
          <a:noFill/>
          <a:ln/>
        </p:spPr>
        <p:txBody>
          <a:bodyPr wrap="square" lIns="0" tIns="0" rIns="0" bIns="0" rtlCol="0" anchor="t"/>
          <a:lstStyle/>
          <a:p>
            <a:pPr indent="0" marL="0">
              <a:buNone/>
            </a:pPr>
            <a:r>
              <a:rPr lang="en-US" sz="1500" b="1" dirty="0">
                <a:solidFill>
                  <a:srgbClr val="243D54"/>
                </a:solidFill>
                <a:latin typeface="BIZ UDPGothic" pitchFamily="34" charset="0"/>
                <a:ea typeface="BIZ UDPGothic" pitchFamily="34" charset="-122"/>
                <a:cs typeface="BIZ UDPGothic" pitchFamily="34" charset="-120"/>
              </a:rPr>
              <a:t>参加の条件</a:t>
            </a:r>
            <a:endParaRPr lang="en-US" sz="1500" dirty="0"/>
          </a:p>
        </p:txBody>
      </p:sp>
      <p:sp>
        <p:nvSpPr>
          <p:cNvPr id="25" name="Text 23"/>
          <p:cNvSpPr/>
          <p:nvPr/>
        </p:nvSpPr>
        <p:spPr>
          <a:xfrm>
            <a:off x="685800" y="4032504"/>
            <a:ext cx="2011680" cy="640080"/>
          </a:xfrm>
          <a:prstGeom prst="rect">
            <a:avLst/>
          </a:prstGeom>
          <a:noFill/>
          <a:ln/>
        </p:spPr>
        <p:txBody>
          <a:bodyPr wrap="square" lIns="0" tIns="0" rIns="0" bIns="0" rtlCol="0" anchor="t"/>
          <a:lstStyle/>
          <a:p>
            <a:pPr indent="0" marL="0">
              <a:buNone/>
            </a:pPr>
            <a:r>
              <a:rPr lang="en-US" sz="1100" dirty="0">
                <a:solidFill>
                  <a:srgbClr val="56636E"/>
                </a:solidFill>
                <a:latin typeface="BIZ UDPGothic" pitchFamily="34" charset="0"/>
                <a:ea typeface="BIZ UDPGothic" pitchFamily="34" charset="-122"/>
                <a:cs typeface="BIZ UDPGothic" pitchFamily="34" charset="-120"/>
              </a:rPr>
              <a:t>信頼・権限・予算・データの条件を明示して協働する</a:t>
            </a:r>
            <a:endParaRPr lang="en-US" sz="1100" dirty="0"/>
          </a:p>
        </p:txBody>
      </p:sp>
      <p:sp>
        <p:nvSpPr>
          <p:cNvPr id="26" name="Shape 24"/>
          <p:cNvSpPr/>
          <p:nvPr/>
        </p:nvSpPr>
        <p:spPr>
          <a:xfrm>
            <a:off x="2999232" y="3255264"/>
            <a:ext cx="2331720" cy="1463040"/>
          </a:xfrm>
          <a:prstGeom prst="rect">
            <a:avLst/>
          </a:prstGeom>
          <a:solidFill>
            <a:srgbClr val="FFFFFF"/>
          </a:solidFill>
          <a:ln w="9525">
            <a:solidFill>
              <a:srgbClr val="DCD5C6"/>
            </a:solidFill>
            <a:prstDash val="solid"/>
          </a:ln>
        </p:spPr>
      </p:sp>
      <p:sp>
        <p:nvSpPr>
          <p:cNvPr id="27" name="Text 25"/>
          <p:cNvSpPr/>
          <p:nvPr/>
        </p:nvSpPr>
        <p:spPr>
          <a:xfrm>
            <a:off x="3182112" y="3392424"/>
            <a:ext cx="548640" cy="274320"/>
          </a:xfrm>
          <a:prstGeom prst="rect">
            <a:avLst/>
          </a:prstGeom>
          <a:noFill/>
          <a:ln/>
        </p:spPr>
        <p:txBody>
          <a:bodyPr wrap="square" lIns="0" tIns="0" rIns="0" bIns="0" rtlCol="0" anchor="t"/>
          <a:lstStyle/>
          <a:p>
            <a:pPr indent="0" marL="0">
              <a:buNone/>
            </a:pPr>
            <a:r>
              <a:rPr lang="en-US" sz="1200" b="1" dirty="0">
                <a:solidFill>
                  <a:srgbClr val="C4A06D"/>
                </a:solidFill>
                <a:latin typeface="Georgia" pitchFamily="34" charset="0"/>
                <a:ea typeface="Georgia" pitchFamily="34" charset="-122"/>
                <a:cs typeface="Georgia" pitchFamily="34" charset="-120"/>
              </a:rPr>
              <a:t>05</a:t>
            </a:r>
            <a:endParaRPr lang="en-US" sz="1200" dirty="0"/>
          </a:p>
        </p:txBody>
      </p:sp>
      <p:sp>
        <p:nvSpPr>
          <p:cNvPr id="28" name="Text 26"/>
          <p:cNvSpPr/>
          <p:nvPr/>
        </p:nvSpPr>
        <p:spPr>
          <a:xfrm>
            <a:off x="4233672" y="3392424"/>
            <a:ext cx="914400" cy="274320"/>
          </a:xfrm>
          <a:prstGeom prst="rect">
            <a:avLst/>
          </a:prstGeom>
          <a:noFill/>
          <a:ln/>
        </p:spPr>
        <p:txBody>
          <a:bodyPr wrap="square" lIns="0" tIns="0" rIns="0" bIns="0" rtlCol="0" anchor="t"/>
          <a:lstStyle/>
          <a:p>
            <a:pPr algn="r" indent="0" marL="0">
              <a:buNone/>
            </a:pPr>
            <a:r>
              <a:rPr lang="en-US" sz="950" b="1" dirty="0">
                <a:solidFill>
                  <a:srgbClr val="56636E"/>
                </a:solidFill>
                <a:latin typeface="BIZ UDPGothic" pitchFamily="34" charset="0"/>
                <a:ea typeface="BIZ UDPGothic" pitchFamily="34" charset="-122"/>
                <a:cs typeface="BIZ UDPGothic" pitchFamily="34" charset="-120"/>
              </a:rPr>
              <a:t>SEI・TAI</a:t>
            </a:r>
            <a:endParaRPr lang="en-US" sz="950" dirty="0"/>
          </a:p>
        </p:txBody>
      </p:sp>
      <p:sp>
        <p:nvSpPr>
          <p:cNvPr id="29" name="Text 27"/>
          <p:cNvSpPr/>
          <p:nvPr/>
        </p:nvSpPr>
        <p:spPr>
          <a:xfrm>
            <a:off x="3182112" y="3666744"/>
            <a:ext cx="2011680" cy="347472"/>
          </a:xfrm>
          <a:prstGeom prst="rect">
            <a:avLst/>
          </a:prstGeom>
          <a:noFill/>
          <a:ln/>
        </p:spPr>
        <p:txBody>
          <a:bodyPr wrap="square" lIns="0" tIns="0" rIns="0" bIns="0" rtlCol="0" anchor="t"/>
          <a:lstStyle/>
          <a:p>
            <a:pPr indent="0" marL="0">
              <a:buNone/>
            </a:pPr>
            <a:r>
              <a:rPr lang="en-US" sz="1500" b="1" dirty="0">
                <a:solidFill>
                  <a:srgbClr val="243D54"/>
                </a:solidFill>
                <a:latin typeface="BIZ UDPGothic" pitchFamily="34" charset="0"/>
                <a:ea typeface="BIZ UDPGothic" pitchFamily="34" charset="-122"/>
                <a:cs typeface="BIZ UDPGothic" pitchFamily="34" charset="-120"/>
              </a:rPr>
              <a:t>説明の責任</a:t>
            </a:r>
            <a:endParaRPr lang="en-US" sz="1500" dirty="0"/>
          </a:p>
        </p:txBody>
      </p:sp>
      <p:sp>
        <p:nvSpPr>
          <p:cNvPr id="30" name="Text 28"/>
          <p:cNvSpPr/>
          <p:nvPr/>
        </p:nvSpPr>
        <p:spPr>
          <a:xfrm>
            <a:off x="3182112" y="4032504"/>
            <a:ext cx="2011680" cy="640080"/>
          </a:xfrm>
          <a:prstGeom prst="rect">
            <a:avLst/>
          </a:prstGeom>
          <a:noFill/>
          <a:ln/>
        </p:spPr>
        <p:txBody>
          <a:bodyPr wrap="square" lIns="0" tIns="0" rIns="0" bIns="0" rtlCol="0" anchor="t"/>
          <a:lstStyle/>
          <a:p>
            <a:pPr indent="0" marL="0">
              <a:buNone/>
            </a:pPr>
            <a:r>
              <a:rPr lang="en-US" sz="1100" dirty="0">
                <a:solidFill>
                  <a:srgbClr val="56636E"/>
                </a:solidFill>
                <a:latin typeface="BIZ UDPGothic" pitchFamily="34" charset="0"/>
                <a:ea typeface="BIZ UDPGothic" pitchFamily="34" charset="-122"/>
                <a:cs typeface="BIZ UDPGothic" pitchFamily="34" charset="-120"/>
              </a:rPr>
              <a:t>提案・決定・実行・結果を区別して振り返る</a:t>
            </a:r>
            <a:endParaRPr lang="en-US" sz="1100" dirty="0"/>
          </a:p>
        </p:txBody>
      </p:sp>
      <p:sp>
        <p:nvSpPr>
          <p:cNvPr id="31" name="Shape 29"/>
          <p:cNvSpPr/>
          <p:nvPr/>
        </p:nvSpPr>
        <p:spPr>
          <a:xfrm>
            <a:off x="5495544" y="3255264"/>
            <a:ext cx="2331720" cy="1463040"/>
          </a:xfrm>
          <a:prstGeom prst="rect">
            <a:avLst/>
          </a:prstGeom>
          <a:solidFill>
            <a:srgbClr val="FFFFFF"/>
          </a:solidFill>
          <a:ln w="9525">
            <a:solidFill>
              <a:srgbClr val="DCD5C6"/>
            </a:solidFill>
            <a:prstDash val="solid"/>
          </a:ln>
        </p:spPr>
      </p:sp>
      <p:sp>
        <p:nvSpPr>
          <p:cNvPr id="32" name="Text 30"/>
          <p:cNvSpPr/>
          <p:nvPr/>
        </p:nvSpPr>
        <p:spPr>
          <a:xfrm>
            <a:off x="5678424" y="3392424"/>
            <a:ext cx="548640" cy="274320"/>
          </a:xfrm>
          <a:prstGeom prst="rect">
            <a:avLst/>
          </a:prstGeom>
          <a:noFill/>
          <a:ln/>
        </p:spPr>
        <p:txBody>
          <a:bodyPr wrap="square" lIns="0" tIns="0" rIns="0" bIns="0" rtlCol="0" anchor="t"/>
          <a:lstStyle/>
          <a:p>
            <a:pPr indent="0" marL="0">
              <a:buNone/>
            </a:pPr>
            <a:r>
              <a:rPr lang="en-US" sz="1200" b="1" dirty="0">
                <a:solidFill>
                  <a:srgbClr val="C4A06D"/>
                </a:solidFill>
                <a:latin typeface="Georgia" pitchFamily="34" charset="0"/>
                <a:ea typeface="Georgia" pitchFamily="34" charset="-122"/>
                <a:cs typeface="Georgia" pitchFamily="34" charset="-120"/>
              </a:rPr>
              <a:t>06</a:t>
            </a:r>
            <a:endParaRPr lang="en-US" sz="1200" dirty="0"/>
          </a:p>
        </p:txBody>
      </p:sp>
      <p:sp>
        <p:nvSpPr>
          <p:cNvPr id="33" name="Text 31"/>
          <p:cNvSpPr/>
          <p:nvPr/>
        </p:nvSpPr>
        <p:spPr>
          <a:xfrm>
            <a:off x="6729984" y="3392424"/>
            <a:ext cx="914400" cy="274320"/>
          </a:xfrm>
          <a:prstGeom prst="rect">
            <a:avLst/>
          </a:prstGeom>
          <a:noFill/>
          <a:ln/>
        </p:spPr>
        <p:txBody>
          <a:bodyPr wrap="square" lIns="0" tIns="0" rIns="0" bIns="0" rtlCol="0" anchor="t"/>
          <a:lstStyle/>
          <a:p>
            <a:pPr algn="r" indent="0" marL="0">
              <a:buNone/>
            </a:pPr>
            <a:r>
              <a:rPr lang="en-US" sz="950" b="1" dirty="0">
                <a:solidFill>
                  <a:srgbClr val="56636E"/>
                </a:solidFill>
                <a:latin typeface="BIZ UDPGothic" pitchFamily="34" charset="0"/>
                <a:ea typeface="BIZ UDPGothic" pitchFamily="34" charset="-122"/>
                <a:cs typeface="BIZ UDPGothic" pitchFamily="34" charset="-120"/>
              </a:rPr>
              <a:t>EKI</a:t>
            </a:r>
            <a:endParaRPr lang="en-US" sz="950" dirty="0"/>
          </a:p>
        </p:txBody>
      </p:sp>
      <p:sp>
        <p:nvSpPr>
          <p:cNvPr id="34" name="Text 32"/>
          <p:cNvSpPr/>
          <p:nvPr/>
        </p:nvSpPr>
        <p:spPr>
          <a:xfrm>
            <a:off x="5678424" y="3666744"/>
            <a:ext cx="2011680" cy="347472"/>
          </a:xfrm>
          <a:prstGeom prst="rect">
            <a:avLst/>
          </a:prstGeom>
          <a:noFill/>
          <a:ln/>
        </p:spPr>
        <p:txBody>
          <a:bodyPr wrap="square" lIns="0" tIns="0" rIns="0" bIns="0" rtlCol="0" anchor="t"/>
          <a:lstStyle/>
          <a:p>
            <a:pPr indent="0" marL="0">
              <a:buNone/>
            </a:pPr>
            <a:r>
              <a:rPr lang="en-US" sz="1500" b="1" dirty="0">
                <a:solidFill>
                  <a:srgbClr val="243D54"/>
                </a:solidFill>
                <a:latin typeface="BIZ UDPGothic" pitchFamily="34" charset="0"/>
                <a:ea typeface="BIZ UDPGothic" pitchFamily="34" charset="-122"/>
                <a:cs typeface="BIZ UDPGothic" pitchFamily="34" charset="-120"/>
              </a:rPr>
              <a:t>計算力の分かち合い</a:t>
            </a:r>
            <a:endParaRPr lang="en-US" sz="1500" dirty="0"/>
          </a:p>
        </p:txBody>
      </p:sp>
      <p:sp>
        <p:nvSpPr>
          <p:cNvPr id="35" name="Text 33"/>
          <p:cNvSpPr/>
          <p:nvPr/>
        </p:nvSpPr>
        <p:spPr>
          <a:xfrm>
            <a:off x="5678424" y="4032504"/>
            <a:ext cx="2011680" cy="640080"/>
          </a:xfrm>
          <a:prstGeom prst="rect">
            <a:avLst/>
          </a:prstGeom>
          <a:noFill/>
          <a:ln/>
        </p:spPr>
        <p:txBody>
          <a:bodyPr wrap="square" lIns="0" tIns="0" rIns="0" bIns="0" rtlCol="0" anchor="t"/>
          <a:lstStyle/>
          <a:p>
            <a:pPr indent="0" marL="0">
              <a:buNone/>
            </a:pPr>
            <a:r>
              <a:rPr lang="en-US" sz="1100" dirty="0">
                <a:solidFill>
                  <a:srgbClr val="56636E"/>
                </a:solidFill>
                <a:latin typeface="BIZ UDPGothic" pitchFamily="34" charset="0"/>
                <a:ea typeface="BIZ UDPGothic" pitchFamily="34" charset="-122"/>
                <a:cs typeface="BIZ UDPGothic" pitchFamily="34" charset="-120"/>
              </a:rPr>
              <a:t>眠っている計算力を、研究・オープンソース・公益へ条件付きで提供する</a:t>
            </a:r>
            <a:endParaRPr lang="en-US" sz="1100" dirty="0"/>
          </a:p>
        </p:txBody>
      </p:sp>
      <p:sp>
        <p:nvSpPr>
          <p:cNvPr id="36" name="Text 34"/>
          <p:cNvSpPr/>
          <p:nvPr/>
        </p:nvSpPr>
        <p:spPr>
          <a:xfrm>
            <a:off x="8083296" y="1627632"/>
            <a:ext cx="3605479" cy="274320"/>
          </a:xfrm>
          <a:prstGeom prst="rect">
            <a:avLst/>
          </a:prstGeom>
          <a:noFill/>
          <a:ln/>
        </p:spPr>
        <p:txBody>
          <a:bodyPr wrap="square" lIns="0" tIns="0" rIns="0" bIns="0" rtlCol="0" anchor="t"/>
          <a:lstStyle/>
          <a:p>
            <a:pPr indent="0" marL="0">
              <a:buNone/>
            </a:pPr>
            <a:r>
              <a:rPr lang="en-US" sz="1200" b="1" dirty="0">
                <a:solidFill>
                  <a:srgbClr val="56636E"/>
                </a:solidFill>
                <a:latin typeface="BIZ UDPGothic" pitchFamily="34" charset="0"/>
                <a:ea typeface="BIZ UDPGothic" pitchFamily="34" charset="-122"/>
                <a:cs typeface="BIZ UDPGothic" pitchFamily="34" charset="-120"/>
              </a:rPr>
              <a:t>規模ごとの成果と、守る条件</a:t>
            </a:r>
            <a:endParaRPr lang="en-US" sz="1200" dirty="0"/>
          </a:p>
        </p:txBody>
      </p:sp>
      <p:sp>
        <p:nvSpPr>
          <p:cNvPr id="37" name="Shape 35"/>
          <p:cNvSpPr/>
          <p:nvPr/>
        </p:nvSpPr>
        <p:spPr>
          <a:xfrm>
            <a:off x="8083296" y="1938528"/>
            <a:ext cx="3605479" cy="896112"/>
          </a:xfrm>
          <a:prstGeom prst="rect">
            <a:avLst/>
          </a:prstGeom>
          <a:solidFill>
            <a:srgbClr val="FFFFFF"/>
          </a:solidFill>
          <a:ln w="9525">
            <a:solidFill>
              <a:srgbClr val="DCD5C6"/>
            </a:solidFill>
            <a:prstDash val="solid"/>
          </a:ln>
        </p:spPr>
      </p:sp>
      <p:sp>
        <p:nvSpPr>
          <p:cNvPr id="38" name="Shape 36"/>
          <p:cNvSpPr/>
          <p:nvPr/>
        </p:nvSpPr>
        <p:spPr>
          <a:xfrm>
            <a:off x="8083296" y="1938528"/>
            <a:ext cx="685800" cy="896112"/>
          </a:xfrm>
          <a:prstGeom prst="rect">
            <a:avLst/>
          </a:prstGeom>
          <a:solidFill>
            <a:srgbClr val="789FB6"/>
          </a:solidFill>
          <a:ln/>
        </p:spPr>
      </p:sp>
      <p:sp>
        <p:nvSpPr>
          <p:cNvPr id="39" name="Text 37"/>
          <p:cNvSpPr/>
          <p:nvPr/>
        </p:nvSpPr>
        <p:spPr>
          <a:xfrm>
            <a:off x="8083296" y="1938528"/>
            <a:ext cx="685800" cy="896112"/>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個人</a:t>
            </a:r>
            <a:endParaRPr lang="en-US" sz="1400" dirty="0"/>
          </a:p>
        </p:txBody>
      </p:sp>
      <p:sp>
        <p:nvSpPr>
          <p:cNvPr id="40" name="Text 38"/>
          <p:cNvSpPr/>
          <p:nvPr/>
        </p:nvSpPr>
        <p:spPr>
          <a:xfrm>
            <a:off x="8887968" y="1993392"/>
            <a:ext cx="2691079" cy="804672"/>
          </a:xfrm>
          <a:prstGeom prst="rect">
            <a:avLst/>
          </a:prstGeom>
          <a:noFill/>
          <a:ln/>
        </p:spPr>
        <p:txBody>
          <a:bodyPr wrap="square" lIns="0" tIns="0" rIns="0" bIns="0" rtlCol="0" anchor="ctr"/>
          <a:lstStyle/>
          <a:p>
            <a:pPr indent="0" marL="0">
              <a:spcAft>
                <a:spcPts val="300"/>
              </a:spcAft>
              <a:buNone/>
            </a:pPr>
            <a:r>
              <a:rPr lang="en-US" sz="1050" b="1" dirty="0">
                <a:solidFill>
                  <a:srgbClr val="4F7A5C"/>
                </a:solidFill>
                <a:latin typeface="BIZ UDPGothic" pitchFamily="34" charset="0"/>
                <a:ea typeface="BIZ UDPGothic" pitchFamily="34" charset="-122"/>
                <a:cs typeface="BIZ UDPGothic" pitchFamily="34" charset="-120"/>
              </a:rPr>
              <a:t>成果 </a:t>
            </a:r>
            <a:pPr indent="0" marL="0">
              <a:spcAft>
                <a:spcPts val="300"/>
              </a:spcAft>
              <a:buNone/>
            </a:pPr>
            <a:r>
              <a:rPr lang="en-US" sz="1050" dirty="0">
                <a:solidFill>
                  <a:srgbClr val="243D54"/>
                </a:solidFill>
                <a:latin typeface="BIZ UDPGothic" pitchFamily="34" charset="0"/>
                <a:ea typeface="BIZ UDPGothic" pitchFamily="34" charset="-122"/>
                <a:cs typeface="BIZ UDPGothic" pitchFamily="34" charset="-120"/>
              </a:rPr>
              <a:t>後任へ知識と判断の理由を引き継げる。調べ直しが減る</a:t>
            </a:r>
            <a:endParaRPr lang="en-US" sz="1050" dirty="0"/>
          </a:p>
          <a:p>
            <a:pPr indent="0" marL="0">
              <a:spcAft>
                <a:spcPts val="300"/>
              </a:spcAft>
              <a:buNone/>
            </a:pPr>
            <a:r>
              <a:rPr lang="en-US" sz="1050" b="1" dirty="0">
                <a:solidFill>
                  <a:srgbClr val="8C5A44"/>
                </a:solidFill>
                <a:latin typeface="BIZ UDPGothic" pitchFamily="34" charset="0"/>
                <a:ea typeface="BIZ UDPGothic" pitchFamily="34" charset="-122"/>
                <a:cs typeface="BIZ UDPGothic" pitchFamily="34" charset="-120"/>
              </a:rPr>
              <a:t>条件 </a:t>
            </a:r>
            <a:pPr indent="0" marL="0">
              <a:spcAft>
                <a:spcPts val="300"/>
              </a:spcAft>
              <a:buNone/>
            </a:pPr>
            <a:r>
              <a:rPr lang="en-US" sz="1050" dirty="0">
                <a:solidFill>
                  <a:srgbClr val="243D54"/>
                </a:solidFill>
                <a:latin typeface="BIZ UDPGothic" pitchFamily="34" charset="0"/>
                <a:ea typeface="BIZ UDPGothic" pitchFamily="34" charset="-122"/>
                <a:cs typeface="BIZ UDPGothic" pitchFamily="34" charset="-120"/>
              </a:rPr>
              <a:t>私的な情報の制御、費用の負担、誤りの訂正</a:t>
            </a:r>
            <a:endParaRPr lang="en-US" sz="1050" dirty="0"/>
          </a:p>
        </p:txBody>
      </p:sp>
      <p:sp>
        <p:nvSpPr>
          <p:cNvPr id="41" name="Shape 39"/>
          <p:cNvSpPr/>
          <p:nvPr/>
        </p:nvSpPr>
        <p:spPr>
          <a:xfrm>
            <a:off x="8083296" y="2926080"/>
            <a:ext cx="3605479" cy="896112"/>
          </a:xfrm>
          <a:prstGeom prst="rect">
            <a:avLst/>
          </a:prstGeom>
          <a:solidFill>
            <a:srgbClr val="FFFFFF"/>
          </a:solidFill>
          <a:ln w="9525">
            <a:solidFill>
              <a:srgbClr val="DCD5C6"/>
            </a:solidFill>
            <a:prstDash val="solid"/>
          </a:ln>
        </p:spPr>
      </p:sp>
      <p:sp>
        <p:nvSpPr>
          <p:cNvPr id="42" name="Shape 40"/>
          <p:cNvSpPr/>
          <p:nvPr/>
        </p:nvSpPr>
        <p:spPr>
          <a:xfrm>
            <a:off x="8083296" y="2926080"/>
            <a:ext cx="685800" cy="896112"/>
          </a:xfrm>
          <a:prstGeom prst="rect">
            <a:avLst/>
          </a:prstGeom>
          <a:solidFill>
            <a:srgbClr val="6E8670"/>
          </a:solidFill>
          <a:ln/>
        </p:spPr>
      </p:sp>
      <p:sp>
        <p:nvSpPr>
          <p:cNvPr id="43" name="Text 41"/>
          <p:cNvSpPr/>
          <p:nvPr/>
        </p:nvSpPr>
        <p:spPr>
          <a:xfrm>
            <a:off x="8083296" y="2926080"/>
            <a:ext cx="685800" cy="896112"/>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組織</a:t>
            </a:r>
            <a:endParaRPr lang="en-US" sz="1400" dirty="0"/>
          </a:p>
        </p:txBody>
      </p:sp>
      <p:sp>
        <p:nvSpPr>
          <p:cNvPr id="44" name="Text 42"/>
          <p:cNvSpPr/>
          <p:nvPr/>
        </p:nvSpPr>
        <p:spPr>
          <a:xfrm>
            <a:off x="8887968" y="2980944"/>
            <a:ext cx="2691079" cy="804672"/>
          </a:xfrm>
          <a:prstGeom prst="rect">
            <a:avLst/>
          </a:prstGeom>
          <a:noFill/>
          <a:ln/>
        </p:spPr>
        <p:txBody>
          <a:bodyPr wrap="square" lIns="0" tIns="0" rIns="0" bIns="0" rtlCol="0" anchor="ctr"/>
          <a:lstStyle/>
          <a:p>
            <a:pPr indent="0" marL="0">
              <a:spcAft>
                <a:spcPts val="300"/>
              </a:spcAft>
              <a:buNone/>
            </a:pPr>
            <a:r>
              <a:rPr lang="en-US" sz="1050" b="1" dirty="0">
                <a:solidFill>
                  <a:srgbClr val="4F7A5C"/>
                </a:solidFill>
                <a:latin typeface="BIZ UDPGothic" pitchFamily="34" charset="0"/>
                <a:ea typeface="BIZ UDPGothic" pitchFamily="34" charset="-122"/>
                <a:cs typeface="BIZ UDPGothic" pitchFamily="34" charset="-120"/>
              </a:rPr>
              <a:t>成果 </a:t>
            </a:r>
            <a:pPr indent="0" marL="0">
              <a:spcAft>
                <a:spcPts val="300"/>
              </a:spcAft>
              <a:buNone/>
            </a:pPr>
            <a:r>
              <a:rPr lang="en-US" sz="1050" dirty="0">
                <a:solidFill>
                  <a:srgbClr val="243D54"/>
                </a:solidFill>
                <a:latin typeface="BIZ UDPGothic" pitchFamily="34" charset="0"/>
                <a:ea typeface="BIZ UDPGothic" pitchFamily="34" charset="-122"/>
                <a:cs typeface="BIZ UDPGothic" pitchFamily="34" charset="-120"/>
              </a:rPr>
              <a:t>知識を担当者・委託先・技術に縛らず資産にできる</a:t>
            </a:r>
            <a:endParaRPr lang="en-US" sz="1050" dirty="0"/>
          </a:p>
          <a:p>
            <a:pPr indent="0" marL="0">
              <a:spcAft>
                <a:spcPts val="300"/>
              </a:spcAft>
              <a:buNone/>
            </a:pPr>
            <a:r>
              <a:rPr lang="en-US" sz="1050" b="1" dirty="0">
                <a:solidFill>
                  <a:srgbClr val="8C5A44"/>
                </a:solidFill>
                <a:latin typeface="BIZ UDPGothic" pitchFamily="34" charset="0"/>
                <a:ea typeface="BIZ UDPGothic" pitchFamily="34" charset="-122"/>
                <a:cs typeface="BIZ UDPGothic" pitchFamily="34" charset="-120"/>
              </a:rPr>
              <a:t>条件 </a:t>
            </a:r>
            <a:pPr indent="0" marL="0">
              <a:spcAft>
                <a:spcPts val="300"/>
              </a:spcAft>
              <a:buNone/>
            </a:pPr>
            <a:r>
              <a:rPr lang="en-US" sz="1050" dirty="0">
                <a:solidFill>
                  <a:srgbClr val="243D54"/>
                </a:solidFill>
                <a:latin typeface="BIZ UDPGothic" pitchFamily="34" charset="0"/>
                <a:ea typeface="BIZ UDPGothic" pitchFamily="34" charset="-122"/>
                <a:cs typeface="BIZ UDPGothic" pitchFamily="34" charset="-120"/>
              </a:rPr>
              <a:t>承認者の明示、権限逸脱の拒否、運用の再現性</a:t>
            </a:r>
            <a:endParaRPr lang="en-US" sz="1050" dirty="0"/>
          </a:p>
        </p:txBody>
      </p:sp>
      <p:sp>
        <p:nvSpPr>
          <p:cNvPr id="45" name="Shape 43"/>
          <p:cNvSpPr/>
          <p:nvPr/>
        </p:nvSpPr>
        <p:spPr>
          <a:xfrm>
            <a:off x="8083296" y="3913632"/>
            <a:ext cx="3605479" cy="896112"/>
          </a:xfrm>
          <a:prstGeom prst="rect">
            <a:avLst/>
          </a:prstGeom>
          <a:solidFill>
            <a:srgbClr val="FFFFFF"/>
          </a:solidFill>
          <a:ln w="9525">
            <a:solidFill>
              <a:srgbClr val="DCD5C6"/>
            </a:solidFill>
            <a:prstDash val="solid"/>
          </a:ln>
        </p:spPr>
      </p:sp>
      <p:sp>
        <p:nvSpPr>
          <p:cNvPr id="46" name="Shape 44"/>
          <p:cNvSpPr/>
          <p:nvPr/>
        </p:nvSpPr>
        <p:spPr>
          <a:xfrm>
            <a:off x="8083296" y="3913632"/>
            <a:ext cx="685800" cy="896112"/>
          </a:xfrm>
          <a:prstGeom prst="rect">
            <a:avLst/>
          </a:prstGeom>
          <a:solidFill>
            <a:srgbClr val="C4A06D"/>
          </a:solidFill>
          <a:ln/>
        </p:spPr>
      </p:sp>
      <p:sp>
        <p:nvSpPr>
          <p:cNvPr id="47" name="Text 45"/>
          <p:cNvSpPr/>
          <p:nvPr/>
        </p:nvSpPr>
        <p:spPr>
          <a:xfrm>
            <a:off x="8083296" y="3913632"/>
            <a:ext cx="685800" cy="896112"/>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社会</a:t>
            </a:r>
            <a:endParaRPr lang="en-US" sz="1400" dirty="0"/>
          </a:p>
        </p:txBody>
      </p:sp>
      <p:sp>
        <p:nvSpPr>
          <p:cNvPr id="48" name="Text 46"/>
          <p:cNvSpPr/>
          <p:nvPr/>
        </p:nvSpPr>
        <p:spPr>
          <a:xfrm>
            <a:off x="8887968" y="3968496"/>
            <a:ext cx="2691079" cy="804672"/>
          </a:xfrm>
          <a:prstGeom prst="rect">
            <a:avLst/>
          </a:prstGeom>
          <a:noFill/>
          <a:ln/>
        </p:spPr>
        <p:txBody>
          <a:bodyPr wrap="square" lIns="0" tIns="0" rIns="0" bIns="0" rtlCol="0" anchor="ctr"/>
          <a:lstStyle/>
          <a:p>
            <a:pPr indent="0" marL="0">
              <a:spcAft>
                <a:spcPts val="300"/>
              </a:spcAft>
              <a:buNone/>
            </a:pPr>
            <a:r>
              <a:rPr lang="en-US" sz="1050" b="1" dirty="0">
                <a:solidFill>
                  <a:srgbClr val="4F7A5C"/>
                </a:solidFill>
                <a:latin typeface="BIZ UDPGothic" pitchFamily="34" charset="0"/>
                <a:ea typeface="BIZ UDPGothic" pitchFamily="34" charset="-122"/>
                <a:cs typeface="BIZ UDPGothic" pitchFamily="34" charset="-120"/>
              </a:rPr>
              <a:t>成果 </a:t>
            </a:r>
            <a:pPr indent="0" marL="0">
              <a:spcAft>
                <a:spcPts val="300"/>
              </a:spcAft>
              <a:buNone/>
            </a:pPr>
            <a:r>
              <a:rPr lang="en-US" sz="1050" dirty="0">
                <a:solidFill>
                  <a:srgbClr val="243D54"/>
                </a:solidFill>
                <a:latin typeface="BIZ UDPGothic" pitchFamily="34" charset="0"/>
                <a:ea typeface="BIZ UDPGothic" pitchFamily="34" charset="-122"/>
                <a:cs typeface="BIZ UDPGothic" pitchFamily="34" charset="-120"/>
              </a:rPr>
              <a:t>利用者・取引先・監査に、判断と実行の根拠を示せる</a:t>
            </a:r>
            <a:endParaRPr lang="en-US" sz="1050" dirty="0"/>
          </a:p>
          <a:p>
            <a:pPr indent="0" marL="0">
              <a:spcAft>
                <a:spcPts val="300"/>
              </a:spcAft>
              <a:buNone/>
            </a:pPr>
            <a:r>
              <a:rPr lang="en-US" sz="1050" b="1" dirty="0">
                <a:solidFill>
                  <a:srgbClr val="8C5A44"/>
                </a:solidFill>
                <a:latin typeface="BIZ UDPGothic" pitchFamily="34" charset="0"/>
                <a:ea typeface="BIZ UDPGothic" pitchFamily="34" charset="-122"/>
                <a:cs typeface="BIZ UDPGothic" pitchFamily="34" charset="-120"/>
              </a:rPr>
              <a:t>条件 </a:t>
            </a:r>
            <a:pPr indent="0" marL="0">
              <a:spcAft>
                <a:spcPts val="300"/>
              </a:spcAft>
              <a:buNone/>
            </a:pPr>
            <a:r>
              <a:rPr lang="en-US" sz="1050" dirty="0">
                <a:solidFill>
                  <a:srgbClr val="243D54"/>
                </a:solidFill>
                <a:latin typeface="BIZ UDPGothic" pitchFamily="34" charset="0"/>
                <a:ea typeface="BIZ UDPGothic" pitchFamily="34" charset="-122"/>
                <a:cs typeface="BIZ UDPGothic" pitchFamily="34" charset="-120"/>
              </a:rPr>
              <a:t>異議・少数意見の保持、公開の境界、合意の正当性</a:t>
            </a:r>
            <a:endParaRPr lang="en-US" sz="1050" dirty="0"/>
          </a:p>
        </p:txBody>
      </p:sp>
      <p:sp>
        <p:nvSpPr>
          <p:cNvPr id="49" name="Shape 47"/>
          <p:cNvSpPr/>
          <p:nvPr/>
        </p:nvSpPr>
        <p:spPr>
          <a:xfrm>
            <a:off x="502920" y="4983480"/>
            <a:ext cx="11185855" cy="548640"/>
          </a:xfrm>
          <a:prstGeom prst="rect">
            <a:avLst/>
          </a:prstGeom>
          <a:solidFill>
            <a:srgbClr val="243D54"/>
          </a:solidFill>
          <a:ln/>
        </p:spPr>
      </p:sp>
      <p:sp>
        <p:nvSpPr>
          <p:cNvPr id="50" name="Shape 48"/>
          <p:cNvSpPr/>
          <p:nvPr/>
        </p:nvSpPr>
        <p:spPr>
          <a:xfrm>
            <a:off x="502920" y="4983480"/>
            <a:ext cx="64008" cy="548640"/>
          </a:xfrm>
          <a:prstGeom prst="rect">
            <a:avLst/>
          </a:prstGeom>
          <a:solidFill>
            <a:srgbClr val="C4A06D"/>
          </a:solidFill>
          <a:ln/>
        </p:spPr>
      </p:sp>
      <p:sp>
        <p:nvSpPr>
          <p:cNvPr id="51" name="Text 49"/>
          <p:cNvSpPr/>
          <p:nvPr/>
        </p:nvSpPr>
        <p:spPr>
          <a:xfrm>
            <a:off x="731520" y="4983480"/>
            <a:ext cx="10865815" cy="548640"/>
          </a:xfrm>
          <a:prstGeom prst="rect">
            <a:avLst/>
          </a:prstGeom>
          <a:noFill/>
          <a:ln/>
        </p:spPr>
        <p:txBody>
          <a:bodyPr wrap="square" lIns="0" tIns="0" rIns="0" bIns="0" rtlCol="0" anchor="ctr"/>
          <a:lstStyle/>
          <a:p>
            <a:pPr indent="0" marL="0">
              <a:buNone/>
            </a:pPr>
            <a:r>
              <a:rPr lang="en-US" sz="1500" b="1" dirty="0">
                <a:solidFill>
                  <a:srgbClr val="F5F1E8"/>
                </a:solidFill>
                <a:latin typeface="BIZ UDPGothic" pitchFamily="34" charset="0"/>
                <a:ea typeface="BIZ UDPGothic" pitchFamily="34" charset="-122"/>
                <a:cs typeface="BIZ UDPGothic" pitchFamily="34" charset="-120"/>
              </a:rPr>
              <a:t>目指すのは効率だけでなく、知識の継承と、説明できる協働。</a:t>
            </a:r>
            <a:endParaRPr lang="en-US" sz="1500" dirty="0"/>
          </a:p>
        </p:txBody>
      </p:sp>
      <p:sp>
        <p:nvSpPr>
          <p:cNvPr id="52" name="Text 50"/>
          <p:cNvSpPr/>
          <p:nvPr/>
        </p:nvSpPr>
        <p:spPr>
          <a:xfrm>
            <a:off x="502920" y="5669280"/>
            <a:ext cx="11185855" cy="274320"/>
          </a:xfrm>
          <a:prstGeom prst="rect">
            <a:avLst/>
          </a:prstGeom>
          <a:noFill/>
          <a:ln/>
        </p:spPr>
        <p:txBody>
          <a:bodyPr wrap="square" lIns="0" tIns="0" rIns="0" bIns="0" rtlCol="0" anchor="t"/>
          <a:lstStyle/>
          <a:p>
            <a:pPr indent="0" marL="0">
              <a:buNone/>
            </a:pPr>
            <a:r>
              <a:rPr lang="en-US" sz="1050" dirty="0">
                <a:solidFill>
                  <a:srgbClr val="56636E"/>
                </a:solidFill>
                <a:latin typeface="BIZ UDPGothic" pitchFamily="34" charset="0"/>
                <a:ea typeface="BIZ UDPGothic" pitchFamily="34" charset="-122"/>
                <a:cs typeface="BIZ UDPGothic" pitchFamily="34" charset="-120"/>
              </a:rPr>
              <a:t>いずれも実証を待つ仮説であり、社会的な成果を達成したという主張ではない。</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43D54"/>
        </a:solidFill>
      </p:bgPr>
    </p:bg>
    <p:spTree>
      <p:nvGrpSpPr>
        <p:cNvPr id="1" name=""/>
        <p:cNvGrpSpPr/>
        <p:nvPr/>
      </p:nvGrpSpPr>
      <p:grpSpPr>
        <a:xfrm>
          <a:off x="0" y="0"/>
          <a:ext cx="0" cy="0"/>
          <a:chOff x="0" y="0"/>
          <a:chExt cx="0" cy="0"/>
        </a:xfrm>
      </p:grpSpPr>
      <p:pic>
        <p:nvPicPr>
          <p:cNvPr id="2" name="Image 0" descr="side.jpg">    </p:cNvPr>
          <p:cNvPicPr>
            <a:picLocks noChangeAspect="1"/>
          </p:cNvPicPr>
          <p:nvPr/>
        </p:nvPicPr>
        <p:blipFill>
          <a:blip r:embed="rId1"/>
          <a:srcRect l="0" r="0" t="0" b="0"/>
          <a:stretch/>
        </p:blipFill>
        <p:spPr>
          <a:xfrm>
            <a:off x="7863840" y="0"/>
            <a:ext cx="4327855" cy="6858000"/>
          </a:xfrm>
          <a:prstGeom prst="rect">
            <a:avLst/>
          </a:prstGeom>
        </p:spPr>
      </p:pic>
      <p:sp>
        <p:nvSpPr>
          <p:cNvPr id="3" name="Shape 0"/>
          <p:cNvSpPr/>
          <p:nvPr/>
        </p:nvSpPr>
        <p:spPr>
          <a:xfrm>
            <a:off x="7863840" y="0"/>
            <a:ext cx="4327855" cy="6858000"/>
          </a:xfrm>
          <a:prstGeom prst="rect">
            <a:avLst/>
          </a:prstGeom>
          <a:solidFill>
            <a:srgbClr val="243D54">
              <a:alpha val="45000"/>
            </a:srgbClr>
          </a:solidFill>
          <a:ln/>
        </p:spPr>
      </p:sp>
      <p:sp>
        <p:nvSpPr>
          <p:cNvPr id="4" name="Text 1"/>
          <p:cNvSpPr/>
          <p:nvPr/>
        </p:nvSpPr>
        <p:spPr>
          <a:xfrm>
            <a:off x="502920" y="274320"/>
            <a:ext cx="6400800" cy="228600"/>
          </a:xfrm>
          <a:prstGeom prst="rect">
            <a:avLst/>
          </a:prstGeom>
          <a:noFill/>
          <a:ln/>
        </p:spPr>
        <p:txBody>
          <a:bodyPr wrap="square" lIns="0" tIns="0" rIns="0" bIns="0" rtlCol="0" anchor="t"/>
          <a:lstStyle/>
          <a:p>
            <a:pPr indent="0" marL="0">
              <a:buNone/>
            </a:pPr>
            <a:r>
              <a:rPr lang="en-US" sz="950" spc="200" kern="0" dirty="0">
                <a:solidFill>
                  <a:srgbClr val="A7B7A7"/>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05  社会的な意義</a:t>
            </a:r>
            <a:endParaRPr lang="en-US" sz="950" dirty="0"/>
          </a:p>
        </p:txBody>
      </p:sp>
      <p:sp>
        <p:nvSpPr>
          <p:cNvPr id="5" name="Text 2"/>
          <p:cNvSpPr/>
          <p:nvPr/>
        </p:nvSpPr>
        <p:spPr>
          <a:xfrm>
            <a:off x="502920" y="685800"/>
            <a:ext cx="7132320" cy="1188720"/>
          </a:xfrm>
          <a:prstGeom prst="rect">
            <a:avLst/>
          </a:prstGeom>
          <a:noFill/>
          <a:ln/>
        </p:spPr>
        <p:txBody>
          <a:bodyPr wrap="square" lIns="0" tIns="0" rIns="0" bIns="0" rtlCol="0" anchor="ctr"/>
          <a:lstStyle/>
          <a:p>
            <a:pPr indent="0" marL="0">
              <a:buNone/>
            </a:pPr>
            <a:r>
              <a:rPr lang="en-US" sz="3000" b="1" dirty="0">
                <a:solidFill>
                  <a:srgbClr val="F5F1E8"/>
                </a:solidFill>
                <a:latin typeface="BIZ UDPGothic" pitchFamily="34" charset="0"/>
                <a:ea typeface="BIZ UDPGothic" pitchFamily="34" charset="-122"/>
                <a:cs typeface="BIZ UDPGothic" pitchFamily="34" charset="-120"/>
              </a:rPr>
              <a:t>AIが進歩しても、</a:t>
            </a:r>
            <a:endParaRPr lang="en-US" sz="3000" dirty="0"/>
          </a:p>
          <a:p>
            <a:pPr indent="0" marL="0">
              <a:buNone/>
            </a:pPr>
            <a:r>
              <a:rPr lang="en-US" sz="3000" b="1" dirty="0">
                <a:solidFill>
                  <a:srgbClr val="F5F1E8"/>
                </a:solidFill>
                <a:latin typeface="BIZ UDPGothic" pitchFamily="34" charset="0"/>
                <a:ea typeface="BIZ UDPGothic" pitchFamily="34" charset="-122"/>
                <a:cs typeface="BIZ UDPGothic" pitchFamily="34" charset="-120"/>
              </a:rPr>
              <a:t>交換しにくい価値がある</a:t>
            </a:r>
            <a:endParaRPr lang="en-US" sz="3000" dirty="0"/>
          </a:p>
        </p:txBody>
      </p:sp>
      <p:sp>
        <p:nvSpPr>
          <p:cNvPr id="6" name="Text 3"/>
          <p:cNvSpPr/>
          <p:nvPr/>
        </p:nvSpPr>
        <p:spPr>
          <a:xfrm>
            <a:off x="502920" y="1965960"/>
            <a:ext cx="7132320" cy="365760"/>
          </a:xfrm>
          <a:prstGeom prst="rect">
            <a:avLst/>
          </a:prstGeom>
          <a:noFill/>
          <a:ln/>
        </p:spPr>
        <p:txBody>
          <a:bodyPr wrap="square" lIns="0" tIns="0" rIns="0" bIns="0" rtlCol="0" anchor="t"/>
          <a:lstStyle/>
          <a:p>
            <a:pPr indent="0" marL="0">
              <a:buNone/>
            </a:pPr>
            <a:r>
              <a:rPr lang="en-US" sz="1350" dirty="0">
                <a:solidFill>
                  <a:srgbClr val="C9D3D9"/>
                </a:solidFill>
                <a:latin typeface="BIZ UDPGothic" pitchFamily="34" charset="0"/>
                <a:ea typeface="BIZ UDPGothic" pitchFamily="34" charset="-122"/>
                <a:cs typeface="BIZ UDPGothic" pitchFamily="34" charset="-120"/>
              </a:rPr>
              <a:t>モデルを中心に据えないことが、AIを中心的な実務能力として生かす条件になる。</a:t>
            </a:r>
            <a:endParaRPr lang="en-US" sz="1350" dirty="0"/>
          </a:p>
        </p:txBody>
      </p:sp>
      <p:sp>
        <p:nvSpPr>
          <p:cNvPr id="7" name="Text 4"/>
          <p:cNvSpPr/>
          <p:nvPr/>
        </p:nvSpPr>
        <p:spPr>
          <a:xfrm>
            <a:off x="502920" y="2606040"/>
            <a:ext cx="3429000" cy="365760"/>
          </a:xfrm>
          <a:prstGeom prst="rect">
            <a:avLst/>
          </a:prstGeom>
          <a:noFill/>
          <a:ln/>
        </p:spPr>
        <p:txBody>
          <a:bodyPr wrap="square" lIns="0" tIns="0" rIns="0" bIns="0" rtlCol="0" anchor="t"/>
          <a:lstStyle/>
          <a:p>
            <a:pPr indent="0" marL="0">
              <a:buNone/>
            </a:pPr>
            <a:r>
              <a:rPr lang="en-US" sz="1400" b="1" dirty="0">
                <a:solidFill>
                  <a:srgbClr val="789FB6"/>
                </a:solidFill>
                <a:latin typeface="BIZ UDPGothic" pitchFamily="34" charset="0"/>
                <a:ea typeface="BIZ UDPGothic" pitchFamily="34" charset="-122"/>
                <a:cs typeface="BIZ UDPGothic" pitchFamily="34" charset="-120"/>
              </a:rPr>
              <a:t>交換しやすくしたいもの</a:t>
            </a:r>
            <a:endParaRPr lang="en-US" sz="1400" dirty="0"/>
          </a:p>
        </p:txBody>
      </p:sp>
      <p:sp>
        <p:nvSpPr>
          <p:cNvPr id="8" name="Shape 5"/>
          <p:cNvSpPr/>
          <p:nvPr/>
        </p:nvSpPr>
        <p:spPr>
          <a:xfrm>
            <a:off x="502920" y="3063240"/>
            <a:ext cx="3429000" cy="658368"/>
          </a:xfrm>
          <a:prstGeom prst="rect">
            <a:avLst/>
          </a:prstGeom>
          <a:solidFill>
            <a:srgbClr val="2E4C66"/>
          </a:solidFill>
          <a:ln/>
        </p:spPr>
      </p:sp>
      <p:sp>
        <p:nvSpPr>
          <p:cNvPr id="9" name="Shape 6"/>
          <p:cNvSpPr/>
          <p:nvPr/>
        </p:nvSpPr>
        <p:spPr>
          <a:xfrm>
            <a:off x="502920" y="3063240"/>
            <a:ext cx="54864" cy="658368"/>
          </a:xfrm>
          <a:prstGeom prst="rect">
            <a:avLst/>
          </a:prstGeom>
          <a:solidFill>
            <a:srgbClr val="789FB6"/>
          </a:solidFill>
          <a:ln/>
        </p:spPr>
      </p:sp>
      <p:sp>
        <p:nvSpPr>
          <p:cNvPr id="10" name="Text 7"/>
          <p:cNvSpPr/>
          <p:nvPr/>
        </p:nvSpPr>
        <p:spPr>
          <a:xfrm>
            <a:off x="704088" y="3063240"/>
            <a:ext cx="3154680" cy="658368"/>
          </a:xfrm>
          <a:prstGeom prst="rect">
            <a:avLst/>
          </a:prstGeom>
          <a:noFill/>
          <a:ln/>
        </p:spPr>
        <p:txBody>
          <a:bodyPr wrap="square" lIns="0" tIns="0" rIns="0" bIns="0" rtlCol="0" anchor="ctr"/>
          <a:lstStyle/>
          <a:p>
            <a:pPr indent="0" marL="0">
              <a:buNone/>
            </a:pPr>
            <a:r>
              <a:rPr lang="en-US" sz="1300" dirty="0">
                <a:solidFill>
                  <a:srgbClr val="F5F1E8"/>
                </a:solidFill>
                <a:latin typeface="BIZ UDPGothic" pitchFamily="34" charset="0"/>
                <a:ea typeface="BIZ UDPGothic" pitchFamily="34" charset="-122"/>
                <a:cs typeface="BIZ UDPGothic" pitchFamily="34" charset="-120"/>
              </a:rPr>
              <a:t>AIモデルと推論の仕組み</a:t>
            </a:r>
            <a:endParaRPr lang="en-US" sz="1300" dirty="0"/>
          </a:p>
        </p:txBody>
      </p:sp>
      <p:sp>
        <p:nvSpPr>
          <p:cNvPr id="11" name="Shape 8"/>
          <p:cNvSpPr/>
          <p:nvPr/>
        </p:nvSpPr>
        <p:spPr>
          <a:xfrm>
            <a:off x="502920" y="3840480"/>
            <a:ext cx="3429000" cy="658368"/>
          </a:xfrm>
          <a:prstGeom prst="rect">
            <a:avLst/>
          </a:prstGeom>
          <a:solidFill>
            <a:srgbClr val="2E4C66"/>
          </a:solidFill>
          <a:ln/>
        </p:spPr>
      </p:sp>
      <p:sp>
        <p:nvSpPr>
          <p:cNvPr id="12" name="Shape 9"/>
          <p:cNvSpPr/>
          <p:nvPr/>
        </p:nvSpPr>
        <p:spPr>
          <a:xfrm>
            <a:off x="502920" y="3840480"/>
            <a:ext cx="54864" cy="658368"/>
          </a:xfrm>
          <a:prstGeom prst="rect">
            <a:avLst/>
          </a:prstGeom>
          <a:solidFill>
            <a:srgbClr val="789FB6"/>
          </a:solidFill>
          <a:ln/>
        </p:spPr>
      </p:sp>
      <p:sp>
        <p:nvSpPr>
          <p:cNvPr id="13" name="Text 10"/>
          <p:cNvSpPr/>
          <p:nvPr/>
        </p:nvSpPr>
        <p:spPr>
          <a:xfrm>
            <a:off x="704088" y="3840480"/>
            <a:ext cx="3154680" cy="658368"/>
          </a:xfrm>
          <a:prstGeom prst="rect">
            <a:avLst/>
          </a:prstGeom>
          <a:noFill/>
          <a:ln/>
        </p:spPr>
        <p:txBody>
          <a:bodyPr wrap="square" lIns="0" tIns="0" rIns="0" bIns="0" rtlCol="0" anchor="ctr"/>
          <a:lstStyle/>
          <a:p>
            <a:pPr indent="0" marL="0">
              <a:buNone/>
            </a:pPr>
            <a:r>
              <a:rPr lang="en-US" sz="1300" dirty="0">
                <a:solidFill>
                  <a:srgbClr val="F5F1E8"/>
                </a:solidFill>
                <a:latin typeface="BIZ UDPGothic" pitchFamily="34" charset="0"/>
                <a:ea typeface="BIZ UDPGothic" pitchFamily="34" charset="-122"/>
                <a:cs typeface="BIZ UDPGothic" pitchFamily="34" charset="-120"/>
              </a:rPr>
              <a:t>画面・アプリケーション・実行環境</a:t>
            </a:r>
            <a:endParaRPr lang="en-US" sz="1300" dirty="0"/>
          </a:p>
        </p:txBody>
      </p:sp>
      <p:sp>
        <p:nvSpPr>
          <p:cNvPr id="14" name="Shape 11"/>
          <p:cNvSpPr/>
          <p:nvPr/>
        </p:nvSpPr>
        <p:spPr>
          <a:xfrm>
            <a:off x="502920" y="4617720"/>
            <a:ext cx="3429000" cy="658368"/>
          </a:xfrm>
          <a:prstGeom prst="rect">
            <a:avLst/>
          </a:prstGeom>
          <a:solidFill>
            <a:srgbClr val="2E4C66"/>
          </a:solidFill>
          <a:ln/>
        </p:spPr>
      </p:sp>
      <p:sp>
        <p:nvSpPr>
          <p:cNvPr id="15" name="Shape 12"/>
          <p:cNvSpPr/>
          <p:nvPr/>
        </p:nvSpPr>
        <p:spPr>
          <a:xfrm>
            <a:off x="502920" y="4617720"/>
            <a:ext cx="54864" cy="658368"/>
          </a:xfrm>
          <a:prstGeom prst="rect">
            <a:avLst/>
          </a:prstGeom>
          <a:solidFill>
            <a:srgbClr val="789FB6"/>
          </a:solidFill>
          <a:ln/>
        </p:spPr>
      </p:sp>
      <p:sp>
        <p:nvSpPr>
          <p:cNvPr id="16" name="Text 13"/>
          <p:cNvSpPr/>
          <p:nvPr/>
        </p:nvSpPr>
        <p:spPr>
          <a:xfrm>
            <a:off x="704088" y="4617720"/>
            <a:ext cx="3154680" cy="658368"/>
          </a:xfrm>
          <a:prstGeom prst="rect">
            <a:avLst/>
          </a:prstGeom>
          <a:noFill/>
          <a:ln/>
        </p:spPr>
        <p:txBody>
          <a:bodyPr wrap="square" lIns="0" tIns="0" rIns="0" bIns="0" rtlCol="0" anchor="ctr"/>
          <a:lstStyle/>
          <a:p>
            <a:pPr indent="0" marL="0">
              <a:buNone/>
            </a:pPr>
            <a:r>
              <a:rPr lang="en-US" sz="1300" dirty="0">
                <a:solidFill>
                  <a:srgbClr val="F5F1E8"/>
                </a:solidFill>
                <a:latin typeface="BIZ UDPGothic" pitchFamily="34" charset="0"/>
                <a:ea typeface="BIZ UDPGothic" pitchFamily="34" charset="-122"/>
                <a:cs typeface="BIZ UDPGothic" pitchFamily="34" charset="-120"/>
              </a:rPr>
              <a:t>個別の提供元と計算資源</a:t>
            </a:r>
            <a:endParaRPr lang="en-US" sz="1300" dirty="0"/>
          </a:p>
        </p:txBody>
      </p:sp>
      <p:sp>
        <p:nvSpPr>
          <p:cNvPr id="17" name="Shape 14"/>
          <p:cNvSpPr/>
          <p:nvPr/>
        </p:nvSpPr>
        <p:spPr>
          <a:xfrm>
            <a:off x="502920" y="5394960"/>
            <a:ext cx="3429000" cy="658368"/>
          </a:xfrm>
          <a:prstGeom prst="rect">
            <a:avLst/>
          </a:prstGeom>
          <a:solidFill>
            <a:srgbClr val="2E4C66"/>
          </a:solidFill>
          <a:ln/>
        </p:spPr>
      </p:sp>
      <p:sp>
        <p:nvSpPr>
          <p:cNvPr id="18" name="Shape 15"/>
          <p:cNvSpPr/>
          <p:nvPr/>
        </p:nvSpPr>
        <p:spPr>
          <a:xfrm>
            <a:off x="502920" y="5394960"/>
            <a:ext cx="54864" cy="658368"/>
          </a:xfrm>
          <a:prstGeom prst="rect">
            <a:avLst/>
          </a:prstGeom>
          <a:solidFill>
            <a:srgbClr val="789FB6"/>
          </a:solidFill>
          <a:ln/>
        </p:spPr>
      </p:sp>
      <p:sp>
        <p:nvSpPr>
          <p:cNvPr id="19" name="Text 16"/>
          <p:cNvSpPr/>
          <p:nvPr/>
        </p:nvSpPr>
        <p:spPr>
          <a:xfrm>
            <a:off x="704088" y="5394960"/>
            <a:ext cx="3154680" cy="658368"/>
          </a:xfrm>
          <a:prstGeom prst="rect">
            <a:avLst/>
          </a:prstGeom>
          <a:noFill/>
          <a:ln/>
        </p:spPr>
        <p:txBody>
          <a:bodyPr wrap="square" lIns="0" tIns="0" rIns="0" bIns="0" rtlCol="0" anchor="ctr"/>
          <a:lstStyle/>
          <a:p>
            <a:pPr indent="0" marL="0">
              <a:buNone/>
            </a:pPr>
            <a:r>
              <a:rPr lang="en-US" sz="1300" dirty="0">
                <a:solidFill>
                  <a:srgbClr val="F5F1E8"/>
                </a:solidFill>
                <a:latin typeface="BIZ UDPGothic" pitchFamily="34" charset="0"/>
                <a:ea typeface="BIZ UDPGothic" pitchFamily="34" charset="-122"/>
                <a:cs typeface="BIZ UDPGothic" pitchFamily="34" charset="-120"/>
              </a:rPr>
              <a:t>特定のファイル形式や配布方法</a:t>
            </a:r>
            <a:endParaRPr lang="en-US" sz="1300" dirty="0"/>
          </a:p>
        </p:txBody>
      </p:sp>
      <p:sp>
        <p:nvSpPr>
          <p:cNvPr id="20" name="Text 17"/>
          <p:cNvSpPr/>
          <p:nvPr/>
        </p:nvSpPr>
        <p:spPr>
          <a:xfrm>
            <a:off x="4114800" y="2606040"/>
            <a:ext cx="3429000" cy="365760"/>
          </a:xfrm>
          <a:prstGeom prst="rect">
            <a:avLst/>
          </a:prstGeom>
          <a:noFill/>
          <a:ln/>
        </p:spPr>
        <p:txBody>
          <a:bodyPr wrap="square" lIns="0" tIns="0" rIns="0" bIns="0" rtlCol="0" anchor="t"/>
          <a:lstStyle/>
          <a:p>
            <a:pPr indent="0" marL="0">
              <a:buNone/>
            </a:pPr>
            <a:r>
              <a:rPr lang="en-US" sz="1400" b="1" dirty="0">
                <a:solidFill>
                  <a:srgbClr val="C4A06D"/>
                </a:solidFill>
                <a:latin typeface="BIZ UDPGothic" pitchFamily="34" charset="0"/>
                <a:ea typeface="BIZ UDPGothic" pitchFamily="34" charset="-122"/>
                <a:cs typeface="BIZ UDPGothic" pitchFamily="34" charset="-120"/>
              </a:rPr>
              <a:t>続けて守るべきもの</a:t>
            </a:r>
            <a:endParaRPr lang="en-US" sz="1400" dirty="0"/>
          </a:p>
        </p:txBody>
      </p:sp>
      <p:sp>
        <p:nvSpPr>
          <p:cNvPr id="21" name="Shape 18"/>
          <p:cNvSpPr/>
          <p:nvPr/>
        </p:nvSpPr>
        <p:spPr>
          <a:xfrm>
            <a:off x="4114800" y="3063240"/>
            <a:ext cx="3429000" cy="658368"/>
          </a:xfrm>
          <a:prstGeom prst="rect">
            <a:avLst/>
          </a:prstGeom>
          <a:solidFill>
            <a:srgbClr val="35546F"/>
          </a:solidFill>
          <a:ln/>
        </p:spPr>
      </p:sp>
      <p:sp>
        <p:nvSpPr>
          <p:cNvPr id="22" name="Shape 19"/>
          <p:cNvSpPr/>
          <p:nvPr/>
        </p:nvSpPr>
        <p:spPr>
          <a:xfrm>
            <a:off x="4114800" y="3063240"/>
            <a:ext cx="54864" cy="658368"/>
          </a:xfrm>
          <a:prstGeom prst="rect">
            <a:avLst/>
          </a:prstGeom>
          <a:solidFill>
            <a:srgbClr val="C4A06D"/>
          </a:solidFill>
          <a:ln/>
        </p:spPr>
      </p:sp>
      <p:sp>
        <p:nvSpPr>
          <p:cNvPr id="23" name="Text 20"/>
          <p:cNvSpPr/>
          <p:nvPr/>
        </p:nvSpPr>
        <p:spPr>
          <a:xfrm>
            <a:off x="4315968" y="3063240"/>
            <a:ext cx="3154680" cy="658368"/>
          </a:xfrm>
          <a:prstGeom prst="rect">
            <a:avLst/>
          </a:prstGeom>
          <a:noFill/>
          <a:ln/>
        </p:spPr>
        <p:txBody>
          <a:bodyPr wrap="square" lIns="0" tIns="0" rIns="0" bIns="0" rtlCol="0" anchor="ctr"/>
          <a:lstStyle/>
          <a:p>
            <a:pPr indent="0" marL="0">
              <a:buNone/>
            </a:pPr>
            <a:r>
              <a:rPr lang="en-US" sz="1300" b="1" dirty="0">
                <a:solidFill>
                  <a:srgbClr val="F5F1E8"/>
                </a:solidFill>
                <a:latin typeface="BIZ UDPGothic" pitchFamily="34" charset="0"/>
                <a:ea typeface="BIZ UDPGothic" pitchFamily="34" charset="-122"/>
                <a:cs typeface="BIZ UDPGothic" pitchFamily="34" charset="-120"/>
              </a:rPr>
              <a:t>本人や参加主体の目的・権利・委任範囲</a:t>
            </a:r>
            <a:endParaRPr lang="en-US" sz="1300" dirty="0"/>
          </a:p>
        </p:txBody>
      </p:sp>
      <p:sp>
        <p:nvSpPr>
          <p:cNvPr id="24" name="Shape 21"/>
          <p:cNvSpPr/>
          <p:nvPr/>
        </p:nvSpPr>
        <p:spPr>
          <a:xfrm>
            <a:off x="4114800" y="3840480"/>
            <a:ext cx="3429000" cy="658368"/>
          </a:xfrm>
          <a:prstGeom prst="rect">
            <a:avLst/>
          </a:prstGeom>
          <a:solidFill>
            <a:srgbClr val="35546F"/>
          </a:solidFill>
          <a:ln/>
        </p:spPr>
      </p:sp>
      <p:sp>
        <p:nvSpPr>
          <p:cNvPr id="25" name="Shape 22"/>
          <p:cNvSpPr/>
          <p:nvPr/>
        </p:nvSpPr>
        <p:spPr>
          <a:xfrm>
            <a:off x="4114800" y="3840480"/>
            <a:ext cx="54864" cy="658368"/>
          </a:xfrm>
          <a:prstGeom prst="rect">
            <a:avLst/>
          </a:prstGeom>
          <a:solidFill>
            <a:srgbClr val="C4A06D"/>
          </a:solidFill>
          <a:ln/>
        </p:spPr>
      </p:sp>
      <p:sp>
        <p:nvSpPr>
          <p:cNvPr id="26" name="Text 23"/>
          <p:cNvSpPr/>
          <p:nvPr/>
        </p:nvSpPr>
        <p:spPr>
          <a:xfrm>
            <a:off x="4315968" y="3840480"/>
            <a:ext cx="3154680" cy="658368"/>
          </a:xfrm>
          <a:prstGeom prst="rect">
            <a:avLst/>
          </a:prstGeom>
          <a:noFill/>
          <a:ln/>
        </p:spPr>
        <p:txBody>
          <a:bodyPr wrap="square" lIns="0" tIns="0" rIns="0" bIns="0" rtlCol="0" anchor="ctr"/>
          <a:lstStyle/>
          <a:p>
            <a:pPr indent="0" marL="0">
              <a:buNone/>
            </a:pPr>
            <a:r>
              <a:rPr lang="en-US" sz="1300" b="1" dirty="0">
                <a:solidFill>
                  <a:srgbClr val="F5F1E8"/>
                </a:solidFill>
                <a:latin typeface="BIZ UDPGothic" pitchFamily="34" charset="0"/>
                <a:ea typeface="BIZ UDPGothic" pitchFamily="34" charset="-122"/>
                <a:cs typeface="BIZ UDPGothic" pitchFamily="34" charset="-120"/>
              </a:rPr>
              <a:t>分野の知識・例外・制約</a:t>
            </a:r>
            <a:endParaRPr lang="en-US" sz="1300" dirty="0"/>
          </a:p>
        </p:txBody>
      </p:sp>
      <p:sp>
        <p:nvSpPr>
          <p:cNvPr id="27" name="Shape 24"/>
          <p:cNvSpPr/>
          <p:nvPr/>
        </p:nvSpPr>
        <p:spPr>
          <a:xfrm>
            <a:off x="4114800" y="4617720"/>
            <a:ext cx="3429000" cy="658368"/>
          </a:xfrm>
          <a:prstGeom prst="rect">
            <a:avLst/>
          </a:prstGeom>
          <a:solidFill>
            <a:srgbClr val="35546F"/>
          </a:solidFill>
          <a:ln/>
        </p:spPr>
      </p:sp>
      <p:sp>
        <p:nvSpPr>
          <p:cNvPr id="28" name="Shape 25"/>
          <p:cNvSpPr/>
          <p:nvPr/>
        </p:nvSpPr>
        <p:spPr>
          <a:xfrm>
            <a:off x="4114800" y="4617720"/>
            <a:ext cx="54864" cy="658368"/>
          </a:xfrm>
          <a:prstGeom prst="rect">
            <a:avLst/>
          </a:prstGeom>
          <a:solidFill>
            <a:srgbClr val="C4A06D"/>
          </a:solidFill>
          <a:ln/>
        </p:spPr>
      </p:sp>
      <p:sp>
        <p:nvSpPr>
          <p:cNvPr id="29" name="Text 26"/>
          <p:cNvSpPr/>
          <p:nvPr/>
        </p:nvSpPr>
        <p:spPr>
          <a:xfrm>
            <a:off x="4315968" y="4617720"/>
            <a:ext cx="3154680" cy="658368"/>
          </a:xfrm>
          <a:prstGeom prst="rect">
            <a:avLst/>
          </a:prstGeom>
          <a:noFill/>
          <a:ln/>
        </p:spPr>
        <p:txBody>
          <a:bodyPr wrap="square" lIns="0" tIns="0" rIns="0" bIns="0" rtlCol="0" anchor="ctr"/>
          <a:lstStyle/>
          <a:p>
            <a:pPr indent="0" marL="0">
              <a:buNone/>
            </a:pPr>
            <a:r>
              <a:rPr lang="en-US" sz="1300" b="1" dirty="0">
                <a:solidFill>
                  <a:srgbClr val="F5F1E8"/>
                </a:solidFill>
                <a:latin typeface="BIZ UDPGothic" pitchFamily="34" charset="0"/>
                <a:ea typeface="BIZ UDPGothic" pitchFamily="34" charset="-122"/>
                <a:cs typeface="BIZ UDPGothic" pitchFamily="34" charset="-120"/>
              </a:rPr>
              <a:t>判断の根拠と責任の履歴</a:t>
            </a:r>
            <a:endParaRPr lang="en-US" sz="1300" dirty="0"/>
          </a:p>
        </p:txBody>
      </p:sp>
      <p:sp>
        <p:nvSpPr>
          <p:cNvPr id="30" name="Shape 27"/>
          <p:cNvSpPr/>
          <p:nvPr/>
        </p:nvSpPr>
        <p:spPr>
          <a:xfrm>
            <a:off x="4114800" y="5394960"/>
            <a:ext cx="3429000" cy="658368"/>
          </a:xfrm>
          <a:prstGeom prst="rect">
            <a:avLst/>
          </a:prstGeom>
          <a:solidFill>
            <a:srgbClr val="35546F"/>
          </a:solidFill>
          <a:ln/>
        </p:spPr>
      </p:sp>
      <p:sp>
        <p:nvSpPr>
          <p:cNvPr id="31" name="Shape 28"/>
          <p:cNvSpPr/>
          <p:nvPr/>
        </p:nvSpPr>
        <p:spPr>
          <a:xfrm>
            <a:off x="4114800" y="5394960"/>
            <a:ext cx="54864" cy="658368"/>
          </a:xfrm>
          <a:prstGeom prst="rect">
            <a:avLst/>
          </a:prstGeom>
          <a:solidFill>
            <a:srgbClr val="C4A06D"/>
          </a:solidFill>
          <a:ln/>
        </p:spPr>
      </p:sp>
      <p:sp>
        <p:nvSpPr>
          <p:cNvPr id="32" name="Text 29"/>
          <p:cNvSpPr/>
          <p:nvPr/>
        </p:nvSpPr>
        <p:spPr>
          <a:xfrm>
            <a:off x="4315968" y="5394960"/>
            <a:ext cx="3154680" cy="658368"/>
          </a:xfrm>
          <a:prstGeom prst="rect">
            <a:avLst/>
          </a:prstGeom>
          <a:noFill/>
          <a:ln/>
        </p:spPr>
        <p:txBody>
          <a:bodyPr wrap="square" lIns="0" tIns="0" rIns="0" bIns="0" rtlCol="0" anchor="ctr"/>
          <a:lstStyle/>
          <a:p>
            <a:pPr indent="0" marL="0">
              <a:buNone/>
            </a:pPr>
            <a:r>
              <a:rPr lang="en-US" sz="1300" b="1" dirty="0">
                <a:solidFill>
                  <a:srgbClr val="F5F1E8"/>
                </a:solidFill>
                <a:latin typeface="BIZ UDPGothic" pitchFamily="34" charset="0"/>
                <a:ea typeface="BIZ UDPGothic" pitchFamily="34" charset="-122"/>
                <a:cs typeface="BIZ UDPGothic" pitchFamily="34" charset="-120"/>
              </a:rPr>
              <a:t>結果と再評価の証拠</a:t>
            </a:r>
            <a:endParaRPr lang="en-US" sz="1300" dirty="0"/>
          </a:p>
        </p:txBody>
      </p:sp>
      <p:sp>
        <p:nvSpPr>
          <p:cNvPr id="33" name="Text 30"/>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F5F1E8"/>
                </a:solidFill>
                <a:latin typeface="Georgia" pitchFamily="34" charset="0"/>
                <a:ea typeface="Georgia" pitchFamily="34" charset="-122"/>
                <a:cs typeface="Georgia"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274320"/>
            <a:ext cx="1118585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06  現在地</a:t>
            </a:r>
            <a:endParaRPr lang="en-US" sz="950" dirty="0"/>
          </a:p>
        </p:txBody>
      </p:sp>
      <p:sp>
        <p:nvSpPr>
          <p:cNvPr id="3" name="Text 1"/>
          <p:cNvSpPr/>
          <p:nvPr/>
        </p:nvSpPr>
        <p:spPr>
          <a:xfrm>
            <a:off x="502920" y="530352"/>
            <a:ext cx="1118585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実証は限定的。だから検証の条件を先に決める</a:t>
            </a:r>
            <a:endParaRPr lang="en-US" sz="2500" dirty="0"/>
          </a:p>
        </p:txBody>
      </p:sp>
      <p:sp>
        <p:nvSpPr>
          <p:cNvPr id="4" name="Text 2"/>
          <p:cNvSpPr/>
          <p:nvPr/>
        </p:nvSpPr>
        <p:spPr>
          <a:xfrm>
            <a:off x="502920" y="1097280"/>
            <a:ext cx="1118585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どの製品も生成AIを用いた初期開発中で、人による確認は完了していない。製品ごとに到達点が違う。</a:t>
            </a:r>
            <a:endParaRPr lang="en-US" sz="1300" dirty="0"/>
          </a:p>
        </p:txBody>
      </p:sp>
      <p:sp>
        <p:nvSpPr>
          <p:cNvPr id="5" name="Text 3"/>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26</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1627632"/>
          <a:ext cx="7589520" cy="914400"/>
        </p:xfrm>
        <a:graphic>
          <a:graphicData uri="http://schemas.openxmlformats.org/drawingml/2006/table">
            <a:tbl>
              <a:tblPr/>
              <a:tblGrid>
                <a:gridCol w="1280160"/>
                <a:gridCol w="3429000"/>
                <a:gridCol w="2880360"/>
              </a:tblGrid>
              <a:tr h="347472">
                <a:tc>
                  <a:txBody>
                    <a:bodyPr/>
                    <a:lstStyle/>
                    <a:p>
                      <a:pPr indent="0" marL="0">
                        <a:buNone/>
                      </a:pPr>
                      <a:r>
                        <a:rPr lang="en-US" sz="950" b="1" dirty="0">
                          <a:solidFill>
                            <a:srgbClr val="F5F1E8"/>
                          </a:solidFill>
                          <a:latin typeface="BIZ UDPGothic" pitchFamily="34" charset="0"/>
                          <a:ea typeface="BIZ UDPGothic" pitchFamily="34" charset="-122"/>
                          <a:cs typeface="BIZ UDPGothic" pitchFamily="34" charset="-120"/>
                        </a:rPr>
                        <a:t>製品</a:t>
                      </a:r>
                      <a:endParaRPr lang="en-US" sz="9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243D54"/>
                    </a:solidFill>
                  </a:tcPr>
                </a:tc>
                <a:tc>
                  <a:txBody>
                    <a:bodyPr/>
                    <a:lstStyle/>
                    <a:p>
                      <a:pPr indent="0" marL="0">
                        <a:buNone/>
                      </a:pPr>
                      <a:r>
                        <a:rPr lang="en-US" sz="950" b="1" dirty="0">
                          <a:solidFill>
                            <a:srgbClr val="F5F1E8"/>
                          </a:solidFill>
                          <a:latin typeface="BIZ UDPGothic" pitchFamily="34" charset="0"/>
                          <a:ea typeface="BIZ UDPGothic" pitchFamily="34" charset="-122"/>
                          <a:cs typeface="BIZ UDPGothic" pitchFamily="34" charset="-120"/>
                        </a:rPr>
                        <a:t>確認できていること（公開資料）</a:t>
                      </a:r>
                      <a:endParaRPr lang="en-US" sz="9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243D54"/>
                    </a:solidFill>
                  </a:tcPr>
                </a:tc>
                <a:tc>
                  <a:txBody>
                    <a:bodyPr/>
                    <a:lstStyle/>
                    <a:p>
                      <a:pPr indent="0" marL="0">
                        <a:buNone/>
                      </a:pPr>
                      <a:r>
                        <a:rPr lang="en-US" sz="950" b="1" dirty="0">
                          <a:solidFill>
                            <a:srgbClr val="F5F1E8"/>
                          </a:solidFill>
                          <a:latin typeface="BIZ UDPGothic" pitchFamily="34" charset="0"/>
                          <a:ea typeface="BIZ UDPGothic" pitchFamily="34" charset="-122"/>
                          <a:cs typeface="BIZ UDPGothic" pitchFamily="34" charset="-120"/>
                        </a:rPr>
                        <a:t>まだ確認していないこと</a:t>
                      </a:r>
                      <a:endParaRPr lang="en-US" sz="9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243D54"/>
                    </a:solidFill>
                  </a:tcPr>
                </a:tc>
              </a:tr>
              <a:tr h="603504">
                <a:tc>
                  <a:txBody>
                    <a:bodyPr/>
                    <a:lstStyle/>
                    <a:p>
                      <a:pPr indent="0" marL="0">
                        <a:buNone/>
                      </a:pPr>
                      <a:r>
                        <a:rPr lang="en-US" sz="1050" b="1" dirty="0">
                          <a:solidFill>
                            <a:srgbClr val="243D54"/>
                          </a:solidFill>
                          <a:latin typeface="BIZ UDPGothic" pitchFamily="34" charset="0"/>
                          <a:ea typeface="BIZ UDPGothic" pitchFamily="34" charset="-122"/>
                          <a:cs typeface="BIZ UDPGothic" pitchFamily="34" charset="-120"/>
                        </a:rPr>
                        <a:t>SHO（MMI）</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試験公開版0.2.0。表の読み取り専用表示、出典報告、原本から外す手順</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050" dirty="0">
                          <a:solidFill>
                            <a:srgbClr val="8C5A44"/>
                          </a:solidFill>
                          <a:latin typeface="BIZ UDPGothic" pitchFamily="34" charset="0"/>
                          <a:ea typeface="BIZ UDPGothic" pitchFamily="34" charset="-122"/>
                          <a:cs typeface="BIZ UDPGothic" pitchFamily="34" charset="-120"/>
                        </a:rPr>
                        <a:t>SHOとしての製品定義、周囲の文章の正しさ</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603504">
                <a:tc>
                  <a:txBody>
                    <a:bodyPr/>
                    <a:lstStyle/>
                    <a:p>
                      <a:pPr indent="0" marL="0">
                        <a:buNone/>
                      </a:pPr>
                      <a:r>
                        <a:rPr lang="en-US" sz="1050" b="1" dirty="0">
                          <a:solidFill>
                            <a:srgbClr val="243D54"/>
                          </a:solidFill>
                          <a:latin typeface="BIZ UDPGothic" pitchFamily="34" charset="0"/>
                          <a:ea typeface="BIZ UDPGothic" pitchFamily="34" charset="-122"/>
                          <a:cs typeface="BIZ UDPGothic" pitchFamily="34" charset="-120"/>
                        </a:rPr>
                        <a:t>SUI</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カード・島・保留の印、安全な共有の確認。TAIで観測本文との対応を照合</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050" dirty="0">
                          <a:solidFill>
                            <a:srgbClr val="8C5A44"/>
                          </a:solidFill>
                          <a:latin typeface="BIZ UDPGothic" pitchFamily="34" charset="0"/>
                          <a:ea typeface="BIZ UDPGothic" pitchFamily="34" charset="-122"/>
                          <a:cs typeface="BIZ UDPGothic" pitchFamily="34" charset="-120"/>
                        </a:rPr>
                        <a:t>外部利用者による検証、人による意味の受理</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r h="603504">
                <a:tc>
                  <a:txBody>
                    <a:bodyPr/>
                    <a:lstStyle/>
                    <a:p>
                      <a:pPr indent="0" marL="0">
                        <a:buNone/>
                      </a:pPr>
                      <a:r>
                        <a:rPr lang="en-US" sz="1050" b="1" dirty="0">
                          <a:solidFill>
                            <a:srgbClr val="243D54"/>
                          </a:solidFill>
                          <a:latin typeface="BIZ UDPGothic" pitchFamily="34" charset="0"/>
                          <a:ea typeface="BIZ UDPGothic" pitchFamily="34" charset="-122"/>
                          <a:cs typeface="BIZ UDPGothic" pitchFamily="34" charset="-120"/>
                        </a:rPr>
                        <a:t>SEI</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公開版0.2.0（手元で動く参照製品の基準版）。意味の約束五つ、要求23件</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050" dirty="0">
                          <a:solidFill>
                            <a:srgbClr val="8C5A44"/>
                          </a:solidFill>
                          <a:latin typeface="BIZ UDPGothic" pitchFamily="34" charset="0"/>
                          <a:ea typeface="BIZ UDPGothic" pitchFamily="34" charset="-122"/>
                          <a:cs typeface="BIZ UDPGothic" pitchFamily="34" charset="-120"/>
                        </a:rPr>
                        <a:t>実運用での権限・永続性・長期の品質</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603504">
                <a:tc>
                  <a:txBody>
                    <a:bodyPr/>
                    <a:lstStyle/>
                    <a:p>
                      <a:pPr indent="0" marL="0">
                        <a:buNone/>
                      </a:pPr>
                      <a:r>
                        <a:rPr lang="en-US" sz="1050" b="1" dirty="0">
                          <a:solidFill>
                            <a:srgbClr val="243D54"/>
                          </a:solidFill>
                          <a:latin typeface="BIZ UDPGothic" pitchFamily="34" charset="0"/>
                          <a:ea typeface="BIZ UDPGothic" pitchFamily="34" charset="-122"/>
                          <a:cs typeface="BIZ UDPGothic" pitchFamily="34" charset="-120"/>
                        </a:rPr>
                        <a:t>TEI</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判定段階A・B・Cに合格（固定版）。全試験の自動検査が成功</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050" dirty="0">
                          <a:solidFill>
                            <a:srgbClr val="8C5A44"/>
                          </a:solidFill>
                          <a:latin typeface="BIZ UDPGothic" pitchFamily="34" charset="0"/>
                          <a:ea typeface="BIZ UDPGothic" pitchFamily="34" charset="-122"/>
                          <a:cs typeface="BIZ UDPGothic" pitchFamily="34" charset="-120"/>
                        </a:rPr>
                        <a:t>統合した編集環境、二つ目の実行先、実環境の外部接続</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r h="603504">
                <a:tc>
                  <a:txBody>
                    <a:bodyPr/>
                    <a:lstStyle/>
                    <a:p>
                      <a:pPr indent="0" marL="0">
                        <a:buNone/>
                      </a:pPr>
                      <a:r>
                        <a:rPr lang="en-US" sz="1050" b="1" dirty="0">
                          <a:solidFill>
                            <a:srgbClr val="243D54"/>
                          </a:solidFill>
                          <a:latin typeface="BIZ UDPGothic" pitchFamily="34" charset="0"/>
                          <a:ea typeface="BIZ UDPGothic" pitchFamily="34" charset="-122"/>
                          <a:cs typeface="BIZ UDPGothic" pitchFamily="34" charset="-120"/>
                        </a:rPr>
                        <a:t>EKI</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合成した仕事の受付と待機状態を観測。構成の基準0.2</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050" dirty="0">
                          <a:solidFill>
                            <a:srgbClr val="8C5A44"/>
                          </a:solidFill>
                          <a:latin typeface="BIZ UDPGothic" pitchFamily="34" charset="0"/>
                          <a:ea typeface="BIZ UDPGothic" pitchFamily="34" charset="-122"/>
                          <a:cs typeface="BIZ UDPGothic" pitchFamily="34" charset="-120"/>
                        </a:rPr>
                        <a:t>実行端末での処理、結果の独立した検証</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603504">
                <a:tc>
                  <a:txBody>
                    <a:bodyPr/>
                    <a:lstStyle/>
                    <a:p>
                      <a:pPr indent="0" marL="0">
                        <a:buNone/>
                      </a:pPr>
                      <a:r>
                        <a:rPr lang="en-US" sz="1050" b="1" dirty="0">
                          <a:solidFill>
                            <a:srgbClr val="243D54"/>
                          </a:solidFill>
                          <a:latin typeface="BIZ UDPGothic" pitchFamily="34" charset="0"/>
                          <a:ea typeface="BIZ UDPGothic" pitchFamily="34" charset="-122"/>
                          <a:cs typeface="BIZ UDPGothic" pitchFamily="34" charset="-120"/>
                        </a:rPr>
                        <a:t>TAI</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SCN-001で五つの基盤と開発用に接続。公開の検査は保留</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050" dirty="0">
                          <a:solidFill>
                            <a:srgbClr val="8C5A44"/>
                          </a:solidFill>
                          <a:latin typeface="BIZ UDPGothic" pitchFamily="34" charset="0"/>
                          <a:ea typeface="BIZ UDPGothic" pitchFamily="34" charset="-122"/>
                          <a:cs typeface="BIZ UDPGothic" pitchFamily="34" charset="-120"/>
                        </a:rPr>
                        <a:t>実在の規程、人の受理、公開権限、統合した公開版</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bl>
          </a:graphicData>
        </a:graphic>
      </p:graphicFrame>
      <p:sp>
        <p:nvSpPr>
          <p:cNvPr id="7" name="Shape 4"/>
          <p:cNvSpPr/>
          <p:nvPr/>
        </p:nvSpPr>
        <p:spPr>
          <a:xfrm>
            <a:off x="8321040" y="1627632"/>
            <a:ext cx="3367735" cy="4334256"/>
          </a:xfrm>
          <a:prstGeom prst="rect">
            <a:avLst/>
          </a:prstGeom>
          <a:solidFill>
            <a:srgbClr val="243D54"/>
          </a:solidFill>
          <a:ln/>
        </p:spPr>
      </p:sp>
      <p:sp>
        <p:nvSpPr>
          <p:cNvPr id="8" name="Text 5"/>
          <p:cNvSpPr/>
          <p:nvPr/>
        </p:nvSpPr>
        <p:spPr>
          <a:xfrm>
            <a:off x="8522208" y="1737360"/>
            <a:ext cx="3001975" cy="274320"/>
          </a:xfrm>
          <a:prstGeom prst="rect">
            <a:avLst/>
          </a:prstGeom>
          <a:noFill/>
          <a:ln/>
        </p:spPr>
        <p:txBody>
          <a:bodyPr wrap="square" lIns="0" tIns="0" rIns="0" bIns="0" rtlCol="0" anchor="t"/>
          <a:lstStyle/>
          <a:p>
            <a:pPr indent="0" marL="0">
              <a:buNone/>
            </a:pPr>
            <a:r>
              <a:rPr lang="en-US" sz="1250" b="1" dirty="0">
                <a:solidFill>
                  <a:srgbClr val="C4A06D"/>
                </a:solidFill>
                <a:latin typeface="BIZ UDPGothic" pitchFamily="34" charset="0"/>
                <a:ea typeface="BIZ UDPGothic" pitchFamily="34" charset="-122"/>
                <a:cs typeface="BIZ UDPGothic" pitchFamily="34" charset="-120"/>
              </a:rPr>
              <a:t>優先して解く技術課題</a:t>
            </a:r>
            <a:endParaRPr lang="en-US" sz="1250" dirty="0"/>
          </a:p>
        </p:txBody>
      </p:sp>
      <p:sp>
        <p:nvSpPr>
          <p:cNvPr id="9" name="Text 6"/>
          <p:cNvSpPr/>
          <p:nvPr/>
        </p:nvSpPr>
        <p:spPr>
          <a:xfrm>
            <a:off x="8522208" y="2103120"/>
            <a:ext cx="3001975" cy="256032"/>
          </a:xfrm>
          <a:prstGeom prst="rect">
            <a:avLst/>
          </a:prstGeom>
          <a:noFill/>
          <a:ln/>
        </p:spPr>
        <p:txBody>
          <a:bodyPr wrap="square" lIns="0" tIns="0" rIns="0" bIns="0" rtlCol="0" anchor="t"/>
          <a:lstStyle/>
          <a:p>
            <a:pPr indent="0" marL="0">
              <a:buNone/>
            </a:pPr>
            <a:r>
              <a:rPr lang="en-US" sz="1200" b="1" dirty="0">
                <a:solidFill>
                  <a:srgbClr val="F5F1E8"/>
                </a:solidFill>
                <a:latin typeface="BIZ UDPGothic" pitchFamily="34" charset="0"/>
                <a:ea typeface="BIZ UDPGothic" pitchFamily="34" charset="-122"/>
                <a:cs typeface="BIZ UDPGothic" pitchFamily="34" charset="-120"/>
              </a:rPr>
              <a:t>認証と認可</a:t>
            </a:r>
            <a:endParaRPr lang="en-US" sz="1200" dirty="0"/>
          </a:p>
        </p:txBody>
      </p:sp>
      <p:sp>
        <p:nvSpPr>
          <p:cNvPr id="10" name="Text 7"/>
          <p:cNvSpPr/>
          <p:nvPr/>
        </p:nvSpPr>
        <p:spPr>
          <a:xfrm>
            <a:off x="8522208" y="2359152"/>
            <a:ext cx="3001975" cy="310896"/>
          </a:xfrm>
          <a:prstGeom prst="rect">
            <a:avLst/>
          </a:prstGeom>
          <a:noFill/>
          <a:ln/>
        </p:spPr>
        <p:txBody>
          <a:bodyPr wrap="square" lIns="0" tIns="0" rIns="0" bIns="0" rtlCol="0" anchor="t"/>
          <a:lstStyle/>
          <a:p>
            <a:pPr indent="0" marL="0">
              <a:buNone/>
            </a:pPr>
            <a:r>
              <a:rPr lang="en-US" sz="1050" dirty="0">
                <a:solidFill>
                  <a:srgbClr val="C9D3D9"/>
                </a:solidFill>
                <a:latin typeface="BIZ UDPGothic" pitchFamily="34" charset="0"/>
                <a:ea typeface="BIZ UDPGothic" pitchFamily="34" charset="-122"/>
                <a:cs typeface="BIZ UDPGothic" pitchFamily="34" charset="-120"/>
              </a:rPr>
              <a:t>製品の操作権限と、意味上の権限の区別</a:t>
            </a:r>
            <a:endParaRPr lang="en-US" sz="1050" dirty="0"/>
          </a:p>
        </p:txBody>
      </p:sp>
      <p:sp>
        <p:nvSpPr>
          <p:cNvPr id="11" name="Text 8"/>
          <p:cNvSpPr/>
          <p:nvPr/>
        </p:nvSpPr>
        <p:spPr>
          <a:xfrm>
            <a:off x="8522208" y="2743200"/>
            <a:ext cx="3001975" cy="256032"/>
          </a:xfrm>
          <a:prstGeom prst="rect">
            <a:avLst/>
          </a:prstGeom>
          <a:noFill/>
          <a:ln/>
        </p:spPr>
        <p:txBody>
          <a:bodyPr wrap="square" lIns="0" tIns="0" rIns="0" bIns="0" rtlCol="0" anchor="t"/>
          <a:lstStyle/>
          <a:p>
            <a:pPr indent="0" marL="0">
              <a:buNone/>
            </a:pPr>
            <a:r>
              <a:rPr lang="en-US" sz="1200" b="1" dirty="0">
                <a:solidFill>
                  <a:srgbClr val="F5F1E8"/>
                </a:solidFill>
                <a:latin typeface="BIZ UDPGothic" pitchFamily="34" charset="0"/>
                <a:ea typeface="BIZ UDPGothic" pitchFamily="34" charset="-122"/>
                <a:cs typeface="BIZ UDPGothic" pitchFamily="34" charset="-120"/>
              </a:rPr>
              <a:t>正本と整合性</a:t>
            </a:r>
            <a:endParaRPr lang="en-US" sz="1200" dirty="0"/>
          </a:p>
        </p:txBody>
      </p:sp>
      <p:sp>
        <p:nvSpPr>
          <p:cNvPr id="12" name="Text 9"/>
          <p:cNvSpPr/>
          <p:nvPr/>
        </p:nvSpPr>
        <p:spPr>
          <a:xfrm>
            <a:off x="8522208" y="2999232"/>
            <a:ext cx="3001975" cy="310896"/>
          </a:xfrm>
          <a:prstGeom prst="rect">
            <a:avLst/>
          </a:prstGeom>
          <a:noFill/>
          <a:ln/>
        </p:spPr>
        <p:txBody>
          <a:bodyPr wrap="square" lIns="0" tIns="0" rIns="0" bIns="0" rtlCol="0" anchor="t"/>
          <a:lstStyle/>
          <a:p>
            <a:pPr indent="0" marL="0">
              <a:buNone/>
            </a:pPr>
            <a:r>
              <a:rPr lang="en-US" sz="1050" dirty="0">
                <a:solidFill>
                  <a:srgbClr val="C9D3D9"/>
                </a:solidFill>
                <a:latin typeface="BIZ UDPGothic" pitchFamily="34" charset="0"/>
                <a:ea typeface="BIZ UDPGothic" pitchFamily="34" charset="-122"/>
                <a:cs typeface="BIZ UDPGothic" pitchFamily="34" charset="-120"/>
              </a:rPr>
              <a:t>古い状態・反証・受理の一体性</a:t>
            </a:r>
            <a:endParaRPr lang="en-US" sz="1050" dirty="0"/>
          </a:p>
        </p:txBody>
      </p:sp>
      <p:sp>
        <p:nvSpPr>
          <p:cNvPr id="13" name="Text 10"/>
          <p:cNvSpPr/>
          <p:nvPr/>
        </p:nvSpPr>
        <p:spPr>
          <a:xfrm>
            <a:off x="8522208" y="3383280"/>
            <a:ext cx="3001975" cy="256032"/>
          </a:xfrm>
          <a:prstGeom prst="rect">
            <a:avLst/>
          </a:prstGeom>
          <a:noFill/>
          <a:ln/>
        </p:spPr>
        <p:txBody>
          <a:bodyPr wrap="square" lIns="0" tIns="0" rIns="0" bIns="0" rtlCol="0" anchor="t"/>
          <a:lstStyle/>
          <a:p>
            <a:pPr indent="0" marL="0">
              <a:buNone/>
            </a:pPr>
            <a:r>
              <a:rPr lang="en-US" sz="1200" b="1" dirty="0">
                <a:solidFill>
                  <a:srgbClr val="F5F1E8"/>
                </a:solidFill>
                <a:latin typeface="BIZ UDPGothic" pitchFamily="34" charset="0"/>
                <a:ea typeface="BIZ UDPGothic" pitchFamily="34" charset="-122"/>
                <a:cs typeface="BIZ UDPGothic" pitchFamily="34" charset="-120"/>
              </a:rPr>
              <a:t>運用の再現性</a:t>
            </a:r>
            <a:endParaRPr lang="en-US" sz="1200" dirty="0"/>
          </a:p>
        </p:txBody>
      </p:sp>
      <p:sp>
        <p:nvSpPr>
          <p:cNvPr id="14" name="Text 11"/>
          <p:cNvSpPr/>
          <p:nvPr/>
        </p:nvSpPr>
        <p:spPr>
          <a:xfrm>
            <a:off x="8522208" y="3639312"/>
            <a:ext cx="3001975" cy="310896"/>
          </a:xfrm>
          <a:prstGeom prst="rect">
            <a:avLst/>
          </a:prstGeom>
          <a:noFill/>
          <a:ln/>
        </p:spPr>
        <p:txBody>
          <a:bodyPr wrap="square" lIns="0" tIns="0" rIns="0" bIns="0" rtlCol="0" anchor="t"/>
          <a:lstStyle/>
          <a:p>
            <a:pPr indent="0" marL="0">
              <a:buNone/>
            </a:pPr>
            <a:r>
              <a:rPr lang="en-US" sz="1050" dirty="0">
                <a:solidFill>
                  <a:srgbClr val="C9D3D9"/>
                </a:solidFill>
                <a:latin typeface="BIZ UDPGothic" pitchFamily="34" charset="0"/>
                <a:ea typeface="BIZ UDPGothic" pitchFamily="34" charset="-122"/>
                <a:cs typeface="BIZ UDPGothic" pitchFamily="34" charset="-120"/>
              </a:rPr>
              <a:t>固定版・成果物の指紋・復旧手順</a:t>
            </a:r>
            <a:endParaRPr lang="en-US" sz="1050" dirty="0"/>
          </a:p>
        </p:txBody>
      </p:sp>
      <p:sp>
        <p:nvSpPr>
          <p:cNvPr id="15" name="Text 12"/>
          <p:cNvSpPr/>
          <p:nvPr/>
        </p:nvSpPr>
        <p:spPr>
          <a:xfrm>
            <a:off x="8522208" y="4023360"/>
            <a:ext cx="3001975" cy="256032"/>
          </a:xfrm>
          <a:prstGeom prst="rect">
            <a:avLst/>
          </a:prstGeom>
          <a:noFill/>
          <a:ln/>
        </p:spPr>
        <p:txBody>
          <a:bodyPr wrap="square" lIns="0" tIns="0" rIns="0" bIns="0" rtlCol="0" anchor="t"/>
          <a:lstStyle/>
          <a:p>
            <a:pPr indent="0" marL="0">
              <a:buNone/>
            </a:pPr>
            <a:r>
              <a:rPr lang="en-US" sz="1200" b="1" dirty="0">
                <a:solidFill>
                  <a:srgbClr val="F5F1E8"/>
                </a:solidFill>
                <a:latin typeface="BIZ UDPGothic" pitchFamily="34" charset="0"/>
                <a:ea typeface="BIZ UDPGothic" pitchFamily="34" charset="-122"/>
                <a:cs typeface="BIZ UDPGothic" pitchFamily="34" charset="-120"/>
              </a:rPr>
              <a:t>製品間の連携</a:t>
            </a:r>
            <a:endParaRPr lang="en-US" sz="1200" dirty="0"/>
          </a:p>
        </p:txBody>
      </p:sp>
      <p:sp>
        <p:nvSpPr>
          <p:cNvPr id="16" name="Text 13"/>
          <p:cNvSpPr/>
          <p:nvPr/>
        </p:nvSpPr>
        <p:spPr>
          <a:xfrm>
            <a:off x="8522208" y="4279392"/>
            <a:ext cx="3001975" cy="310896"/>
          </a:xfrm>
          <a:prstGeom prst="rect">
            <a:avLst/>
          </a:prstGeom>
          <a:noFill/>
          <a:ln/>
        </p:spPr>
        <p:txBody>
          <a:bodyPr wrap="square" lIns="0" tIns="0" rIns="0" bIns="0" rtlCol="0" anchor="t"/>
          <a:lstStyle/>
          <a:p>
            <a:pPr indent="0" marL="0">
              <a:buNone/>
            </a:pPr>
            <a:r>
              <a:rPr lang="en-US" sz="1050" dirty="0">
                <a:solidFill>
                  <a:srgbClr val="C9D3D9"/>
                </a:solidFill>
                <a:latin typeface="BIZ UDPGothic" pitchFamily="34" charset="0"/>
                <a:ea typeface="BIZ UDPGothic" pitchFamily="34" charset="-122"/>
                <a:cs typeface="BIZ UDPGothic" pitchFamily="34" charset="-120"/>
              </a:rPr>
              <a:t>利用側と提供側の実際の約束と、負例</a:t>
            </a:r>
            <a:endParaRPr lang="en-US" sz="1050" dirty="0"/>
          </a:p>
        </p:txBody>
      </p:sp>
      <p:sp>
        <p:nvSpPr>
          <p:cNvPr id="17" name="Text 14"/>
          <p:cNvSpPr/>
          <p:nvPr/>
        </p:nvSpPr>
        <p:spPr>
          <a:xfrm>
            <a:off x="8522208" y="4663440"/>
            <a:ext cx="3001975" cy="256032"/>
          </a:xfrm>
          <a:prstGeom prst="rect">
            <a:avLst/>
          </a:prstGeom>
          <a:noFill/>
          <a:ln/>
        </p:spPr>
        <p:txBody>
          <a:bodyPr wrap="square" lIns="0" tIns="0" rIns="0" bIns="0" rtlCol="0" anchor="t"/>
          <a:lstStyle/>
          <a:p>
            <a:pPr indent="0" marL="0">
              <a:buNone/>
            </a:pPr>
            <a:r>
              <a:rPr lang="en-US" sz="1200" b="1" dirty="0">
                <a:solidFill>
                  <a:srgbClr val="F5F1E8"/>
                </a:solidFill>
                <a:latin typeface="BIZ UDPGothic" pitchFamily="34" charset="0"/>
                <a:ea typeface="BIZ UDPGothic" pitchFamily="34" charset="-122"/>
                <a:cs typeface="BIZ UDPGothic" pitchFamily="34" charset="-120"/>
              </a:rPr>
              <a:t>安全な実行</a:t>
            </a:r>
            <a:endParaRPr lang="en-US" sz="1200" dirty="0"/>
          </a:p>
        </p:txBody>
      </p:sp>
      <p:sp>
        <p:nvSpPr>
          <p:cNvPr id="18" name="Text 15"/>
          <p:cNvSpPr/>
          <p:nvPr/>
        </p:nvSpPr>
        <p:spPr>
          <a:xfrm>
            <a:off x="8522208" y="4919472"/>
            <a:ext cx="3001975" cy="310896"/>
          </a:xfrm>
          <a:prstGeom prst="rect">
            <a:avLst/>
          </a:prstGeom>
          <a:noFill/>
          <a:ln/>
        </p:spPr>
        <p:txBody>
          <a:bodyPr wrap="square" lIns="0" tIns="0" rIns="0" bIns="0" rtlCol="0" anchor="t"/>
          <a:lstStyle/>
          <a:p>
            <a:pPr indent="0" marL="0">
              <a:buNone/>
            </a:pPr>
            <a:r>
              <a:rPr lang="en-US" sz="1050" dirty="0">
                <a:solidFill>
                  <a:srgbClr val="C9D3D9"/>
                </a:solidFill>
                <a:latin typeface="BIZ UDPGothic" pitchFamily="34" charset="0"/>
                <a:ea typeface="BIZ UDPGothic" pitchFamily="34" charset="-122"/>
                <a:cs typeface="BIZ UDPGothic" pitchFamily="34" charset="-120"/>
              </a:rPr>
              <a:t>仕事の停止・再試行・結果の独立検証</a:t>
            </a:r>
            <a:endParaRPr lang="en-US" sz="1050" dirty="0"/>
          </a:p>
        </p:txBody>
      </p:sp>
      <p:sp>
        <p:nvSpPr>
          <p:cNvPr id="19" name="Text 16"/>
          <p:cNvSpPr/>
          <p:nvPr/>
        </p:nvSpPr>
        <p:spPr>
          <a:xfrm>
            <a:off x="8522208" y="5303520"/>
            <a:ext cx="3001975" cy="256032"/>
          </a:xfrm>
          <a:prstGeom prst="rect">
            <a:avLst/>
          </a:prstGeom>
          <a:noFill/>
          <a:ln/>
        </p:spPr>
        <p:txBody>
          <a:bodyPr wrap="square" lIns="0" tIns="0" rIns="0" bIns="0" rtlCol="0" anchor="t"/>
          <a:lstStyle/>
          <a:p>
            <a:pPr indent="0" marL="0">
              <a:buNone/>
            </a:pPr>
            <a:r>
              <a:rPr lang="en-US" sz="1200" b="1" dirty="0">
                <a:solidFill>
                  <a:srgbClr val="F5F1E8"/>
                </a:solidFill>
                <a:latin typeface="BIZ UDPGothic" pitchFamily="34" charset="0"/>
                <a:ea typeface="BIZ UDPGothic" pitchFamily="34" charset="-122"/>
                <a:cs typeface="BIZ UDPGothic" pitchFamily="34" charset="-120"/>
              </a:rPr>
              <a:t>情報の公開</a:t>
            </a:r>
            <a:endParaRPr lang="en-US" sz="1200" dirty="0"/>
          </a:p>
        </p:txBody>
      </p:sp>
      <p:sp>
        <p:nvSpPr>
          <p:cNvPr id="20" name="Text 17"/>
          <p:cNvSpPr/>
          <p:nvPr/>
        </p:nvSpPr>
        <p:spPr>
          <a:xfrm>
            <a:off x="8522208" y="5559552"/>
            <a:ext cx="3001975" cy="310896"/>
          </a:xfrm>
          <a:prstGeom prst="rect">
            <a:avLst/>
          </a:prstGeom>
          <a:noFill/>
          <a:ln/>
        </p:spPr>
        <p:txBody>
          <a:bodyPr wrap="square" lIns="0" tIns="0" rIns="0" bIns="0" rtlCol="0" anchor="t"/>
          <a:lstStyle/>
          <a:p>
            <a:pPr indent="0" marL="0">
              <a:buNone/>
            </a:pPr>
            <a:r>
              <a:rPr lang="en-US" sz="1050" dirty="0">
                <a:solidFill>
                  <a:srgbClr val="C9D3D9"/>
                </a:solidFill>
                <a:latin typeface="BIZ UDPGothic" pitchFamily="34" charset="0"/>
                <a:ea typeface="BIZ UDPGothic" pitchFamily="34" charset="-122"/>
                <a:cs typeface="BIZ UDPGothic" pitchFamily="34" charset="-120"/>
              </a:rPr>
              <a:t>秘密・非公開資料・記録・派生情報</a:t>
            </a:r>
            <a:endParaRPr lang="en-US" sz="1050" dirty="0"/>
          </a:p>
        </p:txBody>
      </p:sp>
      <p:sp>
        <p:nvSpPr>
          <p:cNvPr id="21" name="Text 18"/>
          <p:cNvSpPr/>
          <p:nvPr/>
        </p:nvSpPr>
        <p:spPr>
          <a:xfrm>
            <a:off x="502920" y="6419088"/>
            <a:ext cx="10332720" cy="292608"/>
          </a:xfrm>
          <a:prstGeom prst="rect">
            <a:avLst/>
          </a:prstGeom>
          <a:noFill/>
          <a:ln/>
        </p:spPr>
        <p:txBody>
          <a:bodyPr wrap="square" lIns="0" tIns="0" rIns="0" bIns="0" rtlCol="0" anchor="ctr"/>
          <a:lstStyle/>
          <a:p>
            <a:pPr indent="0" marL="0">
              <a:buNone/>
            </a:pPr>
            <a:r>
              <a:rPr lang="en-US" sz="950" dirty="0">
                <a:solidFill>
                  <a:srgbClr val="56636E"/>
                </a:solidFill>
                <a:latin typeface="BIZ UDPGothic" pitchFamily="34" charset="0"/>
                <a:ea typeface="BIZ UDPGothic" pitchFamily="34" charset="-122"/>
                <a:cs typeface="BIZ UDPGothic" pitchFamily="34" charset="-120"/>
              </a:rPr>
              <a:t>2026年10月時点で読んだ各リポジトリの記載に基づく。各時点の確認結果を、新しい変更の根拠にそのまま使わない。</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274320"/>
            <a:ext cx="1118585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06  導入</a:t>
            </a:r>
            <a:endParaRPr lang="en-US" sz="950" dirty="0"/>
          </a:p>
        </p:txBody>
      </p:sp>
      <p:sp>
        <p:nvSpPr>
          <p:cNvPr id="3" name="Text 1"/>
          <p:cNvSpPr/>
          <p:nvPr/>
        </p:nvSpPr>
        <p:spPr>
          <a:xfrm>
            <a:off x="502920" y="530352"/>
            <a:ext cx="1118585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読み取り専用から始め、見送る条件も先に決める</a:t>
            </a:r>
            <a:endParaRPr lang="en-US" sz="2500" dirty="0"/>
          </a:p>
        </p:txBody>
      </p:sp>
      <p:sp>
        <p:nvSpPr>
          <p:cNvPr id="4" name="Text 2"/>
          <p:cNvSpPr/>
          <p:nvPr/>
        </p:nvSpPr>
        <p:spPr>
          <a:xfrm>
            <a:off x="502920" y="1097280"/>
            <a:ext cx="1118585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影響の大きい自動実行からではなく、出典の確認・判断の再開・業務規則の検証から価値を確かめる。</a:t>
            </a:r>
            <a:endParaRPr lang="en-US" sz="1300" dirty="0"/>
          </a:p>
        </p:txBody>
      </p:sp>
      <p:sp>
        <p:nvSpPr>
          <p:cNvPr id="5" name="Text 3"/>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27</a:t>
            </a:r>
            <a:endParaRPr lang="en-US" sz="1000" dirty="0"/>
          </a:p>
        </p:txBody>
      </p:sp>
      <p:sp>
        <p:nvSpPr>
          <p:cNvPr id="6" name="Shape 4"/>
          <p:cNvSpPr/>
          <p:nvPr/>
        </p:nvSpPr>
        <p:spPr>
          <a:xfrm>
            <a:off x="502920" y="2880360"/>
            <a:ext cx="2693594" cy="1463040"/>
          </a:xfrm>
          <a:prstGeom prst="rect">
            <a:avLst/>
          </a:prstGeom>
          <a:solidFill>
            <a:srgbClr val="FFFFFF"/>
          </a:solidFill>
          <a:ln w="9525">
            <a:solidFill>
              <a:srgbClr val="DCD5C6"/>
            </a:solidFill>
            <a:prstDash val="solid"/>
          </a:ln>
        </p:spPr>
      </p:sp>
      <p:sp>
        <p:nvSpPr>
          <p:cNvPr id="7" name="Text 5"/>
          <p:cNvSpPr/>
          <p:nvPr/>
        </p:nvSpPr>
        <p:spPr>
          <a:xfrm>
            <a:off x="667512" y="2990088"/>
            <a:ext cx="457200" cy="411480"/>
          </a:xfrm>
          <a:prstGeom prst="rect">
            <a:avLst/>
          </a:prstGeom>
          <a:noFill/>
          <a:ln/>
        </p:spPr>
        <p:txBody>
          <a:bodyPr wrap="square" lIns="0" tIns="0" rIns="0" bIns="0" rtlCol="0" anchor="t"/>
          <a:lstStyle/>
          <a:p>
            <a:pPr indent="0" marL="0">
              <a:buNone/>
            </a:pPr>
            <a:r>
              <a:rPr lang="en-US" sz="2400" b="1" dirty="0">
                <a:solidFill>
                  <a:srgbClr val="C4A06D"/>
                </a:solidFill>
                <a:latin typeface="Georgia" pitchFamily="34" charset="0"/>
                <a:ea typeface="Georgia" pitchFamily="34" charset="-122"/>
                <a:cs typeface="Georgia" pitchFamily="34" charset="-120"/>
              </a:rPr>
              <a:t>A</a:t>
            </a:r>
            <a:endParaRPr lang="en-US" sz="2400" dirty="0"/>
          </a:p>
        </p:txBody>
      </p:sp>
      <p:sp>
        <p:nvSpPr>
          <p:cNvPr id="8" name="Text 6"/>
          <p:cNvSpPr/>
          <p:nvPr/>
        </p:nvSpPr>
        <p:spPr>
          <a:xfrm>
            <a:off x="1143000" y="3017520"/>
            <a:ext cx="1962074" cy="365760"/>
          </a:xfrm>
          <a:prstGeom prst="rect">
            <a:avLst/>
          </a:prstGeom>
          <a:noFill/>
          <a:ln/>
        </p:spPr>
        <p:txBody>
          <a:bodyPr wrap="square" lIns="0" tIns="0" rIns="0" bIns="0" rtlCol="0" anchor="ctr"/>
          <a:lstStyle/>
          <a:p>
            <a:pPr indent="0" marL="0">
              <a:buNone/>
            </a:pPr>
            <a:r>
              <a:rPr lang="en-US" sz="1400" b="1" dirty="0">
                <a:solidFill>
                  <a:srgbClr val="243D54"/>
                </a:solidFill>
                <a:latin typeface="BIZ UDPGothic" pitchFamily="34" charset="0"/>
                <a:ea typeface="BIZ UDPGothic" pitchFamily="34" charset="-122"/>
                <a:cs typeface="BIZ UDPGothic" pitchFamily="34" charset="-120"/>
              </a:rPr>
              <a:t>読む・考える</a:t>
            </a:r>
            <a:endParaRPr lang="en-US" sz="1400" dirty="0"/>
          </a:p>
        </p:txBody>
      </p:sp>
      <p:sp>
        <p:nvSpPr>
          <p:cNvPr id="9" name="Text 7"/>
          <p:cNvSpPr/>
          <p:nvPr/>
        </p:nvSpPr>
        <p:spPr>
          <a:xfrm>
            <a:off x="667512" y="3447288"/>
            <a:ext cx="2419274" cy="548640"/>
          </a:xfrm>
          <a:prstGeom prst="rect">
            <a:avLst/>
          </a:prstGeom>
          <a:noFill/>
          <a:ln/>
        </p:spPr>
        <p:txBody>
          <a:bodyPr wrap="square" lIns="0" tIns="0" rIns="0" bIns="0" rtlCol="0" anchor="t"/>
          <a:lstStyle/>
          <a:p>
            <a:pPr indent="0" marL="0">
              <a:buNone/>
            </a:pPr>
            <a:r>
              <a:rPr lang="en-US" sz="1100" dirty="0">
                <a:solidFill>
                  <a:srgbClr val="56636E"/>
                </a:solidFill>
                <a:latin typeface="BIZ UDPGothic" pitchFamily="34" charset="0"/>
                <a:ea typeface="BIZ UDPGothic" pitchFamily="34" charset="-122"/>
                <a:cs typeface="BIZ UDPGothic" pitchFamily="34" charset="-120"/>
              </a:rPr>
              <a:t>実資料と版を確かめ、仮説とレビュー手順を評価</a:t>
            </a:r>
            <a:endParaRPr lang="en-US" sz="1100" dirty="0"/>
          </a:p>
        </p:txBody>
      </p:sp>
      <p:sp>
        <p:nvSpPr>
          <p:cNvPr id="10" name="Text 8"/>
          <p:cNvSpPr/>
          <p:nvPr/>
        </p:nvSpPr>
        <p:spPr>
          <a:xfrm>
            <a:off x="667512" y="3977640"/>
            <a:ext cx="2419274" cy="274320"/>
          </a:xfrm>
          <a:prstGeom prst="rect">
            <a:avLst/>
          </a:prstGeom>
          <a:noFill/>
          <a:ln/>
        </p:spPr>
        <p:txBody>
          <a:bodyPr wrap="square" lIns="0" tIns="0" rIns="0" bIns="0" rtlCol="0" anchor="t"/>
          <a:lstStyle/>
          <a:p>
            <a:pPr indent="0" marL="0">
              <a:buNone/>
            </a:pPr>
            <a:r>
              <a:rPr lang="en-US" sz="950" b="1" dirty="0">
                <a:solidFill>
                  <a:srgbClr val="3C6684"/>
                </a:solidFill>
                <a:latin typeface="BIZ UDPGothic" pitchFamily="34" charset="0"/>
                <a:ea typeface="BIZ UDPGothic" pitchFamily="34" charset="-122"/>
                <a:cs typeface="BIZ UDPGothic" pitchFamily="34" charset="-120"/>
              </a:rPr>
              <a:t>参照型｜SHO・SUI。更新しない</a:t>
            </a:r>
            <a:endParaRPr lang="en-US" sz="950" dirty="0"/>
          </a:p>
        </p:txBody>
      </p:sp>
      <p:sp>
        <p:nvSpPr>
          <p:cNvPr id="11" name="Shape 9"/>
          <p:cNvSpPr/>
          <p:nvPr/>
        </p:nvSpPr>
        <p:spPr>
          <a:xfrm>
            <a:off x="3333674" y="2651760"/>
            <a:ext cx="2693594" cy="1691640"/>
          </a:xfrm>
          <a:prstGeom prst="rect">
            <a:avLst/>
          </a:prstGeom>
          <a:solidFill>
            <a:srgbClr val="FFFFFF"/>
          </a:solidFill>
          <a:ln w="9525">
            <a:solidFill>
              <a:srgbClr val="DCD5C6"/>
            </a:solidFill>
            <a:prstDash val="solid"/>
          </a:ln>
        </p:spPr>
      </p:sp>
      <p:sp>
        <p:nvSpPr>
          <p:cNvPr id="12" name="Text 10"/>
          <p:cNvSpPr/>
          <p:nvPr/>
        </p:nvSpPr>
        <p:spPr>
          <a:xfrm>
            <a:off x="3498266" y="2761488"/>
            <a:ext cx="457200" cy="411480"/>
          </a:xfrm>
          <a:prstGeom prst="rect">
            <a:avLst/>
          </a:prstGeom>
          <a:noFill/>
          <a:ln/>
        </p:spPr>
        <p:txBody>
          <a:bodyPr wrap="square" lIns="0" tIns="0" rIns="0" bIns="0" rtlCol="0" anchor="t"/>
          <a:lstStyle/>
          <a:p>
            <a:pPr indent="0" marL="0">
              <a:buNone/>
            </a:pPr>
            <a:r>
              <a:rPr lang="en-US" sz="2400" b="1" dirty="0">
                <a:solidFill>
                  <a:srgbClr val="C4A06D"/>
                </a:solidFill>
                <a:latin typeface="Georgia" pitchFamily="34" charset="0"/>
                <a:ea typeface="Georgia" pitchFamily="34" charset="-122"/>
                <a:cs typeface="Georgia" pitchFamily="34" charset="-120"/>
              </a:rPr>
              <a:t>B</a:t>
            </a:r>
            <a:endParaRPr lang="en-US" sz="2400" dirty="0"/>
          </a:p>
        </p:txBody>
      </p:sp>
      <p:sp>
        <p:nvSpPr>
          <p:cNvPr id="13" name="Text 11"/>
          <p:cNvSpPr/>
          <p:nvPr/>
        </p:nvSpPr>
        <p:spPr>
          <a:xfrm>
            <a:off x="3973754" y="2788920"/>
            <a:ext cx="1962074" cy="365760"/>
          </a:xfrm>
          <a:prstGeom prst="rect">
            <a:avLst/>
          </a:prstGeom>
          <a:noFill/>
          <a:ln/>
        </p:spPr>
        <p:txBody>
          <a:bodyPr wrap="square" lIns="0" tIns="0" rIns="0" bIns="0" rtlCol="0" anchor="ctr"/>
          <a:lstStyle/>
          <a:p>
            <a:pPr indent="0" marL="0">
              <a:buNone/>
            </a:pPr>
            <a:r>
              <a:rPr lang="en-US" sz="1400" b="1" dirty="0">
                <a:solidFill>
                  <a:srgbClr val="243D54"/>
                </a:solidFill>
                <a:latin typeface="BIZ UDPGothic" pitchFamily="34" charset="0"/>
                <a:ea typeface="BIZ UDPGothic" pitchFamily="34" charset="-122"/>
                <a:cs typeface="BIZ UDPGothic" pitchFamily="34" charset="-120"/>
              </a:rPr>
              <a:t>判断を残す</a:t>
            </a:r>
            <a:endParaRPr lang="en-US" sz="1400" dirty="0"/>
          </a:p>
        </p:txBody>
      </p:sp>
      <p:sp>
        <p:nvSpPr>
          <p:cNvPr id="14" name="Text 12"/>
          <p:cNvSpPr/>
          <p:nvPr/>
        </p:nvSpPr>
        <p:spPr>
          <a:xfrm>
            <a:off x="3498266" y="3218688"/>
            <a:ext cx="2419274" cy="548640"/>
          </a:xfrm>
          <a:prstGeom prst="rect">
            <a:avLst/>
          </a:prstGeom>
          <a:noFill/>
          <a:ln/>
        </p:spPr>
        <p:txBody>
          <a:bodyPr wrap="square" lIns="0" tIns="0" rIns="0" bIns="0" rtlCol="0" anchor="t"/>
          <a:lstStyle/>
          <a:p>
            <a:pPr indent="0" marL="0">
              <a:buNone/>
            </a:pPr>
            <a:r>
              <a:rPr lang="en-US" sz="1100" dirty="0">
                <a:solidFill>
                  <a:srgbClr val="56636E"/>
                </a:solidFill>
                <a:latin typeface="BIZ UDPGothic" pitchFamily="34" charset="0"/>
                <a:ea typeface="BIZ UDPGothic" pitchFamily="34" charset="-122"/>
                <a:cs typeface="BIZ UDPGothic" pitchFamily="34" charset="-120"/>
              </a:rPr>
              <a:t>責任者の採否・未決を記録し、再開できるかを評価</a:t>
            </a:r>
            <a:endParaRPr lang="en-US" sz="1100" dirty="0"/>
          </a:p>
        </p:txBody>
      </p:sp>
      <p:sp>
        <p:nvSpPr>
          <p:cNvPr id="15" name="Text 13"/>
          <p:cNvSpPr/>
          <p:nvPr/>
        </p:nvSpPr>
        <p:spPr>
          <a:xfrm>
            <a:off x="3498266" y="3977640"/>
            <a:ext cx="2419274" cy="274320"/>
          </a:xfrm>
          <a:prstGeom prst="rect">
            <a:avLst/>
          </a:prstGeom>
          <a:noFill/>
          <a:ln/>
        </p:spPr>
        <p:txBody>
          <a:bodyPr wrap="square" lIns="0" tIns="0" rIns="0" bIns="0" rtlCol="0" anchor="t"/>
          <a:lstStyle/>
          <a:p>
            <a:pPr indent="0" marL="0">
              <a:buNone/>
            </a:pPr>
            <a:r>
              <a:rPr lang="en-US" sz="950" b="1" dirty="0">
                <a:solidFill>
                  <a:srgbClr val="3C6684"/>
                </a:solidFill>
                <a:latin typeface="BIZ UDPGothic" pitchFamily="34" charset="0"/>
                <a:ea typeface="BIZ UDPGothic" pitchFamily="34" charset="-122"/>
                <a:cs typeface="BIZ UDPGothic" pitchFamily="34" charset="-120"/>
              </a:rPr>
              <a:t>協働型｜SEI・TEI。人が採否</a:t>
            </a:r>
            <a:endParaRPr lang="en-US" sz="950" dirty="0"/>
          </a:p>
        </p:txBody>
      </p:sp>
      <p:sp>
        <p:nvSpPr>
          <p:cNvPr id="16" name="Shape 14"/>
          <p:cNvSpPr/>
          <p:nvPr/>
        </p:nvSpPr>
        <p:spPr>
          <a:xfrm>
            <a:off x="6164428" y="2423160"/>
            <a:ext cx="2693594" cy="1920240"/>
          </a:xfrm>
          <a:prstGeom prst="rect">
            <a:avLst/>
          </a:prstGeom>
          <a:solidFill>
            <a:srgbClr val="FFFFFF"/>
          </a:solidFill>
          <a:ln w="9525">
            <a:solidFill>
              <a:srgbClr val="DCD5C6"/>
            </a:solidFill>
            <a:prstDash val="solid"/>
          </a:ln>
        </p:spPr>
      </p:sp>
      <p:sp>
        <p:nvSpPr>
          <p:cNvPr id="17" name="Text 15"/>
          <p:cNvSpPr/>
          <p:nvPr/>
        </p:nvSpPr>
        <p:spPr>
          <a:xfrm>
            <a:off x="6329020" y="2532888"/>
            <a:ext cx="457200" cy="411480"/>
          </a:xfrm>
          <a:prstGeom prst="rect">
            <a:avLst/>
          </a:prstGeom>
          <a:noFill/>
          <a:ln/>
        </p:spPr>
        <p:txBody>
          <a:bodyPr wrap="square" lIns="0" tIns="0" rIns="0" bIns="0" rtlCol="0" anchor="t"/>
          <a:lstStyle/>
          <a:p>
            <a:pPr indent="0" marL="0">
              <a:buNone/>
            </a:pPr>
            <a:r>
              <a:rPr lang="en-US" sz="2400" b="1" dirty="0">
                <a:solidFill>
                  <a:srgbClr val="C4A06D"/>
                </a:solidFill>
                <a:latin typeface="Georgia" pitchFamily="34" charset="0"/>
                <a:ea typeface="Georgia" pitchFamily="34" charset="-122"/>
                <a:cs typeface="Georgia" pitchFamily="34" charset="-120"/>
              </a:rPr>
              <a:t>C</a:t>
            </a:r>
            <a:endParaRPr lang="en-US" sz="2400" dirty="0"/>
          </a:p>
        </p:txBody>
      </p:sp>
      <p:sp>
        <p:nvSpPr>
          <p:cNvPr id="18" name="Text 16"/>
          <p:cNvSpPr/>
          <p:nvPr/>
        </p:nvSpPr>
        <p:spPr>
          <a:xfrm>
            <a:off x="6804508" y="2560320"/>
            <a:ext cx="1962074" cy="365760"/>
          </a:xfrm>
          <a:prstGeom prst="rect">
            <a:avLst/>
          </a:prstGeom>
          <a:noFill/>
          <a:ln/>
        </p:spPr>
        <p:txBody>
          <a:bodyPr wrap="square" lIns="0" tIns="0" rIns="0" bIns="0" rtlCol="0" anchor="ctr"/>
          <a:lstStyle/>
          <a:p>
            <a:pPr indent="0" marL="0">
              <a:buNone/>
            </a:pPr>
            <a:r>
              <a:rPr lang="en-US" sz="1400" b="1" dirty="0">
                <a:solidFill>
                  <a:srgbClr val="243D54"/>
                </a:solidFill>
                <a:latin typeface="BIZ UDPGothic" pitchFamily="34" charset="0"/>
                <a:ea typeface="BIZ UDPGothic" pitchFamily="34" charset="-122"/>
                <a:cs typeface="BIZ UDPGothic" pitchFamily="34" charset="-120"/>
              </a:rPr>
              <a:t>安全に試す</a:t>
            </a:r>
            <a:endParaRPr lang="en-US" sz="1400" dirty="0"/>
          </a:p>
        </p:txBody>
      </p:sp>
      <p:sp>
        <p:nvSpPr>
          <p:cNvPr id="19" name="Text 17"/>
          <p:cNvSpPr/>
          <p:nvPr/>
        </p:nvSpPr>
        <p:spPr>
          <a:xfrm>
            <a:off x="6329020" y="2990088"/>
            <a:ext cx="2419274" cy="548640"/>
          </a:xfrm>
          <a:prstGeom prst="rect">
            <a:avLst/>
          </a:prstGeom>
          <a:noFill/>
          <a:ln/>
        </p:spPr>
        <p:txBody>
          <a:bodyPr wrap="square" lIns="0" tIns="0" rIns="0" bIns="0" rtlCol="0" anchor="t"/>
          <a:lstStyle/>
          <a:p>
            <a:pPr indent="0" marL="0">
              <a:buNone/>
            </a:pPr>
            <a:r>
              <a:rPr lang="en-US" sz="1100" dirty="0">
                <a:solidFill>
                  <a:srgbClr val="56636E"/>
                </a:solidFill>
                <a:latin typeface="BIZ UDPGothic" pitchFamily="34" charset="0"/>
                <a:ea typeface="BIZ UDPGothic" pitchFamily="34" charset="-122"/>
                <a:cs typeface="BIZ UDPGothic" pitchFamily="34" charset="-120"/>
              </a:rPr>
              <a:t>検証環境に限ってモデルや処理を実行</a:t>
            </a:r>
            <a:endParaRPr lang="en-US" sz="1100" dirty="0"/>
          </a:p>
        </p:txBody>
      </p:sp>
      <p:sp>
        <p:nvSpPr>
          <p:cNvPr id="20" name="Text 18"/>
          <p:cNvSpPr/>
          <p:nvPr/>
        </p:nvSpPr>
        <p:spPr>
          <a:xfrm>
            <a:off x="6329020" y="3977640"/>
            <a:ext cx="2419274" cy="274320"/>
          </a:xfrm>
          <a:prstGeom prst="rect">
            <a:avLst/>
          </a:prstGeom>
          <a:noFill/>
          <a:ln/>
        </p:spPr>
        <p:txBody>
          <a:bodyPr wrap="square" lIns="0" tIns="0" rIns="0" bIns="0" rtlCol="0" anchor="t"/>
          <a:lstStyle/>
          <a:p>
            <a:pPr indent="0" marL="0">
              <a:buNone/>
            </a:pPr>
            <a:r>
              <a:rPr lang="en-US" sz="950" b="1" dirty="0">
                <a:solidFill>
                  <a:srgbClr val="3C6684"/>
                </a:solidFill>
                <a:latin typeface="BIZ UDPGothic" pitchFamily="34" charset="0"/>
                <a:ea typeface="BIZ UDPGothic" pitchFamily="34" charset="-122"/>
                <a:cs typeface="BIZ UDPGothic" pitchFamily="34" charset="-120"/>
              </a:rPr>
              <a:t>限定委任型｜EKI。結果は別に検証</a:t>
            </a:r>
            <a:endParaRPr lang="en-US" sz="950" dirty="0"/>
          </a:p>
        </p:txBody>
      </p:sp>
      <p:sp>
        <p:nvSpPr>
          <p:cNvPr id="21" name="Shape 19"/>
          <p:cNvSpPr/>
          <p:nvPr/>
        </p:nvSpPr>
        <p:spPr>
          <a:xfrm>
            <a:off x="8995181" y="2194560"/>
            <a:ext cx="2693594" cy="2148840"/>
          </a:xfrm>
          <a:prstGeom prst="rect">
            <a:avLst/>
          </a:prstGeom>
          <a:solidFill>
            <a:srgbClr val="243D54"/>
          </a:solidFill>
          <a:ln/>
        </p:spPr>
      </p:sp>
      <p:sp>
        <p:nvSpPr>
          <p:cNvPr id="22" name="Text 20"/>
          <p:cNvSpPr/>
          <p:nvPr/>
        </p:nvSpPr>
        <p:spPr>
          <a:xfrm>
            <a:off x="9159773" y="2304288"/>
            <a:ext cx="457200" cy="411480"/>
          </a:xfrm>
          <a:prstGeom prst="rect">
            <a:avLst/>
          </a:prstGeom>
          <a:noFill/>
          <a:ln/>
        </p:spPr>
        <p:txBody>
          <a:bodyPr wrap="square" lIns="0" tIns="0" rIns="0" bIns="0" rtlCol="0" anchor="t"/>
          <a:lstStyle/>
          <a:p>
            <a:pPr indent="0" marL="0">
              <a:buNone/>
            </a:pPr>
            <a:r>
              <a:rPr lang="en-US" sz="2400" b="1" dirty="0">
                <a:solidFill>
                  <a:srgbClr val="C4A06D"/>
                </a:solidFill>
                <a:latin typeface="Georgia" pitchFamily="34" charset="0"/>
                <a:ea typeface="Georgia" pitchFamily="34" charset="-122"/>
                <a:cs typeface="Georgia" pitchFamily="34" charset="-120"/>
              </a:rPr>
              <a:t>D</a:t>
            </a:r>
            <a:endParaRPr lang="en-US" sz="2400" dirty="0"/>
          </a:p>
        </p:txBody>
      </p:sp>
      <p:sp>
        <p:nvSpPr>
          <p:cNvPr id="23" name="Text 21"/>
          <p:cNvSpPr/>
          <p:nvPr/>
        </p:nvSpPr>
        <p:spPr>
          <a:xfrm>
            <a:off x="9635261" y="2331720"/>
            <a:ext cx="1962074" cy="365760"/>
          </a:xfrm>
          <a:prstGeom prst="rect">
            <a:avLst/>
          </a:prstGeom>
          <a:noFill/>
          <a:ln/>
        </p:spPr>
        <p:txBody>
          <a:bodyPr wrap="square" lIns="0" tIns="0" rIns="0" bIns="0" rtlCol="0" anchor="ctr"/>
          <a:lstStyle/>
          <a:p>
            <a:pPr indent="0" marL="0">
              <a:buNone/>
            </a:pPr>
            <a:r>
              <a:rPr lang="en-US" sz="1400" b="1" dirty="0">
                <a:solidFill>
                  <a:srgbClr val="F5F1E8"/>
                </a:solidFill>
                <a:latin typeface="BIZ UDPGothic" pitchFamily="34" charset="0"/>
                <a:ea typeface="BIZ UDPGothic" pitchFamily="34" charset="-122"/>
                <a:cs typeface="BIZ UDPGothic" pitchFamily="34" charset="-120"/>
              </a:rPr>
              <a:t>条件付きで運用</a:t>
            </a:r>
            <a:endParaRPr lang="en-US" sz="1400" dirty="0"/>
          </a:p>
        </p:txBody>
      </p:sp>
      <p:sp>
        <p:nvSpPr>
          <p:cNvPr id="24" name="Text 22"/>
          <p:cNvSpPr/>
          <p:nvPr/>
        </p:nvSpPr>
        <p:spPr>
          <a:xfrm>
            <a:off x="9159773" y="2761488"/>
            <a:ext cx="2419274" cy="548640"/>
          </a:xfrm>
          <a:prstGeom prst="rect">
            <a:avLst/>
          </a:prstGeom>
          <a:noFill/>
          <a:ln/>
        </p:spPr>
        <p:txBody>
          <a:bodyPr wrap="square" lIns="0" tIns="0" rIns="0" bIns="0" rtlCol="0" anchor="t"/>
          <a:lstStyle/>
          <a:p>
            <a:pPr indent="0" marL="0">
              <a:buNone/>
            </a:pPr>
            <a:r>
              <a:rPr lang="en-US" sz="1100" dirty="0">
                <a:solidFill>
                  <a:srgbClr val="C9D3D9"/>
                </a:solidFill>
                <a:latin typeface="BIZ UDPGothic" pitchFamily="34" charset="0"/>
                <a:ea typeface="BIZ UDPGothic" pitchFamily="34" charset="-122"/>
                <a:cs typeface="BIZ UDPGothic" pitchFamily="34" charset="-120"/>
              </a:rPr>
              <a:t>権限・停止・監視・独立検証を満たす作業だけ広げる</a:t>
            </a:r>
            <a:endParaRPr lang="en-US" sz="1100" dirty="0"/>
          </a:p>
        </p:txBody>
      </p:sp>
      <p:sp>
        <p:nvSpPr>
          <p:cNvPr id="25" name="Text 23"/>
          <p:cNvSpPr/>
          <p:nvPr/>
        </p:nvSpPr>
        <p:spPr>
          <a:xfrm>
            <a:off x="9159773" y="3977640"/>
            <a:ext cx="2419274" cy="274320"/>
          </a:xfrm>
          <a:prstGeom prst="rect">
            <a:avLst/>
          </a:prstGeom>
          <a:noFill/>
          <a:ln/>
        </p:spPr>
        <p:txBody>
          <a:bodyPr wrap="square" lIns="0" tIns="0" rIns="0" bIns="0" rtlCol="0" anchor="t"/>
          <a:lstStyle/>
          <a:p>
            <a:pPr indent="0" marL="0">
              <a:buNone/>
            </a:pPr>
            <a:r>
              <a:rPr lang="en-US" sz="950" b="1" dirty="0">
                <a:solidFill>
                  <a:srgbClr val="C4A06D"/>
                </a:solidFill>
                <a:latin typeface="BIZ UDPGothic" pitchFamily="34" charset="0"/>
                <a:ea typeface="BIZ UDPGothic" pitchFamily="34" charset="-122"/>
                <a:cs typeface="BIZ UDPGothic" pitchFamily="34" charset="-120"/>
              </a:rPr>
              <a:t>構成配布型｜TAI。配布は構想</a:t>
            </a:r>
            <a:endParaRPr lang="en-US" sz="9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4526280"/>
          <a:ext cx="11185855" cy="914400"/>
        </p:xfrm>
        <a:graphic>
          <a:graphicData uri="http://schemas.openxmlformats.org/drawingml/2006/table">
            <a:tbl>
              <a:tblPr/>
              <a:tblGrid>
                <a:gridCol w="1188720"/>
                <a:gridCol w="4937760"/>
                <a:gridCol w="5056632"/>
              </a:tblGrid>
              <a:tr h="265176">
                <a:tc>
                  <a:txBody>
                    <a:bodyPr/>
                    <a:lstStyle/>
                    <a:p>
                      <a:pPr indent="0" marL="0">
                        <a:buNone/>
                      </a:pPr>
                      <a:r>
                        <a:rPr lang="en-US" sz="1050" b="1" dirty="0">
                          <a:solidFill>
                            <a:srgbClr val="F5F1E8"/>
                          </a:solidFill>
                          <a:latin typeface="BIZ UDPGothic" pitchFamily="34" charset="0"/>
                          <a:ea typeface="BIZ UDPGothic" pitchFamily="34" charset="-122"/>
                          <a:cs typeface="BIZ UDPGothic" pitchFamily="34" charset="-120"/>
                        </a:rPr>
                        <a:t>観点</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243D54"/>
                    </a:solidFill>
                  </a:tcPr>
                </a:tc>
                <a:tc>
                  <a:txBody>
                    <a:bodyPr/>
                    <a:lstStyle/>
                    <a:p>
                      <a:pPr indent="0" marL="0">
                        <a:buNone/>
                      </a:pPr>
                      <a:r>
                        <a:rPr lang="en-US" sz="1050" b="1" dirty="0">
                          <a:solidFill>
                            <a:srgbClr val="F5F1E8"/>
                          </a:solidFill>
                          <a:latin typeface="BIZ UDPGothic" pitchFamily="34" charset="0"/>
                          <a:ea typeface="BIZ UDPGothic" pitchFamily="34" charset="-122"/>
                          <a:cs typeface="BIZ UDPGothic" pitchFamily="34" charset="-120"/>
                        </a:rPr>
                        <a:t>測るものの例</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243D54"/>
                    </a:solidFill>
                  </a:tcPr>
                </a:tc>
                <a:tc>
                  <a:txBody>
                    <a:bodyPr/>
                    <a:lstStyle/>
                    <a:p>
                      <a:pPr indent="0" marL="0">
                        <a:buNone/>
                      </a:pPr>
                      <a:r>
                        <a:rPr lang="en-US" sz="1050" b="1" dirty="0">
                          <a:solidFill>
                            <a:srgbClr val="F5F1E8"/>
                          </a:solidFill>
                          <a:latin typeface="BIZ UDPGothic" pitchFamily="34" charset="0"/>
                          <a:ea typeface="BIZ UDPGothic" pitchFamily="34" charset="-122"/>
                          <a:cs typeface="BIZ UDPGothic" pitchFamily="34" charset="-120"/>
                        </a:rPr>
                        <a:t>見直す・見送る条件</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243D54"/>
                    </a:solidFill>
                  </a:tcPr>
                </a:tc>
              </a:tr>
              <a:tr h="265176">
                <a:tc>
                  <a:txBody>
                    <a:bodyPr/>
                    <a:lstStyle/>
                    <a:p>
                      <a:pPr indent="0" marL="0">
                        <a:buNone/>
                      </a:pPr>
                      <a:r>
                        <a:rPr lang="en-US" sz="1150" b="1" dirty="0">
                          <a:solidFill>
                            <a:srgbClr val="243D54"/>
                          </a:solidFill>
                          <a:latin typeface="BIZ UDPGothic" pitchFamily="34" charset="0"/>
                          <a:ea typeface="BIZ UDPGothic" pitchFamily="34" charset="-122"/>
                          <a:cs typeface="BIZ UDPGothic" pitchFamily="34" charset="-120"/>
                        </a:rPr>
                        <a:t>品質</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根拠の誤引用、見落とした例外</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150" dirty="0">
                          <a:solidFill>
                            <a:srgbClr val="8C5A44"/>
                          </a:solidFill>
                          <a:latin typeface="BIZ UDPGothic" pitchFamily="34" charset="0"/>
                          <a:ea typeface="BIZ UDPGothic" pitchFamily="34" charset="-122"/>
                          <a:cs typeface="BIZ UDPGothic" pitchFamily="34" charset="-120"/>
                        </a:rPr>
                        <a:t>人が普段より見落とす</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265176">
                <a:tc>
                  <a:txBody>
                    <a:bodyPr/>
                    <a:lstStyle/>
                    <a:p>
                      <a:pPr indent="0" marL="0">
                        <a:buNone/>
                      </a:pPr>
                      <a:r>
                        <a:rPr lang="en-US" sz="1150" b="1" dirty="0">
                          <a:solidFill>
                            <a:srgbClr val="243D54"/>
                          </a:solidFill>
                          <a:latin typeface="BIZ UDPGothic" pitchFamily="34" charset="0"/>
                          <a:ea typeface="BIZ UDPGothic" pitchFamily="34" charset="-122"/>
                          <a:cs typeface="BIZ UDPGothic" pitchFamily="34" charset="-120"/>
                        </a:rPr>
                        <a:t>効率</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調査から判断・実施までの時間</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150" dirty="0">
                          <a:solidFill>
                            <a:srgbClr val="8C5A44"/>
                          </a:solidFill>
                          <a:latin typeface="BIZ UDPGothic" pitchFamily="34" charset="0"/>
                          <a:ea typeface="BIZ UDPGothic" pitchFamily="34" charset="-122"/>
                          <a:cs typeface="BIZ UDPGothic" pitchFamily="34" charset="-120"/>
                        </a:rPr>
                        <a:t>確認の負担が削減分を上回る</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r h="265176">
                <a:tc>
                  <a:txBody>
                    <a:bodyPr/>
                    <a:lstStyle/>
                    <a:p>
                      <a:pPr indent="0" marL="0">
                        <a:buNone/>
                      </a:pPr>
                      <a:r>
                        <a:rPr lang="en-US" sz="1150" b="1" dirty="0">
                          <a:solidFill>
                            <a:srgbClr val="243D54"/>
                          </a:solidFill>
                          <a:latin typeface="BIZ UDPGothic" pitchFamily="34" charset="0"/>
                          <a:ea typeface="BIZ UDPGothic" pitchFamily="34" charset="-122"/>
                          <a:cs typeface="BIZ UDPGothic" pitchFamily="34" charset="-120"/>
                        </a:rPr>
                        <a:t>継続</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交代後に再開するまでの時間</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150" dirty="0">
                          <a:solidFill>
                            <a:srgbClr val="8C5A44"/>
                          </a:solidFill>
                          <a:latin typeface="BIZ UDPGothic" pitchFamily="34" charset="0"/>
                          <a:ea typeface="BIZ UDPGothic" pitchFamily="34" charset="-122"/>
                          <a:cs typeface="BIZ UDPGothic" pitchFamily="34" charset="-120"/>
                        </a:rPr>
                        <a:t>元の会話なしで再構成できない</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265176">
                <a:tc>
                  <a:txBody>
                    <a:bodyPr/>
                    <a:lstStyle/>
                    <a:p>
                      <a:pPr indent="0" marL="0">
                        <a:buNone/>
                      </a:pPr>
                      <a:r>
                        <a:rPr lang="en-US" sz="1150" b="1" dirty="0">
                          <a:solidFill>
                            <a:srgbClr val="243D54"/>
                          </a:solidFill>
                          <a:latin typeface="BIZ UDPGothic" pitchFamily="34" charset="0"/>
                          <a:ea typeface="BIZ UDPGothic" pitchFamily="34" charset="-122"/>
                          <a:cs typeface="BIZ UDPGothic" pitchFamily="34" charset="-120"/>
                        </a:rPr>
                        <a:t>安全</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権限逸脱・外部公開・復旧の時間</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150" dirty="0">
                          <a:solidFill>
                            <a:srgbClr val="8C5A44"/>
                          </a:solidFill>
                          <a:latin typeface="BIZ UDPGothic" pitchFamily="34" charset="0"/>
                          <a:ea typeface="BIZ UDPGothic" pitchFamily="34" charset="-122"/>
                          <a:cs typeface="BIZ UDPGothic" pitchFamily="34" charset="-120"/>
                        </a:rPr>
                        <a:t>停止や取消が確実でない</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r h="265176">
                <a:tc>
                  <a:txBody>
                    <a:bodyPr/>
                    <a:lstStyle/>
                    <a:p>
                      <a:pPr indent="0" marL="0">
                        <a:buNone/>
                      </a:pPr>
                      <a:r>
                        <a:rPr lang="en-US" sz="1150" b="1" dirty="0">
                          <a:solidFill>
                            <a:srgbClr val="243D54"/>
                          </a:solidFill>
                          <a:latin typeface="BIZ UDPGothic" pitchFamily="34" charset="0"/>
                          <a:ea typeface="BIZ UDPGothic" pitchFamily="34" charset="-122"/>
                          <a:cs typeface="BIZ UDPGothic" pitchFamily="34" charset="-120"/>
                        </a:rPr>
                        <a:t>技術</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版の固定・再現・接続試験の失敗</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150" dirty="0">
                          <a:solidFill>
                            <a:srgbClr val="8C5A44"/>
                          </a:solidFill>
                          <a:latin typeface="BIZ UDPGothic" pitchFamily="34" charset="0"/>
                          <a:ea typeface="BIZ UDPGothic" pitchFamily="34" charset="-122"/>
                          <a:cs typeface="BIZ UDPGothic" pitchFamily="34" charset="-120"/>
                        </a:rPr>
                        <a:t>環境を替えると履歴が失われる</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265176">
                <a:tc>
                  <a:txBody>
                    <a:bodyPr/>
                    <a:lstStyle/>
                    <a:p>
                      <a:pPr indent="0" marL="0">
                        <a:buNone/>
                      </a:pPr>
                      <a:r>
                        <a:rPr lang="en-US" sz="1150" b="1" dirty="0">
                          <a:solidFill>
                            <a:srgbClr val="243D54"/>
                          </a:solidFill>
                          <a:latin typeface="BIZ UDPGothic" pitchFamily="34" charset="0"/>
                          <a:ea typeface="BIZ UDPGothic" pitchFamily="34" charset="-122"/>
                          <a:cs typeface="BIZ UDPGothic" pitchFamily="34" charset="-120"/>
                        </a:rPr>
                        <a:t>運用</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150" dirty="0">
                          <a:solidFill>
                            <a:srgbClr val="243D54"/>
                          </a:solidFill>
                          <a:latin typeface="BIZ UDPGothic" pitchFamily="34" charset="0"/>
                          <a:ea typeface="BIZ UDPGothic" pitchFamily="34" charset="-122"/>
                          <a:cs typeface="BIZ UDPGothic" pitchFamily="34" charset="-120"/>
                        </a:rPr>
                        <a:t>責任者の手間・更新の費用</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150" dirty="0">
                          <a:solidFill>
                            <a:srgbClr val="8C5A44"/>
                          </a:solidFill>
                          <a:latin typeface="BIZ UDPGothic" pitchFamily="34" charset="0"/>
                          <a:ea typeface="BIZ UDPGothic" pitchFamily="34" charset="-122"/>
                          <a:cs typeface="BIZ UDPGothic" pitchFamily="34" charset="-120"/>
                        </a:rPr>
                        <a:t>担当者が維持できない</a:t>
                      </a:r>
                      <a:endParaRPr lang="en-US" sz="11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274320"/>
            <a:ext cx="1118585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07  名称</a:t>
            </a:r>
            <a:endParaRPr lang="en-US" sz="950" dirty="0"/>
          </a:p>
        </p:txBody>
      </p:sp>
      <p:sp>
        <p:nvSpPr>
          <p:cNvPr id="3" name="Text 1"/>
          <p:cNvSpPr/>
          <p:nvPr/>
        </p:nvSpPr>
        <p:spPr>
          <a:xfrm>
            <a:off x="502920" y="530352"/>
            <a:ext cx="1118585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易経の64卦を、答えではなく探索の地図として使う</a:t>
            </a:r>
            <a:endParaRPr lang="en-US" sz="2500" dirty="0"/>
          </a:p>
        </p:txBody>
      </p:sp>
      <p:sp>
        <p:nvSpPr>
          <p:cNvPr id="4" name="Text 2"/>
          <p:cNvSpPr/>
          <p:nvPr/>
        </p:nvSpPr>
        <p:spPr>
          <a:xfrm>
            <a:off x="502920" y="1097280"/>
            <a:ext cx="1118585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卦の象意を別の切り口に変え、まだ検討していない機能や責務を見つける。製品名には六つの卦を選んだ。</a:t>
            </a:r>
            <a:endParaRPr lang="en-US" sz="1300" dirty="0"/>
          </a:p>
        </p:txBody>
      </p:sp>
      <p:sp>
        <p:nvSpPr>
          <p:cNvPr id="5" name="Text 3"/>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28</a:t>
            </a:r>
            <a:endParaRPr lang="en-US" sz="1000" dirty="0"/>
          </a:p>
        </p:txBody>
      </p:sp>
      <p:sp>
        <p:nvSpPr>
          <p:cNvPr id="6" name="Text 4"/>
          <p:cNvSpPr/>
          <p:nvPr/>
        </p:nvSpPr>
        <p:spPr>
          <a:xfrm>
            <a:off x="3950208" y="1572768"/>
            <a:ext cx="914400" cy="201168"/>
          </a:xfrm>
          <a:prstGeom prst="rect">
            <a:avLst/>
          </a:prstGeom>
          <a:noFill/>
          <a:ln/>
        </p:spPr>
        <p:txBody>
          <a:bodyPr wrap="square" lIns="0" tIns="0" rIns="0" bIns="0" rtlCol="0" anchor="t"/>
          <a:lstStyle/>
          <a:p>
            <a:pPr algn="r" indent="0" marL="0">
              <a:buNone/>
            </a:pPr>
            <a:r>
              <a:rPr lang="en-US" sz="900" dirty="0">
                <a:solidFill>
                  <a:srgbClr val="56636E"/>
                </a:solidFill>
                <a:latin typeface="BIZ UDPGothic" pitchFamily="34" charset="0"/>
                <a:ea typeface="BIZ UDPGothic" pitchFamily="34" charset="-122"/>
                <a:cs typeface="BIZ UDPGothic" pitchFamily="34" charset="-120"/>
              </a:rPr>
              <a:t>下卦 →</a:t>
            </a:r>
            <a:endParaRPr lang="en-US" sz="900" dirty="0"/>
          </a:p>
        </p:txBody>
      </p:sp>
      <p:sp>
        <p:nvSpPr>
          <p:cNvPr id="7" name="Text 5"/>
          <p:cNvSpPr/>
          <p:nvPr/>
        </p:nvSpPr>
        <p:spPr>
          <a:xfrm>
            <a:off x="457200" y="1764792"/>
            <a:ext cx="457200" cy="228600"/>
          </a:xfrm>
          <a:prstGeom prst="rect">
            <a:avLst/>
          </a:prstGeom>
          <a:noFill/>
          <a:ln/>
        </p:spPr>
        <p:txBody>
          <a:bodyPr wrap="square" lIns="0" tIns="0" rIns="0" bIns="0" rtlCol="0" anchor="t"/>
          <a:lstStyle/>
          <a:p>
            <a:pPr indent="0" marL="0">
              <a:buNone/>
            </a:pPr>
            <a:r>
              <a:rPr lang="en-US" sz="900" dirty="0">
                <a:solidFill>
                  <a:srgbClr val="56636E"/>
                </a:solidFill>
                <a:latin typeface="BIZ UDPGothic" pitchFamily="34" charset="0"/>
                <a:ea typeface="BIZ UDPGothic" pitchFamily="34" charset="-122"/>
                <a:cs typeface="BIZ UDPGothic" pitchFamily="34" charset="-120"/>
              </a:rPr>
              <a:t>上卦↓</a:t>
            </a:r>
            <a:endParaRPr lang="en-US" sz="900" dirty="0"/>
          </a:p>
        </p:txBody>
      </p:sp>
      <p:sp>
        <p:nvSpPr>
          <p:cNvPr id="8" name="Text 6"/>
          <p:cNvSpPr/>
          <p:nvPr/>
        </p:nvSpPr>
        <p:spPr>
          <a:xfrm>
            <a:off x="914400" y="1783080"/>
            <a:ext cx="493776" cy="256032"/>
          </a:xfrm>
          <a:prstGeom prst="rect">
            <a:avLst/>
          </a:prstGeom>
          <a:noFill/>
          <a:ln/>
        </p:spPr>
        <p:txBody>
          <a:bodyPr wrap="square" lIns="0" tIns="0" rIns="0" bIns="0" rtlCol="0" anchor="t"/>
          <a:lstStyle/>
          <a:p>
            <a:pPr algn="ctr" indent="0" marL="0">
              <a:buNone/>
            </a:pPr>
            <a:r>
              <a:rPr lang="en-US" sz="1100" b="1" dirty="0">
                <a:solidFill>
                  <a:srgbClr val="56636E"/>
                </a:solidFill>
                <a:latin typeface="BIZ UDPGothic" pitchFamily="34" charset="0"/>
                <a:ea typeface="BIZ UDPGothic" pitchFamily="34" charset="-122"/>
                <a:cs typeface="BIZ UDPGothic" pitchFamily="34" charset="-120"/>
              </a:rPr>
              <a:t>乾</a:t>
            </a:r>
            <a:endParaRPr lang="en-US" sz="1100" dirty="0"/>
          </a:p>
        </p:txBody>
      </p:sp>
      <p:sp>
        <p:nvSpPr>
          <p:cNvPr id="9" name="Text 7"/>
          <p:cNvSpPr/>
          <p:nvPr/>
        </p:nvSpPr>
        <p:spPr>
          <a:xfrm>
            <a:off x="502920" y="2057400"/>
            <a:ext cx="365760" cy="493776"/>
          </a:xfrm>
          <a:prstGeom prst="rect">
            <a:avLst/>
          </a:prstGeom>
          <a:noFill/>
          <a:ln/>
        </p:spPr>
        <p:txBody>
          <a:bodyPr wrap="square" lIns="0" tIns="0" rIns="0" bIns="0" rtlCol="0" anchor="ctr"/>
          <a:lstStyle/>
          <a:p>
            <a:pPr algn="ctr" indent="0" marL="0">
              <a:buNone/>
            </a:pPr>
            <a:r>
              <a:rPr lang="en-US" sz="1100" b="1" dirty="0">
                <a:solidFill>
                  <a:srgbClr val="56636E"/>
                </a:solidFill>
                <a:latin typeface="BIZ UDPGothic" pitchFamily="34" charset="0"/>
                <a:ea typeface="BIZ UDPGothic" pitchFamily="34" charset="-122"/>
                <a:cs typeface="BIZ UDPGothic" pitchFamily="34" charset="-120"/>
              </a:rPr>
              <a:t>乾</a:t>
            </a:r>
            <a:endParaRPr lang="en-US" sz="1100" dirty="0"/>
          </a:p>
        </p:txBody>
      </p:sp>
      <p:sp>
        <p:nvSpPr>
          <p:cNvPr id="10" name="Text 8"/>
          <p:cNvSpPr/>
          <p:nvPr/>
        </p:nvSpPr>
        <p:spPr>
          <a:xfrm>
            <a:off x="1408176" y="1783080"/>
            <a:ext cx="493776" cy="256032"/>
          </a:xfrm>
          <a:prstGeom prst="rect">
            <a:avLst/>
          </a:prstGeom>
          <a:noFill/>
          <a:ln/>
        </p:spPr>
        <p:txBody>
          <a:bodyPr wrap="square" lIns="0" tIns="0" rIns="0" bIns="0" rtlCol="0" anchor="t"/>
          <a:lstStyle/>
          <a:p>
            <a:pPr algn="ctr" indent="0" marL="0">
              <a:buNone/>
            </a:pPr>
            <a:r>
              <a:rPr lang="en-US" sz="1100" b="1" dirty="0">
                <a:solidFill>
                  <a:srgbClr val="56636E"/>
                </a:solidFill>
                <a:latin typeface="BIZ UDPGothic" pitchFamily="34" charset="0"/>
                <a:ea typeface="BIZ UDPGothic" pitchFamily="34" charset="-122"/>
                <a:cs typeface="BIZ UDPGothic" pitchFamily="34" charset="-120"/>
              </a:rPr>
              <a:t>兌</a:t>
            </a:r>
            <a:endParaRPr lang="en-US" sz="1100" dirty="0"/>
          </a:p>
        </p:txBody>
      </p:sp>
      <p:sp>
        <p:nvSpPr>
          <p:cNvPr id="11" name="Text 9"/>
          <p:cNvSpPr/>
          <p:nvPr/>
        </p:nvSpPr>
        <p:spPr>
          <a:xfrm>
            <a:off x="502920" y="2551176"/>
            <a:ext cx="365760" cy="493776"/>
          </a:xfrm>
          <a:prstGeom prst="rect">
            <a:avLst/>
          </a:prstGeom>
          <a:noFill/>
          <a:ln/>
        </p:spPr>
        <p:txBody>
          <a:bodyPr wrap="square" lIns="0" tIns="0" rIns="0" bIns="0" rtlCol="0" anchor="ctr"/>
          <a:lstStyle/>
          <a:p>
            <a:pPr algn="ctr" indent="0" marL="0">
              <a:buNone/>
            </a:pPr>
            <a:r>
              <a:rPr lang="en-US" sz="1100" b="1" dirty="0">
                <a:solidFill>
                  <a:srgbClr val="56636E"/>
                </a:solidFill>
                <a:latin typeface="BIZ UDPGothic" pitchFamily="34" charset="0"/>
                <a:ea typeface="BIZ UDPGothic" pitchFamily="34" charset="-122"/>
                <a:cs typeface="BIZ UDPGothic" pitchFamily="34" charset="-120"/>
              </a:rPr>
              <a:t>兌</a:t>
            </a:r>
            <a:endParaRPr lang="en-US" sz="1100" dirty="0"/>
          </a:p>
        </p:txBody>
      </p:sp>
      <p:sp>
        <p:nvSpPr>
          <p:cNvPr id="12" name="Text 10"/>
          <p:cNvSpPr/>
          <p:nvPr/>
        </p:nvSpPr>
        <p:spPr>
          <a:xfrm>
            <a:off x="1901952" y="1783080"/>
            <a:ext cx="493776" cy="256032"/>
          </a:xfrm>
          <a:prstGeom prst="rect">
            <a:avLst/>
          </a:prstGeom>
          <a:noFill/>
          <a:ln/>
        </p:spPr>
        <p:txBody>
          <a:bodyPr wrap="square" lIns="0" tIns="0" rIns="0" bIns="0" rtlCol="0" anchor="t"/>
          <a:lstStyle/>
          <a:p>
            <a:pPr algn="ctr" indent="0" marL="0">
              <a:buNone/>
            </a:pPr>
            <a:r>
              <a:rPr lang="en-US" sz="1100" b="1" dirty="0">
                <a:solidFill>
                  <a:srgbClr val="56636E"/>
                </a:solidFill>
                <a:latin typeface="BIZ UDPGothic" pitchFamily="34" charset="0"/>
                <a:ea typeface="BIZ UDPGothic" pitchFamily="34" charset="-122"/>
                <a:cs typeface="BIZ UDPGothic" pitchFamily="34" charset="-120"/>
              </a:rPr>
              <a:t>離</a:t>
            </a:r>
            <a:endParaRPr lang="en-US" sz="1100" dirty="0"/>
          </a:p>
        </p:txBody>
      </p:sp>
      <p:sp>
        <p:nvSpPr>
          <p:cNvPr id="13" name="Text 11"/>
          <p:cNvSpPr/>
          <p:nvPr/>
        </p:nvSpPr>
        <p:spPr>
          <a:xfrm>
            <a:off x="502920" y="3044952"/>
            <a:ext cx="365760" cy="493776"/>
          </a:xfrm>
          <a:prstGeom prst="rect">
            <a:avLst/>
          </a:prstGeom>
          <a:noFill/>
          <a:ln/>
        </p:spPr>
        <p:txBody>
          <a:bodyPr wrap="square" lIns="0" tIns="0" rIns="0" bIns="0" rtlCol="0" anchor="ctr"/>
          <a:lstStyle/>
          <a:p>
            <a:pPr algn="ctr" indent="0" marL="0">
              <a:buNone/>
            </a:pPr>
            <a:r>
              <a:rPr lang="en-US" sz="1100" b="1" dirty="0">
                <a:solidFill>
                  <a:srgbClr val="56636E"/>
                </a:solidFill>
                <a:latin typeface="BIZ UDPGothic" pitchFamily="34" charset="0"/>
                <a:ea typeface="BIZ UDPGothic" pitchFamily="34" charset="-122"/>
                <a:cs typeface="BIZ UDPGothic" pitchFamily="34" charset="-120"/>
              </a:rPr>
              <a:t>離</a:t>
            </a:r>
            <a:endParaRPr lang="en-US" sz="1100" dirty="0"/>
          </a:p>
        </p:txBody>
      </p:sp>
      <p:sp>
        <p:nvSpPr>
          <p:cNvPr id="14" name="Text 12"/>
          <p:cNvSpPr/>
          <p:nvPr/>
        </p:nvSpPr>
        <p:spPr>
          <a:xfrm>
            <a:off x="2395728" y="1783080"/>
            <a:ext cx="493776" cy="256032"/>
          </a:xfrm>
          <a:prstGeom prst="rect">
            <a:avLst/>
          </a:prstGeom>
          <a:noFill/>
          <a:ln/>
        </p:spPr>
        <p:txBody>
          <a:bodyPr wrap="square" lIns="0" tIns="0" rIns="0" bIns="0" rtlCol="0" anchor="t"/>
          <a:lstStyle/>
          <a:p>
            <a:pPr algn="ctr" indent="0" marL="0">
              <a:buNone/>
            </a:pPr>
            <a:r>
              <a:rPr lang="en-US" sz="1100" b="1" dirty="0">
                <a:solidFill>
                  <a:srgbClr val="56636E"/>
                </a:solidFill>
                <a:latin typeface="BIZ UDPGothic" pitchFamily="34" charset="0"/>
                <a:ea typeface="BIZ UDPGothic" pitchFamily="34" charset="-122"/>
                <a:cs typeface="BIZ UDPGothic" pitchFamily="34" charset="-120"/>
              </a:rPr>
              <a:t>震</a:t>
            </a:r>
            <a:endParaRPr lang="en-US" sz="1100" dirty="0"/>
          </a:p>
        </p:txBody>
      </p:sp>
      <p:sp>
        <p:nvSpPr>
          <p:cNvPr id="15" name="Text 13"/>
          <p:cNvSpPr/>
          <p:nvPr/>
        </p:nvSpPr>
        <p:spPr>
          <a:xfrm>
            <a:off x="502920" y="3538728"/>
            <a:ext cx="365760" cy="493776"/>
          </a:xfrm>
          <a:prstGeom prst="rect">
            <a:avLst/>
          </a:prstGeom>
          <a:noFill/>
          <a:ln/>
        </p:spPr>
        <p:txBody>
          <a:bodyPr wrap="square" lIns="0" tIns="0" rIns="0" bIns="0" rtlCol="0" anchor="ctr"/>
          <a:lstStyle/>
          <a:p>
            <a:pPr algn="ctr" indent="0" marL="0">
              <a:buNone/>
            </a:pPr>
            <a:r>
              <a:rPr lang="en-US" sz="1100" b="1" dirty="0">
                <a:solidFill>
                  <a:srgbClr val="56636E"/>
                </a:solidFill>
                <a:latin typeface="BIZ UDPGothic" pitchFamily="34" charset="0"/>
                <a:ea typeface="BIZ UDPGothic" pitchFamily="34" charset="-122"/>
                <a:cs typeface="BIZ UDPGothic" pitchFamily="34" charset="-120"/>
              </a:rPr>
              <a:t>震</a:t>
            </a:r>
            <a:endParaRPr lang="en-US" sz="1100" dirty="0"/>
          </a:p>
        </p:txBody>
      </p:sp>
      <p:sp>
        <p:nvSpPr>
          <p:cNvPr id="16" name="Text 14"/>
          <p:cNvSpPr/>
          <p:nvPr/>
        </p:nvSpPr>
        <p:spPr>
          <a:xfrm>
            <a:off x="2889504" y="1783080"/>
            <a:ext cx="493776" cy="256032"/>
          </a:xfrm>
          <a:prstGeom prst="rect">
            <a:avLst/>
          </a:prstGeom>
          <a:noFill/>
          <a:ln/>
        </p:spPr>
        <p:txBody>
          <a:bodyPr wrap="square" lIns="0" tIns="0" rIns="0" bIns="0" rtlCol="0" anchor="t"/>
          <a:lstStyle/>
          <a:p>
            <a:pPr algn="ctr" indent="0" marL="0">
              <a:buNone/>
            </a:pPr>
            <a:r>
              <a:rPr lang="en-US" sz="1100" b="1" dirty="0">
                <a:solidFill>
                  <a:srgbClr val="56636E"/>
                </a:solidFill>
                <a:latin typeface="BIZ UDPGothic" pitchFamily="34" charset="0"/>
                <a:ea typeface="BIZ UDPGothic" pitchFamily="34" charset="-122"/>
                <a:cs typeface="BIZ UDPGothic" pitchFamily="34" charset="-120"/>
              </a:rPr>
              <a:t>巽</a:t>
            </a:r>
            <a:endParaRPr lang="en-US" sz="1100" dirty="0"/>
          </a:p>
        </p:txBody>
      </p:sp>
      <p:sp>
        <p:nvSpPr>
          <p:cNvPr id="17" name="Text 15"/>
          <p:cNvSpPr/>
          <p:nvPr/>
        </p:nvSpPr>
        <p:spPr>
          <a:xfrm>
            <a:off x="502920" y="4032504"/>
            <a:ext cx="365760" cy="493776"/>
          </a:xfrm>
          <a:prstGeom prst="rect">
            <a:avLst/>
          </a:prstGeom>
          <a:noFill/>
          <a:ln/>
        </p:spPr>
        <p:txBody>
          <a:bodyPr wrap="square" lIns="0" tIns="0" rIns="0" bIns="0" rtlCol="0" anchor="ctr"/>
          <a:lstStyle/>
          <a:p>
            <a:pPr algn="ctr" indent="0" marL="0">
              <a:buNone/>
            </a:pPr>
            <a:r>
              <a:rPr lang="en-US" sz="1100" b="1" dirty="0">
                <a:solidFill>
                  <a:srgbClr val="56636E"/>
                </a:solidFill>
                <a:latin typeface="BIZ UDPGothic" pitchFamily="34" charset="0"/>
                <a:ea typeface="BIZ UDPGothic" pitchFamily="34" charset="-122"/>
                <a:cs typeface="BIZ UDPGothic" pitchFamily="34" charset="-120"/>
              </a:rPr>
              <a:t>巽</a:t>
            </a:r>
            <a:endParaRPr lang="en-US" sz="1100" dirty="0"/>
          </a:p>
        </p:txBody>
      </p:sp>
      <p:sp>
        <p:nvSpPr>
          <p:cNvPr id="18" name="Text 16"/>
          <p:cNvSpPr/>
          <p:nvPr/>
        </p:nvSpPr>
        <p:spPr>
          <a:xfrm>
            <a:off x="3383280" y="1783080"/>
            <a:ext cx="493776" cy="256032"/>
          </a:xfrm>
          <a:prstGeom prst="rect">
            <a:avLst/>
          </a:prstGeom>
          <a:noFill/>
          <a:ln/>
        </p:spPr>
        <p:txBody>
          <a:bodyPr wrap="square" lIns="0" tIns="0" rIns="0" bIns="0" rtlCol="0" anchor="t"/>
          <a:lstStyle/>
          <a:p>
            <a:pPr algn="ctr" indent="0" marL="0">
              <a:buNone/>
            </a:pPr>
            <a:r>
              <a:rPr lang="en-US" sz="1100" b="1" dirty="0">
                <a:solidFill>
                  <a:srgbClr val="56636E"/>
                </a:solidFill>
                <a:latin typeface="BIZ UDPGothic" pitchFamily="34" charset="0"/>
                <a:ea typeface="BIZ UDPGothic" pitchFamily="34" charset="-122"/>
                <a:cs typeface="BIZ UDPGothic" pitchFamily="34" charset="-120"/>
              </a:rPr>
              <a:t>坎</a:t>
            </a:r>
            <a:endParaRPr lang="en-US" sz="1100" dirty="0"/>
          </a:p>
        </p:txBody>
      </p:sp>
      <p:sp>
        <p:nvSpPr>
          <p:cNvPr id="19" name="Text 17"/>
          <p:cNvSpPr/>
          <p:nvPr/>
        </p:nvSpPr>
        <p:spPr>
          <a:xfrm>
            <a:off x="502920" y="4526280"/>
            <a:ext cx="365760" cy="493776"/>
          </a:xfrm>
          <a:prstGeom prst="rect">
            <a:avLst/>
          </a:prstGeom>
          <a:noFill/>
          <a:ln/>
        </p:spPr>
        <p:txBody>
          <a:bodyPr wrap="square" lIns="0" tIns="0" rIns="0" bIns="0" rtlCol="0" anchor="ctr"/>
          <a:lstStyle/>
          <a:p>
            <a:pPr algn="ctr" indent="0" marL="0">
              <a:buNone/>
            </a:pPr>
            <a:r>
              <a:rPr lang="en-US" sz="1100" b="1" dirty="0">
                <a:solidFill>
                  <a:srgbClr val="56636E"/>
                </a:solidFill>
                <a:latin typeface="BIZ UDPGothic" pitchFamily="34" charset="0"/>
                <a:ea typeface="BIZ UDPGothic" pitchFamily="34" charset="-122"/>
                <a:cs typeface="BIZ UDPGothic" pitchFamily="34" charset="-120"/>
              </a:rPr>
              <a:t>坎</a:t>
            </a:r>
            <a:endParaRPr lang="en-US" sz="1100" dirty="0"/>
          </a:p>
        </p:txBody>
      </p:sp>
      <p:sp>
        <p:nvSpPr>
          <p:cNvPr id="20" name="Text 18"/>
          <p:cNvSpPr/>
          <p:nvPr/>
        </p:nvSpPr>
        <p:spPr>
          <a:xfrm>
            <a:off x="3877056" y="1783080"/>
            <a:ext cx="493776" cy="256032"/>
          </a:xfrm>
          <a:prstGeom prst="rect">
            <a:avLst/>
          </a:prstGeom>
          <a:noFill/>
          <a:ln/>
        </p:spPr>
        <p:txBody>
          <a:bodyPr wrap="square" lIns="0" tIns="0" rIns="0" bIns="0" rtlCol="0" anchor="t"/>
          <a:lstStyle/>
          <a:p>
            <a:pPr algn="ctr" indent="0" marL="0">
              <a:buNone/>
            </a:pPr>
            <a:r>
              <a:rPr lang="en-US" sz="1100" b="1" dirty="0">
                <a:solidFill>
                  <a:srgbClr val="56636E"/>
                </a:solidFill>
                <a:latin typeface="BIZ UDPGothic" pitchFamily="34" charset="0"/>
                <a:ea typeface="BIZ UDPGothic" pitchFamily="34" charset="-122"/>
                <a:cs typeface="BIZ UDPGothic" pitchFamily="34" charset="-120"/>
              </a:rPr>
              <a:t>艮</a:t>
            </a:r>
            <a:endParaRPr lang="en-US" sz="1100" dirty="0"/>
          </a:p>
        </p:txBody>
      </p:sp>
      <p:sp>
        <p:nvSpPr>
          <p:cNvPr id="21" name="Text 19"/>
          <p:cNvSpPr/>
          <p:nvPr/>
        </p:nvSpPr>
        <p:spPr>
          <a:xfrm>
            <a:off x="502920" y="5020056"/>
            <a:ext cx="365760" cy="493776"/>
          </a:xfrm>
          <a:prstGeom prst="rect">
            <a:avLst/>
          </a:prstGeom>
          <a:noFill/>
          <a:ln/>
        </p:spPr>
        <p:txBody>
          <a:bodyPr wrap="square" lIns="0" tIns="0" rIns="0" bIns="0" rtlCol="0" anchor="ctr"/>
          <a:lstStyle/>
          <a:p>
            <a:pPr algn="ctr" indent="0" marL="0">
              <a:buNone/>
            </a:pPr>
            <a:r>
              <a:rPr lang="en-US" sz="1100" b="1" dirty="0">
                <a:solidFill>
                  <a:srgbClr val="56636E"/>
                </a:solidFill>
                <a:latin typeface="BIZ UDPGothic" pitchFamily="34" charset="0"/>
                <a:ea typeface="BIZ UDPGothic" pitchFamily="34" charset="-122"/>
                <a:cs typeface="BIZ UDPGothic" pitchFamily="34" charset="-120"/>
              </a:rPr>
              <a:t>艮</a:t>
            </a:r>
            <a:endParaRPr lang="en-US" sz="1100" dirty="0"/>
          </a:p>
        </p:txBody>
      </p:sp>
      <p:sp>
        <p:nvSpPr>
          <p:cNvPr id="22" name="Text 20"/>
          <p:cNvSpPr/>
          <p:nvPr/>
        </p:nvSpPr>
        <p:spPr>
          <a:xfrm>
            <a:off x="4370832" y="1783080"/>
            <a:ext cx="493776" cy="256032"/>
          </a:xfrm>
          <a:prstGeom prst="rect">
            <a:avLst/>
          </a:prstGeom>
          <a:noFill/>
          <a:ln/>
        </p:spPr>
        <p:txBody>
          <a:bodyPr wrap="square" lIns="0" tIns="0" rIns="0" bIns="0" rtlCol="0" anchor="t"/>
          <a:lstStyle/>
          <a:p>
            <a:pPr algn="ctr" indent="0" marL="0">
              <a:buNone/>
            </a:pPr>
            <a:r>
              <a:rPr lang="en-US" sz="1100" b="1" dirty="0">
                <a:solidFill>
                  <a:srgbClr val="56636E"/>
                </a:solidFill>
                <a:latin typeface="BIZ UDPGothic" pitchFamily="34" charset="0"/>
                <a:ea typeface="BIZ UDPGothic" pitchFamily="34" charset="-122"/>
                <a:cs typeface="BIZ UDPGothic" pitchFamily="34" charset="-120"/>
              </a:rPr>
              <a:t>坤</a:t>
            </a:r>
            <a:endParaRPr lang="en-US" sz="1100" dirty="0"/>
          </a:p>
        </p:txBody>
      </p:sp>
      <p:sp>
        <p:nvSpPr>
          <p:cNvPr id="23" name="Text 21"/>
          <p:cNvSpPr/>
          <p:nvPr/>
        </p:nvSpPr>
        <p:spPr>
          <a:xfrm>
            <a:off x="502920" y="5513832"/>
            <a:ext cx="365760" cy="493776"/>
          </a:xfrm>
          <a:prstGeom prst="rect">
            <a:avLst/>
          </a:prstGeom>
          <a:noFill/>
          <a:ln/>
        </p:spPr>
        <p:txBody>
          <a:bodyPr wrap="square" lIns="0" tIns="0" rIns="0" bIns="0" rtlCol="0" anchor="ctr"/>
          <a:lstStyle/>
          <a:p>
            <a:pPr algn="ctr" indent="0" marL="0">
              <a:buNone/>
            </a:pPr>
            <a:r>
              <a:rPr lang="en-US" sz="1100" b="1" dirty="0">
                <a:solidFill>
                  <a:srgbClr val="56636E"/>
                </a:solidFill>
                <a:latin typeface="BIZ UDPGothic" pitchFamily="34" charset="0"/>
                <a:ea typeface="BIZ UDPGothic" pitchFamily="34" charset="-122"/>
                <a:cs typeface="BIZ UDPGothic" pitchFamily="34" charset="-120"/>
              </a:rPr>
              <a:t>坤</a:t>
            </a:r>
            <a:endParaRPr lang="en-US" sz="1100" dirty="0"/>
          </a:p>
        </p:txBody>
      </p:sp>
      <p:sp>
        <p:nvSpPr>
          <p:cNvPr id="24" name="Shape 22"/>
          <p:cNvSpPr/>
          <p:nvPr/>
        </p:nvSpPr>
        <p:spPr>
          <a:xfrm>
            <a:off x="914400" y="2057400"/>
            <a:ext cx="457200" cy="457200"/>
          </a:xfrm>
          <a:prstGeom prst="rect">
            <a:avLst/>
          </a:prstGeom>
          <a:solidFill>
            <a:srgbClr val="FFFFFF"/>
          </a:solidFill>
          <a:ln w="9525">
            <a:solidFill>
              <a:srgbClr val="DCD5C6"/>
            </a:solidFill>
            <a:prstDash val="solid"/>
          </a:ln>
        </p:spPr>
      </p:sp>
      <p:sp>
        <p:nvSpPr>
          <p:cNvPr id="25" name="Text 23"/>
          <p:cNvSpPr/>
          <p:nvPr/>
        </p:nvSpPr>
        <p:spPr>
          <a:xfrm>
            <a:off x="914400" y="2057400"/>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1</a:t>
            </a:r>
            <a:endParaRPr lang="en-US" sz="950" dirty="0"/>
          </a:p>
        </p:txBody>
      </p:sp>
      <p:sp>
        <p:nvSpPr>
          <p:cNvPr id="26" name="Shape 24"/>
          <p:cNvSpPr/>
          <p:nvPr/>
        </p:nvSpPr>
        <p:spPr>
          <a:xfrm>
            <a:off x="1408176" y="2057400"/>
            <a:ext cx="457200" cy="457200"/>
          </a:xfrm>
          <a:prstGeom prst="rect">
            <a:avLst/>
          </a:prstGeom>
          <a:solidFill>
            <a:srgbClr val="FFFFFF"/>
          </a:solidFill>
          <a:ln w="9525">
            <a:solidFill>
              <a:srgbClr val="DCD5C6"/>
            </a:solidFill>
            <a:prstDash val="solid"/>
          </a:ln>
        </p:spPr>
      </p:sp>
      <p:sp>
        <p:nvSpPr>
          <p:cNvPr id="27" name="Text 25"/>
          <p:cNvSpPr/>
          <p:nvPr/>
        </p:nvSpPr>
        <p:spPr>
          <a:xfrm>
            <a:off x="1408176" y="2057400"/>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10</a:t>
            </a:r>
            <a:endParaRPr lang="en-US" sz="950" dirty="0"/>
          </a:p>
        </p:txBody>
      </p:sp>
      <p:sp>
        <p:nvSpPr>
          <p:cNvPr id="28" name="Shape 26"/>
          <p:cNvSpPr/>
          <p:nvPr/>
        </p:nvSpPr>
        <p:spPr>
          <a:xfrm>
            <a:off x="1901952" y="2057400"/>
            <a:ext cx="457200" cy="457200"/>
          </a:xfrm>
          <a:prstGeom prst="rect">
            <a:avLst/>
          </a:prstGeom>
          <a:solidFill>
            <a:srgbClr val="FFFFFF"/>
          </a:solidFill>
          <a:ln w="9525">
            <a:solidFill>
              <a:srgbClr val="DCD5C6"/>
            </a:solidFill>
            <a:prstDash val="solid"/>
          </a:ln>
        </p:spPr>
      </p:sp>
      <p:sp>
        <p:nvSpPr>
          <p:cNvPr id="29" name="Text 27"/>
          <p:cNvSpPr/>
          <p:nvPr/>
        </p:nvSpPr>
        <p:spPr>
          <a:xfrm>
            <a:off x="1901952" y="2057400"/>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13</a:t>
            </a:r>
            <a:endParaRPr lang="en-US" sz="950" dirty="0"/>
          </a:p>
        </p:txBody>
      </p:sp>
      <p:sp>
        <p:nvSpPr>
          <p:cNvPr id="30" name="Shape 28"/>
          <p:cNvSpPr/>
          <p:nvPr/>
        </p:nvSpPr>
        <p:spPr>
          <a:xfrm>
            <a:off x="2395728" y="2057400"/>
            <a:ext cx="457200" cy="457200"/>
          </a:xfrm>
          <a:prstGeom prst="rect">
            <a:avLst/>
          </a:prstGeom>
          <a:solidFill>
            <a:srgbClr val="FFFFFF"/>
          </a:solidFill>
          <a:ln w="9525">
            <a:solidFill>
              <a:srgbClr val="DCD5C6"/>
            </a:solidFill>
            <a:prstDash val="solid"/>
          </a:ln>
        </p:spPr>
      </p:sp>
      <p:sp>
        <p:nvSpPr>
          <p:cNvPr id="31" name="Text 29"/>
          <p:cNvSpPr/>
          <p:nvPr/>
        </p:nvSpPr>
        <p:spPr>
          <a:xfrm>
            <a:off x="2395728" y="2057400"/>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25</a:t>
            </a:r>
            <a:endParaRPr lang="en-US" sz="950" dirty="0"/>
          </a:p>
        </p:txBody>
      </p:sp>
      <p:sp>
        <p:nvSpPr>
          <p:cNvPr id="32" name="Shape 30"/>
          <p:cNvSpPr/>
          <p:nvPr/>
        </p:nvSpPr>
        <p:spPr>
          <a:xfrm>
            <a:off x="2889504" y="2057400"/>
            <a:ext cx="457200" cy="457200"/>
          </a:xfrm>
          <a:prstGeom prst="rect">
            <a:avLst/>
          </a:prstGeom>
          <a:solidFill>
            <a:srgbClr val="FFFFFF"/>
          </a:solidFill>
          <a:ln w="9525">
            <a:solidFill>
              <a:srgbClr val="DCD5C6"/>
            </a:solidFill>
            <a:prstDash val="solid"/>
          </a:ln>
        </p:spPr>
      </p:sp>
      <p:sp>
        <p:nvSpPr>
          <p:cNvPr id="33" name="Text 31"/>
          <p:cNvSpPr/>
          <p:nvPr/>
        </p:nvSpPr>
        <p:spPr>
          <a:xfrm>
            <a:off x="2889504" y="2057400"/>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44</a:t>
            </a:r>
            <a:endParaRPr lang="en-US" sz="950" dirty="0"/>
          </a:p>
        </p:txBody>
      </p:sp>
      <p:sp>
        <p:nvSpPr>
          <p:cNvPr id="34" name="Shape 32"/>
          <p:cNvSpPr/>
          <p:nvPr/>
        </p:nvSpPr>
        <p:spPr>
          <a:xfrm>
            <a:off x="3383280" y="2057400"/>
            <a:ext cx="457200" cy="457200"/>
          </a:xfrm>
          <a:prstGeom prst="rect">
            <a:avLst/>
          </a:prstGeom>
          <a:solidFill>
            <a:srgbClr val="FFFFFF"/>
          </a:solidFill>
          <a:ln w="9525">
            <a:solidFill>
              <a:srgbClr val="DCD5C6"/>
            </a:solidFill>
            <a:prstDash val="solid"/>
          </a:ln>
        </p:spPr>
      </p:sp>
      <p:sp>
        <p:nvSpPr>
          <p:cNvPr id="35" name="Text 33"/>
          <p:cNvSpPr/>
          <p:nvPr/>
        </p:nvSpPr>
        <p:spPr>
          <a:xfrm>
            <a:off x="3383280" y="2057400"/>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6</a:t>
            </a:r>
            <a:endParaRPr lang="en-US" sz="950" dirty="0"/>
          </a:p>
        </p:txBody>
      </p:sp>
      <p:sp>
        <p:nvSpPr>
          <p:cNvPr id="36" name="Shape 34"/>
          <p:cNvSpPr/>
          <p:nvPr/>
        </p:nvSpPr>
        <p:spPr>
          <a:xfrm>
            <a:off x="3877056" y="2057400"/>
            <a:ext cx="457200" cy="457200"/>
          </a:xfrm>
          <a:prstGeom prst="rect">
            <a:avLst/>
          </a:prstGeom>
          <a:solidFill>
            <a:srgbClr val="FFFFFF"/>
          </a:solidFill>
          <a:ln w="9525">
            <a:solidFill>
              <a:srgbClr val="DCD5C6"/>
            </a:solidFill>
            <a:prstDash val="solid"/>
          </a:ln>
        </p:spPr>
      </p:sp>
      <p:sp>
        <p:nvSpPr>
          <p:cNvPr id="37" name="Text 35"/>
          <p:cNvSpPr/>
          <p:nvPr/>
        </p:nvSpPr>
        <p:spPr>
          <a:xfrm>
            <a:off x="3877056" y="2057400"/>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33</a:t>
            </a:r>
            <a:endParaRPr lang="en-US" sz="950" dirty="0"/>
          </a:p>
        </p:txBody>
      </p:sp>
      <p:sp>
        <p:nvSpPr>
          <p:cNvPr id="38" name="Shape 36"/>
          <p:cNvSpPr/>
          <p:nvPr/>
        </p:nvSpPr>
        <p:spPr>
          <a:xfrm>
            <a:off x="4370832" y="2057400"/>
            <a:ext cx="457200" cy="457200"/>
          </a:xfrm>
          <a:prstGeom prst="rect">
            <a:avLst/>
          </a:prstGeom>
          <a:solidFill>
            <a:srgbClr val="FFFFFF"/>
          </a:solidFill>
          <a:ln w="9525">
            <a:solidFill>
              <a:srgbClr val="DCD5C6"/>
            </a:solidFill>
            <a:prstDash val="solid"/>
          </a:ln>
        </p:spPr>
      </p:sp>
      <p:sp>
        <p:nvSpPr>
          <p:cNvPr id="39" name="Text 37"/>
          <p:cNvSpPr/>
          <p:nvPr/>
        </p:nvSpPr>
        <p:spPr>
          <a:xfrm>
            <a:off x="4370832" y="2057400"/>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12</a:t>
            </a:r>
            <a:endParaRPr lang="en-US" sz="950" dirty="0"/>
          </a:p>
        </p:txBody>
      </p:sp>
      <p:sp>
        <p:nvSpPr>
          <p:cNvPr id="40" name="Shape 38"/>
          <p:cNvSpPr/>
          <p:nvPr/>
        </p:nvSpPr>
        <p:spPr>
          <a:xfrm>
            <a:off x="914400" y="2551176"/>
            <a:ext cx="457200" cy="457200"/>
          </a:xfrm>
          <a:prstGeom prst="rect">
            <a:avLst/>
          </a:prstGeom>
          <a:solidFill>
            <a:srgbClr val="FFFFFF"/>
          </a:solidFill>
          <a:ln w="9525">
            <a:solidFill>
              <a:srgbClr val="DCD5C6"/>
            </a:solidFill>
            <a:prstDash val="solid"/>
          </a:ln>
        </p:spPr>
      </p:sp>
      <p:sp>
        <p:nvSpPr>
          <p:cNvPr id="41" name="Text 39"/>
          <p:cNvSpPr/>
          <p:nvPr/>
        </p:nvSpPr>
        <p:spPr>
          <a:xfrm>
            <a:off x="914400" y="2551176"/>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43</a:t>
            </a:r>
            <a:endParaRPr lang="en-US" sz="950" dirty="0"/>
          </a:p>
        </p:txBody>
      </p:sp>
      <p:sp>
        <p:nvSpPr>
          <p:cNvPr id="42" name="Shape 40"/>
          <p:cNvSpPr/>
          <p:nvPr/>
        </p:nvSpPr>
        <p:spPr>
          <a:xfrm>
            <a:off x="1408176" y="2551176"/>
            <a:ext cx="457200" cy="457200"/>
          </a:xfrm>
          <a:prstGeom prst="rect">
            <a:avLst/>
          </a:prstGeom>
          <a:solidFill>
            <a:srgbClr val="FFFFFF"/>
          </a:solidFill>
          <a:ln w="9525">
            <a:solidFill>
              <a:srgbClr val="DCD5C6"/>
            </a:solidFill>
            <a:prstDash val="solid"/>
          </a:ln>
        </p:spPr>
      </p:sp>
      <p:sp>
        <p:nvSpPr>
          <p:cNvPr id="43" name="Text 41"/>
          <p:cNvSpPr/>
          <p:nvPr/>
        </p:nvSpPr>
        <p:spPr>
          <a:xfrm>
            <a:off x="1408176" y="2551176"/>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58</a:t>
            </a:r>
            <a:endParaRPr lang="en-US" sz="950" dirty="0"/>
          </a:p>
        </p:txBody>
      </p:sp>
      <p:sp>
        <p:nvSpPr>
          <p:cNvPr id="44" name="Shape 42"/>
          <p:cNvSpPr/>
          <p:nvPr/>
        </p:nvSpPr>
        <p:spPr>
          <a:xfrm>
            <a:off x="1901952" y="2551176"/>
            <a:ext cx="457200" cy="457200"/>
          </a:xfrm>
          <a:prstGeom prst="rect">
            <a:avLst/>
          </a:prstGeom>
          <a:solidFill>
            <a:srgbClr val="FFFFFF"/>
          </a:solidFill>
          <a:ln w="9525">
            <a:solidFill>
              <a:srgbClr val="DCD5C6"/>
            </a:solidFill>
            <a:prstDash val="solid"/>
          </a:ln>
        </p:spPr>
      </p:sp>
      <p:sp>
        <p:nvSpPr>
          <p:cNvPr id="45" name="Text 43"/>
          <p:cNvSpPr/>
          <p:nvPr/>
        </p:nvSpPr>
        <p:spPr>
          <a:xfrm>
            <a:off x="1901952" y="2551176"/>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49</a:t>
            </a:r>
            <a:endParaRPr lang="en-US" sz="950" dirty="0"/>
          </a:p>
        </p:txBody>
      </p:sp>
      <p:sp>
        <p:nvSpPr>
          <p:cNvPr id="46" name="Shape 44"/>
          <p:cNvSpPr/>
          <p:nvPr/>
        </p:nvSpPr>
        <p:spPr>
          <a:xfrm>
            <a:off x="2395728" y="2551176"/>
            <a:ext cx="457200" cy="457200"/>
          </a:xfrm>
          <a:prstGeom prst="rect">
            <a:avLst/>
          </a:prstGeom>
          <a:solidFill>
            <a:srgbClr val="FFFFFF"/>
          </a:solidFill>
          <a:ln w="9525">
            <a:solidFill>
              <a:srgbClr val="DCD5C6"/>
            </a:solidFill>
            <a:prstDash val="solid"/>
          </a:ln>
        </p:spPr>
      </p:sp>
      <p:sp>
        <p:nvSpPr>
          <p:cNvPr id="47" name="Text 45"/>
          <p:cNvSpPr/>
          <p:nvPr/>
        </p:nvSpPr>
        <p:spPr>
          <a:xfrm>
            <a:off x="2395728" y="2551176"/>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17</a:t>
            </a:r>
            <a:endParaRPr lang="en-US" sz="950" dirty="0"/>
          </a:p>
        </p:txBody>
      </p:sp>
      <p:sp>
        <p:nvSpPr>
          <p:cNvPr id="48" name="Shape 46"/>
          <p:cNvSpPr/>
          <p:nvPr/>
        </p:nvSpPr>
        <p:spPr>
          <a:xfrm>
            <a:off x="2889504" y="2551176"/>
            <a:ext cx="457200" cy="457200"/>
          </a:xfrm>
          <a:prstGeom prst="rect">
            <a:avLst/>
          </a:prstGeom>
          <a:solidFill>
            <a:srgbClr val="FFFFFF"/>
          </a:solidFill>
          <a:ln w="9525">
            <a:solidFill>
              <a:srgbClr val="DCD5C6"/>
            </a:solidFill>
            <a:prstDash val="solid"/>
          </a:ln>
        </p:spPr>
      </p:sp>
      <p:sp>
        <p:nvSpPr>
          <p:cNvPr id="49" name="Text 47"/>
          <p:cNvSpPr/>
          <p:nvPr/>
        </p:nvSpPr>
        <p:spPr>
          <a:xfrm>
            <a:off x="2889504" y="2551176"/>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28</a:t>
            </a:r>
            <a:endParaRPr lang="en-US" sz="950" dirty="0"/>
          </a:p>
        </p:txBody>
      </p:sp>
      <p:sp>
        <p:nvSpPr>
          <p:cNvPr id="50" name="Shape 48"/>
          <p:cNvSpPr/>
          <p:nvPr/>
        </p:nvSpPr>
        <p:spPr>
          <a:xfrm>
            <a:off x="3383280" y="2551176"/>
            <a:ext cx="457200" cy="457200"/>
          </a:xfrm>
          <a:prstGeom prst="rect">
            <a:avLst/>
          </a:prstGeom>
          <a:solidFill>
            <a:srgbClr val="FFFFFF"/>
          </a:solidFill>
          <a:ln w="9525">
            <a:solidFill>
              <a:srgbClr val="DCD5C6"/>
            </a:solidFill>
            <a:prstDash val="solid"/>
          </a:ln>
        </p:spPr>
      </p:sp>
      <p:sp>
        <p:nvSpPr>
          <p:cNvPr id="51" name="Text 49"/>
          <p:cNvSpPr/>
          <p:nvPr/>
        </p:nvSpPr>
        <p:spPr>
          <a:xfrm>
            <a:off x="3383280" y="2551176"/>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47</a:t>
            </a:r>
            <a:endParaRPr lang="en-US" sz="950" dirty="0"/>
          </a:p>
        </p:txBody>
      </p:sp>
      <p:sp>
        <p:nvSpPr>
          <p:cNvPr id="52" name="Shape 50"/>
          <p:cNvSpPr/>
          <p:nvPr/>
        </p:nvSpPr>
        <p:spPr>
          <a:xfrm>
            <a:off x="3877056" y="2551176"/>
            <a:ext cx="457200" cy="457200"/>
          </a:xfrm>
          <a:prstGeom prst="rect">
            <a:avLst/>
          </a:prstGeom>
          <a:solidFill>
            <a:srgbClr val="FFFFFF"/>
          </a:solidFill>
          <a:ln w="9525">
            <a:solidFill>
              <a:srgbClr val="DCD5C6"/>
            </a:solidFill>
            <a:prstDash val="solid"/>
          </a:ln>
        </p:spPr>
      </p:sp>
      <p:sp>
        <p:nvSpPr>
          <p:cNvPr id="53" name="Text 51"/>
          <p:cNvSpPr/>
          <p:nvPr/>
        </p:nvSpPr>
        <p:spPr>
          <a:xfrm>
            <a:off x="3877056" y="2551176"/>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31</a:t>
            </a:r>
            <a:endParaRPr lang="en-US" sz="950" dirty="0"/>
          </a:p>
        </p:txBody>
      </p:sp>
      <p:sp>
        <p:nvSpPr>
          <p:cNvPr id="54" name="Shape 52"/>
          <p:cNvSpPr/>
          <p:nvPr/>
        </p:nvSpPr>
        <p:spPr>
          <a:xfrm>
            <a:off x="4370832" y="2551176"/>
            <a:ext cx="457200" cy="457200"/>
          </a:xfrm>
          <a:prstGeom prst="rect">
            <a:avLst/>
          </a:prstGeom>
          <a:solidFill>
            <a:srgbClr val="4F7A5C"/>
          </a:solidFill>
          <a:ln/>
        </p:spPr>
      </p:sp>
      <p:sp>
        <p:nvSpPr>
          <p:cNvPr id="55" name="Text 53"/>
          <p:cNvSpPr/>
          <p:nvPr/>
        </p:nvSpPr>
        <p:spPr>
          <a:xfrm>
            <a:off x="4370832" y="255117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萃</a:t>
            </a:r>
            <a:endParaRPr lang="en-US" sz="1400" dirty="0"/>
          </a:p>
        </p:txBody>
      </p:sp>
      <p:sp>
        <p:nvSpPr>
          <p:cNvPr id="56" name="Shape 54"/>
          <p:cNvSpPr/>
          <p:nvPr/>
        </p:nvSpPr>
        <p:spPr>
          <a:xfrm>
            <a:off x="914400" y="3044952"/>
            <a:ext cx="457200" cy="457200"/>
          </a:xfrm>
          <a:prstGeom prst="rect">
            <a:avLst/>
          </a:prstGeom>
          <a:solidFill>
            <a:srgbClr val="FFFFFF"/>
          </a:solidFill>
          <a:ln w="9525">
            <a:solidFill>
              <a:srgbClr val="DCD5C6"/>
            </a:solidFill>
            <a:prstDash val="solid"/>
          </a:ln>
        </p:spPr>
      </p:sp>
      <p:sp>
        <p:nvSpPr>
          <p:cNvPr id="57" name="Text 55"/>
          <p:cNvSpPr/>
          <p:nvPr/>
        </p:nvSpPr>
        <p:spPr>
          <a:xfrm>
            <a:off x="914400" y="3044952"/>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14</a:t>
            </a:r>
            <a:endParaRPr lang="en-US" sz="950" dirty="0"/>
          </a:p>
        </p:txBody>
      </p:sp>
      <p:sp>
        <p:nvSpPr>
          <p:cNvPr id="58" name="Shape 56"/>
          <p:cNvSpPr/>
          <p:nvPr/>
        </p:nvSpPr>
        <p:spPr>
          <a:xfrm>
            <a:off x="1408176" y="3044952"/>
            <a:ext cx="457200" cy="457200"/>
          </a:xfrm>
          <a:prstGeom prst="rect">
            <a:avLst/>
          </a:prstGeom>
          <a:solidFill>
            <a:srgbClr val="FFFFFF"/>
          </a:solidFill>
          <a:ln w="9525">
            <a:solidFill>
              <a:srgbClr val="DCD5C6"/>
            </a:solidFill>
            <a:prstDash val="solid"/>
          </a:ln>
        </p:spPr>
      </p:sp>
      <p:sp>
        <p:nvSpPr>
          <p:cNvPr id="59" name="Text 57"/>
          <p:cNvSpPr/>
          <p:nvPr/>
        </p:nvSpPr>
        <p:spPr>
          <a:xfrm>
            <a:off x="1408176" y="3044952"/>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38</a:t>
            </a:r>
            <a:endParaRPr lang="en-US" sz="950" dirty="0"/>
          </a:p>
        </p:txBody>
      </p:sp>
      <p:sp>
        <p:nvSpPr>
          <p:cNvPr id="60" name="Shape 58"/>
          <p:cNvSpPr/>
          <p:nvPr/>
        </p:nvSpPr>
        <p:spPr>
          <a:xfrm>
            <a:off x="1901952" y="3044952"/>
            <a:ext cx="457200" cy="457200"/>
          </a:xfrm>
          <a:prstGeom prst="rect">
            <a:avLst/>
          </a:prstGeom>
          <a:solidFill>
            <a:srgbClr val="FFFFFF"/>
          </a:solidFill>
          <a:ln w="9525">
            <a:solidFill>
              <a:srgbClr val="DCD5C6"/>
            </a:solidFill>
            <a:prstDash val="solid"/>
          </a:ln>
        </p:spPr>
      </p:sp>
      <p:sp>
        <p:nvSpPr>
          <p:cNvPr id="61" name="Text 59"/>
          <p:cNvSpPr/>
          <p:nvPr/>
        </p:nvSpPr>
        <p:spPr>
          <a:xfrm>
            <a:off x="1901952" y="3044952"/>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30</a:t>
            </a:r>
            <a:endParaRPr lang="en-US" sz="950" dirty="0"/>
          </a:p>
        </p:txBody>
      </p:sp>
      <p:sp>
        <p:nvSpPr>
          <p:cNvPr id="62" name="Shape 60"/>
          <p:cNvSpPr/>
          <p:nvPr/>
        </p:nvSpPr>
        <p:spPr>
          <a:xfrm>
            <a:off x="2395728" y="3044952"/>
            <a:ext cx="457200" cy="457200"/>
          </a:xfrm>
          <a:prstGeom prst="rect">
            <a:avLst/>
          </a:prstGeom>
          <a:solidFill>
            <a:srgbClr val="FFFFFF"/>
          </a:solidFill>
          <a:ln w="9525">
            <a:solidFill>
              <a:srgbClr val="DCD5C6"/>
            </a:solidFill>
            <a:prstDash val="solid"/>
          </a:ln>
        </p:spPr>
      </p:sp>
      <p:sp>
        <p:nvSpPr>
          <p:cNvPr id="63" name="Text 61"/>
          <p:cNvSpPr/>
          <p:nvPr/>
        </p:nvSpPr>
        <p:spPr>
          <a:xfrm>
            <a:off x="2395728" y="3044952"/>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21</a:t>
            </a:r>
            <a:endParaRPr lang="en-US" sz="950" dirty="0"/>
          </a:p>
        </p:txBody>
      </p:sp>
      <p:sp>
        <p:nvSpPr>
          <p:cNvPr id="64" name="Shape 62"/>
          <p:cNvSpPr/>
          <p:nvPr/>
        </p:nvSpPr>
        <p:spPr>
          <a:xfrm>
            <a:off x="2889504" y="3044952"/>
            <a:ext cx="457200" cy="457200"/>
          </a:xfrm>
          <a:prstGeom prst="rect">
            <a:avLst/>
          </a:prstGeom>
          <a:solidFill>
            <a:srgbClr val="5A5A86"/>
          </a:solidFill>
          <a:ln/>
        </p:spPr>
      </p:sp>
      <p:sp>
        <p:nvSpPr>
          <p:cNvPr id="65" name="Text 63"/>
          <p:cNvSpPr/>
          <p:nvPr/>
        </p:nvSpPr>
        <p:spPr>
          <a:xfrm>
            <a:off x="2889504" y="30449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鼎</a:t>
            </a:r>
            <a:endParaRPr lang="en-US" sz="1400" dirty="0"/>
          </a:p>
        </p:txBody>
      </p:sp>
      <p:sp>
        <p:nvSpPr>
          <p:cNvPr id="66" name="Shape 64"/>
          <p:cNvSpPr/>
          <p:nvPr/>
        </p:nvSpPr>
        <p:spPr>
          <a:xfrm>
            <a:off x="3383280" y="3044952"/>
            <a:ext cx="457200" cy="457200"/>
          </a:xfrm>
          <a:prstGeom prst="rect">
            <a:avLst/>
          </a:prstGeom>
          <a:solidFill>
            <a:srgbClr val="FFFFFF"/>
          </a:solidFill>
          <a:ln w="9525">
            <a:solidFill>
              <a:srgbClr val="DCD5C6"/>
            </a:solidFill>
            <a:prstDash val="solid"/>
          </a:ln>
        </p:spPr>
      </p:sp>
      <p:sp>
        <p:nvSpPr>
          <p:cNvPr id="67" name="Text 65"/>
          <p:cNvSpPr/>
          <p:nvPr/>
        </p:nvSpPr>
        <p:spPr>
          <a:xfrm>
            <a:off x="3383280" y="3044952"/>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64</a:t>
            </a:r>
            <a:endParaRPr lang="en-US" sz="950" dirty="0"/>
          </a:p>
        </p:txBody>
      </p:sp>
      <p:sp>
        <p:nvSpPr>
          <p:cNvPr id="68" name="Shape 66"/>
          <p:cNvSpPr/>
          <p:nvPr/>
        </p:nvSpPr>
        <p:spPr>
          <a:xfrm>
            <a:off x="3877056" y="3044952"/>
            <a:ext cx="457200" cy="457200"/>
          </a:xfrm>
          <a:prstGeom prst="rect">
            <a:avLst/>
          </a:prstGeom>
          <a:solidFill>
            <a:srgbClr val="FFFFFF"/>
          </a:solidFill>
          <a:ln w="9525">
            <a:solidFill>
              <a:srgbClr val="DCD5C6"/>
            </a:solidFill>
            <a:prstDash val="solid"/>
          </a:ln>
        </p:spPr>
      </p:sp>
      <p:sp>
        <p:nvSpPr>
          <p:cNvPr id="69" name="Text 67"/>
          <p:cNvSpPr/>
          <p:nvPr/>
        </p:nvSpPr>
        <p:spPr>
          <a:xfrm>
            <a:off x="3877056" y="3044952"/>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56</a:t>
            </a:r>
            <a:endParaRPr lang="en-US" sz="950" dirty="0"/>
          </a:p>
        </p:txBody>
      </p:sp>
      <p:sp>
        <p:nvSpPr>
          <p:cNvPr id="70" name="Shape 68"/>
          <p:cNvSpPr/>
          <p:nvPr/>
        </p:nvSpPr>
        <p:spPr>
          <a:xfrm>
            <a:off x="4370832" y="3044952"/>
            <a:ext cx="457200" cy="457200"/>
          </a:xfrm>
          <a:prstGeom prst="rect">
            <a:avLst/>
          </a:prstGeom>
          <a:solidFill>
            <a:srgbClr val="FFFFFF"/>
          </a:solidFill>
          <a:ln w="9525">
            <a:solidFill>
              <a:srgbClr val="DCD5C6"/>
            </a:solidFill>
            <a:prstDash val="solid"/>
          </a:ln>
        </p:spPr>
      </p:sp>
      <p:sp>
        <p:nvSpPr>
          <p:cNvPr id="71" name="Text 69"/>
          <p:cNvSpPr/>
          <p:nvPr/>
        </p:nvSpPr>
        <p:spPr>
          <a:xfrm>
            <a:off x="4370832" y="3044952"/>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35</a:t>
            </a:r>
            <a:endParaRPr lang="en-US" sz="950" dirty="0"/>
          </a:p>
        </p:txBody>
      </p:sp>
      <p:sp>
        <p:nvSpPr>
          <p:cNvPr id="72" name="Shape 70"/>
          <p:cNvSpPr/>
          <p:nvPr/>
        </p:nvSpPr>
        <p:spPr>
          <a:xfrm>
            <a:off x="914400" y="3538728"/>
            <a:ext cx="457200" cy="457200"/>
          </a:xfrm>
          <a:prstGeom prst="rect">
            <a:avLst/>
          </a:prstGeom>
          <a:solidFill>
            <a:srgbClr val="FFFFFF"/>
          </a:solidFill>
          <a:ln w="9525">
            <a:solidFill>
              <a:srgbClr val="DCD5C6"/>
            </a:solidFill>
            <a:prstDash val="solid"/>
          </a:ln>
        </p:spPr>
      </p:sp>
      <p:sp>
        <p:nvSpPr>
          <p:cNvPr id="73" name="Text 71"/>
          <p:cNvSpPr/>
          <p:nvPr/>
        </p:nvSpPr>
        <p:spPr>
          <a:xfrm>
            <a:off x="914400" y="3538728"/>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34</a:t>
            </a:r>
            <a:endParaRPr lang="en-US" sz="950" dirty="0"/>
          </a:p>
        </p:txBody>
      </p:sp>
      <p:sp>
        <p:nvSpPr>
          <p:cNvPr id="74" name="Shape 72"/>
          <p:cNvSpPr/>
          <p:nvPr/>
        </p:nvSpPr>
        <p:spPr>
          <a:xfrm>
            <a:off x="1408176" y="3538728"/>
            <a:ext cx="457200" cy="457200"/>
          </a:xfrm>
          <a:prstGeom prst="rect">
            <a:avLst/>
          </a:prstGeom>
          <a:solidFill>
            <a:srgbClr val="FFFFFF"/>
          </a:solidFill>
          <a:ln w="9525">
            <a:solidFill>
              <a:srgbClr val="DCD5C6"/>
            </a:solidFill>
            <a:prstDash val="solid"/>
          </a:ln>
        </p:spPr>
      </p:sp>
      <p:sp>
        <p:nvSpPr>
          <p:cNvPr id="75" name="Text 73"/>
          <p:cNvSpPr/>
          <p:nvPr/>
        </p:nvSpPr>
        <p:spPr>
          <a:xfrm>
            <a:off x="1408176" y="3538728"/>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54</a:t>
            </a:r>
            <a:endParaRPr lang="en-US" sz="950" dirty="0"/>
          </a:p>
        </p:txBody>
      </p:sp>
      <p:sp>
        <p:nvSpPr>
          <p:cNvPr id="76" name="Shape 74"/>
          <p:cNvSpPr/>
          <p:nvPr/>
        </p:nvSpPr>
        <p:spPr>
          <a:xfrm>
            <a:off x="1901952" y="3538728"/>
            <a:ext cx="457200" cy="457200"/>
          </a:xfrm>
          <a:prstGeom prst="rect">
            <a:avLst/>
          </a:prstGeom>
          <a:solidFill>
            <a:srgbClr val="FFFFFF"/>
          </a:solidFill>
          <a:ln w="9525">
            <a:solidFill>
              <a:srgbClr val="DCD5C6"/>
            </a:solidFill>
            <a:prstDash val="solid"/>
          </a:ln>
        </p:spPr>
      </p:sp>
      <p:sp>
        <p:nvSpPr>
          <p:cNvPr id="77" name="Text 75"/>
          <p:cNvSpPr/>
          <p:nvPr/>
        </p:nvSpPr>
        <p:spPr>
          <a:xfrm>
            <a:off x="1901952" y="3538728"/>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55</a:t>
            </a:r>
            <a:endParaRPr lang="en-US" sz="950" dirty="0"/>
          </a:p>
        </p:txBody>
      </p:sp>
      <p:sp>
        <p:nvSpPr>
          <p:cNvPr id="78" name="Shape 76"/>
          <p:cNvSpPr/>
          <p:nvPr/>
        </p:nvSpPr>
        <p:spPr>
          <a:xfrm>
            <a:off x="2395728" y="3538728"/>
            <a:ext cx="457200" cy="457200"/>
          </a:xfrm>
          <a:prstGeom prst="rect">
            <a:avLst/>
          </a:prstGeom>
          <a:solidFill>
            <a:srgbClr val="FFFFFF"/>
          </a:solidFill>
          <a:ln w="9525">
            <a:solidFill>
              <a:srgbClr val="DCD5C6"/>
            </a:solidFill>
            <a:prstDash val="solid"/>
          </a:ln>
        </p:spPr>
      </p:sp>
      <p:sp>
        <p:nvSpPr>
          <p:cNvPr id="79" name="Text 77"/>
          <p:cNvSpPr/>
          <p:nvPr/>
        </p:nvSpPr>
        <p:spPr>
          <a:xfrm>
            <a:off x="2395728" y="3538728"/>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51</a:t>
            </a:r>
            <a:endParaRPr lang="en-US" sz="950" dirty="0"/>
          </a:p>
        </p:txBody>
      </p:sp>
      <p:sp>
        <p:nvSpPr>
          <p:cNvPr id="80" name="Shape 78"/>
          <p:cNvSpPr/>
          <p:nvPr/>
        </p:nvSpPr>
        <p:spPr>
          <a:xfrm>
            <a:off x="2889504" y="3538728"/>
            <a:ext cx="457200" cy="457200"/>
          </a:xfrm>
          <a:prstGeom prst="rect">
            <a:avLst/>
          </a:prstGeom>
          <a:solidFill>
            <a:srgbClr val="FFFFFF"/>
          </a:solidFill>
          <a:ln w="9525">
            <a:solidFill>
              <a:srgbClr val="DCD5C6"/>
            </a:solidFill>
            <a:prstDash val="solid"/>
          </a:ln>
        </p:spPr>
      </p:sp>
      <p:sp>
        <p:nvSpPr>
          <p:cNvPr id="81" name="Text 79"/>
          <p:cNvSpPr/>
          <p:nvPr/>
        </p:nvSpPr>
        <p:spPr>
          <a:xfrm>
            <a:off x="2889504" y="3538728"/>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32</a:t>
            </a:r>
            <a:endParaRPr lang="en-US" sz="950" dirty="0"/>
          </a:p>
        </p:txBody>
      </p:sp>
      <p:sp>
        <p:nvSpPr>
          <p:cNvPr id="82" name="Shape 80"/>
          <p:cNvSpPr/>
          <p:nvPr/>
        </p:nvSpPr>
        <p:spPr>
          <a:xfrm>
            <a:off x="3383280" y="3538728"/>
            <a:ext cx="457200" cy="457200"/>
          </a:xfrm>
          <a:prstGeom prst="rect">
            <a:avLst/>
          </a:prstGeom>
          <a:solidFill>
            <a:srgbClr val="FFFFFF"/>
          </a:solidFill>
          <a:ln w="9525">
            <a:solidFill>
              <a:srgbClr val="DCD5C6"/>
            </a:solidFill>
            <a:prstDash val="solid"/>
          </a:ln>
        </p:spPr>
      </p:sp>
      <p:sp>
        <p:nvSpPr>
          <p:cNvPr id="83" name="Text 81"/>
          <p:cNvSpPr/>
          <p:nvPr/>
        </p:nvSpPr>
        <p:spPr>
          <a:xfrm>
            <a:off x="3383280" y="3538728"/>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40</a:t>
            </a:r>
            <a:endParaRPr lang="en-US" sz="950" dirty="0"/>
          </a:p>
        </p:txBody>
      </p:sp>
      <p:sp>
        <p:nvSpPr>
          <p:cNvPr id="84" name="Shape 82"/>
          <p:cNvSpPr/>
          <p:nvPr/>
        </p:nvSpPr>
        <p:spPr>
          <a:xfrm>
            <a:off x="3877056" y="3538728"/>
            <a:ext cx="457200" cy="457200"/>
          </a:xfrm>
          <a:prstGeom prst="rect">
            <a:avLst/>
          </a:prstGeom>
          <a:solidFill>
            <a:srgbClr val="FFFFFF"/>
          </a:solidFill>
          <a:ln w="9525">
            <a:solidFill>
              <a:srgbClr val="DCD5C6"/>
            </a:solidFill>
            <a:prstDash val="solid"/>
          </a:ln>
        </p:spPr>
      </p:sp>
      <p:sp>
        <p:nvSpPr>
          <p:cNvPr id="85" name="Text 83"/>
          <p:cNvSpPr/>
          <p:nvPr/>
        </p:nvSpPr>
        <p:spPr>
          <a:xfrm>
            <a:off x="3877056" y="3538728"/>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62</a:t>
            </a:r>
            <a:endParaRPr lang="en-US" sz="950" dirty="0"/>
          </a:p>
        </p:txBody>
      </p:sp>
      <p:sp>
        <p:nvSpPr>
          <p:cNvPr id="86" name="Shape 84"/>
          <p:cNvSpPr/>
          <p:nvPr/>
        </p:nvSpPr>
        <p:spPr>
          <a:xfrm>
            <a:off x="4370832" y="3538728"/>
            <a:ext cx="457200" cy="457200"/>
          </a:xfrm>
          <a:prstGeom prst="rect">
            <a:avLst/>
          </a:prstGeom>
          <a:solidFill>
            <a:srgbClr val="FFFFFF"/>
          </a:solidFill>
          <a:ln w="9525">
            <a:solidFill>
              <a:srgbClr val="DCD5C6"/>
            </a:solidFill>
            <a:prstDash val="solid"/>
          </a:ln>
        </p:spPr>
      </p:sp>
      <p:sp>
        <p:nvSpPr>
          <p:cNvPr id="87" name="Text 85"/>
          <p:cNvSpPr/>
          <p:nvPr/>
        </p:nvSpPr>
        <p:spPr>
          <a:xfrm>
            <a:off x="4370832" y="3538728"/>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16</a:t>
            </a:r>
            <a:endParaRPr lang="en-US" sz="950" dirty="0"/>
          </a:p>
        </p:txBody>
      </p:sp>
      <p:sp>
        <p:nvSpPr>
          <p:cNvPr id="88" name="Shape 86"/>
          <p:cNvSpPr/>
          <p:nvPr/>
        </p:nvSpPr>
        <p:spPr>
          <a:xfrm>
            <a:off x="914400" y="4032504"/>
            <a:ext cx="457200" cy="457200"/>
          </a:xfrm>
          <a:prstGeom prst="rect">
            <a:avLst/>
          </a:prstGeom>
          <a:solidFill>
            <a:srgbClr val="FFFFFF"/>
          </a:solidFill>
          <a:ln w="9525">
            <a:solidFill>
              <a:srgbClr val="DCD5C6"/>
            </a:solidFill>
            <a:prstDash val="solid"/>
          </a:ln>
        </p:spPr>
      </p:sp>
      <p:sp>
        <p:nvSpPr>
          <p:cNvPr id="89" name="Text 87"/>
          <p:cNvSpPr/>
          <p:nvPr/>
        </p:nvSpPr>
        <p:spPr>
          <a:xfrm>
            <a:off x="914400" y="4032504"/>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9</a:t>
            </a:r>
            <a:endParaRPr lang="en-US" sz="950" dirty="0"/>
          </a:p>
        </p:txBody>
      </p:sp>
      <p:sp>
        <p:nvSpPr>
          <p:cNvPr id="90" name="Shape 88"/>
          <p:cNvSpPr/>
          <p:nvPr/>
        </p:nvSpPr>
        <p:spPr>
          <a:xfrm>
            <a:off x="1408176" y="4032504"/>
            <a:ext cx="457200" cy="457200"/>
          </a:xfrm>
          <a:prstGeom prst="rect">
            <a:avLst/>
          </a:prstGeom>
          <a:solidFill>
            <a:srgbClr val="FFFFFF"/>
          </a:solidFill>
          <a:ln w="9525">
            <a:solidFill>
              <a:srgbClr val="DCD5C6"/>
            </a:solidFill>
            <a:prstDash val="solid"/>
          </a:ln>
        </p:spPr>
      </p:sp>
      <p:sp>
        <p:nvSpPr>
          <p:cNvPr id="91" name="Text 89"/>
          <p:cNvSpPr/>
          <p:nvPr/>
        </p:nvSpPr>
        <p:spPr>
          <a:xfrm>
            <a:off x="1408176" y="4032504"/>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61</a:t>
            </a:r>
            <a:endParaRPr lang="en-US" sz="950" dirty="0"/>
          </a:p>
        </p:txBody>
      </p:sp>
      <p:sp>
        <p:nvSpPr>
          <p:cNvPr id="92" name="Shape 90"/>
          <p:cNvSpPr/>
          <p:nvPr/>
        </p:nvSpPr>
        <p:spPr>
          <a:xfrm>
            <a:off x="1901952" y="4032504"/>
            <a:ext cx="457200" cy="457200"/>
          </a:xfrm>
          <a:prstGeom prst="rect">
            <a:avLst/>
          </a:prstGeom>
          <a:solidFill>
            <a:srgbClr val="FFFFFF"/>
          </a:solidFill>
          <a:ln w="9525">
            <a:solidFill>
              <a:srgbClr val="DCD5C6"/>
            </a:solidFill>
            <a:prstDash val="solid"/>
          </a:ln>
        </p:spPr>
      </p:sp>
      <p:sp>
        <p:nvSpPr>
          <p:cNvPr id="93" name="Text 91"/>
          <p:cNvSpPr/>
          <p:nvPr/>
        </p:nvSpPr>
        <p:spPr>
          <a:xfrm>
            <a:off x="1901952" y="4032504"/>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37</a:t>
            </a:r>
            <a:endParaRPr lang="en-US" sz="950" dirty="0"/>
          </a:p>
        </p:txBody>
      </p:sp>
      <p:sp>
        <p:nvSpPr>
          <p:cNvPr id="94" name="Shape 92"/>
          <p:cNvSpPr/>
          <p:nvPr/>
        </p:nvSpPr>
        <p:spPr>
          <a:xfrm>
            <a:off x="2395728" y="4032504"/>
            <a:ext cx="457200" cy="457200"/>
          </a:xfrm>
          <a:prstGeom prst="rect">
            <a:avLst/>
          </a:prstGeom>
          <a:solidFill>
            <a:srgbClr val="8C5A44"/>
          </a:solidFill>
          <a:ln/>
        </p:spPr>
      </p:sp>
      <p:sp>
        <p:nvSpPr>
          <p:cNvPr id="95" name="Text 93"/>
          <p:cNvSpPr/>
          <p:nvPr/>
        </p:nvSpPr>
        <p:spPr>
          <a:xfrm>
            <a:off x="2395728" y="40325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益</a:t>
            </a:r>
            <a:endParaRPr lang="en-US" sz="1400" dirty="0"/>
          </a:p>
        </p:txBody>
      </p:sp>
      <p:sp>
        <p:nvSpPr>
          <p:cNvPr id="96" name="Shape 94"/>
          <p:cNvSpPr/>
          <p:nvPr/>
        </p:nvSpPr>
        <p:spPr>
          <a:xfrm>
            <a:off x="2889504" y="4032504"/>
            <a:ext cx="457200" cy="457200"/>
          </a:xfrm>
          <a:prstGeom prst="rect">
            <a:avLst/>
          </a:prstGeom>
          <a:solidFill>
            <a:srgbClr val="FFFFFF"/>
          </a:solidFill>
          <a:ln w="9525">
            <a:solidFill>
              <a:srgbClr val="DCD5C6"/>
            </a:solidFill>
            <a:prstDash val="solid"/>
          </a:ln>
        </p:spPr>
      </p:sp>
      <p:sp>
        <p:nvSpPr>
          <p:cNvPr id="97" name="Text 95"/>
          <p:cNvSpPr/>
          <p:nvPr/>
        </p:nvSpPr>
        <p:spPr>
          <a:xfrm>
            <a:off x="2889504" y="4032504"/>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57</a:t>
            </a:r>
            <a:endParaRPr lang="en-US" sz="950" dirty="0"/>
          </a:p>
        </p:txBody>
      </p:sp>
      <p:sp>
        <p:nvSpPr>
          <p:cNvPr id="98" name="Shape 96"/>
          <p:cNvSpPr/>
          <p:nvPr/>
        </p:nvSpPr>
        <p:spPr>
          <a:xfrm>
            <a:off x="3383280" y="4032504"/>
            <a:ext cx="457200" cy="457200"/>
          </a:xfrm>
          <a:prstGeom prst="rect">
            <a:avLst/>
          </a:prstGeom>
          <a:solidFill>
            <a:srgbClr val="FFFFFF"/>
          </a:solidFill>
          <a:ln w="9525">
            <a:solidFill>
              <a:srgbClr val="DCD5C6"/>
            </a:solidFill>
            <a:prstDash val="solid"/>
          </a:ln>
        </p:spPr>
      </p:sp>
      <p:sp>
        <p:nvSpPr>
          <p:cNvPr id="99" name="Text 97"/>
          <p:cNvSpPr/>
          <p:nvPr/>
        </p:nvSpPr>
        <p:spPr>
          <a:xfrm>
            <a:off x="3383280" y="4032504"/>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59</a:t>
            </a:r>
            <a:endParaRPr lang="en-US" sz="950" dirty="0"/>
          </a:p>
        </p:txBody>
      </p:sp>
      <p:sp>
        <p:nvSpPr>
          <p:cNvPr id="100" name="Shape 98"/>
          <p:cNvSpPr/>
          <p:nvPr/>
        </p:nvSpPr>
        <p:spPr>
          <a:xfrm>
            <a:off x="3877056" y="4032504"/>
            <a:ext cx="457200" cy="457200"/>
          </a:xfrm>
          <a:prstGeom prst="rect">
            <a:avLst/>
          </a:prstGeom>
          <a:solidFill>
            <a:srgbClr val="FFFFFF"/>
          </a:solidFill>
          <a:ln w="9525">
            <a:solidFill>
              <a:srgbClr val="DCD5C6"/>
            </a:solidFill>
            <a:prstDash val="solid"/>
          </a:ln>
        </p:spPr>
      </p:sp>
      <p:sp>
        <p:nvSpPr>
          <p:cNvPr id="101" name="Text 99"/>
          <p:cNvSpPr/>
          <p:nvPr/>
        </p:nvSpPr>
        <p:spPr>
          <a:xfrm>
            <a:off x="3877056" y="4032504"/>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53</a:t>
            </a:r>
            <a:endParaRPr lang="en-US" sz="950" dirty="0"/>
          </a:p>
        </p:txBody>
      </p:sp>
      <p:sp>
        <p:nvSpPr>
          <p:cNvPr id="102" name="Shape 100"/>
          <p:cNvSpPr/>
          <p:nvPr/>
        </p:nvSpPr>
        <p:spPr>
          <a:xfrm>
            <a:off x="4370832" y="4032504"/>
            <a:ext cx="457200" cy="457200"/>
          </a:xfrm>
          <a:prstGeom prst="rect">
            <a:avLst/>
          </a:prstGeom>
          <a:solidFill>
            <a:srgbClr val="FFFFFF"/>
          </a:solidFill>
          <a:ln w="9525">
            <a:solidFill>
              <a:srgbClr val="DCD5C6"/>
            </a:solidFill>
            <a:prstDash val="solid"/>
          </a:ln>
        </p:spPr>
      </p:sp>
      <p:sp>
        <p:nvSpPr>
          <p:cNvPr id="103" name="Text 101"/>
          <p:cNvSpPr/>
          <p:nvPr/>
        </p:nvSpPr>
        <p:spPr>
          <a:xfrm>
            <a:off x="4370832" y="4032504"/>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20</a:t>
            </a:r>
            <a:endParaRPr lang="en-US" sz="950" dirty="0"/>
          </a:p>
        </p:txBody>
      </p:sp>
      <p:sp>
        <p:nvSpPr>
          <p:cNvPr id="104" name="Shape 102"/>
          <p:cNvSpPr/>
          <p:nvPr/>
        </p:nvSpPr>
        <p:spPr>
          <a:xfrm>
            <a:off x="914400" y="4526280"/>
            <a:ext cx="457200" cy="457200"/>
          </a:xfrm>
          <a:prstGeom prst="rect">
            <a:avLst/>
          </a:prstGeom>
          <a:solidFill>
            <a:srgbClr val="FFFFFF"/>
          </a:solidFill>
          <a:ln w="9525">
            <a:solidFill>
              <a:srgbClr val="DCD5C6"/>
            </a:solidFill>
            <a:prstDash val="solid"/>
          </a:ln>
        </p:spPr>
      </p:sp>
      <p:sp>
        <p:nvSpPr>
          <p:cNvPr id="105" name="Text 103"/>
          <p:cNvSpPr/>
          <p:nvPr/>
        </p:nvSpPr>
        <p:spPr>
          <a:xfrm>
            <a:off x="914400" y="4526280"/>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5</a:t>
            </a:r>
            <a:endParaRPr lang="en-US" sz="950" dirty="0"/>
          </a:p>
        </p:txBody>
      </p:sp>
      <p:sp>
        <p:nvSpPr>
          <p:cNvPr id="106" name="Shape 104"/>
          <p:cNvSpPr/>
          <p:nvPr/>
        </p:nvSpPr>
        <p:spPr>
          <a:xfrm>
            <a:off x="1408176" y="4526280"/>
            <a:ext cx="457200" cy="457200"/>
          </a:xfrm>
          <a:prstGeom prst="rect">
            <a:avLst/>
          </a:prstGeom>
          <a:solidFill>
            <a:srgbClr val="FFFFFF"/>
          </a:solidFill>
          <a:ln w="9525">
            <a:solidFill>
              <a:srgbClr val="DCD5C6"/>
            </a:solidFill>
            <a:prstDash val="solid"/>
          </a:ln>
        </p:spPr>
      </p:sp>
      <p:sp>
        <p:nvSpPr>
          <p:cNvPr id="107" name="Text 105"/>
          <p:cNvSpPr/>
          <p:nvPr/>
        </p:nvSpPr>
        <p:spPr>
          <a:xfrm>
            <a:off x="1408176" y="4526280"/>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60</a:t>
            </a:r>
            <a:endParaRPr lang="en-US" sz="950" dirty="0"/>
          </a:p>
        </p:txBody>
      </p:sp>
      <p:sp>
        <p:nvSpPr>
          <p:cNvPr id="108" name="Shape 106"/>
          <p:cNvSpPr/>
          <p:nvPr/>
        </p:nvSpPr>
        <p:spPr>
          <a:xfrm>
            <a:off x="1901952" y="4526280"/>
            <a:ext cx="457200" cy="457200"/>
          </a:xfrm>
          <a:prstGeom prst="rect">
            <a:avLst/>
          </a:prstGeom>
          <a:solidFill>
            <a:srgbClr val="FFFFFF"/>
          </a:solidFill>
          <a:ln w="9525">
            <a:solidFill>
              <a:srgbClr val="DCD5C6"/>
            </a:solidFill>
            <a:prstDash val="solid"/>
          </a:ln>
        </p:spPr>
      </p:sp>
      <p:sp>
        <p:nvSpPr>
          <p:cNvPr id="109" name="Text 107"/>
          <p:cNvSpPr/>
          <p:nvPr/>
        </p:nvSpPr>
        <p:spPr>
          <a:xfrm>
            <a:off x="1901952" y="4526280"/>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63</a:t>
            </a:r>
            <a:endParaRPr lang="en-US" sz="950" dirty="0"/>
          </a:p>
        </p:txBody>
      </p:sp>
      <p:sp>
        <p:nvSpPr>
          <p:cNvPr id="110" name="Shape 108"/>
          <p:cNvSpPr/>
          <p:nvPr/>
        </p:nvSpPr>
        <p:spPr>
          <a:xfrm>
            <a:off x="2395728" y="4526280"/>
            <a:ext cx="457200" cy="457200"/>
          </a:xfrm>
          <a:prstGeom prst="rect">
            <a:avLst/>
          </a:prstGeom>
          <a:solidFill>
            <a:srgbClr val="FFFFFF"/>
          </a:solidFill>
          <a:ln w="9525">
            <a:solidFill>
              <a:srgbClr val="DCD5C6"/>
            </a:solidFill>
            <a:prstDash val="solid"/>
          </a:ln>
        </p:spPr>
      </p:sp>
      <p:sp>
        <p:nvSpPr>
          <p:cNvPr id="111" name="Text 109"/>
          <p:cNvSpPr/>
          <p:nvPr/>
        </p:nvSpPr>
        <p:spPr>
          <a:xfrm>
            <a:off x="2395728" y="4526280"/>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3</a:t>
            </a:r>
            <a:endParaRPr lang="en-US" sz="950" dirty="0"/>
          </a:p>
        </p:txBody>
      </p:sp>
      <p:sp>
        <p:nvSpPr>
          <p:cNvPr id="112" name="Shape 110"/>
          <p:cNvSpPr/>
          <p:nvPr/>
        </p:nvSpPr>
        <p:spPr>
          <a:xfrm>
            <a:off x="2889504" y="4526280"/>
            <a:ext cx="457200" cy="457200"/>
          </a:xfrm>
          <a:prstGeom prst="rect">
            <a:avLst/>
          </a:prstGeom>
          <a:solidFill>
            <a:srgbClr val="3C6684"/>
          </a:solidFill>
          <a:ln/>
        </p:spPr>
      </p:sp>
      <p:sp>
        <p:nvSpPr>
          <p:cNvPr id="113" name="Text 111"/>
          <p:cNvSpPr/>
          <p:nvPr/>
        </p:nvSpPr>
        <p:spPr>
          <a:xfrm>
            <a:off x="2889504" y="45262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井</a:t>
            </a:r>
            <a:endParaRPr lang="en-US" sz="1400" dirty="0"/>
          </a:p>
        </p:txBody>
      </p:sp>
      <p:sp>
        <p:nvSpPr>
          <p:cNvPr id="114" name="Shape 112"/>
          <p:cNvSpPr/>
          <p:nvPr/>
        </p:nvSpPr>
        <p:spPr>
          <a:xfrm>
            <a:off x="3383280" y="4526280"/>
            <a:ext cx="457200" cy="457200"/>
          </a:xfrm>
          <a:prstGeom prst="rect">
            <a:avLst/>
          </a:prstGeom>
          <a:solidFill>
            <a:srgbClr val="FFFFFF"/>
          </a:solidFill>
          <a:ln w="9525">
            <a:solidFill>
              <a:srgbClr val="DCD5C6"/>
            </a:solidFill>
            <a:prstDash val="solid"/>
          </a:ln>
        </p:spPr>
      </p:sp>
      <p:sp>
        <p:nvSpPr>
          <p:cNvPr id="115" name="Text 113"/>
          <p:cNvSpPr/>
          <p:nvPr/>
        </p:nvSpPr>
        <p:spPr>
          <a:xfrm>
            <a:off x="3383280" y="4526280"/>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29</a:t>
            </a:r>
            <a:endParaRPr lang="en-US" sz="950" dirty="0"/>
          </a:p>
        </p:txBody>
      </p:sp>
      <p:sp>
        <p:nvSpPr>
          <p:cNvPr id="116" name="Shape 114"/>
          <p:cNvSpPr/>
          <p:nvPr/>
        </p:nvSpPr>
        <p:spPr>
          <a:xfrm>
            <a:off x="3877056" y="4526280"/>
            <a:ext cx="457200" cy="457200"/>
          </a:xfrm>
          <a:prstGeom prst="rect">
            <a:avLst/>
          </a:prstGeom>
          <a:solidFill>
            <a:srgbClr val="FFFFFF"/>
          </a:solidFill>
          <a:ln w="9525">
            <a:solidFill>
              <a:srgbClr val="DCD5C6"/>
            </a:solidFill>
            <a:prstDash val="solid"/>
          </a:ln>
        </p:spPr>
      </p:sp>
      <p:sp>
        <p:nvSpPr>
          <p:cNvPr id="117" name="Text 115"/>
          <p:cNvSpPr/>
          <p:nvPr/>
        </p:nvSpPr>
        <p:spPr>
          <a:xfrm>
            <a:off x="3877056" y="4526280"/>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39</a:t>
            </a:r>
            <a:endParaRPr lang="en-US" sz="950" dirty="0"/>
          </a:p>
        </p:txBody>
      </p:sp>
      <p:sp>
        <p:nvSpPr>
          <p:cNvPr id="118" name="Shape 116"/>
          <p:cNvSpPr/>
          <p:nvPr/>
        </p:nvSpPr>
        <p:spPr>
          <a:xfrm>
            <a:off x="4370832" y="4526280"/>
            <a:ext cx="457200" cy="457200"/>
          </a:xfrm>
          <a:prstGeom prst="rect">
            <a:avLst/>
          </a:prstGeom>
          <a:solidFill>
            <a:srgbClr val="FFFFFF"/>
          </a:solidFill>
          <a:ln w="9525">
            <a:solidFill>
              <a:srgbClr val="DCD5C6"/>
            </a:solidFill>
            <a:prstDash val="solid"/>
          </a:ln>
        </p:spPr>
      </p:sp>
      <p:sp>
        <p:nvSpPr>
          <p:cNvPr id="119" name="Text 117"/>
          <p:cNvSpPr/>
          <p:nvPr/>
        </p:nvSpPr>
        <p:spPr>
          <a:xfrm>
            <a:off x="4370832" y="4526280"/>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8</a:t>
            </a:r>
            <a:endParaRPr lang="en-US" sz="950" dirty="0"/>
          </a:p>
        </p:txBody>
      </p:sp>
      <p:sp>
        <p:nvSpPr>
          <p:cNvPr id="120" name="Shape 118"/>
          <p:cNvSpPr/>
          <p:nvPr/>
        </p:nvSpPr>
        <p:spPr>
          <a:xfrm>
            <a:off x="914400" y="5020056"/>
            <a:ext cx="457200" cy="457200"/>
          </a:xfrm>
          <a:prstGeom prst="rect">
            <a:avLst/>
          </a:prstGeom>
          <a:solidFill>
            <a:srgbClr val="FFFFFF"/>
          </a:solidFill>
          <a:ln w="9525">
            <a:solidFill>
              <a:srgbClr val="DCD5C6"/>
            </a:solidFill>
            <a:prstDash val="solid"/>
          </a:ln>
        </p:spPr>
      </p:sp>
      <p:sp>
        <p:nvSpPr>
          <p:cNvPr id="121" name="Text 119"/>
          <p:cNvSpPr/>
          <p:nvPr/>
        </p:nvSpPr>
        <p:spPr>
          <a:xfrm>
            <a:off x="914400" y="5020056"/>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26</a:t>
            </a:r>
            <a:endParaRPr lang="en-US" sz="950" dirty="0"/>
          </a:p>
        </p:txBody>
      </p:sp>
      <p:sp>
        <p:nvSpPr>
          <p:cNvPr id="122" name="Shape 120"/>
          <p:cNvSpPr/>
          <p:nvPr/>
        </p:nvSpPr>
        <p:spPr>
          <a:xfrm>
            <a:off x="1408176" y="5020056"/>
            <a:ext cx="457200" cy="457200"/>
          </a:xfrm>
          <a:prstGeom prst="rect">
            <a:avLst/>
          </a:prstGeom>
          <a:solidFill>
            <a:srgbClr val="FFFFFF"/>
          </a:solidFill>
          <a:ln w="9525">
            <a:solidFill>
              <a:srgbClr val="DCD5C6"/>
            </a:solidFill>
            <a:prstDash val="solid"/>
          </a:ln>
        </p:spPr>
      </p:sp>
      <p:sp>
        <p:nvSpPr>
          <p:cNvPr id="123" name="Text 121"/>
          <p:cNvSpPr/>
          <p:nvPr/>
        </p:nvSpPr>
        <p:spPr>
          <a:xfrm>
            <a:off x="1408176" y="5020056"/>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41</a:t>
            </a:r>
            <a:endParaRPr lang="en-US" sz="950" dirty="0"/>
          </a:p>
        </p:txBody>
      </p:sp>
      <p:sp>
        <p:nvSpPr>
          <p:cNvPr id="124" name="Shape 122"/>
          <p:cNvSpPr/>
          <p:nvPr/>
        </p:nvSpPr>
        <p:spPr>
          <a:xfrm>
            <a:off x="1901952" y="5020056"/>
            <a:ext cx="457200" cy="457200"/>
          </a:xfrm>
          <a:prstGeom prst="rect">
            <a:avLst/>
          </a:prstGeom>
          <a:solidFill>
            <a:srgbClr val="FFFFFF"/>
          </a:solidFill>
          <a:ln w="9525">
            <a:solidFill>
              <a:srgbClr val="DCD5C6"/>
            </a:solidFill>
            <a:prstDash val="solid"/>
          </a:ln>
        </p:spPr>
      </p:sp>
      <p:sp>
        <p:nvSpPr>
          <p:cNvPr id="125" name="Text 123"/>
          <p:cNvSpPr/>
          <p:nvPr/>
        </p:nvSpPr>
        <p:spPr>
          <a:xfrm>
            <a:off x="1901952" y="5020056"/>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22</a:t>
            </a:r>
            <a:endParaRPr lang="en-US" sz="950" dirty="0"/>
          </a:p>
        </p:txBody>
      </p:sp>
      <p:sp>
        <p:nvSpPr>
          <p:cNvPr id="126" name="Shape 124"/>
          <p:cNvSpPr/>
          <p:nvPr/>
        </p:nvSpPr>
        <p:spPr>
          <a:xfrm>
            <a:off x="2395728" y="5020056"/>
            <a:ext cx="457200" cy="457200"/>
          </a:xfrm>
          <a:prstGeom prst="rect">
            <a:avLst/>
          </a:prstGeom>
          <a:solidFill>
            <a:srgbClr val="FFFFFF"/>
          </a:solidFill>
          <a:ln w="9525">
            <a:solidFill>
              <a:srgbClr val="DCD5C6"/>
            </a:solidFill>
            <a:prstDash val="solid"/>
          </a:ln>
        </p:spPr>
      </p:sp>
      <p:sp>
        <p:nvSpPr>
          <p:cNvPr id="127" name="Text 125"/>
          <p:cNvSpPr/>
          <p:nvPr/>
        </p:nvSpPr>
        <p:spPr>
          <a:xfrm>
            <a:off x="2395728" y="5020056"/>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27</a:t>
            </a:r>
            <a:endParaRPr lang="en-US" sz="950" dirty="0"/>
          </a:p>
        </p:txBody>
      </p:sp>
      <p:sp>
        <p:nvSpPr>
          <p:cNvPr id="128" name="Shape 126"/>
          <p:cNvSpPr/>
          <p:nvPr/>
        </p:nvSpPr>
        <p:spPr>
          <a:xfrm>
            <a:off x="2889504" y="5020056"/>
            <a:ext cx="457200" cy="457200"/>
          </a:xfrm>
          <a:prstGeom prst="rect">
            <a:avLst/>
          </a:prstGeom>
          <a:solidFill>
            <a:srgbClr val="FFFFFF"/>
          </a:solidFill>
          <a:ln w="9525">
            <a:solidFill>
              <a:srgbClr val="DCD5C6"/>
            </a:solidFill>
            <a:prstDash val="solid"/>
          </a:ln>
        </p:spPr>
      </p:sp>
      <p:sp>
        <p:nvSpPr>
          <p:cNvPr id="129" name="Text 127"/>
          <p:cNvSpPr/>
          <p:nvPr/>
        </p:nvSpPr>
        <p:spPr>
          <a:xfrm>
            <a:off x="2889504" y="5020056"/>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18</a:t>
            </a:r>
            <a:endParaRPr lang="en-US" sz="950" dirty="0"/>
          </a:p>
        </p:txBody>
      </p:sp>
      <p:sp>
        <p:nvSpPr>
          <p:cNvPr id="130" name="Shape 128"/>
          <p:cNvSpPr/>
          <p:nvPr/>
        </p:nvSpPr>
        <p:spPr>
          <a:xfrm>
            <a:off x="3383280" y="5020056"/>
            <a:ext cx="457200" cy="457200"/>
          </a:xfrm>
          <a:prstGeom prst="rect">
            <a:avLst/>
          </a:prstGeom>
          <a:solidFill>
            <a:srgbClr val="FFFFFF"/>
          </a:solidFill>
          <a:ln w="9525">
            <a:solidFill>
              <a:srgbClr val="DCD5C6"/>
            </a:solidFill>
            <a:prstDash val="solid"/>
          </a:ln>
        </p:spPr>
      </p:sp>
      <p:sp>
        <p:nvSpPr>
          <p:cNvPr id="131" name="Text 129"/>
          <p:cNvSpPr/>
          <p:nvPr/>
        </p:nvSpPr>
        <p:spPr>
          <a:xfrm>
            <a:off x="3383280" y="5020056"/>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4</a:t>
            </a:r>
            <a:endParaRPr lang="en-US" sz="950" dirty="0"/>
          </a:p>
        </p:txBody>
      </p:sp>
      <p:sp>
        <p:nvSpPr>
          <p:cNvPr id="132" name="Shape 130"/>
          <p:cNvSpPr/>
          <p:nvPr/>
        </p:nvSpPr>
        <p:spPr>
          <a:xfrm>
            <a:off x="3877056" y="5020056"/>
            <a:ext cx="457200" cy="457200"/>
          </a:xfrm>
          <a:prstGeom prst="rect">
            <a:avLst/>
          </a:prstGeom>
          <a:solidFill>
            <a:srgbClr val="FFFFFF"/>
          </a:solidFill>
          <a:ln w="9525">
            <a:solidFill>
              <a:srgbClr val="DCD5C6"/>
            </a:solidFill>
            <a:prstDash val="solid"/>
          </a:ln>
        </p:spPr>
      </p:sp>
      <p:sp>
        <p:nvSpPr>
          <p:cNvPr id="133" name="Text 131"/>
          <p:cNvSpPr/>
          <p:nvPr/>
        </p:nvSpPr>
        <p:spPr>
          <a:xfrm>
            <a:off x="3877056" y="5020056"/>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52</a:t>
            </a:r>
            <a:endParaRPr lang="en-US" sz="950" dirty="0"/>
          </a:p>
        </p:txBody>
      </p:sp>
      <p:sp>
        <p:nvSpPr>
          <p:cNvPr id="134" name="Shape 132"/>
          <p:cNvSpPr/>
          <p:nvPr/>
        </p:nvSpPr>
        <p:spPr>
          <a:xfrm>
            <a:off x="4370832" y="5020056"/>
            <a:ext cx="457200" cy="457200"/>
          </a:xfrm>
          <a:prstGeom prst="rect">
            <a:avLst/>
          </a:prstGeom>
          <a:solidFill>
            <a:srgbClr val="FFFFFF"/>
          </a:solidFill>
          <a:ln w="9525">
            <a:solidFill>
              <a:srgbClr val="DCD5C6"/>
            </a:solidFill>
            <a:prstDash val="solid"/>
          </a:ln>
        </p:spPr>
      </p:sp>
      <p:sp>
        <p:nvSpPr>
          <p:cNvPr id="135" name="Text 133"/>
          <p:cNvSpPr/>
          <p:nvPr/>
        </p:nvSpPr>
        <p:spPr>
          <a:xfrm>
            <a:off x="4370832" y="5020056"/>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23</a:t>
            </a:r>
            <a:endParaRPr lang="en-US" sz="950" dirty="0"/>
          </a:p>
        </p:txBody>
      </p:sp>
      <p:sp>
        <p:nvSpPr>
          <p:cNvPr id="136" name="Shape 134"/>
          <p:cNvSpPr/>
          <p:nvPr/>
        </p:nvSpPr>
        <p:spPr>
          <a:xfrm>
            <a:off x="914400" y="5513832"/>
            <a:ext cx="457200" cy="457200"/>
          </a:xfrm>
          <a:prstGeom prst="rect">
            <a:avLst/>
          </a:prstGeom>
          <a:solidFill>
            <a:srgbClr val="243D54"/>
          </a:solidFill>
          <a:ln/>
        </p:spPr>
      </p:sp>
      <p:sp>
        <p:nvSpPr>
          <p:cNvPr id="137" name="Text 135"/>
          <p:cNvSpPr/>
          <p:nvPr/>
        </p:nvSpPr>
        <p:spPr>
          <a:xfrm>
            <a:off x="914400" y="551383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泰</a:t>
            </a:r>
            <a:endParaRPr lang="en-US" sz="1400" dirty="0"/>
          </a:p>
        </p:txBody>
      </p:sp>
      <p:sp>
        <p:nvSpPr>
          <p:cNvPr id="138" name="Shape 136"/>
          <p:cNvSpPr/>
          <p:nvPr/>
        </p:nvSpPr>
        <p:spPr>
          <a:xfrm>
            <a:off x="1408176" y="5513832"/>
            <a:ext cx="457200" cy="457200"/>
          </a:xfrm>
          <a:prstGeom prst="rect">
            <a:avLst/>
          </a:prstGeom>
          <a:solidFill>
            <a:srgbClr val="FFFFFF"/>
          </a:solidFill>
          <a:ln w="9525">
            <a:solidFill>
              <a:srgbClr val="DCD5C6"/>
            </a:solidFill>
            <a:prstDash val="solid"/>
          </a:ln>
        </p:spPr>
      </p:sp>
      <p:sp>
        <p:nvSpPr>
          <p:cNvPr id="139" name="Text 137"/>
          <p:cNvSpPr/>
          <p:nvPr/>
        </p:nvSpPr>
        <p:spPr>
          <a:xfrm>
            <a:off x="1408176" y="5513832"/>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19</a:t>
            </a:r>
            <a:endParaRPr lang="en-US" sz="950" dirty="0"/>
          </a:p>
        </p:txBody>
      </p:sp>
      <p:sp>
        <p:nvSpPr>
          <p:cNvPr id="140" name="Shape 138"/>
          <p:cNvSpPr/>
          <p:nvPr/>
        </p:nvSpPr>
        <p:spPr>
          <a:xfrm>
            <a:off x="1901952" y="5513832"/>
            <a:ext cx="457200" cy="457200"/>
          </a:xfrm>
          <a:prstGeom prst="rect">
            <a:avLst/>
          </a:prstGeom>
          <a:solidFill>
            <a:srgbClr val="FFFFFF"/>
          </a:solidFill>
          <a:ln w="9525">
            <a:solidFill>
              <a:srgbClr val="DCD5C6"/>
            </a:solidFill>
            <a:prstDash val="solid"/>
          </a:ln>
        </p:spPr>
      </p:sp>
      <p:sp>
        <p:nvSpPr>
          <p:cNvPr id="141" name="Text 139"/>
          <p:cNvSpPr/>
          <p:nvPr/>
        </p:nvSpPr>
        <p:spPr>
          <a:xfrm>
            <a:off x="1901952" y="5513832"/>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36</a:t>
            </a:r>
            <a:endParaRPr lang="en-US" sz="950" dirty="0"/>
          </a:p>
        </p:txBody>
      </p:sp>
      <p:sp>
        <p:nvSpPr>
          <p:cNvPr id="142" name="Shape 140"/>
          <p:cNvSpPr/>
          <p:nvPr/>
        </p:nvSpPr>
        <p:spPr>
          <a:xfrm>
            <a:off x="2395728" y="5513832"/>
            <a:ext cx="457200" cy="457200"/>
          </a:xfrm>
          <a:prstGeom prst="rect">
            <a:avLst/>
          </a:prstGeom>
          <a:solidFill>
            <a:srgbClr val="FFFFFF"/>
          </a:solidFill>
          <a:ln w="9525">
            <a:solidFill>
              <a:srgbClr val="DCD5C6"/>
            </a:solidFill>
            <a:prstDash val="solid"/>
          </a:ln>
        </p:spPr>
      </p:sp>
      <p:sp>
        <p:nvSpPr>
          <p:cNvPr id="143" name="Text 141"/>
          <p:cNvSpPr/>
          <p:nvPr/>
        </p:nvSpPr>
        <p:spPr>
          <a:xfrm>
            <a:off x="2395728" y="5513832"/>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24</a:t>
            </a:r>
            <a:endParaRPr lang="en-US" sz="950" dirty="0"/>
          </a:p>
        </p:txBody>
      </p:sp>
      <p:sp>
        <p:nvSpPr>
          <p:cNvPr id="144" name="Shape 142"/>
          <p:cNvSpPr/>
          <p:nvPr/>
        </p:nvSpPr>
        <p:spPr>
          <a:xfrm>
            <a:off x="2889504" y="5513832"/>
            <a:ext cx="457200" cy="457200"/>
          </a:xfrm>
          <a:prstGeom prst="rect">
            <a:avLst/>
          </a:prstGeom>
          <a:solidFill>
            <a:srgbClr val="8A6A35"/>
          </a:solidFill>
          <a:ln/>
        </p:spPr>
      </p:sp>
      <p:sp>
        <p:nvSpPr>
          <p:cNvPr id="145" name="Text 143"/>
          <p:cNvSpPr/>
          <p:nvPr/>
        </p:nvSpPr>
        <p:spPr>
          <a:xfrm>
            <a:off x="2889504" y="551383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升</a:t>
            </a:r>
            <a:endParaRPr lang="en-US" sz="1400" dirty="0"/>
          </a:p>
        </p:txBody>
      </p:sp>
      <p:sp>
        <p:nvSpPr>
          <p:cNvPr id="146" name="Shape 144"/>
          <p:cNvSpPr/>
          <p:nvPr/>
        </p:nvSpPr>
        <p:spPr>
          <a:xfrm>
            <a:off x="3383280" y="5513832"/>
            <a:ext cx="457200" cy="457200"/>
          </a:xfrm>
          <a:prstGeom prst="rect">
            <a:avLst/>
          </a:prstGeom>
          <a:solidFill>
            <a:srgbClr val="FFFFFF"/>
          </a:solidFill>
          <a:ln w="9525">
            <a:solidFill>
              <a:srgbClr val="DCD5C6"/>
            </a:solidFill>
            <a:prstDash val="solid"/>
          </a:ln>
        </p:spPr>
      </p:sp>
      <p:sp>
        <p:nvSpPr>
          <p:cNvPr id="147" name="Text 145"/>
          <p:cNvSpPr/>
          <p:nvPr/>
        </p:nvSpPr>
        <p:spPr>
          <a:xfrm>
            <a:off x="3383280" y="5513832"/>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7</a:t>
            </a:r>
            <a:endParaRPr lang="en-US" sz="950" dirty="0"/>
          </a:p>
        </p:txBody>
      </p:sp>
      <p:sp>
        <p:nvSpPr>
          <p:cNvPr id="148" name="Shape 146"/>
          <p:cNvSpPr/>
          <p:nvPr/>
        </p:nvSpPr>
        <p:spPr>
          <a:xfrm>
            <a:off x="3877056" y="5513832"/>
            <a:ext cx="457200" cy="457200"/>
          </a:xfrm>
          <a:prstGeom prst="rect">
            <a:avLst/>
          </a:prstGeom>
          <a:solidFill>
            <a:srgbClr val="FFFFFF"/>
          </a:solidFill>
          <a:ln w="9525">
            <a:solidFill>
              <a:srgbClr val="DCD5C6"/>
            </a:solidFill>
            <a:prstDash val="solid"/>
          </a:ln>
        </p:spPr>
      </p:sp>
      <p:sp>
        <p:nvSpPr>
          <p:cNvPr id="149" name="Text 147"/>
          <p:cNvSpPr/>
          <p:nvPr/>
        </p:nvSpPr>
        <p:spPr>
          <a:xfrm>
            <a:off x="3877056" y="5513832"/>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15</a:t>
            </a:r>
            <a:endParaRPr lang="en-US" sz="950" dirty="0"/>
          </a:p>
        </p:txBody>
      </p:sp>
      <p:sp>
        <p:nvSpPr>
          <p:cNvPr id="150" name="Shape 148"/>
          <p:cNvSpPr/>
          <p:nvPr/>
        </p:nvSpPr>
        <p:spPr>
          <a:xfrm>
            <a:off x="4370832" y="5513832"/>
            <a:ext cx="457200" cy="457200"/>
          </a:xfrm>
          <a:prstGeom prst="rect">
            <a:avLst/>
          </a:prstGeom>
          <a:solidFill>
            <a:srgbClr val="FFFFFF"/>
          </a:solidFill>
          <a:ln w="9525">
            <a:solidFill>
              <a:srgbClr val="DCD5C6"/>
            </a:solidFill>
            <a:prstDash val="solid"/>
          </a:ln>
        </p:spPr>
      </p:sp>
      <p:sp>
        <p:nvSpPr>
          <p:cNvPr id="151" name="Text 149"/>
          <p:cNvSpPr/>
          <p:nvPr/>
        </p:nvSpPr>
        <p:spPr>
          <a:xfrm>
            <a:off x="4370832" y="5513832"/>
            <a:ext cx="457200" cy="457200"/>
          </a:xfrm>
          <a:prstGeom prst="rect">
            <a:avLst/>
          </a:prstGeom>
          <a:noFill/>
          <a:ln/>
        </p:spPr>
        <p:txBody>
          <a:bodyPr wrap="square" lIns="0" tIns="0" rIns="0" bIns="0" rtlCol="0" anchor="ctr"/>
          <a:lstStyle/>
          <a:p>
            <a:pPr algn="ctr" indent="0" marL="0">
              <a:buNone/>
            </a:pPr>
            <a:r>
              <a:rPr lang="en-US" sz="950" dirty="0">
                <a:solidFill>
                  <a:srgbClr val="9AA3AA"/>
                </a:solidFill>
                <a:latin typeface="BIZ UDPGothic" pitchFamily="34" charset="0"/>
                <a:ea typeface="BIZ UDPGothic" pitchFamily="34" charset="-122"/>
                <a:cs typeface="BIZ UDPGothic" pitchFamily="34" charset="-120"/>
              </a:rPr>
              <a:t>2</a:t>
            </a:r>
            <a:endParaRPr lang="en-US" sz="9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184648" y="1627632"/>
          <a:ext cx="6504127" cy="914400"/>
        </p:xfrm>
        <a:graphic>
          <a:graphicData uri="http://schemas.openxmlformats.org/drawingml/2006/table">
            <a:tbl>
              <a:tblPr/>
              <a:tblGrid>
                <a:gridCol w="1463040"/>
                <a:gridCol w="2423160"/>
                <a:gridCol w="2617927"/>
              </a:tblGrid>
              <a:tr h="329184">
                <a:tc>
                  <a:txBody>
                    <a:bodyPr/>
                    <a:lstStyle/>
                    <a:p>
                      <a:pPr indent="0" marL="0">
                        <a:buNone/>
                      </a:pPr>
                      <a:r>
                        <a:rPr lang="en-US" sz="950" b="1" dirty="0">
                          <a:solidFill>
                            <a:srgbClr val="F5F1E8"/>
                          </a:solidFill>
                          <a:latin typeface="BIZ UDPGothic" pitchFamily="34" charset="0"/>
                          <a:ea typeface="BIZ UDPGothic" pitchFamily="34" charset="-122"/>
                          <a:cs typeface="BIZ UDPGothic" pitchFamily="34" charset="-120"/>
                        </a:rPr>
                        <a:t>製品｜卦</a:t>
                      </a:r>
                      <a:endParaRPr lang="en-US" sz="9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243D54"/>
                    </a:solidFill>
                  </a:tcPr>
                </a:tc>
                <a:tc>
                  <a:txBody>
                    <a:bodyPr/>
                    <a:lstStyle/>
                    <a:p>
                      <a:pPr indent="0" marL="0">
                        <a:buNone/>
                      </a:pPr>
                      <a:r>
                        <a:rPr lang="en-US" sz="950" b="1" dirty="0">
                          <a:solidFill>
                            <a:srgbClr val="F5F1E8"/>
                          </a:solidFill>
                          <a:latin typeface="BIZ UDPGothic" pitchFamily="34" charset="0"/>
                          <a:ea typeface="BIZ UDPGothic" pitchFamily="34" charset="-122"/>
                          <a:cs typeface="BIZ UDPGothic" pitchFamily="34" charset="-120"/>
                        </a:rPr>
                        <a:t>卦の像と重なる領域</a:t>
                      </a:r>
                      <a:endParaRPr lang="en-US" sz="9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243D54"/>
                    </a:solidFill>
                  </a:tcPr>
                </a:tc>
                <a:tc>
                  <a:txBody>
                    <a:bodyPr/>
                    <a:lstStyle/>
                    <a:p>
                      <a:pPr indent="0" marL="0">
                        <a:buNone/>
                      </a:pPr>
                      <a:r>
                        <a:rPr lang="en-US" sz="950" b="1" dirty="0">
                          <a:solidFill>
                            <a:srgbClr val="F5F1E8"/>
                          </a:solidFill>
                          <a:latin typeface="BIZ UDPGothic" pitchFamily="34" charset="0"/>
                          <a:ea typeface="BIZ UDPGothic" pitchFamily="34" charset="-122"/>
                          <a:cs typeface="BIZ UDPGothic" pitchFamily="34" charset="-120"/>
                        </a:rPr>
                        <a:t>将来に向けて問えること</a:t>
                      </a:r>
                      <a:endParaRPr lang="en-US" sz="9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243D54"/>
                    </a:solidFill>
                  </a:tcPr>
                </a:tc>
              </a:tr>
              <a:tr h="475488">
                <a:tc>
                  <a:txBody>
                    <a:bodyPr/>
                    <a:lstStyle/>
                    <a:p>
                      <a:pPr indent="0" marL="0">
                        <a:buNone/>
                      </a:pPr>
                      <a:r>
                        <a:rPr lang="en-US" sz="1050" b="1" dirty="0">
                          <a:solidFill>
                            <a:srgbClr val="243D54"/>
                          </a:solidFill>
                          <a:latin typeface="BIZ UDPGothic" pitchFamily="34" charset="0"/>
                          <a:ea typeface="BIZ UDPGothic" pitchFamily="34" charset="-122"/>
                          <a:cs typeface="BIZ UDPGothic" pitchFamily="34" charset="-120"/>
                        </a:rPr>
                        <a:t>TAI｜地天泰 11</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天地が交わり通じる。異なる基盤の協調</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050" dirty="0">
                          <a:solidFill>
                            <a:srgbClr val="56636E"/>
                          </a:solidFill>
                          <a:latin typeface="BIZ UDPGothic" pitchFamily="34" charset="0"/>
                          <a:ea typeface="BIZ UDPGothic" pitchFamily="34" charset="-122"/>
                          <a:cs typeface="BIZ UDPGothic" pitchFamily="34" charset="-120"/>
                        </a:rPr>
                        <a:t>利用者の課題が全体として進む条件は何か</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rgbClr val="243D54"/>
                          </a:solidFill>
                          <a:latin typeface="BIZ UDPGothic" pitchFamily="34" charset="0"/>
                          <a:ea typeface="BIZ UDPGothic" pitchFamily="34" charset="-122"/>
                          <a:cs typeface="BIZ UDPGothic" pitchFamily="34" charset="-120"/>
                        </a:rPr>
                        <a:t>SUI｜沢地萃 45</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人や物が集まる。散らばった観測を寄せ集める</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050" dirty="0">
                          <a:solidFill>
                            <a:srgbClr val="56636E"/>
                          </a:solidFill>
                          <a:latin typeface="BIZ UDPGothic" pitchFamily="34" charset="0"/>
                          <a:ea typeface="BIZ UDPGothic" pitchFamily="34" charset="-122"/>
                          <a:cs typeface="BIZ UDPGothic" pitchFamily="34" charset="-120"/>
                        </a:rPr>
                        <a:t>異なる見方を集めたまま理解を深められるか</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r h="475488">
                <a:tc>
                  <a:txBody>
                    <a:bodyPr/>
                    <a:lstStyle/>
                    <a:p>
                      <a:pPr indent="0" marL="0">
                        <a:buNone/>
                      </a:pPr>
                      <a:r>
                        <a:rPr lang="en-US" sz="1050" b="1" dirty="0">
                          <a:solidFill>
                            <a:srgbClr val="243D54"/>
                          </a:solidFill>
                          <a:latin typeface="BIZ UDPGothic" pitchFamily="34" charset="0"/>
                          <a:ea typeface="BIZ UDPGothic" pitchFamily="34" charset="-122"/>
                          <a:cs typeface="BIZ UDPGothic" pitchFamily="34" charset="-120"/>
                        </a:rPr>
                        <a:t>SEI｜水風井 48</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町が変わっても井戸は残る。判断の根拠</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050" dirty="0">
                          <a:solidFill>
                            <a:srgbClr val="56636E"/>
                          </a:solidFill>
                          <a:latin typeface="BIZ UDPGothic" pitchFamily="34" charset="0"/>
                          <a:ea typeface="BIZ UDPGothic" pitchFamily="34" charset="-122"/>
                          <a:cs typeface="BIZ UDPGothic" pitchFamily="34" charset="-120"/>
                        </a:rPr>
                        <a:t>モデルや担当が替わっても意味を保てるか</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rgbClr val="243D54"/>
                          </a:solidFill>
                          <a:latin typeface="BIZ UDPGothic" pitchFamily="34" charset="0"/>
                          <a:ea typeface="BIZ UDPGothic" pitchFamily="34" charset="-122"/>
                          <a:cs typeface="BIZ UDPGothic" pitchFamily="34" charset="-120"/>
                        </a:rPr>
                        <a:t>TEI｜火風鼎 50</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器で煮て形を変える。知識の実現</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050" dirty="0">
                          <a:solidFill>
                            <a:srgbClr val="56636E"/>
                          </a:solidFill>
                          <a:latin typeface="BIZ UDPGothic" pitchFamily="34" charset="0"/>
                          <a:ea typeface="BIZ UDPGothic" pitchFamily="34" charset="-122"/>
                          <a:cs typeface="BIZ UDPGothic" pitchFamily="34" charset="-120"/>
                        </a:rPr>
                        <a:t>同じ意味を異なる実装へ変えられるか</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r h="475488">
                <a:tc>
                  <a:txBody>
                    <a:bodyPr/>
                    <a:lstStyle/>
                    <a:p>
                      <a:pPr indent="0" marL="0">
                        <a:buNone/>
                      </a:pPr>
                      <a:r>
                        <a:rPr lang="en-US" sz="1050" b="1" dirty="0">
                          <a:solidFill>
                            <a:srgbClr val="243D54"/>
                          </a:solidFill>
                          <a:latin typeface="BIZ UDPGothic" pitchFamily="34" charset="0"/>
                          <a:ea typeface="BIZ UDPGothic" pitchFamily="34" charset="-122"/>
                          <a:cs typeface="BIZ UDPGothic" pitchFamily="34" charset="-120"/>
                        </a:rPr>
                        <a:t>SHO｜地風升 46</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地中の木が伸びる。資料から成果へ</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c>
                  <a:txBody>
                    <a:bodyPr/>
                    <a:lstStyle/>
                    <a:p>
                      <a:pPr indent="0" marL="0">
                        <a:buNone/>
                      </a:pPr>
                      <a:r>
                        <a:rPr lang="en-US" sz="1050" dirty="0">
                          <a:solidFill>
                            <a:srgbClr val="56636E"/>
                          </a:solidFill>
                          <a:latin typeface="BIZ UDPGothic" pitchFamily="34" charset="0"/>
                          <a:ea typeface="BIZ UDPGothic" pitchFamily="34" charset="-122"/>
                          <a:cs typeface="BIZ UDPGothic" pitchFamily="34" charset="-120"/>
                        </a:rPr>
                        <a:t>原資料から出版・継承へどうつなぐか</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rgbClr val="243D54"/>
                          </a:solidFill>
                          <a:latin typeface="BIZ UDPGothic" pitchFamily="34" charset="0"/>
                          <a:ea typeface="BIZ UDPGothic" pitchFamily="34" charset="-122"/>
                          <a:cs typeface="BIZ UDPGothic" pitchFamily="34" charset="-120"/>
                        </a:rPr>
                        <a:t>EKI｜風雷益 42</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050" dirty="0">
                          <a:solidFill>
                            <a:srgbClr val="243D54"/>
                          </a:solidFill>
                          <a:latin typeface="BIZ UDPGothic" pitchFamily="34" charset="0"/>
                          <a:ea typeface="BIZ UDPGothic" pitchFamily="34" charset="-122"/>
                          <a:cs typeface="BIZ UDPGothic" pitchFamily="34" charset="-120"/>
                        </a:rPr>
                        <a:t>上を損じて下を益す。余力の共有</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c>
                  <a:txBody>
                    <a:bodyPr/>
                    <a:lstStyle/>
                    <a:p>
                      <a:pPr indent="0" marL="0">
                        <a:buNone/>
                      </a:pPr>
                      <a:r>
                        <a:rPr lang="en-US" sz="1050" dirty="0">
                          <a:solidFill>
                            <a:srgbClr val="56636E"/>
                          </a:solidFill>
                          <a:latin typeface="BIZ UDPGothic" pitchFamily="34" charset="0"/>
                          <a:ea typeface="BIZ UDPGothic" pitchFamily="34" charset="-122"/>
                          <a:cs typeface="BIZ UDPGothic" pitchFamily="34" charset="-120"/>
                        </a:rPr>
                        <a:t>安全な委任と参加をどう広げるか</a:t>
                      </a:r>
                      <a:endParaRPr lang="en-US" sz="1050" dirty="0">
                        <a:latin typeface="BIZ UDPGothic" charset="0"/>
                        <a:ea typeface="BIZ UDPGothic" charset="0"/>
                        <a:cs typeface="BIZ UDPGothic" charset="0"/>
                      </a:endParaRPr>
                    </a:p>
                  </a:txBody>
                  <a:tcPr marL="73152" marR="73152" marT="27432" marB="27432" anchor="ctr">
                    <a:lnL w="6350" cap="flat" cmpd="sng" algn="ctr">
                      <a:solidFill>
                        <a:srgbClr val="DCD5C6"/>
                      </a:solidFill>
                      <a:prstDash val="solid"/>
                      <a:round/>
                      <a:headEnd type="none" w="med" len="med"/>
                      <a:tailEnd type="none" w="med" len="med"/>
                    </a:lnL>
                    <a:lnR w="6350" cap="flat" cmpd="sng" algn="ctr">
                      <a:solidFill>
                        <a:srgbClr val="DCD5C6"/>
                      </a:solidFill>
                      <a:prstDash val="solid"/>
                      <a:round/>
                      <a:headEnd type="none" w="med" len="med"/>
                      <a:tailEnd type="none" w="med" len="med"/>
                    </a:lnR>
                    <a:lnT w="6350" cap="flat" cmpd="sng" algn="ctr">
                      <a:solidFill>
                        <a:srgbClr val="DCD5C6"/>
                      </a:solidFill>
                      <a:prstDash val="solid"/>
                      <a:round/>
                      <a:headEnd type="none" w="med" len="med"/>
                      <a:tailEnd type="none" w="med" len="med"/>
                    </a:lnT>
                    <a:lnB w="6350" cap="flat" cmpd="sng" algn="ctr">
                      <a:solidFill>
                        <a:srgbClr val="DCD5C6"/>
                      </a:solidFill>
                      <a:prstDash val="solid"/>
                      <a:round/>
                      <a:headEnd type="none" w="med" len="med"/>
                      <a:tailEnd type="none" w="med" len="med"/>
                    </a:lnB>
                    <a:solidFill>
                      <a:srgbClr val="F9F6EF"/>
                    </a:solidFill>
                  </a:tcPr>
                </a:tc>
              </a:tr>
            </a:tbl>
          </a:graphicData>
        </a:graphic>
      </p:graphicFrame>
      <p:sp>
        <p:nvSpPr>
          <p:cNvPr id="153" name="Shape 150"/>
          <p:cNvSpPr/>
          <p:nvPr/>
        </p:nvSpPr>
        <p:spPr>
          <a:xfrm>
            <a:off x="5184648" y="5120640"/>
            <a:ext cx="1502588" cy="777240"/>
          </a:xfrm>
          <a:prstGeom prst="rect">
            <a:avLst/>
          </a:prstGeom>
          <a:solidFill>
            <a:srgbClr val="FFFFFF"/>
          </a:solidFill>
          <a:ln w="9525">
            <a:solidFill>
              <a:srgbClr val="DCD5C6"/>
            </a:solidFill>
            <a:prstDash val="solid"/>
          </a:ln>
        </p:spPr>
      </p:sp>
      <p:sp>
        <p:nvSpPr>
          <p:cNvPr id="154" name="Shape 151"/>
          <p:cNvSpPr/>
          <p:nvPr/>
        </p:nvSpPr>
        <p:spPr>
          <a:xfrm>
            <a:off x="5184648" y="5120640"/>
            <a:ext cx="1502588" cy="45720"/>
          </a:xfrm>
          <a:prstGeom prst="rect">
            <a:avLst/>
          </a:prstGeom>
          <a:solidFill>
            <a:srgbClr val="C4A06D"/>
          </a:solidFill>
          <a:ln/>
        </p:spPr>
      </p:sp>
      <p:sp>
        <p:nvSpPr>
          <p:cNvPr id="155" name="Text 152"/>
          <p:cNvSpPr/>
          <p:nvPr/>
        </p:nvSpPr>
        <p:spPr>
          <a:xfrm>
            <a:off x="5239512" y="5193792"/>
            <a:ext cx="1392860" cy="349758"/>
          </a:xfrm>
          <a:prstGeom prst="rect">
            <a:avLst/>
          </a:prstGeom>
          <a:noFill/>
          <a:ln/>
        </p:spPr>
        <p:txBody>
          <a:bodyPr wrap="square" lIns="0" tIns="0" rIns="0" bIns="0" rtlCol="0" anchor="ctr"/>
          <a:lstStyle/>
          <a:p>
            <a:pPr algn="ctr" indent="0" marL="0">
              <a:buNone/>
            </a:pPr>
            <a:r>
              <a:rPr lang="en-US" sz="1250" b="1" dirty="0">
                <a:solidFill>
                  <a:srgbClr val="243D54"/>
                </a:solidFill>
                <a:latin typeface="BIZ UDPGothic" pitchFamily="34" charset="0"/>
                <a:ea typeface="BIZ UDPGothic" pitchFamily="34" charset="-122"/>
                <a:cs typeface="BIZ UDPGothic" pitchFamily="34" charset="-120"/>
              </a:rPr>
              <a:t>見立て</a:t>
            </a:r>
            <a:endParaRPr lang="en-US" sz="1250" dirty="0"/>
          </a:p>
        </p:txBody>
      </p:sp>
      <p:sp>
        <p:nvSpPr>
          <p:cNvPr id="156" name="Text 153"/>
          <p:cNvSpPr/>
          <p:nvPr/>
        </p:nvSpPr>
        <p:spPr>
          <a:xfrm>
            <a:off x="5239512" y="5509260"/>
            <a:ext cx="1392860" cy="357530"/>
          </a:xfrm>
          <a:prstGeom prst="rect">
            <a:avLst/>
          </a:prstGeom>
          <a:noFill/>
          <a:ln/>
        </p:spPr>
        <p:txBody>
          <a:bodyPr wrap="square" lIns="0" tIns="0" rIns="0" bIns="0" rtlCol="0" anchor="t"/>
          <a:lstStyle/>
          <a:p>
            <a:pPr algn="ctr" indent="0" marL="0">
              <a:buNone/>
            </a:pPr>
            <a:r>
              <a:rPr lang="en-US" sz="950" dirty="0">
                <a:solidFill>
                  <a:srgbClr val="56636E"/>
                </a:solidFill>
                <a:latin typeface="BIZ UDPGothic" pitchFamily="34" charset="0"/>
                <a:ea typeface="BIZ UDPGothic" pitchFamily="34" charset="-122"/>
                <a:cs typeface="BIZ UDPGothic" pitchFamily="34" charset="-120"/>
              </a:rPr>
              <a:t>象意から問いを出す</a:t>
            </a:r>
            <a:endParaRPr lang="en-US" sz="950" dirty="0"/>
          </a:p>
        </p:txBody>
      </p:sp>
      <p:sp>
        <p:nvSpPr>
          <p:cNvPr id="157" name="Shape 154"/>
          <p:cNvSpPr/>
          <p:nvPr/>
        </p:nvSpPr>
        <p:spPr>
          <a:xfrm>
            <a:off x="6714668" y="5509260"/>
            <a:ext cx="109728" cy="0"/>
          </a:xfrm>
          <a:prstGeom prst="line">
            <a:avLst/>
          </a:prstGeom>
          <a:noFill/>
          <a:ln w="19050">
            <a:solidFill>
              <a:srgbClr val="C4A06D"/>
            </a:solidFill>
            <a:prstDash val="solid"/>
            <a:tailEnd type="triangle"/>
          </a:ln>
        </p:spPr>
      </p:sp>
      <p:sp>
        <p:nvSpPr>
          <p:cNvPr id="158" name="Shape 155"/>
          <p:cNvSpPr/>
          <p:nvPr/>
        </p:nvSpPr>
        <p:spPr>
          <a:xfrm>
            <a:off x="6851828" y="5120640"/>
            <a:ext cx="1502588" cy="777240"/>
          </a:xfrm>
          <a:prstGeom prst="rect">
            <a:avLst/>
          </a:prstGeom>
          <a:solidFill>
            <a:srgbClr val="FFFFFF"/>
          </a:solidFill>
          <a:ln w="9525">
            <a:solidFill>
              <a:srgbClr val="DCD5C6"/>
            </a:solidFill>
            <a:prstDash val="solid"/>
          </a:ln>
        </p:spPr>
      </p:sp>
      <p:sp>
        <p:nvSpPr>
          <p:cNvPr id="159" name="Shape 156"/>
          <p:cNvSpPr/>
          <p:nvPr/>
        </p:nvSpPr>
        <p:spPr>
          <a:xfrm>
            <a:off x="6851828" y="5120640"/>
            <a:ext cx="1502588" cy="45720"/>
          </a:xfrm>
          <a:prstGeom prst="rect">
            <a:avLst/>
          </a:prstGeom>
          <a:solidFill>
            <a:srgbClr val="C4A06D"/>
          </a:solidFill>
          <a:ln/>
        </p:spPr>
      </p:sp>
      <p:sp>
        <p:nvSpPr>
          <p:cNvPr id="160" name="Text 157"/>
          <p:cNvSpPr/>
          <p:nvPr/>
        </p:nvSpPr>
        <p:spPr>
          <a:xfrm>
            <a:off x="6906692" y="5193792"/>
            <a:ext cx="1392860" cy="349758"/>
          </a:xfrm>
          <a:prstGeom prst="rect">
            <a:avLst/>
          </a:prstGeom>
          <a:noFill/>
          <a:ln/>
        </p:spPr>
        <p:txBody>
          <a:bodyPr wrap="square" lIns="0" tIns="0" rIns="0" bIns="0" rtlCol="0" anchor="ctr"/>
          <a:lstStyle/>
          <a:p>
            <a:pPr algn="ctr" indent="0" marL="0">
              <a:buNone/>
            </a:pPr>
            <a:r>
              <a:rPr lang="en-US" sz="1250" b="1" dirty="0">
                <a:solidFill>
                  <a:srgbClr val="243D54"/>
                </a:solidFill>
                <a:latin typeface="BIZ UDPGothic" pitchFamily="34" charset="0"/>
                <a:ea typeface="BIZ UDPGothic" pitchFamily="34" charset="-122"/>
                <a:cs typeface="BIZ UDPGothic" pitchFamily="34" charset="-120"/>
              </a:rPr>
              <a:t>候補</a:t>
            </a:r>
            <a:endParaRPr lang="en-US" sz="1250" dirty="0"/>
          </a:p>
        </p:txBody>
      </p:sp>
      <p:sp>
        <p:nvSpPr>
          <p:cNvPr id="161" name="Text 158"/>
          <p:cNvSpPr/>
          <p:nvPr/>
        </p:nvSpPr>
        <p:spPr>
          <a:xfrm>
            <a:off x="6906692" y="5509260"/>
            <a:ext cx="1392860" cy="357530"/>
          </a:xfrm>
          <a:prstGeom prst="rect">
            <a:avLst/>
          </a:prstGeom>
          <a:noFill/>
          <a:ln/>
        </p:spPr>
        <p:txBody>
          <a:bodyPr wrap="square" lIns="0" tIns="0" rIns="0" bIns="0" rtlCol="0" anchor="t"/>
          <a:lstStyle/>
          <a:p>
            <a:pPr algn="ctr" indent="0" marL="0">
              <a:buNone/>
            </a:pPr>
            <a:r>
              <a:rPr lang="en-US" sz="950" dirty="0">
                <a:solidFill>
                  <a:srgbClr val="56636E"/>
                </a:solidFill>
                <a:latin typeface="BIZ UDPGothic" pitchFamily="34" charset="0"/>
                <a:ea typeface="BIZ UDPGothic" pitchFamily="34" charset="-122"/>
                <a:cs typeface="BIZ UDPGothic" pitchFamily="34" charset="-120"/>
              </a:rPr>
              <a:t>不足する機能・失敗条件</a:t>
            </a:r>
            <a:endParaRPr lang="en-US" sz="950" dirty="0"/>
          </a:p>
        </p:txBody>
      </p:sp>
      <p:sp>
        <p:nvSpPr>
          <p:cNvPr id="162" name="Shape 159"/>
          <p:cNvSpPr/>
          <p:nvPr/>
        </p:nvSpPr>
        <p:spPr>
          <a:xfrm>
            <a:off x="8381848" y="5509260"/>
            <a:ext cx="109728" cy="0"/>
          </a:xfrm>
          <a:prstGeom prst="line">
            <a:avLst/>
          </a:prstGeom>
          <a:noFill/>
          <a:ln w="19050">
            <a:solidFill>
              <a:srgbClr val="C4A06D"/>
            </a:solidFill>
            <a:prstDash val="solid"/>
            <a:tailEnd type="triangle"/>
          </a:ln>
        </p:spPr>
      </p:sp>
      <p:sp>
        <p:nvSpPr>
          <p:cNvPr id="163" name="Shape 160"/>
          <p:cNvSpPr/>
          <p:nvPr/>
        </p:nvSpPr>
        <p:spPr>
          <a:xfrm>
            <a:off x="8519008" y="5120640"/>
            <a:ext cx="1502588" cy="777240"/>
          </a:xfrm>
          <a:prstGeom prst="rect">
            <a:avLst/>
          </a:prstGeom>
          <a:solidFill>
            <a:srgbClr val="FFFFFF"/>
          </a:solidFill>
          <a:ln w="9525">
            <a:solidFill>
              <a:srgbClr val="DCD5C6"/>
            </a:solidFill>
            <a:prstDash val="solid"/>
          </a:ln>
        </p:spPr>
      </p:sp>
      <p:sp>
        <p:nvSpPr>
          <p:cNvPr id="164" name="Shape 161"/>
          <p:cNvSpPr/>
          <p:nvPr/>
        </p:nvSpPr>
        <p:spPr>
          <a:xfrm>
            <a:off x="8519008" y="5120640"/>
            <a:ext cx="1502588" cy="45720"/>
          </a:xfrm>
          <a:prstGeom prst="rect">
            <a:avLst/>
          </a:prstGeom>
          <a:solidFill>
            <a:srgbClr val="C4A06D"/>
          </a:solidFill>
          <a:ln/>
        </p:spPr>
      </p:sp>
      <p:sp>
        <p:nvSpPr>
          <p:cNvPr id="165" name="Text 162"/>
          <p:cNvSpPr/>
          <p:nvPr/>
        </p:nvSpPr>
        <p:spPr>
          <a:xfrm>
            <a:off x="8573872" y="5193792"/>
            <a:ext cx="1392860" cy="349758"/>
          </a:xfrm>
          <a:prstGeom prst="rect">
            <a:avLst/>
          </a:prstGeom>
          <a:noFill/>
          <a:ln/>
        </p:spPr>
        <p:txBody>
          <a:bodyPr wrap="square" lIns="0" tIns="0" rIns="0" bIns="0" rtlCol="0" anchor="ctr"/>
          <a:lstStyle/>
          <a:p>
            <a:pPr algn="ctr" indent="0" marL="0">
              <a:buNone/>
            </a:pPr>
            <a:r>
              <a:rPr lang="en-US" sz="1250" b="1" dirty="0">
                <a:solidFill>
                  <a:srgbClr val="243D54"/>
                </a:solidFill>
                <a:latin typeface="BIZ UDPGothic" pitchFamily="34" charset="0"/>
                <a:ea typeface="BIZ UDPGothic" pitchFamily="34" charset="-122"/>
                <a:cs typeface="BIZ UDPGothic" pitchFamily="34" charset="-120"/>
              </a:rPr>
              <a:t>検証</a:t>
            </a:r>
            <a:endParaRPr lang="en-US" sz="1250" dirty="0"/>
          </a:p>
        </p:txBody>
      </p:sp>
      <p:sp>
        <p:nvSpPr>
          <p:cNvPr id="166" name="Text 163"/>
          <p:cNvSpPr/>
          <p:nvPr/>
        </p:nvSpPr>
        <p:spPr>
          <a:xfrm>
            <a:off x="8573872" y="5509260"/>
            <a:ext cx="1392860" cy="357530"/>
          </a:xfrm>
          <a:prstGeom prst="rect">
            <a:avLst/>
          </a:prstGeom>
          <a:noFill/>
          <a:ln/>
        </p:spPr>
        <p:txBody>
          <a:bodyPr wrap="square" lIns="0" tIns="0" rIns="0" bIns="0" rtlCol="0" anchor="t"/>
          <a:lstStyle/>
          <a:p>
            <a:pPr algn="ctr" indent="0" marL="0">
              <a:buNone/>
            </a:pPr>
            <a:r>
              <a:rPr lang="en-US" sz="950" dirty="0">
                <a:solidFill>
                  <a:srgbClr val="56636E"/>
                </a:solidFill>
                <a:latin typeface="BIZ UDPGothic" pitchFamily="34" charset="0"/>
                <a:ea typeface="BIZ UDPGothic" pitchFamily="34" charset="-122"/>
                <a:cs typeface="BIZ UDPGothic" pitchFamily="34" charset="-120"/>
              </a:rPr>
              <a:t>課題・制約・実験</a:t>
            </a:r>
            <a:endParaRPr lang="en-US" sz="950" dirty="0"/>
          </a:p>
        </p:txBody>
      </p:sp>
      <p:sp>
        <p:nvSpPr>
          <p:cNvPr id="167" name="Shape 164"/>
          <p:cNvSpPr/>
          <p:nvPr/>
        </p:nvSpPr>
        <p:spPr>
          <a:xfrm>
            <a:off x="10049027" y="5509260"/>
            <a:ext cx="109728" cy="0"/>
          </a:xfrm>
          <a:prstGeom prst="line">
            <a:avLst/>
          </a:prstGeom>
          <a:noFill/>
          <a:ln w="19050">
            <a:solidFill>
              <a:srgbClr val="C4A06D"/>
            </a:solidFill>
            <a:prstDash val="solid"/>
            <a:tailEnd type="triangle"/>
          </a:ln>
        </p:spPr>
      </p:sp>
      <p:sp>
        <p:nvSpPr>
          <p:cNvPr id="168" name="Shape 165"/>
          <p:cNvSpPr/>
          <p:nvPr/>
        </p:nvSpPr>
        <p:spPr>
          <a:xfrm>
            <a:off x="10186187" y="5120640"/>
            <a:ext cx="1502588" cy="777240"/>
          </a:xfrm>
          <a:prstGeom prst="rect">
            <a:avLst/>
          </a:prstGeom>
          <a:solidFill>
            <a:srgbClr val="FFFFFF"/>
          </a:solidFill>
          <a:ln w="9525">
            <a:solidFill>
              <a:srgbClr val="DCD5C6"/>
            </a:solidFill>
            <a:prstDash val="solid"/>
          </a:ln>
        </p:spPr>
      </p:sp>
      <p:sp>
        <p:nvSpPr>
          <p:cNvPr id="169" name="Shape 166"/>
          <p:cNvSpPr/>
          <p:nvPr/>
        </p:nvSpPr>
        <p:spPr>
          <a:xfrm>
            <a:off x="10186187" y="5120640"/>
            <a:ext cx="1502588" cy="45720"/>
          </a:xfrm>
          <a:prstGeom prst="rect">
            <a:avLst/>
          </a:prstGeom>
          <a:solidFill>
            <a:srgbClr val="C4A06D"/>
          </a:solidFill>
          <a:ln/>
        </p:spPr>
      </p:sp>
      <p:sp>
        <p:nvSpPr>
          <p:cNvPr id="170" name="Text 167"/>
          <p:cNvSpPr/>
          <p:nvPr/>
        </p:nvSpPr>
        <p:spPr>
          <a:xfrm>
            <a:off x="10241051" y="5193792"/>
            <a:ext cx="1392860" cy="349758"/>
          </a:xfrm>
          <a:prstGeom prst="rect">
            <a:avLst/>
          </a:prstGeom>
          <a:noFill/>
          <a:ln/>
        </p:spPr>
        <p:txBody>
          <a:bodyPr wrap="square" lIns="0" tIns="0" rIns="0" bIns="0" rtlCol="0" anchor="ctr"/>
          <a:lstStyle/>
          <a:p>
            <a:pPr algn="ctr" indent="0" marL="0">
              <a:buNone/>
            </a:pPr>
            <a:r>
              <a:rPr lang="en-US" sz="1250" b="1" dirty="0">
                <a:solidFill>
                  <a:srgbClr val="243D54"/>
                </a:solidFill>
                <a:latin typeface="BIZ UDPGothic" pitchFamily="34" charset="0"/>
                <a:ea typeface="BIZ UDPGothic" pitchFamily="34" charset="-122"/>
                <a:cs typeface="BIZ UDPGothic" pitchFamily="34" charset="-120"/>
              </a:rPr>
              <a:t>更新</a:t>
            </a:r>
            <a:endParaRPr lang="en-US" sz="1250" dirty="0"/>
          </a:p>
        </p:txBody>
      </p:sp>
      <p:sp>
        <p:nvSpPr>
          <p:cNvPr id="171" name="Text 168"/>
          <p:cNvSpPr/>
          <p:nvPr/>
        </p:nvSpPr>
        <p:spPr>
          <a:xfrm>
            <a:off x="10241051" y="5509260"/>
            <a:ext cx="1392860" cy="357530"/>
          </a:xfrm>
          <a:prstGeom prst="rect">
            <a:avLst/>
          </a:prstGeom>
          <a:noFill/>
          <a:ln/>
        </p:spPr>
        <p:txBody>
          <a:bodyPr wrap="square" lIns="0" tIns="0" rIns="0" bIns="0" rtlCol="0" anchor="t"/>
          <a:lstStyle/>
          <a:p>
            <a:pPr algn="ctr" indent="0" marL="0">
              <a:buNone/>
            </a:pPr>
            <a:r>
              <a:rPr lang="en-US" sz="950" dirty="0">
                <a:solidFill>
                  <a:srgbClr val="56636E"/>
                </a:solidFill>
                <a:latin typeface="BIZ UDPGothic" pitchFamily="34" charset="0"/>
                <a:ea typeface="BIZ UDPGothic" pitchFamily="34" charset="-122"/>
                <a:cs typeface="BIZ UDPGothic" pitchFamily="34" charset="-120"/>
              </a:rPr>
              <a:t>反証で解釈を直す</a:t>
            </a:r>
            <a:endParaRPr lang="en-US" sz="950" dirty="0"/>
          </a:p>
        </p:txBody>
      </p:sp>
      <p:sp>
        <p:nvSpPr>
          <p:cNvPr id="172" name="Text 169"/>
          <p:cNvSpPr/>
          <p:nvPr/>
        </p:nvSpPr>
        <p:spPr>
          <a:xfrm>
            <a:off x="502920" y="6419088"/>
            <a:ext cx="10332720" cy="292608"/>
          </a:xfrm>
          <a:prstGeom prst="rect">
            <a:avLst/>
          </a:prstGeom>
          <a:noFill/>
          <a:ln/>
        </p:spPr>
        <p:txBody>
          <a:bodyPr wrap="square" lIns="0" tIns="0" rIns="0" bIns="0" rtlCol="0" anchor="ctr"/>
          <a:lstStyle/>
          <a:p>
            <a:pPr indent="0" marL="0">
              <a:buNone/>
            </a:pPr>
            <a:r>
              <a:rPr lang="en-US" sz="950" dirty="0">
                <a:solidFill>
                  <a:srgbClr val="56636E"/>
                </a:solidFill>
                <a:latin typeface="BIZ UDPGothic" pitchFamily="34" charset="0"/>
                <a:ea typeface="BIZ UDPGothic" pitchFamily="34" charset="-122"/>
                <a:cs typeface="BIZ UDPGothic" pitchFamily="34" charset="-120"/>
              </a:rPr>
              <a:t>64は製品数の予定ではない。残る58卦は将来の製品や実装計画を意味せず、技術的な正解も保証しない。</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434">
              <a:alpha val="65000"/>
            </a:srgbClr>
          </a:solidFill>
          <a:ln/>
        </p:spPr>
      </p:sp>
      <p:sp>
        <p:nvSpPr>
          <p:cNvPr id="3" name="Text 1"/>
          <p:cNvSpPr/>
          <p:nvPr/>
        </p:nvSpPr>
        <p:spPr>
          <a:xfrm>
            <a:off x="731520" y="731520"/>
            <a:ext cx="8229600" cy="640080"/>
          </a:xfrm>
          <a:prstGeom prst="rect">
            <a:avLst/>
          </a:prstGeom>
          <a:noFill/>
          <a:ln/>
        </p:spPr>
        <p:txBody>
          <a:bodyPr wrap="square" lIns="0" tIns="0" rIns="0" bIns="0" rtlCol="0" anchor="t"/>
          <a:lstStyle/>
          <a:p>
            <a:pPr indent="0" marL="0">
              <a:buNone/>
            </a:pPr>
            <a:r>
              <a:rPr lang="en-US" sz="3600" dirty="0">
                <a:solidFill>
                  <a:srgbClr val="F5F1E8"/>
                </a:solidFill>
                <a:latin typeface="Georgia" pitchFamily="34" charset="0"/>
                <a:ea typeface="Georgia" pitchFamily="34" charset="-122"/>
                <a:cs typeface="Georgia" pitchFamily="34" charset="-120"/>
              </a:rPr>
              <a:t>YI Constellation</a:t>
            </a:r>
            <a:endParaRPr lang="en-US" sz="3600" dirty="0"/>
          </a:p>
        </p:txBody>
      </p:sp>
      <p:sp>
        <p:nvSpPr>
          <p:cNvPr id="4" name="Text 2"/>
          <p:cNvSpPr/>
          <p:nvPr/>
        </p:nvSpPr>
        <p:spPr>
          <a:xfrm>
            <a:off x="731520" y="1463040"/>
            <a:ext cx="9144000" cy="1188720"/>
          </a:xfrm>
          <a:prstGeom prst="rect">
            <a:avLst/>
          </a:prstGeom>
          <a:noFill/>
          <a:ln/>
        </p:spPr>
        <p:txBody>
          <a:bodyPr wrap="square" lIns="0" tIns="0" rIns="0" bIns="0" rtlCol="0" anchor="ctr"/>
          <a:lstStyle/>
          <a:p>
            <a:pPr indent="0" marL="0">
              <a:buNone/>
            </a:pPr>
            <a:r>
              <a:rPr lang="en-US" sz="3000" b="1" dirty="0">
                <a:solidFill>
                  <a:srgbClr val="F5F1E8"/>
                </a:solidFill>
                <a:latin typeface="BIZ UDPGothic" pitchFamily="34" charset="0"/>
                <a:ea typeface="BIZ UDPGothic" pitchFamily="34" charset="-122"/>
                <a:cs typeface="BIZ UDPGothic" pitchFamily="34" charset="-120"/>
              </a:rPr>
              <a:t>人とAIが協働を続けるために、</a:t>
            </a:r>
            <a:endParaRPr lang="en-US" sz="3000" dirty="0"/>
          </a:p>
          <a:p>
            <a:pPr indent="0" marL="0">
              <a:buNone/>
            </a:pPr>
            <a:r>
              <a:rPr lang="en-US" sz="3000" b="1" dirty="0">
                <a:solidFill>
                  <a:srgbClr val="F5F1E8"/>
                </a:solidFill>
                <a:latin typeface="BIZ UDPGothic" pitchFamily="34" charset="0"/>
                <a:ea typeface="BIZ UDPGothic" pitchFamily="34" charset="-122"/>
                <a:cs typeface="BIZ UDPGothic" pitchFamily="34" charset="-120"/>
              </a:rPr>
              <a:t>守るべき境界がある。</a:t>
            </a:r>
            <a:endParaRPr lang="en-US" sz="3000" dirty="0"/>
          </a:p>
        </p:txBody>
      </p:sp>
      <p:sp>
        <p:nvSpPr>
          <p:cNvPr id="5" name="Text 3"/>
          <p:cNvSpPr/>
          <p:nvPr/>
        </p:nvSpPr>
        <p:spPr>
          <a:xfrm>
            <a:off x="731520" y="3017520"/>
            <a:ext cx="548640" cy="411480"/>
          </a:xfrm>
          <a:prstGeom prst="rect">
            <a:avLst/>
          </a:prstGeom>
          <a:noFill/>
          <a:ln/>
        </p:spPr>
        <p:txBody>
          <a:bodyPr wrap="square" lIns="0" tIns="0" rIns="0" bIns="0" rtlCol="0" anchor="ctr"/>
          <a:lstStyle/>
          <a:p>
            <a:pPr indent="0" marL="0">
              <a:buNone/>
            </a:pPr>
            <a:r>
              <a:rPr lang="en-US" sz="1500" b="1" dirty="0">
                <a:solidFill>
                  <a:srgbClr val="C4A06D"/>
                </a:solidFill>
                <a:latin typeface="Georgia" pitchFamily="34" charset="0"/>
                <a:ea typeface="Georgia" pitchFamily="34" charset="-122"/>
                <a:cs typeface="Georgia" pitchFamily="34" charset="-120"/>
              </a:rPr>
              <a:t>01</a:t>
            </a:r>
            <a:endParaRPr lang="en-US" sz="1500" dirty="0"/>
          </a:p>
        </p:txBody>
      </p:sp>
      <p:sp>
        <p:nvSpPr>
          <p:cNvPr id="6" name="Text 4"/>
          <p:cNvSpPr/>
          <p:nvPr/>
        </p:nvSpPr>
        <p:spPr>
          <a:xfrm>
            <a:off x="1325880" y="3017520"/>
            <a:ext cx="8229600" cy="411480"/>
          </a:xfrm>
          <a:prstGeom prst="rect">
            <a:avLst/>
          </a:prstGeom>
          <a:noFill/>
          <a:ln/>
        </p:spPr>
        <p:txBody>
          <a:bodyPr wrap="square" lIns="0" tIns="0" rIns="0" bIns="0" rtlCol="0" anchor="ctr"/>
          <a:lstStyle/>
          <a:p>
            <a:pPr indent="0" marL="0">
              <a:buNone/>
            </a:pPr>
            <a:r>
              <a:rPr lang="en-US" sz="1700" dirty="0">
                <a:solidFill>
                  <a:srgbClr val="F5F1E8"/>
                </a:solidFill>
                <a:latin typeface="BIZ UDPGothic" pitchFamily="34" charset="0"/>
                <a:ea typeface="BIZ UDPGothic" pitchFamily="34" charset="-122"/>
                <a:cs typeface="BIZ UDPGothic" pitchFamily="34" charset="-120"/>
              </a:rPr>
              <a:t>本人と関係者が、目的・権利・委任の限度を定める</a:t>
            </a:r>
            <a:endParaRPr lang="en-US" sz="1700" dirty="0"/>
          </a:p>
        </p:txBody>
      </p:sp>
      <p:sp>
        <p:nvSpPr>
          <p:cNvPr id="7" name="Text 5"/>
          <p:cNvSpPr/>
          <p:nvPr/>
        </p:nvSpPr>
        <p:spPr>
          <a:xfrm>
            <a:off x="731520" y="3584448"/>
            <a:ext cx="548640" cy="411480"/>
          </a:xfrm>
          <a:prstGeom prst="rect">
            <a:avLst/>
          </a:prstGeom>
          <a:noFill/>
          <a:ln/>
        </p:spPr>
        <p:txBody>
          <a:bodyPr wrap="square" lIns="0" tIns="0" rIns="0" bIns="0" rtlCol="0" anchor="ctr"/>
          <a:lstStyle/>
          <a:p>
            <a:pPr indent="0" marL="0">
              <a:buNone/>
            </a:pPr>
            <a:r>
              <a:rPr lang="en-US" sz="1500" b="1" dirty="0">
                <a:solidFill>
                  <a:srgbClr val="C4A06D"/>
                </a:solidFill>
                <a:latin typeface="Georgia" pitchFamily="34" charset="0"/>
                <a:ea typeface="Georgia" pitchFamily="34" charset="-122"/>
                <a:cs typeface="Georgia" pitchFamily="34" charset="-120"/>
              </a:rPr>
              <a:t>02</a:t>
            </a:r>
            <a:endParaRPr lang="en-US" sz="1500" dirty="0"/>
          </a:p>
        </p:txBody>
      </p:sp>
      <p:sp>
        <p:nvSpPr>
          <p:cNvPr id="8" name="Text 6"/>
          <p:cNvSpPr/>
          <p:nvPr/>
        </p:nvSpPr>
        <p:spPr>
          <a:xfrm>
            <a:off x="1325880" y="3584448"/>
            <a:ext cx="8229600" cy="411480"/>
          </a:xfrm>
          <a:prstGeom prst="rect">
            <a:avLst/>
          </a:prstGeom>
          <a:noFill/>
          <a:ln/>
        </p:spPr>
        <p:txBody>
          <a:bodyPr wrap="square" lIns="0" tIns="0" rIns="0" bIns="0" rtlCol="0" anchor="ctr"/>
          <a:lstStyle/>
          <a:p>
            <a:pPr indent="0" marL="0">
              <a:buNone/>
            </a:pPr>
            <a:r>
              <a:rPr lang="en-US" sz="1700" dirty="0">
                <a:solidFill>
                  <a:srgbClr val="F5F1E8"/>
                </a:solidFill>
                <a:latin typeface="BIZ UDPGothic" pitchFamily="34" charset="0"/>
                <a:ea typeface="BIZ UDPGothic" pitchFamily="34" charset="-122"/>
                <a:cs typeface="BIZ UDPGothic" pitchFamily="34" charset="-120"/>
              </a:rPr>
              <a:t>AIは根拠を扱い、考え、検証し、許された範囲で動く</a:t>
            </a:r>
            <a:endParaRPr lang="en-US" sz="1700" dirty="0"/>
          </a:p>
        </p:txBody>
      </p:sp>
      <p:sp>
        <p:nvSpPr>
          <p:cNvPr id="9" name="Text 7"/>
          <p:cNvSpPr/>
          <p:nvPr/>
        </p:nvSpPr>
        <p:spPr>
          <a:xfrm>
            <a:off x="731520" y="4151376"/>
            <a:ext cx="548640" cy="411480"/>
          </a:xfrm>
          <a:prstGeom prst="rect">
            <a:avLst/>
          </a:prstGeom>
          <a:noFill/>
          <a:ln/>
        </p:spPr>
        <p:txBody>
          <a:bodyPr wrap="square" lIns="0" tIns="0" rIns="0" bIns="0" rtlCol="0" anchor="ctr"/>
          <a:lstStyle/>
          <a:p>
            <a:pPr indent="0" marL="0">
              <a:buNone/>
            </a:pPr>
            <a:r>
              <a:rPr lang="en-US" sz="1500" b="1" dirty="0">
                <a:solidFill>
                  <a:srgbClr val="C4A06D"/>
                </a:solidFill>
                <a:latin typeface="Georgia" pitchFamily="34" charset="0"/>
                <a:ea typeface="Georgia" pitchFamily="34" charset="-122"/>
                <a:cs typeface="Georgia" pitchFamily="34" charset="-120"/>
              </a:rPr>
              <a:t>03</a:t>
            </a:r>
            <a:endParaRPr lang="en-US" sz="1500" dirty="0"/>
          </a:p>
        </p:txBody>
      </p:sp>
      <p:sp>
        <p:nvSpPr>
          <p:cNvPr id="10" name="Text 8"/>
          <p:cNvSpPr/>
          <p:nvPr/>
        </p:nvSpPr>
        <p:spPr>
          <a:xfrm>
            <a:off x="1325880" y="4151376"/>
            <a:ext cx="8229600" cy="411480"/>
          </a:xfrm>
          <a:prstGeom prst="rect">
            <a:avLst/>
          </a:prstGeom>
          <a:noFill/>
          <a:ln/>
        </p:spPr>
        <p:txBody>
          <a:bodyPr wrap="square" lIns="0" tIns="0" rIns="0" bIns="0" rtlCol="0" anchor="ctr"/>
          <a:lstStyle/>
          <a:p>
            <a:pPr indent="0" marL="0">
              <a:buNone/>
            </a:pPr>
            <a:r>
              <a:rPr lang="en-US" sz="1700" dirty="0">
                <a:solidFill>
                  <a:srgbClr val="F5F1E8"/>
                </a:solidFill>
                <a:latin typeface="BIZ UDPGothic" pitchFamily="34" charset="0"/>
                <a:ea typeface="BIZ UDPGothic" pitchFamily="34" charset="-122"/>
                <a:cs typeface="BIZ UDPGothic" pitchFamily="34" charset="-120"/>
              </a:rPr>
              <a:t>製品は正本と責任を分け、必要なときに組み合わせる</a:t>
            </a:r>
            <a:endParaRPr lang="en-US" sz="1700" dirty="0"/>
          </a:p>
        </p:txBody>
      </p:sp>
      <p:sp>
        <p:nvSpPr>
          <p:cNvPr id="11" name="Text 9"/>
          <p:cNvSpPr/>
          <p:nvPr/>
        </p:nvSpPr>
        <p:spPr>
          <a:xfrm>
            <a:off x="731520" y="4718304"/>
            <a:ext cx="548640" cy="411480"/>
          </a:xfrm>
          <a:prstGeom prst="rect">
            <a:avLst/>
          </a:prstGeom>
          <a:noFill/>
          <a:ln/>
        </p:spPr>
        <p:txBody>
          <a:bodyPr wrap="square" lIns="0" tIns="0" rIns="0" bIns="0" rtlCol="0" anchor="ctr"/>
          <a:lstStyle/>
          <a:p>
            <a:pPr indent="0" marL="0">
              <a:buNone/>
            </a:pPr>
            <a:r>
              <a:rPr lang="en-US" sz="1500" b="1" dirty="0">
                <a:solidFill>
                  <a:srgbClr val="C4A06D"/>
                </a:solidFill>
                <a:latin typeface="Georgia" pitchFamily="34" charset="0"/>
                <a:ea typeface="Georgia" pitchFamily="34" charset="-122"/>
                <a:cs typeface="Georgia" pitchFamily="34" charset="-120"/>
              </a:rPr>
              <a:t>04</a:t>
            </a:r>
            <a:endParaRPr lang="en-US" sz="1500" dirty="0"/>
          </a:p>
        </p:txBody>
      </p:sp>
      <p:sp>
        <p:nvSpPr>
          <p:cNvPr id="12" name="Text 10"/>
          <p:cNvSpPr/>
          <p:nvPr/>
        </p:nvSpPr>
        <p:spPr>
          <a:xfrm>
            <a:off x="1325880" y="4718304"/>
            <a:ext cx="8229600" cy="411480"/>
          </a:xfrm>
          <a:prstGeom prst="rect">
            <a:avLst/>
          </a:prstGeom>
          <a:noFill/>
          <a:ln/>
        </p:spPr>
        <p:txBody>
          <a:bodyPr wrap="square" lIns="0" tIns="0" rIns="0" bIns="0" rtlCol="0" anchor="ctr"/>
          <a:lstStyle/>
          <a:p>
            <a:pPr indent="0" marL="0">
              <a:buNone/>
            </a:pPr>
            <a:r>
              <a:rPr lang="en-US" sz="1700" dirty="0">
                <a:solidFill>
                  <a:srgbClr val="F5F1E8"/>
                </a:solidFill>
                <a:latin typeface="BIZ UDPGothic" pitchFamily="34" charset="0"/>
                <a:ea typeface="BIZ UDPGothic" pitchFamily="34" charset="-122"/>
                <a:cs typeface="BIZ UDPGothic" pitchFamily="34" charset="-120"/>
              </a:rPr>
              <a:t>小さな利用で検証し、個人・組織・社会へ広げる</a:t>
            </a:r>
            <a:endParaRPr lang="en-US" sz="1700" dirty="0"/>
          </a:p>
        </p:txBody>
      </p:sp>
      <p:sp>
        <p:nvSpPr>
          <p:cNvPr id="13" name="Text 11"/>
          <p:cNvSpPr/>
          <p:nvPr/>
        </p:nvSpPr>
        <p:spPr>
          <a:xfrm>
            <a:off x="731520" y="5852160"/>
            <a:ext cx="7315200" cy="365760"/>
          </a:xfrm>
          <a:prstGeom prst="rect">
            <a:avLst/>
          </a:prstGeom>
          <a:noFill/>
          <a:ln/>
        </p:spPr>
        <p:txBody>
          <a:bodyPr wrap="square" lIns="0" tIns="0" rIns="0" bIns="0" rtlCol="0" anchor="t"/>
          <a:lstStyle/>
          <a:p>
            <a:pPr indent="0" marL="0">
              <a:buNone/>
            </a:pPr>
            <a:r>
              <a:rPr lang="en-US" sz="1600" dirty="0">
                <a:solidFill>
                  <a:srgbClr val="A7B7A7"/>
                </a:solidFill>
                <a:latin typeface="BIZ UDPGothic" pitchFamily="34" charset="0"/>
                <a:ea typeface="BIZ UDPGothic" pitchFamily="34" charset="-122"/>
                <a:cs typeface="BIZ UDPGothic" pitchFamily="34" charset="-120"/>
              </a:rPr>
              <a:t>考えた理由を、未来へつなぐ。</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502920" y="274320"/>
            <a:ext cx="11185855" cy="228600"/>
          </a:xfrm>
          <a:prstGeom prst="rect">
            <a:avLst/>
          </a:prstGeom>
          <a:noFill/>
          <a:ln/>
        </p:spPr>
        <p:txBody>
          <a:bodyPr wrap="square" lIns="0" tIns="0" rIns="0" bIns="0" rtlCol="0" anchor="t"/>
          <a:lstStyle/>
          <a:p>
            <a:pPr indent="0" marL="0">
              <a:buNone/>
            </a:pPr>
            <a:r>
              <a:rPr lang="en-US" sz="950" spc="200" kern="0" dirty="0">
                <a:solidFill>
                  <a:srgbClr val="56636E"/>
                </a:solidFill>
                <a:latin typeface="Georgia" pitchFamily="34" charset="0"/>
                <a:ea typeface="Georgia" pitchFamily="34" charset="-122"/>
                <a:cs typeface="Georgia" pitchFamily="34" charset="-120"/>
              </a:rPr>
              <a:t>YI CONSTELLATION</a:t>
            </a:r>
            <a:pPr indent="0" marL="0">
              <a:buNone/>
            </a:pPr>
            <a:r>
              <a:rPr lang="en-US" sz="950" b="1" dirty="0">
                <a:solidFill>
                  <a:srgbClr val="C4A06D"/>
                </a:solidFill>
                <a:latin typeface="BIZ UDPGothic" pitchFamily="34" charset="0"/>
                <a:ea typeface="BIZ UDPGothic" pitchFamily="34" charset="-122"/>
                <a:cs typeface="BIZ UDPGothic" pitchFamily="34" charset="-120"/>
              </a:rPr>
              <a:t>   付録</a:t>
            </a:r>
            <a:endParaRPr lang="en-US" sz="950" dirty="0"/>
          </a:p>
        </p:txBody>
      </p:sp>
      <p:sp>
        <p:nvSpPr>
          <p:cNvPr id="3" name="Text 1"/>
          <p:cNvSpPr/>
          <p:nvPr/>
        </p:nvSpPr>
        <p:spPr>
          <a:xfrm>
            <a:off x="502920" y="530352"/>
            <a:ext cx="11185855" cy="548640"/>
          </a:xfrm>
          <a:prstGeom prst="rect">
            <a:avLst/>
          </a:prstGeom>
          <a:noFill/>
          <a:ln/>
        </p:spPr>
        <p:txBody>
          <a:bodyPr wrap="square" lIns="0" tIns="0" rIns="0" bIns="0" rtlCol="0" anchor="ctr"/>
          <a:lstStyle/>
          <a:p>
            <a:pPr indent="0" marL="0">
              <a:buNone/>
            </a:pPr>
            <a:r>
              <a:rPr lang="en-US" sz="2500" b="1" dirty="0">
                <a:solidFill>
                  <a:srgbClr val="243D54"/>
                </a:solidFill>
                <a:latin typeface="BIZ UDPGothic" pitchFamily="34" charset="0"/>
                <a:ea typeface="BIZ UDPGothic" pitchFamily="34" charset="-122"/>
                <a:cs typeface="BIZ UDPGothic" pitchFamily="34" charset="-120"/>
              </a:rPr>
              <a:t>参照資料</a:t>
            </a:r>
            <a:endParaRPr lang="en-US" sz="2500" dirty="0"/>
          </a:p>
        </p:txBody>
      </p:sp>
      <p:sp>
        <p:nvSpPr>
          <p:cNvPr id="4" name="Text 2"/>
          <p:cNvSpPr/>
          <p:nvPr/>
        </p:nvSpPr>
        <p:spPr>
          <a:xfrm>
            <a:off x="502920" y="1097280"/>
            <a:ext cx="11185855" cy="329184"/>
          </a:xfrm>
          <a:prstGeom prst="rect">
            <a:avLst/>
          </a:prstGeom>
          <a:noFill/>
          <a:ln/>
        </p:spPr>
        <p:txBody>
          <a:bodyPr wrap="square" lIns="0" tIns="0" rIns="0" bIns="0" rtlCol="0" anchor="ctr"/>
          <a:lstStyle/>
          <a:p>
            <a:pPr indent="0" marL="0">
              <a:buNone/>
            </a:pPr>
            <a:r>
              <a:rPr lang="en-US" sz="1300" dirty="0">
                <a:solidFill>
                  <a:srgbClr val="56636E"/>
                </a:solidFill>
                <a:latin typeface="BIZ UDPGothic" pitchFamily="34" charset="0"/>
                <a:ea typeface="BIZ UDPGothic" pitchFamily="34" charset="-122"/>
                <a:cs typeface="BIZ UDPGothic" pitchFamily="34" charset="-120"/>
              </a:rPr>
              <a:t>製品ごとの最新の要求・設計・検証結果は、各リポジトリが正本。外部資料は規格への適合を証明するものではない。</a:t>
            </a:r>
            <a:endParaRPr lang="en-US" sz="1300" dirty="0"/>
          </a:p>
        </p:txBody>
      </p:sp>
      <p:sp>
        <p:nvSpPr>
          <p:cNvPr id="5" name="Text 3"/>
          <p:cNvSpPr/>
          <p:nvPr/>
        </p:nvSpPr>
        <p:spPr>
          <a:xfrm>
            <a:off x="11140135" y="6473952"/>
            <a:ext cx="548640" cy="228600"/>
          </a:xfrm>
          <a:prstGeom prst="rect">
            <a:avLst/>
          </a:prstGeom>
          <a:noFill/>
          <a:ln/>
        </p:spPr>
        <p:txBody>
          <a:bodyPr wrap="square" lIns="0" tIns="0" rIns="0" bIns="0" rtlCol="0" anchor="t"/>
          <a:lstStyle/>
          <a:p>
            <a:pPr algn="r" indent="0" marL="0">
              <a:buNone/>
            </a:pPr>
            <a:r>
              <a:rPr lang="en-US" sz="1000" dirty="0">
                <a:solidFill>
                  <a:srgbClr val="56636E"/>
                </a:solidFill>
                <a:latin typeface="Georgia" pitchFamily="34" charset="0"/>
                <a:ea typeface="Georgia" pitchFamily="34" charset="-122"/>
                <a:cs typeface="Georgia" pitchFamily="34" charset="-120"/>
              </a:rPr>
              <a:t>30</a:t>
            </a:r>
            <a:endParaRPr lang="en-US" sz="1000" dirty="0"/>
          </a:p>
        </p:txBody>
      </p:sp>
      <p:sp>
        <p:nvSpPr>
          <p:cNvPr id="6" name="Text 4"/>
          <p:cNvSpPr/>
          <p:nvPr/>
        </p:nvSpPr>
        <p:spPr>
          <a:xfrm>
            <a:off x="502920" y="1600200"/>
            <a:ext cx="5440680" cy="274320"/>
          </a:xfrm>
          <a:prstGeom prst="rect">
            <a:avLst/>
          </a:prstGeom>
          <a:noFill/>
          <a:ln/>
        </p:spPr>
        <p:txBody>
          <a:bodyPr wrap="square" lIns="0" tIns="0" rIns="0" bIns="0" rtlCol="0" anchor="t"/>
          <a:lstStyle/>
          <a:p>
            <a:pPr indent="0" marL="0">
              <a:buNone/>
            </a:pPr>
            <a:r>
              <a:rPr lang="en-US" sz="1200" b="1" dirty="0">
                <a:solidFill>
                  <a:srgbClr val="56636E"/>
                </a:solidFill>
                <a:latin typeface="BIZ UDPGothic" pitchFamily="34" charset="0"/>
                <a:ea typeface="BIZ UDPGothic" pitchFamily="34" charset="-122"/>
                <a:cs typeface="BIZ UDPGothic" pitchFamily="34" charset="-120"/>
              </a:rPr>
              <a:t>製品の公開資料</a:t>
            </a:r>
            <a:endParaRPr lang="en-US" sz="1200" dirty="0"/>
          </a:p>
        </p:txBody>
      </p:sp>
      <p:sp>
        <p:nvSpPr>
          <p:cNvPr id="7" name="Text 5"/>
          <p:cNvSpPr/>
          <p:nvPr/>
        </p:nvSpPr>
        <p:spPr>
          <a:xfrm>
            <a:off x="502920" y="1965960"/>
            <a:ext cx="5440680" cy="4389120"/>
          </a:xfrm>
          <a:prstGeom prst="rect">
            <a:avLst/>
          </a:prstGeom>
          <a:noFill/>
          <a:ln/>
        </p:spPr>
        <p:txBody>
          <a:bodyPr wrap="square" lIns="0" tIns="0" rIns="0" bIns="0" rtlCol="0" anchor="t"/>
          <a:lstStyle/>
          <a:p>
            <a:pPr indent="0" marL="0">
              <a:spcAft>
                <a:spcPts val="700"/>
              </a:spcAft>
              <a:buNone/>
            </a:pPr>
            <a:r>
              <a:rPr lang="en-US" sz="1250" b="1" u="sng" dirty="0">
                <a:solidFill>
                  <a:srgbClr val="3C6684"/>
                </a:solidFill>
                <a:latin typeface="BIZ UDPGothic" pitchFamily="34" charset="0"/>
                <a:ea typeface="BIZ UDPGothic" pitchFamily="34" charset="-122"/>
                <a:cs typeface="BIZ UDPGothic" pitchFamily="34" charset="-120"/>
                <a:hlinkClick r:id="rId1" invalidUrl="" action="" tgtFrame="" tooltip="" history="1" highlightClick="0" endSnd="0">
                  <a:extLst>
                    <a:ext uri="{A12FA001-AC4F-418D-AE19-62706E023703}">
                      <ahyp:hlinkClr xmlns:ahyp="http://schemas.microsoft.com/office/drawing/2018/hyperlinkcolor" val="tx"/>
                    </a:ext>
                  </a:extLst>
                </a:hlinkClick>
              </a:rPr>
              <a:t>TAI Pleroma（泰）</a:t>
            </a:r>
            <a:endParaRPr lang="en-US" sz="1250" dirty="0"/>
          </a:p>
          <a:p>
            <a:pPr indent="0" marL="0">
              <a:spcAft>
                <a:spcPts val="700"/>
              </a:spcAft>
              <a:buNone/>
            </a:pPr>
            <a:r>
              <a:rPr lang="en-US" sz="850" dirty="0">
                <a:solidFill>
                  <a:srgbClr val="56636E"/>
                </a:solidFill>
                <a:latin typeface="BIZ UDPGothic" pitchFamily="34" charset="0"/>
                <a:ea typeface="BIZ UDPGothic" pitchFamily="34" charset="-122"/>
                <a:cs typeface="BIZ UDPGothic" pitchFamily="34" charset="-120"/>
              </a:rPr>
              <a:t>https://github.com/hat47x/tai-pleroma</a:t>
            </a:r>
            <a:endParaRPr lang="en-US" sz="1250" dirty="0"/>
          </a:p>
          <a:p>
            <a:pPr indent="0" marL="0">
              <a:spcAft>
                <a:spcPts val="700"/>
              </a:spcAft>
              <a:buNone/>
            </a:pPr>
            <a:r>
              <a:rPr lang="en-US" sz="1250" b="1" u="sng" dirty="0">
                <a:solidFill>
                  <a:srgbClr val="3C6684"/>
                </a:solidFill>
                <a:latin typeface="BIZ UDPGothic" pitchFamily="34" charset="0"/>
                <a:ea typeface="BIZ UDPGothic" pitchFamily="34" charset="-122"/>
                <a:cs typeface="BIZ UDPGothic" pitchFamily="34" charset="-120"/>
                <a:hlinkClick r:id="rId2" invalidUrl="" action="" tgtFrame="" tooltip="" history="1" highlightClick="0" endSnd="0">
                  <a:extLst>
                    <a:ext uri="{A12FA001-AC4F-418D-AE19-62706E023703}">
                      <ahyp:hlinkClr xmlns:ahyp="http://schemas.microsoft.com/office/drawing/2018/hyperlinkcolor" val="tx"/>
                    </a:ext>
                  </a:extLst>
                </a:hlinkClick>
              </a:rPr>
              <a:t>SUI Sensemaking（萃）</a:t>
            </a:r>
            <a:endParaRPr lang="en-US" sz="1250" dirty="0"/>
          </a:p>
          <a:p>
            <a:pPr indent="0" marL="0">
              <a:spcAft>
                <a:spcPts val="700"/>
              </a:spcAft>
              <a:buNone/>
            </a:pPr>
            <a:r>
              <a:rPr lang="en-US" sz="850" dirty="0">
                <a:solidFill>
                  <a:srgbClr val="56636E"/>
                </a:solidFill>
                <a:latin typeface="BIZ UDPGothic" pitchFamily="34" charset="0"/>
                <a:ea typeface="BIZ UDPGothic" pitchFamily="34" charset="-122"/>
                <a:cs typeface="BIZ UDPGothic" pitchFamily="34" charset="-120"/>
              </a:rPr>
              <a:t>https://github.com/hat47x/sui-sensemaking</a:t>
            </a:r>
            <a:endParaRPr lang="en-US" sz="1250" dirty="0"/>
          </a:p>
          <a:p>
            <a:pPr indent="0" marL="0">
              <a:spcAft>
                <a:spcPts val="700"/>
              </a:spcAft>
              <a:buNone/>
            </a:pPr>
            <a:r>
              <a:rPr lang="en-US" sz="1250" b="1" u="sng" dirty="0">
                <a:solidFill>
                  <a:srgbClr val="3C6684"/>
                </a:solidFill>
                <a:latin typeface="BIZ UDPGothic" pitchFamily="34" charset="0"/>
                <a:ea typeface="BIZ UDPGothic" pitchFamily="34" charset="-122"/>
                <a:cs typeface="BIZ UDPGothic" pitchFamily="34" charset="-120"/>
                <a:hlinkClick r:id="rId3" invalidUrl="" action="" tgtFrame="" tooltip="" history="1" highlightClick="0" endSnd="0">
                  <a:extLst>
                    <a:ext uri="{A12FA001-AC4F-418D-AE19-62706E023703}">
                      <ahyp:hlinkClr xmlns:ahyp="http://schemas.microsoft.com/office/drawing/2018/hyperlinkcolor" val="tx"/>
                    </a:ext>
                  </a:extLst>
                </a:hlinkClick>
              </a:rPr>
              <a:t>SEI Cognition（井）</a:t>
            </a:r>
            <a:endParaRPr lang="en-US" sz="1250" dirty="0"/>
          </a:p>
          <a:p>
            <a:pPr indent="0" marL="0">
              <a:spcAft>
                <a:spcPts val="700"/>
              </a:spcAft>
              <a:buNone/>
            </a:pPr>
            <a:r>
              <a:rPr lang="en-US" sz="850" dirty="0">
                <a:solidFill>
                  <a:srgbClr val="56636E"/>
                </a:solidFill>
                <a:latin typeface="BIZ UDPGothic" pitchFamily="34" charset="0"/>
                <a:ea typeface="BIZ UDPGothic" pitchFamily="34" charset="-122"/>
                <a:cs typeface="BIZ UDPGothic" pitchFamily="34" charset="-120"/>
              </a:rPr>
              <a:t>https://github.com/hat47x/sei-cognition</a:t>
            </a:r>
            <a:endParaRPr lang="en-US" sz="1250" dirty="0"/>
          </a:p>
          <a:p>
            <a:pPr indent="0" marL="0">
              <a:spcAft>
                <a:spcPts val="700"/>
              </a:spcAft>
              <a:buNone/>
            </a:pPr>
            <a:r>
              <a:rPr lang="en-US" sz="1250" b="1" u="sng" dirty="0">
                <a:solidFill>
                  <a:srgbClr val="3C6684"/>
                </a:solidFill>
                <a:latin typeface="BIZ UDPGothic" pitchFamily="34" charset="0"/>
                <a:ea typeface="BIZ UDPGothic" pitchFamily="34" charset="-122"/>
                <a:cs typeface="BIZ UDPGothic" pitchFamily="34" charset="-120"/>
                <a:hlinkClick r:id="rId4" invalidUrl="" action="" tgtFrame="" tooltip="" history="1" highlightClick="0" endSnd="0">
                  <a:extLst>
                    <a:ext uri="{A12FA001-AC4F-418D-AE19-62706E023703}">
                      <ahyp:hlinkClr xmlns:ahyp="http://schemas.microsoft.com/office/drawing/2018/hyperlinkcolor" val="tx"/>
                    </a:ext>
                  </a:extLst>
                </a:hlinkClick>
              </a:rPr>
              <a:t>TEI Platform（鼎）</a:t>
            </a:r>
            <a:endParaRPr lang="en-US" sz="1250" dirty="0"/>
          </a:p>
          <a:p>
            <a:pPr indent="0" marL="0">
              <a:spcAft>
                <a:spcPts val="700"/>
              </a:spcAft>
              <a:buNone/>
            </a:pPr>
            <a:r>
              <a:rPr lang="en-US" sz="850" dirty="0">
                <a:solidFill>
                  <a:srgbClr val="56636E"/>
                </a:solidFill>
                <a:latin typeface="BIZ UDPGothic" pitchFamily="34" charset="0"/>
                <a:ea typeface="BIZ UDPGothic" pitchFamily="34" charset="-122"/>
                <a:cs typeface="BIZ UDPGothic" pitchFamily="34" charset="-120"/>
              </a:rPr>
              <a:t>https://github.com/hat47x/tei-platform</a:t>
            </a:r>
            <a:endParaRPr lang="en-US" sz="1250" dirty="0"/>
          </a:p>
          <a:p>
            <a:pPr indent="0" marL="0">
              <a:spcAft>
                <a:spcPts val="700"/>
              </a:spcAft>
              <a:buNone/>
            </a:pPr>
            <a:r>
              <a:rPr lang="en-US" sz="1250" b="1" u="sng" dirty="0">
                <a:solidFill>
                  <a:srgbClr val="3C6684"/>
                </a:solidFill>
                <a:latin typeface="BIZ UDPGothic" pitchFamily="34" charset="0"/>
                <a:ea typeface="BIZ UDPGothic" pitchFamily="34" charset="-122"/>
                <a:cs typeface="BIZ UDPGothic" pitchFamily="34" charset="-120"/>
                <a:hlinkClick r:id="rId5" invalidUrl="" action="" tgtFrame="" tooltip="" history="1" highlightClick="0" endSnd="0">
                  <a:extLst>
                    <a:ext uri="{A12FA001-AC4F-418D-AE19-62706E023703}">
                      <ahyp:hlinkClr xmlns:ahyp="http://schemas.microsoft.com/office/drawing/2018/hyperlinkcolor" val="tx"/>
                    </a:ext>
                  </a:extLst>
                </a:hlinkClick>
              </a:rPr>
              <a:t>EKI Fabric（益）</a:t>
            </a:r>
            <a:endParaRPr lang="en-US" sz="1250" dirty="0"/>
          </a:p>
          <a:p>
            <a:pPr indent="0" marL="0">
              <a:spcAft>
                <a:spcPts val="700"/>
              </a:spcAft>
              <a:buNone/>
            </a:pPr>
            <a:r>
              <a:rPr lang="en-US" sz="850" dirty="0">
                <a:solidFill>
                  <a:srgbClr val="56636E"/>
                </a:solidFill>
                <a:latin typeface="BIZ UDPGothic" pitchFamily="34" charset="0"/>
                <a:ea typeface="BIZ UDPGothic" pitchFamily="34" charset="-122"/>
                <a:cs typeface="BIZ UDPGothic" pitchFamily="34" charset="-120"/>
              </a:rPr>
              <a:t>https://github.com/hat47x/eki-fabric</a:t>
            </a:r>
            <a:endParaRPr lang="en-US" sz="1250" dirty="0"/>
          </a:p>
          <a:p>
            <a:pPr indent="0" marL="0">
              <a:spcAft>
                <a:spcPts val="700"/>
              </a:spcAft>
              <a:buNone/>
            </a:pPr>
            <a:r>
              <a:rPr lang="en-US" sz="1250" b="1" u="sng" dirty="0">
                <a:solidFill>
                  <a:srgbClr val="3C6684"/>
                </a:solidFill>
                <a:latin typeface="BIZ UDPGothic" pitchFamily="34" charset="0"/>
                <a:ea typeface="BIZ UDPGothic" pitchFamily="34" charset="-122"/>
                <a:cs typeface="BIZ UDPGothic" pitchFamily="34" charset="-120"/>
                <a:hlinkClick r:id="rId6" invalidUrl="" action="" tgtFrame="" tooltip="" history="1" highlightClick="0" endSnd="0">
                  <a:extLst>
                    <a:ext uri="{A12FA001-AC4F-418D-AE19-62706E023703}">
                      <ahyp:hlinkClr xmlns:ahyp="http://schemas.microsoft.com/office/drawing/2018/hyperlinkcolor" val="tx"/>
                    </a:ext>
                  </a:extLst>
                </a:hlinkClick>
              </a:rPr>
              <a:t>SHO Composer の検証用製品 MMI（升）</a:t>
            </a:r>
            <a:endParaRPr lang="en-US" sz="1250" dirty="0"/>
          </a:p>
          <a:p>
            <a:pPr indent="0" marL="0">
              <a:spcAft>
                <a:spcPts val="700"/>
              </a:spcAft>
              <a:buNone/>
            </a:pPr>
            <a:r>
              <a:rPr lang="en-US" sz="850" dirty="0">
                <a:solidFill>
                  <a:srgbClr val="56636E"/>
                </a:solidFill>
                <a:latin typeface="BIZ UDPGothic" pitchFamily="34" charset="0"/>
                <a:ea typeface="BIZ UDPGothic" pitchFamily="34" charset="-122"/>
                <a:cs typeface="BIZ UDPGothic" pitchFamily="34" charset="-120"/>
              </a:rPr>
              <a:t>https://github.com/hat47x/markdown-matrix-injector</a:t>
            </a:r>
            <a:endParaRPr lang="en-US" sz="1250" dirty="0"/>
          </a:p>
          <a:p>
            <a:pPr indent="0" marL="0">
              <a:spcAft>
                <a:spcPts val="700"/>
              </a:spcAft>
              <a:buNone/>
            </a:pPr>
            <a:r>
              <a:rPr lang="en-US" sz="1250" b="1" u="sng" dirty="0">
                <a:solidFill>
                  <a:srgbClr val="3C6684"/>
                </a:solidFill>
                <a:latin typeface="BIZ UDPGothic" pitchFamily="34" charset="0"/>
                <a:ea typeface="BIZ UDPGothic" pitchFamily="34" charset="-122"/>
                <a:cs typeface="BIZ UDPGothic" pitchFamily="34" charset="-120"/>
                <a:hlinkClick r:id="rId7" invalidUrl="" action="" tgtFrame="" tooltip="" history="1" highlightClick="0" endSnd="0">
                  <a:extLst>
                    <a:ext uri="{A12FA001-AC4F-418D-AE19-62706E023703}">
                      <ahyp:hlinkClr xmlns:ahyp="http://schemas.microsoft.com/office/drawing/2018/hyperlinkcolor" val="tx"/>
                    </a:ext>
                  </a:extLst>
                </a:hlinkClick>
              </a:rPr>
              <a:t>TEIが大切にする価値</a:t>
            </a:r>
            <a:endParaRPr lang="en-US" sz="1250" dirty="0"/>
          </a:p>
          <a:p>
            <a:pPr indent="0" marL="0">
              <a:spcAft>
                <a:spcPts val="700"/>
              </a:spcAft>
              <a:buNone/>
            </a:pPr>
            <a:r>
              <a:rPr lang="en-US" sz="850" dirty="0">
                <a:solidFill>
                  <a:srgbClr val="56636E"/>
                </a:solidFill>
                <a:latin typeface="BIZ UDPGothic" pitchFamily="34" charset="0"/>
                <a:ea typeface="BIZ UDPGothic" pitchFamily="34" charset="-122"/>
                <a:cs typeface="BIZ UDPGothic" pitchFamily="34" charset="-120"/>
              </a:rPr>
              <a:t>https://github.com/hat47x/tei-platform/blob/main/product/value/TEI_PRODUCT_VALUE.md</a:t>
            </a:r>
            <a:endParaRPr lang="en-US" sz="1250" dirty="0"/>
          </a:p>
          <a:p>
            <a:pPr indent="0" marL="0">
              <a:spcAft>
                <a:spcPts val="700"/>
              </a:spcAft>
              <a:buNone/>
            </a:pPr>
            <a:r>
              <a:rPr lang="en-US" sz="1250" b="1" u="sng" dirty="0">
                <a:solidFill>
                  <a:srgbClr val="3C6684"/>
                </a:solidFill>
                <a:latin typeface="BIZ UDPGothic" pitchFamily="34" charset="0"/>
                <a:ea typeface="BIZ UDPGothic" pitchFamily="34" charset="-122"/>
                <a:cs typeface="BIZ UDPGothic" pitchFamily="34" charset="-120"/>
                <a:hlinkClick r:id="rId8" invalidUrl="" action="" tgtFrame="" tooltip="" history="1" highlightClick="0" endSnd="0">
                  <a:extLst>
                    <a:ext uri="{A12FA001-AC4F-418D-AE19-62706E023703}">
                      <ahyp:hlinkClr xmlns:ahyp="http://schemas.microsoft.com/office/drawing/2018/hyperlinkcolor" val="tx"/>
                    </a:ext>
                  </a:extLst>
                </a:hlinkClick>
              </a:rPr>
              <a:t>TEIの実装状況</a:t>
            </a:r>
            <a:endParaRPr lang="en-US" sz="1250" dirty="0"/>
          </a:p>
          <a:p>
            <a:pPr indent="0" marL="0">
              <a:spcAft>
                <a:spcPts val="700"/>
              </a:spcAft>
              <a:buNone/>
            </a:pPr>
            <a:r>
              <a:rPr lang="en-US" sz="850" dirty="0">
                <a:solidFill>
                  <a:srgbClr val="56636E"/>
                </a:solidFill>
                <a:latin typeface="BIZ UDPGothic" pitchFamily="34" charset="0"/>
                <a:ea typeface="BIZ UDPGothic" pitchFamily="34" charset="-122"/>
                <a:cs typeface="BIZ UDPGothic" pitchFamily="34" charset="-120"/>
              </a:rPr>
              <a:t>https://github.com/hat47x/tei-platform/blob/main/docs/status.md</a:t>
            </a:r>
            <a:endParaRPr lang="en-US" sz="1250" dirty="0"/>
          </a:p>
        </p:txBody>
      </p:sp>
      <p:sp>
        <p:nvSpPr>
          <p:cNvPr id="8" name="Text 6"/>
          <p:cNvSpPr/>
          <p:nvPr/>
        </p:nvSpPr>
        <p:spPr>
          <a:xfrm>
            <a:off x="6172200" y="1600200"/>
            <a:ext cx="5440680" cy="274320"/>
          </a:xfrm>
          <a:prstGeom prst="rect">
            <a:avLst/>
          </a:prstGeom>
          <a:noFill/>
          <a:ln/>
        </p:spPr>
        <p:txBody>
          <a:bodyPr wrap="square" lIns="0" tIns="0" rIns="0" bIns="0" rtlCol="0" anchor="t"/>
          <a:lstStyle/>
          <a:p>
            <a:pPr indent="0" marL="0">
              <a:buNone/>
            </a:pPr>
            <a:r>
              <a:rPr lang="en-US" sz="1200" b="1" dirty="0">
                <a:solidFill>
                  <a:srgbClr val="56636E"/>
                </a:solidFill>
                <a:latin typeface="BIZ UDPGothic" pitchFamily="34" charset="0"/>
                <a:ea typeface="BIZ UDPGothic" pitchFamily="34" charset="-122"/>
                <a:cs typeface="BIZ UDPGothic" pitchFamily="34" charset="-120"/>
              </a:rPr>
              <a:t>外部資料</a:t>
            </a:r>
            <a:endParaRPr lang="en-US" sz="1200" dirty="0"/>
          </a:p>
        </p:txBody>
      </p:sp>
      <p:sp>
        <p:nvSpPr>
          <p:cNvPr id="9" name="Text 7"/>
          <p:cNvSpPr/>
          <p:nvPr/>
        </p:nvSpPr>
        <p:spPr>
          <a:xfrm>
            <a:off x="6172200" y="1965960"/>
            <a:ext cx="5440680" cy="4389120"/>
          </a:xfrm>
          <a:prstGeom prst="rect">
            <a:avLst/>
          </a:prstGeom>
          <a:noFill/>
          <a:ln/>
        </p:spPr>
        <p:txBody>
          <a:bodyPr wrap="square" lIns="0" tIns="0" rIns="0" bIns="0" rtlCol="0" anchor="t"/>
          <a:lstStyle/>
          <a:p>
            <a:pPr indent="0" marL="0">
              <a:spcAft>
                <a:spcPts val="700"/>
              </a:spcAft>
              <a:buNone/>
            </a:pPr>
            <a:r>
              <a:rPr lang="en-US" sz="1250" b="1" u="sng" dirty="0">
                <a:solidFill>
                  <a:srgbClr val="3C6684"/>
                </a:solidFill>
                <a:latin typeface="BIZ UDPGothic" pitchFamily="34" charset="0"/>
                <a:ea typeface="BIZ UDPGothic" pitchFamily="34" charset="-122"/>
                <a:cs typeface="BIZ UDPGothic" pitchFamily="34" charset="-120"/>
                <a:hlinkClick r:id="rId9" invalidUrl="" action="" tgtFrame="" tooltip="" history="1" highlightClick="0" endSnd="0">
                  <a:extLst>
                    <a:ext uri="{A12FA001-AC4F-418D-AE19-62706E023703}">
                      <ahyp:hlinkClr xmlns:ahyp="http://schemas.microsoft.com/office/drawing/2018/hyperlinkcolor" val="tx"/>
                    </a:ext>
                  </a:extLst>
                </a:hlinkClick>
              </a:rPr>
              <a:t>マッキンゼー社 2025年のAI動向調査</a:t>
            </a:r>
            <a:endParaRPr lang="en-US" sz="1250" dirty="0"/>
          </a:p>
          <a:p>
            <a:pPr indent="0" marL="0">
              <a:spcAft>
                <a:spcPts val="700"/>
              </a:spcAft>
              <a:buNone/>
            </a:pPr>
            <a:r>
              <a:rPr lang="en-US" sz="850" dirty="0">
                <a:solidFill>
                  <a:srgbClr val="56636E"/>
                </a:solidFill>
                <a:latin typeface="BIZ UDPGothic" pitchFamily="34" charset="0"/>
                <a:ea typeface="BIZ UDPGothic" pitchFamily="34" charset="-122"/>
                <a:cs typeface="BIZ UDPGothic" pitchFamily="34" charset="-120"/>
              </a:rPr>
              <a:t>https://www.mckinsey.com/capabilities/quantumblack/our-insights/the-state-of-ai-2025</a:t>
            </a:r>
            <a:endParaRPr lang="en-US" sz="1250" dirty="0"/>
          </a:p>
          <a:p>
            <a:pPr indent="0" marL="0">
              <a:spcAft>
                <a:spcPts val="700"/>
              </a:spcAft>
              <a:buNone/>
            </a:pPr>
            <a:r>
              <a:rPr lang="en-US" sz="1250" b="1" u="sng" dirty="0">
                <a:solidFill>
                  <a:srgbClr val="3C6684"/>
                </a:solidFill>
                <a:latin typeface="BIZ UDPGothic" pitchFamily="34" charset="0"/>
                <a:ea typeface="BIZ UDPGothic" pitchFamily="34" charset="-122"/>
                <a:cs typeface="BIZ UDPGothic" pitchFamily="34" charset="-120"/>
                <a:hlinkClick r:id="rId10" invalidUrl="" action="" tgtFrame="" tooltip="" history="1" highlightClick="0" endSnd="0">
                  <a:extLst>
                    <a:ext uri="{A12FA001-AC4F-418D-AE19-62706E023703}">
                      <ahyp:hlinkClr xmlns:ahyp="http://schemas.microsoft.com/office/drawing/2018/hyperlinkcolor" val="tx"/>
                    </a:ext>
                  </a:extLst>
                </a:hlinkClick>
              </a:rPr>
              <a:t>米国標準技術研究所 AIリスク管理枠組み</a:t>
            </a:r>
            <a:endParaRPr lang="en-US" sz="1250" dirty="0"/>
          </a:p>
          <a:p>
            <a:pPr indent="0" marL="0">
              <a:spcAft>
                <a:spcPts val="700"/>
              </a:spcAft>
              <a:buNone/>
            </a:pPr>
            <a:r>
              <a:rPr lang="en-US" sz="850" dirty="0">
                <a:solidFill>
                  <a:srgbClr val="56636E"/>
                </a:solidFill>
                <a:latin typeface="BIZ UDPGothic" pitchFamily="34" charset="0"/>
                <a:ea typeface="BIZ UDPGothic" pitchFamily="34" charset="-122"/>
                <a:cs typeface="BIZ UDPGothic" pitchFamily="34" charset="-120"/>
              </a:rPr>
              <a:t>https://airc.nist.gov/airmf-resources/airmf/5-sec-core/</a:t>
            </a:r>
            <a:endParaRPr lang="en-US" sz="1250" dirty="0"/>
          </a:p>
          <a:p>
            <a:pPr indent="0" marL="0">
              <a:spcAft>
                <a:spcPts val="700"/>
              </a:spcAft>
              <a:buNone/>
            </a:pPr>
            <a:r>
              <a:rPr lang="en-US" sz="1250" b="1" u="sng" dirty="0">
                <a:solidFill>
                  <a:srgbClr val="3C6684"/>
                </a:solidFill>
                <a:latin typeface="BIZ UDPGothic" pitchFamily="34" charset="0"/>
                <a:ea typeface="BIZ UDPGothic" pitchFamily="34" charset="-122"/>
                <a:cs typeface="BIZ UDPGothic" pitchFamily="34" charset="-120"/>
                <a:hlinkClick r:id="rId11" invalidUrl="" action="" tgtFrame="" tooltip="" history="1" highlightClick="0" endSnd="0">
                  <a:extLst>
                    <a:ext uri="{A12FA001-AC4F-418D-AE19-62706E023703}">
                      <ahyp:hlinkClr xmlns:ahyp="http://schemas.microsoft.com/office/drawing/2018/hyperlinkcolor" val="tx"/>
                    </a:ext>
                  </a:extLst>
                </a:hlinkClick>
              </a:rPr>
              <a:t>同 生成AI向けの指針</a:t>
            </a:r>
            <a:endParaRPr lang="en-US" sz="1250" dirty="0"/>
          </a:p>
          <a:p>
            <a:pPr indent="0" marL="0">
              <a:spcAft>
                <a:spcPts val="700"/>
              </a:spcAft>
              <a:buNone/>
            </a:pPr>
            <a:r>
              <a:rPr lang="en-US" sz="850" dirty="0">
                <a:solidFill>
                  <a:srgbClr val="56636E"/>
                </a:solidFill>
                <a:latin typeface="BIZ UDPGothic" pitchFamily="34" charset="0"/>
                <a:ea typeface="BIZ UDPGothic" pitchFamily="34" charset="-122"/>
                <a:cs typeface="BIZ UDPGothic" pitchFamily="34" charset="-120"/>
              </a:rPr>
              <a:t>https://www.nist.gov/publications/artificial-intelligence-risk-management-framework-generative-artificial-intelligence</a:t>
            </a:r>
            <a:endParaRPr lang="en-US" sz="1250" dirty="0"/>
          </a:p>
          <a:p>
            <a:pPr indent="0" marL="0">
              <a:spcAft>
                <a:spcPts val="700"/>
              </a:spcAft>
              <a:buNone/>
            </a:pPr>
            <a:r>
              <a:rPr lang="en-US" sz="1250" b="1" u="sng" dirty="0">
                <a:solidFill>
                  <a:srgbClr val="3C6684"/>
                </a:solidFill>
                <a:latin typeface="BIZ UDPGothic" pitchFamily="34" charset="0"/>
                <a:ea typeface="BIZ UDPGothic" pitchFamily="34" charset="-122"/>
                <a:cs typeface="BIZ UDPGothic" pitchFamily="34" charset="-120"/>
                <a:hlinkClick r:id="rId12" invalidUrl="" action="" tgtFrame="" tooltip="" history="1" highlightClick="0" endSnd="0">
                  <a:extLst>
                    <a:ext uri="{A12FA001-AC4F-418D-AE19-62706E023703}">
                      <ahyp:hlinkClr xmlns:ahyp="http://schemas.microsoft.com/office/drawing/2018/hyperlinkcolor" val="tx"/>
                    </a:ext>
                  </a:extLst>
                </a:hlinkClick>
              </a:rPr>
              <a:t>国際規格 ISO/IEC 42001</a:t>
            </a:r>
            <a:endParaRPr lang="en-US" sz="1250" dirty="0"/>
          </a:p>
          <a:p>
            <a:pPr indent="0" marL="0">
              <a:spcAft>
                <a:spcPts val="700"/>
              </a:spcAft>
              <a:buNone/>
            </a:pPr>
            <a:r>
              <a:rPr lang="en-US" sz="850" dirty="0">
                <a:solidFill>
                  <a:srgbClr val="56636E"/>
                </a:solidFill>
                <a:latin typeface="BIZ UDPGothic" pitchFamily="34" charset="0"/>
                <a:ea typeface="BIZ UDPGothic" pitchFamily="34" charset="-122"/>
                <a:cs typeface="BIZ UDPGothic" pitchFamily="34" charset="-120"/>
              </a:rPr>
              <a:t>https://www.iso.org/insights/iso-42001-explained</a:t>
            </a:r>
            <a:endParaRPr lang="en-US" sz="1250" dirty="0"/>
          </a:p>
          <a:p>
            <a:pPr indent="0" marL="0">
              <a:spcAft>
                <a:spcPts val="700"/>
              </a:spcAft>
              <a:buNone/>
            </a:pPr>
            <a:r>
              <a:rPr lang="en-US" sz="1250" b="1" u="sng" dirty="0">
                <a:solidFill>
                  <a:srgbClr val="3C6684"/>
                </a:solidFill>
                <a:latin typeface="BIZ UDPGothic" pitchFamily="34" charset="0"/>
                <a:ea typeface="BIZ UDPGothic" pitchFamily="34" charset="-122"/>
                <a:cs typeface="BIZ UDPGothic" pitchFamily="34" charset="-120"/>
                <a:hlinkClick r:id="rId13" invalidUrl="" action="" tgtFrame="" tooltip="" history="1" highlightClick="0" endSnd="0">
                  <a:extLst>
                    <a:ext uri="{A12FA001-AC4F-418D-AE19-62706E023703}">
                      <ahyp:hlinkClr xmlns:ahyp="http://schemas.microsoft.com/office/drawing/2018/hyperlinkcolor" val="tx"/>
                    </a:ext>
                  </a:extLst>
                </a:hlinkClick>
              </a:rPr>
              <a:t>経済協力開発機構 AI原則</a:t>
            </a:r>
            <a:endParaRPr lang="en-US" sz="1250" dirty="0"/>
          </a:p>
          <a:p>
            <a:pPr indent="0" marL="0">
              <a:spcAft>
                <a:spcPts val="700"/>
              </a:spcAft>
              <a:buNone/>
            </a:pPr>
            <a:r>
              <a:rPr lang="en-US" sz="850" dirty="0">
                <a:solidFill>
                  <a:srgbClr val="56636E"/>
                </a:solidFill>
                <a:latin typeface="BIZ UDPGothic" pitchFamily="34" charset="0"/>
                <a:ea typeface="BIZ UDPGothic" pitchFamily="34" charset="-122"/>
                <a:cs typeface="BIZ UDPGothic" pitchFamily="34" charset="-120"/>
              </a:rPr>
              <a:t>https://www.oecd.org/en/topics/ai-principles.html</a:t>
            </a:r>
            <a:endParaRPr lang="en-US" sz="1250" dirty="0"/>
          </a:p>
          <a:p>
            <a:pPr indent="0" marL="0">
              <a:spcAft>
                <a:spcPts val="700"/>
              </a:spcAft>
              <a:buNone/>
            </a:pPr>
            <a:r>
              <a:rPr lang="en-US" sz="1250" b="1" u="sng" dirty="0">
                <a:solidFill>
                  <a:srgbClr val="3C6684"/>
                </a:solidFill>
                <a:latin typeface="BIZ UDPGothic" pitchFamily="34" charset="0"/>
                <a:ea typeface="BIZ UDPGothic" pitchFamily="34" charset="-122"/>
                <a:cs typeface="BIZ UDPGothic" pitchFamily="34" charset="-120"/>
                <a:hlinkClick r:id="rId14" invalidUrl="" action="" tgtFrame="" tooltip="" history="1" highlightClick="0" endSnd="0">
                  <a:extLst>
                    <a:ext uri="{A12FA001-AC4F-418D-AE19-62706E023703}">
                      <ahyp:hlinkClr xmlns:ahyp="http://schemas.microsoft.com/office/drawing/2018/hyperlinkcolor" val="tx"/>
                    </a:ext>
                  </a:extLst>
                </a:hlinkClick>
              </a:rPr>
              <a:t>経産省 AI事業者ガイドライン</a:t>
            </a:r>
            <a:endParaRPr lang="en-US" sz="1250" dirty="0"/>
          </a:p>
          <a:p>
            <a:pPr indent="0" marL="0">
              <a:spcAft>
                <a:spcPts val="700"/>
              </a:spcAft>
              <a:buNone/>
            </a:pPr>
            <a:r>
              <a:rPr lang="en-US" sz="850" dirty="0">
                <a:solidFill>
                  <a:srgbClr val="56636E"/>
                </a:solidFill>
                <a:latin typeface="BIZ UDPGothic" pitchFamily="34" charset="0"/>
                <a:ea typeface="BIZ UDPGothic" pitchFamily="34" charset="-122"/>
                <a:cs typeface="BIZ UDPGothic" pitchFamily="34" charset="-120"/>
              </a:rPr>
              <a:t>https://www.meti.go.jp/shingikai/mono_info_service/ai_shakai_jisso/</a:t>
            </a:r>
            <a:endParaRPr lang="en-US" sz="1250" dirty="0"/>
          </a:p>
          <a:p>
            <a:pPr indent="0" marL="0">
              <a:spcAft>
                <a:spcPts val="700"/>
              </a:spcAft>
              <a:buNone/>
            </a:pPr>
            <a:r>
              <a:rPr lang="en-US" sz="1250" b="1" u="sng" dirty="0">
                <a:solidFill>
                  <a:srgbClr val="3C6684"/>
                </a:solidFill>
                <a:latin typeface="BIZ UDPGothic" pitchFamily="34" charset="0"/>
                <a:ea typeface="BIZ UDPGothic" pitchFamily="34" charset="-122"/>
                <a:cs typeface="BIZ UDPGothic" pitchFamily="34" charset="-120"/>
                <a:hlinkClick r:id="rId15" invalidUrl="" action="" tgtFrame="" tooltip="" history="1" highlightClick="0" endSnd="0">
                  <a:extLst>
                    <a:ext uri="{A12FA001-AC4F-418D-AE19-62706E023703}">
                      <ahyp:hlinkClr xmlns:ahyp="http://schemas.microsoft.com/office/drawing/2018/hyperlinkcolor" val="tx"/>
                    </a:ext>
                  </a:extLst>
                </a:hlinkClick>
              </a:rPr>
              <a:t>易経64卦の番号・卦名</a:t>
            </a:r>
            <a:endParaRPr lang="en-US" sz="1250" dirty="0"/>
          </a:p>
          <a:p>
            <a:pPr indent="0" marL="0">
              <a:spcAft>
                <a:spcPts val="700"/>
              </a:spcAft>
              <a:buNone/>
            </a:pPr>
            <a:r>
              <a:rPr lang="en-US" sz="850" dirty="0">
                <a:solidFill>
                  <a:srgbClr val="56636E"/>
                </a:solidFill>
                <a:latin typeface="BIZ UDPGothic" pitchFamily="34" charset="0"/>
                <a:ea typeface="BIZ UDPGothic" pitchFamily="34" charset="-122"/>
                <a:cs typeface="BIZ UDPGothic" pitchFamily="34" charset="-120"/>
              </a:rPr>
              <a:t>https://www.tianeon.com/ja/iching/hexagrams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oreProperties xmlns:dc="http://purl.org/dc/elements/1.1/" xmlns:dcterms="http://purl.org/dc/terms/" xmlns:xsi="http://www.w3.org/2001/XMLSchema-instance" xmlns="http://schemas.openxmlformats.org/package/2006/metadata/core-properties">
  <dc:title>YI Constellation</dc:title>
  <dc:subject>PptxGenJS Presentation</dc:subject>
  <dc:creator>畑岸 康之</dc:creator>
  <lastModifiedBy>畑岸 康之</lastModifiedBy>
  <revision>1</revision>
  <dcterms:created xsi:type="dcterms:W3CDTF">2026-10-28T12:35:42.5592354Z</dcterms:created>
  <dcterms:modified xsi:type="dcterms:W3CDTF">2026-10-28T12:35:42.5592354Z</dcterms:modified>
</coreProperties>
</file>